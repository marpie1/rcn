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93C5FD"/>
                </a:solidFill>
                <a:latin typeface="Helvetica Neue"/>
              </a:defRPr>
            </a:pPr>
            <a:r>
              <a:t>RCN TOOLSET · ASSEMBLY LAYER</a:t>
            </a:r>
          </a:p>
          <a:p>
            <a:pPr>
              <a:spcAft>
                <a:spcPts val="1400"/>
              </a:spcAft>
              <a:defRPr sz="5400" b="1">
                <a:solidFill>
                  <a:srgbClr val="FFFFFF"/>
                </a:solidFill>
                <a:latin typeface="Helvetica Neue"/>
              </a:defRPr>
            </a:pPr>
            <a:r>
              <a:t>RCN Graph Composer</a:t>
            </a:r>
          </a:p>
          <a:p>
            <a:pPr>
              <a:spcAft>
                <a:spcPts val="1800"/>
              </a:spcAft>
              <a:defRPr sz="2000" b="0">
                <a:solidFill>
                  <a:srgbClr val="CBD5E1"/>
                </a:solidFill>
                <a:latin typeface="Helvetica Neue"/>
              </a:defRPr>
            </a:pPr>
            <a:r>
              <a:t>Many small graphs. Added together where they overlap.</a:t>
            </a:r>
          </a:p>
          <a:p>
            <a:pPr>
              <a:spcAft>
                <a:spcPts val="100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t>Reimplements Ward Cunningham's Solo Super Collaborator · sibling to the RCN Graph Tool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0F172A"/>
                </a:solidFill>
                <a:latin typeface="Helvetica Neue"/>
              </a:defRPr>
            </a:pPr>
            <a:r>
              <a:t>The problem</a:t>
            </a:r>
          </a:p>
          <a:p>
            <a:pPr>
              <a:spcAft>
                <a:spcPts val="0"/>
              </a:spcAft>
              <a:defRPr sz="1600" b="0">
                <a:solidFill>
                  <a:srgbClr val="64748B"/>
                </a:solidFill>
                <a:latin typeface="Helvetica Neue"/>
              </a:defRPr>
            </a:pPr>
            <a:r>
              <a:t>A big diagram nobody can read is easy to make.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One person draws the whole system.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Fifty-four arrows crossing each other. Correct, and unreadable.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Six people each draw what they know.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Six small pictures. Each one legible on its own.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Putting them together has meant redrawing by hand.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Slow, and detail is lost every 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8A6A2E"/>
                </a:solidFill>
                <a:latin typeface="Helvetica Neue"/>
              </a:defRPr>
            </a:pPr>
            <a:r>
              <a:t>The Composer does it mechanically.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0F172A"/>
                </a:solidFill>
                <a:latin typeface="Helvetica Neue"/>
              </a:defRPr>
            </a:pPr>
            <a:r>
              <a:t>Additive, not subtractive</a:t>
            </a:r>
          </a:p>
          <a:p>
            <a:pPr>
              <a:spcAft>
                <a:spcPts val="0"/>
              </a:spcAft>
              <a:defRPr sz="1600" b="0">
                <a:solidFill>
                  <a:srgbClr val="64748B"/>
                </a:solidFill>
                <a:latin typeface="Helvetica Neue"/>
              </a:defRPr>
            </a:pPr>
            <a:r>
              <a:t>Two ways to get a drawing a group can talk about.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Build everything, then hide parts.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You spend your life maintaining a monster.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Build small pieces, add up the ones you need.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You never build the monster in the first place.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This is what Cave Drawings require.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Images a group can read, point at, and argue about — assembled on demand.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0F172A"/>
                </a:solidFill>
                <a:latin typeface="Helvetica Neue"/>
              </a:defRPr>
            </a:pPr>
            <a:r>
              <a:t>How two pieces know they're about the same thing</a:t>
            </a:r>
          </a:p>
          <a:p>
            <a:pPr>
              <a:spcAft>
                <a:spcPts val="0"/>
              </a:spcAft>
              <a:defRPr sz="1600" b="0">
                <a:solidFill>
                  <a:srgbClr val="64748B"/>
                </a:solidFill>
                <a:latin typeface="Helvetica Neue"/>
              </a:defRPr>
            </a:pPr>
            <a:r>
              <a:t>Two people both draw something called “the clinic.” One node, or two?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Not by matching the words on the drawing.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Spelling drifts. Renaming for legibility would break the join.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By the schema label — the standard name, carried as metadata.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What it IS, not what it's called.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Plus an instance name when there are several of a kind.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Blank means “the type itself.”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8A6A2E"/>
                </a:solidFill>
                <a:latin typeface="Helvetica Neue"/>
              </a:defRPr>
            </a:pPr>
            <a:r>
              <a:t>Merge key = schemaLabel + props.name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0F172A"/>
                </a:solidFill>
                <a:latin typeface="Helvetica Neue"/>
              </a:defRPr>
            </a:pPr>
            <a:r>
              <a:t>Four fields, four questions</a:t>
            </a:r>
          </a:p>
          <a:p>
            <a:pPr>
              <a:spcAft>
                <a:spcPts val="0"/>
              </a:spcAft>
              <a:defRPr sz="1600" b="0">
                <a:solidFill>
                  <a:srgbClr val="64748B"/>
                </a:solidFill>
                <a:latin typeface="Helvetica Neue"/>
              </a:defRPr>
            </a:pPr>
            <a:r>
              <a:t>Keeping these apart is what makes the words on the drawing free.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05740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600" b="0">
                <a:solidFill>
                  <a:srgbClr val="334155"/>
                </a:solidFill>
                <a:latin typeface="Helvetica Neue"/>
              </a:defRPr>
            </a:pPr>
            <a:r>
              <a:t>What do we CALL it here?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205740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64748B"/>
                </a:solidFill>
                <a:latin typeface="Helvetica Neue"/>
              </a:defRPr>
            </a:pPr>
            <a:r>
              <a:t>free — for people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000" b="1">
                <a:solidFill>
                  <a:srgbClr val="8A6A2E"/>
                </a:solidFill>
                <a:latin typeface="Helvetica Neue"/>
              </a:defRPr>
            </a:pPr>
            <a:r>
              <a:t>schemaLabel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9260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600" b="0">
                <a:solidFill>
                  <a:srgbClr val="334155"/>
                </a:solidFill>
                <a:latin typeface="Helvetica Neue"/>
              </a:defRPr>
            </a:pPr>
            <a:r>
              <a:t>What IS it, in the schema?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292608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8A6A2E"/>
                </a:solidFill>
                <a:latin typeface="Helvetica Neue"/>
              </a:defRPr>
            </a:pPr>
            <a:r>
              <a:t>THE IDENTITY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000" b="1">
                <a:solidFill>
                  <a:srgbClr val="8A6A2E"/>
                </a:solidFill>
                <a:latin typeface="Helvetica Neue"/>
              </a:defRPr>
            </a:pPr>
            <a:r>
              <a:t>props.name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7947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600" b="0">
                <a:solidFill>
                  <a:srgbClr val="334155"/>
                </a:solidFill>
                <a:latin typeface="Helvetica Neue"/>
              </a:defRPr>
            </a:pPr>
            <a:r>
              <a:t>WHICH one, if several?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79476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8A6A2E"/>
                </a:solidFill>
                <a:latin typeface="Helvetica Neue"/>
              </a:defRPr>
            </a:pPr>
            <a:r>
              <a:t>THE INSTANCE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663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extraLabels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66344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600" b="0">
                <a:solidFill>
                  <a:srgbClr val="334155"/>
                </a:solidFill>
                <a:latin typeface="Helvetica Neue"/>
              </a:defRPr>
            </a:pPr>
            <a:r>
              <a:t>What else is it called?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6634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64748B"/>
                </a:solidFill>
                <a:latin typeface="Helvetica Neue"/>
              </a:defRPr>
            </a:pPr>
            <a:r>
              <a:t>aliases → Neo4j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8A6A2E"/>
                </a:solidFill>
                <a:latin typeface="Helvetica Neue"/>
              </a:defRPr>
            </a:pPr>
            <a:r>
              <a:t>A node can be renamed HOUSING or Housing or “the housing we have” without changing what it merges with.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0F172A"/>
                </a:solidFill>
                <a:latin typeface="Helvetica Neue"/>
              </a:defRPr>
            </a:pPr>
            <a: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Beam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Every loaded subgraph, with a checkbox and its size. Tick to include.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Composite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Merge the ticked ones. Shared nodes fuse; loops close across contributors.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Shared-node highlighting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Unticked pieces light up when they overlap your selection — brighter the more they touch.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Bridge / Partition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Which piece would CONNECT two you have? And: split a composite back apart.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0F172A"/>
                </a:solidFill>
                <a:latin typeface="Helvetica Neue"/>
              </a:defRPr>
            </a:pPr>
            <a:r>
              <a:t>The highlight is a promise, not a hint</a:t>
            </a:r>
          </a:p>
          <a:p>
            <a:pPr>
              <a:spcAft>
                <a:spcPts val="0"/>
              </a:spcAft>
              <a:defRPr sz="1600" b="0">
                <a:solidFill>
                  <a:srgbClr val="64748B"/>
                </a:solidFill>
                <a:latin typeface="Helvetica Neue"/>
              </a:defRPr>
            </a:pPr>
            <a:r>
              <a:t>It uses the same key as the merge.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A lit row means compositing it WILL fuse those nodes.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Not “might be related.” Hover the badge and it names them.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Select one subgraph → 4 light up. Add a second → 10. Add a third → 12.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Overlap accumulates visibly as you tick.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It stays dark when there is genuinely nothing.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Which is what makes it worth trusting when it lights.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0F172A"/>
                </a:solidFill>
                <a:latin typeface="Helvetica Neue"/>
              </a:defRPr>
            </a:pPr>
            <a:r>
              <a:t>Worked example — the EIP schema</a:t>
            </a:r>
          </a:p>
          <a:p>
            <a:pPr>
              <a:spcAft>
                <a:spcPts val="0"/>
              </a:spcAft>
              <a:defRPr sz="1600" b="0">
                <a:solidFill>
                  <a:srgbClr val="64748B"/>
                </a:solidFill>
                <a:latin typeface="Helvetica Neue"/>
              </a:defRPr>
            </a:pPr>
            <a:r>
              <a:t>Sixteen curated aspect files. Two to eight nodes each.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74 source nodes → 25 in the composite.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Matching the whole-schema reference exactly. No duplicates. 49 recognised as repeats.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And it recovered what flattening had lost.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Person–experience→Motivation. Place–support→Person. Conversation–for→Action.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Edge labels that had been fused came back apart.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“create / stimulates” was two separate relations.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8A6A2E"/>
                </a:solidFill>
                <a:latin typeface="Helvetica Neue"/>
              </a:defRPr>
            </a:pPr>
            <a:r>
              <a:t>The subgraphs are the better source of truth.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0F172A"/>
                </a:solidFill>
                <a:latin typeface="Helvetica Neue"/>
              </a:defRPr>
            </a:pPr>
            <a:r>
              <a:t>Where it came from</a:t>
            </a:r>
          </a:p>
          <a:p>
            <a:pPr>
              <a:spcAft>
                <a:spcPts val="0"/>
              </a:spcAft>
              <a:defRPr sz="1600" b="0">
                <a:solidFill>
                  <a:srgbClr val="64748B"/>
                </a:solidFill>
                <a:latin typeface="Helvetica Neue"/>
              </a:defRPr>
            </a:pPr>
            <a:r>
              <a:t>Ward Cunningham's Solo Super Collaborator — public, live, and findable.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wardcunningham.github.io/graph/graph.js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His Graph class. addUniqNode() carries the same merge rule. clusters() is our Partition.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WardCunningham/assets · pages/mock-graph-data/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37 files. creator.html and composite.html are the originals.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paul90/wiki-plugin-solo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The solo item — the lineup popup the live pipeline posts into.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8A6A2E"/>
                </a:solidFill>
                <a:latin typeface="Helvetica Neue"/>
              </a:defRPr>
            </a:pPr>
            <a:r>
              <a:t>Not yet borrowed: Ward resolves names against the roster, binding identity to a real federated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4400" b="1">
                <a:solidFill>
                  <a:srgbClr val="FFFFFF"/>
                </a:solidFill>
                <a:latin typeface="Helvetica Neue"/>
              </a:defRPr>
            </a:pPr>
            <a:r>
              <a:t>No wiki required.</a:t>
            </a:r>
          </a:p>
          <a:p>
            <a:pPr>
              <a:spcAft>
                <a:spcPts val="1600"/>
              </a:spcAft>
              <a:defRPr sz="2200" b="0">
                <a:solidFill>
                  <a:srgbClr val="CBD5E1"/>
                </a:solidFill>
                <a:latin typeface="Helvetica Neue"/>
              </a:defRPr>
            </a:pPr>
            <a:r>
              <a:t>The schema labels live in the files. A FedWiki roster is one convenient way to look standard names up — it is not the price of entry.</a:t>
            </a:r>
          </a:p>
          <a:p>
            <a:pPr>
              <a:spcAft>
                <a:spcPts val="0"/>
              </a:spcAft>
              <a:defRPr sz="1800" b="1">
                <a:solidFill>
                  <a:srgbClr val="93C5FD"/>
                </a:solidFill>
                <a:latin typeface="Helvetica Neue"/>
              </a:defRPr>
            </a:pPr>
            <a:r>
              <a:t>A folder of JSON files works exactly as well.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0F172A"/>
                </a:solidFill>
                <a:latin typeface="Helvetica Neue"/>
              </a:defRPr>
            </a:pPr>
            <a:r>
              <a:t>Composer or Graph Tool?</a:t>
            </a:r>
          </a:p>
          <a:p>
            <a:pPr>
              <a:spcAft>
                <a:spcPts val="0"/>
              </a:spcAft>
              <a:defRPr sz="1600" b="0">
                <a:solidFill>
                  <a:srgbClr val="64748B"/>
                </a:solidFill>
                <a:latin typeface="Helvetica Neue"/>
              </a:defRPr>
            </a:pPr>
            <a:r>
              <a:t>Different verbs, deliberately kept apart.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Graph Tool — authoring ONE graph.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Modes, layouts, icons, legend-as-registry, CLD loops, exports. 5,300 lines.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Composer — assembling MANY graphs.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Beam, merge, bridge, partition. Deliberately small.</a:t>
            </a:r>
          </a:p>
          <a:p>
            <a:pPr>
              <a:spcAft>
                <a:spcPts val="400"/>
              </a:spcAft>
              <a:defRPr sz="2000" b="1">
                <a:solidFill>
                  <a:srgbClr val="334155"/>
                </a:solidFill>
                <a:latin typeface="Helvetica Neue"/>
              </a:defRPr>
            </a:pPr>
            <a:r>
              <a:t>They share a file format.</a:t>
            </a:r>
          </a:p>
          <a:p>
            <a:pPr>
              <a:spcAft>
                <a:spcPts val="1600"/>
              </a:spcAft>
              <a:defRPr sz="1500" b="0">
                <a:solidFill>
                  <a:srgbClr val="64748B"/>
                </a:solidFill>
                <a:latin typeface="Helvetica Neue"/>
              </a:defRPr>
            </a:pPr>
            <a:r>
              <a:t>Draw the pieces → assemble → export → dress for an audience.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149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93C5FD"/>
                </a:solidFill>
                <a:latin typeface="Helvetica Neue"/>
              </a:defRPr>
            </a:pPr>
            <a:r>
              <a:t>The one-line version</a:t>
            </a:r>
          </a:p>
          <a:p>
            <a:pPr>
              <a:spcAft>
                <a:spcPts val="1600"/>
              </a:spcAft>
              <a:defRPr sz="3400" b="1">
                <a:solidFill>
                  <a:srgbClr val="FFFFFF"/>
                </a:solidFill>
                <a:latin typeface="Helvetica Neue"/>
              </a:defRPr>
            </a:pPr>
            <a:r>
              <a:t>Keep the pieces small enough to read. Let the machine find where they join.</a:t>
            </a:r>
          </a:p>
          <a:p>
            <a:pPr>
              <a:spcAft>
                <a:spcPts val="0"/>
              </a:spcAft>
              <a:defRPr sz="1900" b="0">
                <a:solidFill>
                  <a:srgbClr val="CBD5E1"/>
                </a:solidFill>
                <a:latin typeface="Helvetica Neue"/>
              </a:defRPr>
            </a:pPr>
            <a:r>
              <a:t>Nobody draws the whole thing, and nobody has to agree on wording first — only on what things 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