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A5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12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1965960"/>
            <a:ext cx="1463040"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7315200" cy="320040"/>
          </a:xfrm>
          <a:prstGeom prst="rect">
            <a:avLst/>
          </a:prstGeom>
          <a:noFill/>
        </p:spPr>
        <p:txBody>
          <a:bodyPr wrap="square" anchor="t">
            <a:spAutoFit/>
          </a:bodyPr>
          <a:lstStyle/>
          <a:p>
            <a:pPr algn="l">
              <a:lnSpc>
                <a:spcPct val="100000"/>
              </a:lnSpc>
            </a:pPr>
            <a:r>
              <a:rPr sz="1250" b="1" i="0">
                <a:solidFill>
                  <a:srgbClr val="7BA7C7"/>
                </a:solidFill>
                <a:latin typeface="Calibri"/>
              </a:rPr>
              <a:t>ReLocalize Creativity Network</a:t>
            </a:r>
          </a:p>
        </p:txBody>
      </p:sp>
      <p:sp>
        <p:nvSpPr>
          <p:cNvPr id="5" name="TextBox 4"/>
          <p:cNvSpPr txBox="1"/>
          <p:nvPr/>
        </p:nvSpPr>
        <p:spPr>
          <a:xfrm>
            <a:off x="777240" y="2286000"/>
            <a:ext cx="10058400" cy="1005840"/>
          </a:xfrm>
          <a:prstGeom prst="rect">
            <a:avLst/>
          </a:prstGeom>
          <a:noFill/>
        </p:spPr>
        <p:txBody>
          <a:bodyPr wrap="square" anchor="t">
            <a:spAutoFit/>
          </a:bodyPr>
          <a:lstStyle/>
          <a:p>
            <a:pPr algn="l">
              <a:lnSpc>
                <a:spcPct val="100000"/>
              </a:lnSpc>
            </a:pPr>
            <a:r>
              <a:rPr sz="4800" b="1" i="0">
                <a:solidFill>
                  <a:srgbClr val="FFFFFF"/>
                </a:solidFill>
                <a:latin typeface="Calibri"/>
              </a:rPr>
              <a:t>RCN Rasch</a:t>
            </a:r>
          </a:p>
        </p:txBody>
      </p:sp>
      <p:sp>
        <p:nvSpPr>
          <p:cNvPr id="6" name="TextBox 5"/>
          <p:cNvSpPr txBox="1"/>
          <p:nvPr/>
        </p:nvSpPr>
        <p:spPr>
          <a:xfrm>
            <a:off x="777240" y="3337560"/>
            <a:ext cx="9601200" cy="457200"/>
          </a:xfrm>
          <a:prstGeom prst="rect">
            <a:avLst/>
          </a:prstGeom>
          <a:noFill/>
        </p:spPr>
        <p:txBody>
          <a:bodyPr wrap="square" anchor="t">
            <a:spAutoFit/>
          </a:bodyPr>
          <a:lstStyle/>
          <a:p>
            <a:pPr algn="l">
              <a:lnSpc>
                <a:spcPct val="100000"/>
              </a:lnSpc>
            </a:pPr>
            <a:r>
              <a:rPr sz="1900" b="0" i="0">
                <a:solidFill>
                  <a:srgbClr val="C6DBEA"/>
                </a:solidFill>
                <a:latin typeface="Calibri"/>
              </a:rPr>
              <a:t>Why a total score is not a measurement, and what a Wright map adds</a:t>
            </a:r>
          </a:p>
        </p:txBody>
      </p:sp>
      <p:sp>
        <p:nvSpPr>
          <p:cNvPr id="7" name="TextBox 6"/>
          <p:cNvSpPr txBox="1"/>
          <p:nvPr/>
        </p:nvSpPr>
        <p:spPr>
          <a:xfrm>
            <a:off x="777240" y="3886200"/>
            <a:ext cx="9601200" cy="365760"/>
          </a:xfrm>
          <a:prstGeom prst="rect">
            <a:avLst/>
          </a:prstGeom>
          <a:noFill/>
        </p:spPr>
        <p:txBody>
          <a:bodyPr wrap="square" anchor="t">
            <a:spAutoFit/>
          </a:bodyPr>
          <a:lstStyle/>
          <a:p>
            <a:pPr algn="l">
              <a:lnSpc>
                <a:spcPct val="100000"/>
              </a:lnSpc>
            </a:pPr>
            <a:r>
              <a:rPr sz="1300" b="0" i="1">
                <a:solidFill>
                  <a:srgbClr val="7BA7C7"/>
                </a:solidFill>
                <a:latin typeface="Calibri"/>
              </a:rPr>
              <a:t>Rasch measurement · after Rasch, Wright and Linacre · built for the SODOTO badge ledger</a:t>
            </a:r>
          </a:p>
        </p:txBody>
      </p:sp>
      <p:sp>
        <p:nvSpPr>
          <p:cNvPr id="8" name="TextBox 7"/>
          <p:cNvSpPr txBox="1"/>
          <p:nvPr/>
        </p:nvSpPr>
        <p:spPr>
          <a:xfrm>
            <a:off x="777240" y="6035040"/>
            <a:ext cx="3657600" cy="274320"/>
          </a:xfrm>
          <a:prstGeom prst="rect">
            <a:avLst/>
          </a:prstGeom>
          <a:noFill/>
        </p:spPr>
        <p:txBody>
          <a:bodyPr wrap="square" anchor="t">
            <a:spAutoFit/>
          </a:bodyPr>
          <a:lstStyle/>
          <a:p>
            <a:pPr algn="l">
              <a:lnSpc>
                <a:spcPct val="100000"/>
              </a:lnSpc>
            </a:pPr>
            <a:r>
              <a:rPr sz="1100" b="0" i="0">
                <a:solidFill>
                  <a:srgbClr val="5D82A0"/>
                </a:solidFill>
                <a:latin typeface="Calibri"/>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WHERE WE ARE</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You are already counting</a:t>
            </a:r>
          </a:p>
        </p:txBody>
      </p:sp>
      <p:sp>
        <p:nvSpPr>
          <p:cNvPr id="4" name="TextBox 3"/>
          <p:cNvSpPr txBox="1"/>
          <p:nvPr/>
        </p:nvSpPr>
        <p:spPr>
          <a:xfrm>
            <a:off x="777240" y="1965960"/>
            <a:ext cx="10607040" cy="457200"/>
          </a:xfrm>
          <a:prstGeom prst="rect">
            <a:avLst/>
          </a:prstGeom>
          <a:noFill/>
        </p:spPr>
        <p:txBody>
          <a:bodyPr wrap="square" anchor="t">
            <a:spAutoFit/>
          </a:bodyPr>
          <a:lstStyle/>
          <a:p>
            <a:pPr algn="l">
              <a:lnSpc>
                <a:spcPct val="100000"/>
              </a:lnSpc>
            </a:pPr>
            <a:r>
              <a:rPr sz="1900" b="0" i="0">
                <a:solidFill>
                  <a:srgbClr val="475569"/>
                </a:solidFill>
                <a:latin typeface="Calibri"/>
              </a:rPr>
              <a:t>Every one of these produces a total. None of them produces a measure.</a:t>
            </a:r>
          </a:p>
        </p:txBody>
      </p:sp>
      <p:sp>
        <p:nvSpPr>
          <p:cNvPr id="5" name="Rectangle 4"/>
          <p:cNvSpPr/>
          <p:nvPr/>
        </p:nvSpPr>
        <p:spPr>
          <a:xfrm>
            <a:off x="777240" y="2697480"/>
            <a:ext cx="2514600" cy="13716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697480"/>
            <a:ext cx="50292" cy="137160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880360"/>
            <a:ext cx="2057400" cy="365760"/>
          </a:xfrm>
          <a:prstGeom prst="rect">
            <a:avLst/>
          </a:prstGeom>
          <a:noFill/>
        </p:spPr>
        <p:txBody>
          <a:bodyPr wrap="square" anchor="t">
            <a:spAutoFit/>
          </a:bodyPr>
          <a:lstStyle/>
          <a:p>
            <a:pPr algn="l">
              <a:lnSpc>
                <a:spcPct val="100000"/>
              </a:lnSpc>
            </a:pPr>
            <a:r>
              <a:rPr sz="1400" b="1" i="0">
                <a:solidFill>
                  <a:srgbClr val="0F172A"/>
                </a:solidFill>
                <a:latin typeface="Calibri"/>
              </a:rPr>
              <a:t>Badges held</a:t>
            </a:r>
          </a:p>
        </p:txBody>
      </p:sp>
      <p:sp>
        <p:nvSpPr>
          <p:cNvPr id="8" name="TextBox 7"/>
          <p:cNvSpPr txBox="1"/>
          <p:nvPr/>
        </p:nvSpPr>
        <p:spPr>
          <a:xfrm>
            <a:off x="1033271" y="3355848"/>
            <a:ext cx="2057400" cy="548640"/>
          </a:xfrm>
          <a:prstGeom prst="rect">
            <a:avLst/>
          </a:prstGeom>
          <a:noFill/>
        </p:spPr>
        <p:txBody>
          <a:bodyPr wrap="square" anchor="t">
            <a:spAutoFit/>
          </a:bodyPr>
          <a:lstStyle/>
          <a:p>
            <a:pPr algn="l">
              <a:lnSpc>
                <a:spcPct val="110000"/>
              </a:lnSpc>
            </a:pPr>
            <a:r>
              <a:rPr sz="1150" b="0" i="0">
                <a:solidFill>
                  <a:srgbClr val="475569"/>
                </a:solidFill>
                <a:latin typeface="Calibri"/>
              </a:rPr>
              <a:t>SODOTO ledger — how many of the skills a person has been badged on</a:t>
            </a:r>
          </a:p>
        </p:txBody>
      </p:sp>
      <p:sp>
        <p:nvSpPr>
          <p:cNvPr id="9" name="Rectangle 8"/>
          <p:cNvSpPr/>
          <p:nvPr/>
        </p:nvSpPr>
        <p:spPr>
          <a:xfrm>
            <a:off x="3520440" y="2697480"/>
            <a:ext cx="2514600" cy="13716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20440" y="2697480"/>
            <a:ext cx="50292" cy="137160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76472" y="2880360"/>
            <a:ext cx="2057400" cy="365760"/>
          </a:xfrm>
          <a:prstGeom prst="rect">
            <a:avLst/>
          </a:prstGeom>
          <a:noFill/>
        </p:spPr>
        <p:txBody>
          <a:bodyPr wrap="square" anchor="t">
            <a:spAutoFit/>
          </a:bodyPr>
          <a:lstStyle/>
          <a:p>
            <a:pPr algn="l">
              <a:lnSpc>
                <a:spcPct val="100000"/>
              </a:lnSpc>
            </a:pPr>
            <a:r>
              <a:rPr sz="1400" b="1" i="0">
                <a:solidFill>
                  <a:srgbClr val="0F172A"/>
                </a:solidFill>
                <a:latin typeface="Calibri"/>
              </a:rPr>
              <a:t>Survey scores</a:t>
            </a:r>
          </a:p>
        </p:txBody>
      </p:sp>
      <p:sp>
        <p:nvSpPr>
          <p:cNvPr id="12" name="TextBox 11"/>
          <p:cNvSpPr txBox="1"/>
          <p:nvPr/>
        </p:nvSpPr>
        <p:spPr>
          <a:xfrm>
            <a:off x="3776472" y="3355848"/>
            <a:ext cx="2057400" cy="548640"/>
          </a:xfrm>
          <a:prstGeom prst="rect">
            <a:avLst/>
          </a:prstGeom>
          <a:noFill/>
        </p:spPr>
        <p:txBody>
          <a:bodyPr wrap="square" anchor="t">
            <a:spAutoFit/>
          </a:bodyPr>
          <a:lstStyle/>
          <a:p>
            <a:pPr algn="l">
              <a:lnSpc>
                <a:spcPct val="110000"/>
              </a:lnSpc>
            </a:pPr>
            <a:r>
              <a:rPr sz="1150" b="0" i="0">
                <a:solidFill>
                  <a:srgbClr val="475569"/>
                </a:solidFill>
                <a:latin typeface="Calibri"/>
              </a:rPr>
              <a:t>seven statements, 1 to 5 each, added up to a number out of 35</a:t>
            </a:r>
          </a:p>
        </p:txBody>
      </p:sp>
      <p:sp>
        <p:nvSpPr>
          <p:cNvPr id="13" name="Rectangle 12"/>
          <p:cNvSpPr/>
          <p:nvPr/>
        </p:nvSpPr>
        <p:spPr>
          <a:xfrm>
            <a:off x="6263640" y="2697480"/>
            <a:ext cx="2514600" cy="13716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2697480"/>
            <a:ext cx="50292" cy="137160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2880360"/>
            <a:ext cx="2057400" cy="365760"/>
          </a:xfrm>
          <a:prstGeom prst="rect">
            <a:avLst/>
          </a:prstGeom>
          <a:noFill/>
        </p:spPr>
        <p:txBody>
          <a:bodyPr wrap="square" anchor="t">
            <a:spAutoFit/>
          </a:bodyPr>
          <a:lstStyle/>
          <a:p>
            <a:pPr algn="l">
              <a:lnSpc>
                <a:spcPct val="100000"/>
              </a:lnSpc>
            </a:pPr>
            <a:r>
              <a:rPr sz="1400" b="1" i="0">
                <a:solidFill>
                  <a:srgbClr val="0F172A"/>
                </a:solidFill>
                <a:latin typeface="Calibri"/>
              </a:rPr>
              <a:t>Checklist items met</a:t>
            </a:r>
          </a:p>
        </p:txBody>
      </p:sp>
      <p:sp>
        <p:nvSpPr>
          <p:cNvPr id="16" name="TextBox 15"/>
          <p:cNvSpPr txBox="1"/>
          <p:nvPr/>
        </p:nvSpPr>
        <p:spPr>
          <a:xfrm>
            <a:off x="6519672" y="3355848"/>
            <a:ext cx="2057400" cy="548640"/>
          </a:xfrm>
          <a:prstGeom prst="rect">
            <a:avLst/>
          </a:prstGeom>
          <a:noFill/>
        </p:spPr>
        <p:txBody>
          <a:bodyPr wrap="square" anchor="t">
            <a:spAutoFit/>
          </a:bodyPr>
          <a:lstStyle/>
          <a:p>
            <a:pPr algn="l">
              <a:lnSpc>
                <a:spcPct val="110000"/>
              </a:lnSpc>
            </a:pPr>
            <a:r>
              <a:rPr sz="1150" b="0" i="0">
                <a:solidFill>
                  <a:srgbClr val="475569"/>
                </a:solidFill>
                <a:latin typeface="Calibri"/>
              </a:rPr>
              <a:t>a site audit — how many of the practices are in place</a:t>
            </a:r>
          </a:p>
        </p:txBody>
      </p:sp>
      <p:sp>
        <p:nvSpPr>
          <p:cNvPr id="17" name="Rectangle 16"/>
          <p:cNvSpPr/>
          <p:nvPr/>
        </p:nvSpPr>
        <p:spPr>
          <a:xfrm>
            <a:off x="9006840" y="2697480"/>
            <a:ext cx="2514600" cy="13716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06840" y="2697480"/>
            <a:ext cx="50292" cy="137160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62872" y="2880360"/>
            <a:ext cx="2057400" cy="365760"/>
          </a:xfrm>
          <a:prstGeom prst="rect">
            <a:avLst/>
          </a:prstGeom>
          <a:noFill/>
        </p:spPr>
        <p:txBody>
          <a:bodyPr wrap="square" anchor="t">
            <a:spAutoFit/>
          </a:bodyPr>
          <a:lstStyle/>
          <a:p>
            <a:pPr algn="l">
              <a:lnSpc>
                <a:spcPct val="100000"/>
              </a:lnSpc>
            </a:pPr>
            <a:r>
              <a:rPr sz="1400" b="1" i="0">
                <a:solidFill>
                  <a:srgbClr val="0F172A"/>
                </a:solidFill>
                <a:latin typeface="Calibri"/>
              </a:rPr>
              <a:t>Activation levels</a:t>
            </a:r>
          </a:p>
        </p:txBody>
      </p:sp>
      <p:sp>
        <p:nvSpPr>
          <p:cNvPr id="20" name="TextBox 19"/>
          <p:cNvSpPr txBox="1"/>
          <p:nvPr/>
        </p:nvSpPr>
        <p:spPr>
          <a:xfrm>
            <a:off x="9262872" y="3355848"/>
            <a:ext cx="2057400" cy="548640"/>
          </a:xfrm>
          <a:prstGeom prst="rect">
            <a:avLst/>
          </a:prstGeom>
          <a:noFill/>
        </p:spPr>
        <p:txBody>
          <a:bodyPr wrap="square" anchor="t">
            <a:spAutoFit/>
          </a:bodyPr>
          <a:lstStyle/>
          <a:p>
            <a:pPr algn="l">
              <a:lnSpc>
                <a:spcPct val="110000"/>
              </a:lnSpc>
            </a:pPr>
            <a:r>
              <a:rPr sz="1150" b="0" i="0">
                <a:solidFill>
                  <a:srgbClr val="475569"/>
                </a:solidFill>
                <a:latin typeface="Calibri"/>
              </a:rPr>
              <a:t>the Patient Activation Measure, which came out of exactly this method</a:t>
            </a:r>
          </a:p>
        </p:txBody>
      </p:sp>
      <p:sp>
        <p:nvSpPr>
          <p:cNvPr id="21" name="Rectangle 20"/>
          <p:cNvSpPr/>
          <p:nvPr/>
        </p:nvSpPr>
        <p:spPr>
          <a:xfrm>
            <a:off x="777240" y="4434840"/>
            <a:ext cx="10607040" cy="1234440"/>
          </a:xfrm>
          <a:prstGeom prst="rect">
            <a:avLst/>
          </a:prstGeom>
          <a:solidFill>
            <a:srgbClr val="DBEAF6"/>
          </a:solidFill>
          <a:ln w="15875">
            <a:solidFill>
              <a:srgbClr val="1E5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572000"/>
            <a:ext cx="10058400" cy="329184"/>
          </a:xfrm>
          <a:prstGeom prst="rect">
            <a:avLst/>
          </a:prstGeom>
          <a:noFill/>
        </p:spPr>
        <p:txBody>
          <a:bodyPr wrap="square" anchor="t">
            <a:spAutoFit/>
          </a:bodyPr>
          <a:lstStyle/>
          <a:p>
            <a:pPr algn="l">
              <a:lnSpc>
                <a:spcPct val="100000"/>
              </a:lnSpc>
            </a:pPr>
            <a:r>
              <a:rPr sz="1500" b="1" i="0">
                <a:solidFill>
                  <a:srgbClr val="123A5A"/>
                </a:solidFill>
                <a:latin typeface="Calibri"/>
              </a:rPr>
              <a:t>A total counts rungs on a ladder nobody has measured</a:t>
            </a:r>
          </a:p>
        </p:txBody>
      </p:sp>
      <p:sp>
        <p:nvSpPr>
          <p:cNvPr id="23" name="TextBox 22"/>
          <p:cNvSpPr txBox="1"/>
          <p:nvPr/>
        </p:nvSpPr>
        <p:spPr>
          <a:xfrm>
            <a:off x="1051560" y="4965192"/>
            <a:ext cx="10058400" cy="576072"/>
          </a:xfrm>
          <a:prstGeom prst="rect">
            <a:avLst/>
          </a:prstGeom>
          <a:noFill/>
        </p:spPr>
        <p:txBody>
          <a:bodyPr wrap="square" anchor="t">
            <a:spAutoFit/>
          </a:bodyPr>
          <a:lstStyle/>
          <a:p>
            <a:pPr algn="l">
              <a:lnSpc>
                <a:spcPct val="112000"/>
              </a:lnSpc>
            </a:pPr>
            <a:r>
              <a:rPr sz="1250" b="0" i="0">
                <a:solidFill>
                  <a:srgbClr val="475569"/>
                </a:solidFill>
                <a:latin typeface="Calibri"/>
              </a:rPr>
              <a:t>Ten badges is more than two. But is it five times as capable? Which two? Is the step from the second badge to the third the same size as the step from the ninth to the tenth? A count cannot say. It assumes every item is equally hard and every step is the same size — and neither is ever checked.</a:t>
            </a:r>
          </a:p>
        </p:txBody>
      </p:sp>
      <p:sp>
        <p:nvSpPr>
          <p:cNvPr id="24" name="TextBox 23"/>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Rasch</a:t>
            </a:r>
          </a:p>
        </p:txBody>
      </p:sp>
      <p:sp>
        <p:nvSpPr>
          <p:cNvPr id="25" name="TextBox 24"/>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3A5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12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1828800"/>
            <a:ext cx="1463040"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240280"/>
            <a:ext cx="10972800" cy="731520"/>
          </a:xfrm>
          <a:prstGeom prst="rect">
            <a:avLst/>
          </a:prstGeom>
          <a:noFill/>
        </p:spPr>
        <p:txBody>
          <a:bodyPr wrap="square" anchor="t">
            <a:spAutoFit/>
          </a:bodyPr>
          <a:lstStyle/>
          <a:p>
            <a:pPr algn="l">
              <a:lnSpc>
                <a:spcPct val="100000"/>
              </a:lnSpc>
            </a:pPr>
            <a:r>
              <a:rPr sz="3800" b="1" i="0">
                <a:solidFill>
                  <a:srgbClr val="FFFFFF"/>
                </a:solidFill>
                <a:latin typeface="Calibri"/>
              </a:rPr>
              <a:t>A total score tells you how many.</a:t>
            </a:r>
          </a:p>
        </p:txBody>
      </p:sp>
      <p:sp>
        <p:nvSpPr>
          <p:cNvPr id="5" name="TextBox 4"/>
          <p:cNvSpPr txBox="1"/>
          <p:nvPr/>
        </p:nvSpPr>
        <p:spPr>
          <a:xfrm>
            <a:off x="777240" y="3063240"/>
            <a:ext cx="10972800" cy="731520"/>
          </a:xfrm>
          <a:prstGeom prst="rect">
            <a:avLst/>
          </a:prstGeom>
          <a:noFill/>
        </p:spPr>
        <p:txBody>
          <a:bodyPr wrap="square" anchor="t">
            <a:spAutoFit/>
          </a:bodyPr>
          <a:lstStyle/>
          <a:p>
            <a:pPr algn="l">
              <a:lnSpc>
                <a:spcPct val="100000"/>
              </a:lnSpc>
            </a:pPr>
            <a:r>
              <a:rPr sz="3800" b="1" i="0">
                <a:solidFill>
                  <a:srgbClr val="F5B04A"/>
                </a:solidFill>
                <a:latin typeface="Calibri"/>
              </a:rPr>
              <a:t>It does not tell you how much.</a:t>
            </a:r>
          </a:p>
        </p:txBody>
      </p:sp>
      <p:sp>
        <p:nvSpPr>
          <p:cNvPr id="6" name="TextBox 5"/>
          <p:cNvSpPr txBox="1"/>
          <p:nvPr/>
        </p:nvSpPr>
        <p:spPr>
          <a:xfrm>
            <a:off x="777240" y="4160520"/>
            <a:ext cx="9601200" cy="1097280"/>
          </a:xfrm>
          <a:prstGeom prst="rect">
            <a:avLst/>
          </a:prstGeom>
          <a:noFill/>
        </p:spPr>
        <p:txBody>
          <a:bodyPr wrap="square" anchor="t">
            <a:spAutoFit/>
          </a:bodyPr>
          <a:lstStyle/>
          <a:p>
            <a:pPr algn="l">
              <a:lnSpc>
                <a:spcPct val="120000"/>
              </a:lnSpc>
            </a:pPr>
            <a:r>
              <a:rPr sz="1600" b="0" i="0">
                <a:solidFill>
                  <a:srgbClr val="C6DBEA"/>
                </a:solidFill>
                <a:latin typeface="Calibri"/>
              </a:rPr>
              <a:t>Measurement puts the people and the items on one ruler with known spacing. That is a different thing from adding up, and only one model makes adding up defensible — because it is the one in which the raw score is enough to place a person on the ruler.</a:t>
            </a:r>
          </a:p>
        </p:txBody>
      </p:sp>
      <p:sp>
        <p:nvSpPr>
          <p:cNvPr id="7" name="TextBox 6"/>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Rasch</a:t>
            </a:r>
          </a:p>
        </p:txBody>
      </p:sp>
      <p:sp>
        <p:nvSpPr>
          <p:cNvPr id="8" name="TextBox 7"/>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THE MODEL</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One ruler, two kinds of thing on it</a:t>
            </a:r>
          </a:p>
        </p:txBody>
      </p:sp>
      <p:sp>
        <p:nvSpPr>
          <p:cNvPr id="4" name="TextBox 3"/>
          <p:cNvSpPr txBox="1"/>
          <p:nvPr/>
        </p:nvSpPr>
        <p:spPr>
          <a:xfrm>
            <a:off x="777240" y="1965960"/>
            <a:ext cx="10607040" cy="457200"/>
          </a:xfrm>
          <a:prstGeom prst="rect">
            <a:avLst/>
          </a:prstGeom>
          <a:noFill/>
        </p:spPr>
        <p:txBody>
          <a:bodyPr wrap="square" anchor="t">
            <a:spAutoFit/>
          </a:bodyPr>
          <a:lstStyle/>
          <a:p>
            <a:pPr algn="l">
              <a:lnSpc>
                <a:spcPct val="100000"/>
              </a:lnSpc>
            </a:pPr>
            <a:r>
              <a:rPr sz="1700" b="0" i="0">
                <a:solidFill>
                  <a:srgbClr val="475569"/>
                </a:solidFill>
                <a:latin typeface="Calibri"/>
              </a:rPr>
              <a:t>Georg Rasch, 1960. The odds that a person succeeds at an item depend only on the distance between them.</a:t>
            </a:r>
          </a:p>
        </p:txBody>
      </p:sp>
      <p:sp>
        <p:nvSpPr>
          <p:cNvPr id="5" name="Rectangle 4"/>
          <p:cNvSpPr/>
          <p:nvPr/>
        </p:nvSpPr>
        <p:spPr>
          <a:xfrm>
            <a:off x="777240" y="2606040"/>
            <a:ext cx="4937760" cy="10515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743200"/>
            <a:ext cx="4572000" cy="411480"/>
          </a:xfrm>
          <a:prstGeom prst="rect">
            <a:avLst/>
          </a:prstGeom>
          <a:noFill/>
        </p:spPr>
        <p:txBody>
          <a:bodyPr wrap="square" anchor="t">
            <a:spAutoFit/>
          </a:bodyPr>
          <a:lstStyle/>
          <a:p>
            <a:pPr algn="l">
              <a:lnSpc>
                <a:spcPct val="100000"/>
              </a:lnSpc>
            </a:pPr>
            <a:r>
              <a:rPr sz="1900" b="1" i="0">
                <a:solidFill>
                  <a:srgbClr val="123A5A"/>
                </a:solidFill>
                <a:latin typeface="Calibri"/>
              </a:rPr>
              <a:t>P(success)  =  e^(B − D) / (1 + e^(B − D))</a:t>
            </a:r>
          </a:p>
        </p:txBody>
      </p:sp>
      <p:sp>
        <p:nvSpPr>
          <p:cNvPr id="7" name="TextBox 6"/>
          <p:cNvSpPr txBox="1"/>
          <p:nvPr/>
        </p:nvSpPr>
        <p:spPr>
          <a:xfrm>
            <a:off x="1005840" y="3200400"/>
            <a:ext cx="4572000" cy="365760"/>
          </a:xfrm>
          <a:prstGeom prst="rect">
            <a:avLst/>
          </a:prstGeom>
          <a:noFill/>
        </p:spPr>
        <p:txBody>
          <a:bodyPr wrap="square" anchor="t">
            <a:spAutoFit/>
          </a:bodyPr>
          <a:lstStyle/>
          <a:p>
            <a:pPr algn="l">
              <a:lnSpc>
                <a:spcPct val="100000"/>
              </a:lnSpc>
            </a:pPr>
            <a:r>
              <a:rPr sz="1150" b="0" i="0">
                <a:solidFill>
                  <a:srgbClr val="475569"/>
                </a:solidFill>
                <a:latin typeface="Calibri"/>
              </a:rPr>
              <a:t>B = person ability     D = item difficulty     both in logits, one scale</a:t>
            </a:r>
          </a:p>
        </p:txBody>
      </p:sp>
      <p:sp>
        <p:nvSpPr>
          <p:cNvPr id="8" name="TextBox 7"/>
          <p:cNvSpPr txBox="1"/>
          <p:nvPr/>
        </p:nvSpPr>
        <p:spPr>
          <a:xfrm>
            <a:off x="6126480" y="2606040"/>
            <a:ext cx="2011680" cy="310896"/>
          </a:xfrm>
          <a:prstGeom prst="rect">
            <a:avLst/>
          </a:prstGeom>
          <a:noFill/>
        </p:spPr>
        <p:txBody>
          <a:bodyPr wrap="square" lIns="54864" rIns="54864" tIns="27432" bIns="27432" anchor="ctr">
            <a:spAutoFit/>
          </a:bodyPr>
          <a:lstStyle/>
          <a:p>
            <a:pPr algn="l"/>
            <a:r>
              <a:rPr sz="1000" b="1">
                <a:solidFill>
                  <a:srgbClr val="94A3B8"/>
                </a:solidFill>
                <a:latin typeface="Calibri"/>
              </a:rPr>
              <a:t>Person minus item</a:t>
            </a:r>
          </a:p>
        </p:txBody>
      </p:sp>
      <p:sp>
        <p:nvSpPr>
          <p:cNvPr id="9" name="TextBox 8"/>
          <p:cNvSpPr txBox="1"/>
          <p:nvPr/>
        </p:nvSpPr>
        <p:spPr>
          <a:xfrm>
            <a:off x="8138160" y="2606040"/>
            <a:ext cx="1463040" cy="310896"/>
          </a:xfrm>
          <a:prstGeom prst="rect">
            <a:avLst/>
          </a:prstGeom>
          <a:noFill/>
        </p:spPr>
        <p:txBody>
          <a:bodyPr wrap="square" lIns="54864" rIns="54864" tIns="27432" bIns="27432" anchor="ctr">
            <a:spAutoFit/>
          </a:bodyPr>
          <a:lstStyle/>
          <a:p>
            <a:pPr algn="r"/>
            <a:r>
              <a:rPr sz="1000" b="1">
                <a:solidFill>
                  <a:srgbClr val="94A3B8"/>
                </a:solidFill>
                <a:latin typeface="Calibri"/>
              </a:rPr>
              <a:t>Odds</a:t>
            </a:r>
          </a:p>
        </p:txBody>
      </p:sp>
      <p:sp>
        <p:nvSpPr>
          <p:cNvPr id="10" name="TextBox 9"/>
          <p:cNvSpPr txBox="1"/>
          <p:nvPr/>
        </p:nvSpPr>
        <p:spPr>
          <a:xfrm>
            <a:off x="9601200" y="2606040"/>
            <a:ext cx="1828800" cy="310896"/>
          </a:xfrm>
          <a:prstGeom prst="rect">
            <a:avLst/>
          </a:prstGeom>
          <a:noFill/>
        </p:spPr>
        <p:txBody>
          <a:bodyPr wrap="square" lIns="54864" rIns="54864" tIns="27432" bIns="27432" anchor="ctr">
            <a:spAutoFit/>
          </a:bodyPr>
          <a:lstStyle/>
          <a:p>
            <a:pPr algn="r"/>
            <a:r>
              <a:rPr sz="1000" b="1">
                <a:solidFill>
                  <a:srgbClr val="94A3B8"/>
                </a:solidFill>
                <a:latin typeface="Calibri"/>
              </a:rPr>
              <a:t>Success</a:t>
            </a:r>
          </a:p>
        </p:txBody>
      </p:sp>
      <p:cxnSp>
        <p:nvCxnSpPr>
          <p:cNvPr id="11" name="Connector 10"/>
          <p:cNvCxnSpPr/>
          <p:nvPr/>
        </p:nvCxnSpPr>
        <p:spPr>
          <a:xfrm>
            <a:off x="6126480" y="2916936"/>
            <a:ext cx="5303520" cy="0"/>
          </a:xfrm>
          <a:prstGeom prst="line">
            <a:avLst/>
          </a:prstGeom>
          <a:ln w="9525">
            <a:solidFill>
              <a:srgbClr val="94A3B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26480" y="2916936"/>
            <a:ext cx="2011680" cy="310896"/>
          </a:xfrm>
          <a:prstGeom prst="rect">
            <a:avLst/>
          </a:prstGeom>
          <a:noFill/>
        </p:spPr>
        <p:txBody>
          <a:bodyPr wrap="square" lIns="54864" rIns="54864" tIns="27432" bIns="27432" anchor="ctr">
            <a:spAutoFit/>
          </a:bodyPr>
          <a:lstStyle/>
          <a:p>
            <a:pPr algn="l"/>
            <a:r>
              <a:rPr sz="1200" b="1">
                <a:solidFill>
                  <a:srgbClr val="0F172A"/>
                </a:solidFill>
                <a:latin typeface="Calibri"/>
              </a:rPr>
              <a:t>+2 logits</a:t>
            </a:r>
          </a:p>
        </p:txBody>
      </p:sp>
      <p:sp>
        <p:nvSpPr>
          <p:cNvPr id="13" name="TextBox 12"/>
          <p:cNvSpPr txBox="1"/>
          <p:nvPr/>
        </p:nvSpPr>
        <p:spPr>
          <a:xfrm>
            <a:off x="8138160" y="2916936"/>
            <a:ext cx="1463040" cy="310896"/>
          </a:xfrm>
          <a:prstGeom prst="rect">
            <a:avLst/>
          </a:prstGeom>
          <a:noFill/>
        </p:spPr>
        <p:txBody>
          <a:bodyPr wrap="square" lIns="54864" rIns="54864" tIns="27432" bIns="27432" anchor="ctr">
            <a:spAutoFit/>
          </a:bodyPr>
          <a:lstStyle/>
          <a:p>
            <a:pPr algn="r"/>
            <a:r>
              <a:rPr sz="1200" b="0">
                <a:solidFill>
                  <a:srgbClr val="475569"/>
                </a:solidFill>
                <a:latin typeface="Calibri"/>
              </a:rPr>
              <a:t>7 : 1</a:t>
            </a:r>
          </a:p>
        </p:txBody>
      </p:sp>
      <p:sp>
        <p:nvSpPr>
          <p:cNvPr id="14" name="TextBox 13"/>
          <p:cNvSpPr txBox="1"/>
          <p:nvPr/>
        </p:nvSpPr>
        <p:spPr>
          <a:xfrm>
            <a:off x="9601200" y="2916936"/>
            <a:ext cx="1828800" cy="310896"/>
          </a:xfrm>
          <a:prstGeom prst="rect">
            <a:avLst/>
          </a:prstGeom>
          <a:noFill/>
        </p:spPr>
        <p:txBody>
          <a:bodyPr wrap="square" lIns="54864" rIns="54864" tIns="27432" bIns="27432" anchor="ctr">
            <a:spAutoFit/>
          </a:bodyPr>
          <a:lstStyle/>
          <a:p>
            <a:pPr algn="r"/>
            <a:r>
              <a:rPr sz="1200" b="0">
                <a:solidFill>
                  <a:srgbClr val="475569"/>
                </a:solidFill>
                <a:latin typeface="Calibri"/>
              </a:rPr>
              <a:t>88%</a:t>
            </a:r>
          </a:p>
        </p:txBody>
      </p:sp>
      <p:cxnSp>
        <p:nvCxnSpPr>
          <p:cNvPr id="15" name="Connector 14"/>
          <p:cNvCxnSpPr/>
          <p:nvPr/>
        </p:nvCxnSpPr>
        <p:spPr>
          <a:xfrm>
            <a:off x="6126480" y="3227832"/>
            <a:ext cx="530352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0" y="3227832"/>
            <a:ext cx="2011680" cy="310896"/>
          </a:xfrm>
          <a:prstGeom prst="rect">
            <a:avLst/>
          </a:prstGeom>
          <a:noFill/>
        </p:spPr>
        <p:txBody>
          <a:bodyPr wrap="square" lIns="54864" rIns="54864" tIns="27432" bIns="27432" anchor="ctr">
            <a:spAutoFit/>
          </a:bodyPr>
          <a:lstStyle/>
          <a:p>
            <a:pPr algn="l"/>
            <a:r>
              <a:rPr sz="1200" b="1">
                <a:solidFill>
                  <a:srgbClr val="0F172A"/>
                </a:solidFill>
                <a:latin typeface="Calibri"/>
              </a:rPr>
              <a:t>+1 logit</a:t>
            </a:r>
          </a:p>
        </p:txBody>
      </p:sp>
      <p:sp>
        <p:nvSpPr>
          <p:cNvPr id="17" name="TextBox 16"/>
          <p:cNvSpPr txBox="1"/>
          <p:nvPr/>
        </p:nvSpPr>
        <p:spPr>
          <a:xfrm>
            <a:off x="8138160" y="3227832"/>
            <a:ext cx="1463040" cy="310896"/>
          </a:xfrm>
          <a:prstGeom prst="rect">
            <a:avLst/>
          </a:prstGeom>
          <a:noFill/>
        </p:spPr>
        <p:txBody>
          <a:bodyPr wrap="square" lIns="54864" rIns="54864" tIns="27432" bIns="27432" anchor="ctr">
            <a:spAutoFit/>
          </a:bodyPr>
          <a:lstStyle/>
          <a:p>
            <a:pPr algn="r"/>
            <a:r>
              <a:rPr sz="1200" b="0">
                <a:solidFill>
                  <a:srgbClr val="475569"/>
                </a:solidFill>
                <a:latin typeface="Calibri"/>
              </a:rPr>
              <a:t>e : 1</a:t>
            </a:r>
          </a:p>
        </p:txBody>
      </p:sp>
      <p:sp>
        <p:nvSpPr>
          <p:cNvPr id="18" name="TextBox 17"/>
          <p:cNvSpPr txBox="1"/>
          <p:nvPr/>
        </p:nvSpPr>
        <p:spPr>
          <a:xfrm>
            <a:off x="9601200" y="3227832"/>
            <a:ext cx="1828800" cy="310896"/>
          </a:xfrm>
          <a:prstGeom prst="rect">
            <a:avLst/>
          </a:prstGeom>
          <a:noFill/>
        </p:spPr>
        <p:txBody>
          <a:bodyPr wrap="square" lIns="54864" rIns="54864" tIns="27432" bIns="27432" anchor="ctr">
            <a:spAutoFit/>
          </a:bodyPr>
          <a:lstStyle/>
          <a:p>
            <a:pPr algn="r"/>
            <a:r>
              <a:rPr sz="1200" b="0">
                <a:solidFill>
                  <a:srgbClr val="475569"/>
                </a:solidFill>
                <a:latin typeface="Calibri"/>
              </a:rPr>
              <a:t>73%</a:t>
            </a:r>
          </a:p>
        </p:txBody>
      </p:sp>
      <p:cxnSp>
        <p:nvCxnSpPr>
          <p:cNvPr id="19" name="Connector 18"/>
          <p:cNvCxnSpPr/>
          <p:nvPr/>
        </p:nvCxnSpPr>
        <p:spPr>
          <a:xfrm>
            <a:off x="6126480" y="3538727"/>
            <a:ext cx="530352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26480" y="3538727"/>
            <a:ext cx="2011680" cy="310896"/>
          </a:xfrm>
          <a:prstGeom prst="rect">
            <a:avLst/>
          </a:prstGeom>
          <a:noFill/>
        </p:spPr>
        <p:txBody>
          <a:bodyPr wrap="square" lIns="54864" rIns="54864" tIns="27432" bIns="27432" anchor="ctr">
            <a:spAutoFit/>
          </a:bodyPr>
          <a:lstStyle/>
          <a:p>
            <a:pPr algn="l"/>
            <a:r>
              <a:rPr sz="1200" b="1">
                <a:solidFill>
                  <a:srgbClr val="0F172A"/>
                </a:solidFill>
                <a:latin typeface="Calibri"/>
              </a:rPr>
              <a:t>0</a:t>
            </a:r>
          </a:p>
        </p:txBody>
      </p:sp>
      <p:sp>
        <p:nvSpPr>
          <p:cNvPr id="21" name="TextBox 20"/>
          <p:cNvSpPr txBox="1"/>
          <p:nvPr/>
        </p:nvSpPr>
        <p:spPr>
          <a:xfrm>
            <a:off x="8138160" y="3538727"/>
            <a:ext cx="1463040" cy="310896"/>
          </a:xfrm>
          <a:prstGeom prst="rect">
            <a:avLst/>
          </a:prstGeom>
          <a:noFill/>
        </p:spPr>
        <p:txBody>
          <a:bodyPr wrap="square" lIns="54864" rIns="54864" tIns="27432" bIns="27432" anchor="ctr">
            <a:spAutoFit/>
          </a:bodyPr>
          <a:lstStyle/>
          <a:p>
            <a:pPr algn="r"/>
            <a:r>
              <a:rPr sz="1200" b="0">
                <a:solidFill>
                  <a:srgbClr val="475569"/>
                </a:solidFill>
                <a:latin typeface="Calibri"/>
              </a:rPr>
              <a:t>even</a:t>
            </a:r>
          </a:p>
        </p:txBody>
      </p:sp>
      <p:sp>
        <p:nvSpPr>
          <p:cNvPr id="22" name="TextBox 21"/>
          <p:cNvSpPr txBox="1"/>
          <p:nvPr/>
        </p:nvSpPr>
        <p:spPr>
          <a:xfrm>
            <a:off x="9601200" y="3538727"/>
            <a:ext cx="1828800" cy="310896"/>
          </a:xfrm>
          <a:prstGeom prst="rect">
            <a:avLst/>
          </a:prstGeom>
          <a:noFill/>
        </p:spPr>
        <p:txBody>
          <a:bodyPr wrap="square" lIns="54864" rIns="54864" tIns="27432" bIns="27432" anchor="ctr">
            <a:spAutoFit/>
          </a:bodyPr>
          <a:lstStyle/>
          <a:p>
            <a:pPr algn="r"/>
            <a:r>
              <a:rPr sz="1200" b="0">
                <a:solidFill>
                  <a:srgbClr val="475569"/>
                </a:solidFill>
                <a:latin typeface="Calibri"/>
              </a:rPr>
              <a:t>50%</a:t>
            </a:r>
          </a:p>
        </p:txBody>
      </p:sp>
      <p:cxnSp>
        <p:nvCxnSpPr>
          <p:cNvPr id="23" name="Connector 22"/>
          <p:cNvCxnSpPr/>
          <p:nvPr/>
        </p:nvCxnSpPr>
        <p:spPr>
          <a:xfrm>
            <a:off x="6126480" y="3849624"/>
            <a:ext cx="530352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126480" y="3849624"/>
            <a:ext cx="2011680" cy="310896"/>
          </a:xfrm>
          <a:prstGeom prst="rect">
            <a:avLst/>
          </a:prstGeom>
          <a:noFill/>
        </p:spPr>
        <p:txBody>
          <a:bodyPr wrap="square" lIns="54864" rIns="54864" tIns="27432" bIns="27432" anchor="ctr">
            <a:spAutoFit/>
          </a:bodyPr>
          <a:lstStyle/>
          <a:p>
            <a:pPr algn="l"/>
            <a:r>
              <a:rPr sz="1200" b="1">
                <a:solidFill>
                  <a:srgbClr val="0F172A"/>
                </a:solidFill>
                <a:latin typeface="Calibri"/>
              </a:rPr>
              <a:t>−1 logit</a:t>
            </a:r>
          </a:p>
        </p:txBody>
      </p:sp>
      <p:sp>
        <p:nvSpPr>
          <p:cNvPr id="25" name="TextBox 24"/>
          <p:cNvSpPr txBox="1"/>
          <p:nvPr/>
        </p:nvSpPr>
        <p:spPr>
          <a:xfrm>
            <a:off x="8138160" y="3849624"/>
            <a:ext cx="1463040" cy="310896"/>
          </a:xfrm>
          <a:prstGeom prst="rect">
            <a:avLst/>
          </a:prstGeom>
          <a:noFill/>
        </p:spPr>
        <p:txBody>
          <a:bodyPr wrap="square" lIns="54864" rIns="54864" tIns="27432" bIns="27432" anchor="ctr">
            <a:spAutoFit/>
          </a:bodyPr>
          <a:lstStyle/>
          <a:p>
            <a:pPr algn="r"/>
            <a:r>
              <a:rPr sz="1200" b="0">
                <a:solidFill>
                  <a:srgbClr val="475569"/>
                </a:solidFill>
                <a:latin typeface="Calibri"/>
              </a:rPr>
              <a:t>1 : e</a:t>
            </a:r>
          </a:p>
        </p:txBody>
      </p:sp>
      <p:sp>
        <p:nvSpPr>
          <p:cNvPr id="26" name="TextBox 25"/>
          <p:cNvSpPr txBox="1"/>
          <p:nvPr/>
        </p:nvSpPr>
        <p:spPr>
          <a:xfrm>
            <a:off x="9601200" y="3849624"/>
            <a:ext cx="1828800" cy="310896"/>
          </a:xfrm>
          <a:prstGeom prst="rect">
            <a:avLst/>
          </a:prstGeom>
          <a:noFill/>
        </p:spPr>
        <p:txBody>
          <a:bodyPr wrap="square" lIns="54864" rIns="54864" tIns="27432" bIns="27432" anchor="ctr">
            <a:spAutoFit/>
          </a:bodyPr>
          <a:lstStyle/>
          <a:p>
            <a:pPr algn="r"/>
            <a:r>
              <a:rPr sz="1200" b="0">
                <a:solidFill>
                  <a:srgbClr val="475569"/>
                </a:solidFill>
                <a:latin typeface="Calibri"/>
              </a:rPr>
              <a:t>27%</a:t>
            </a:r>
          </a:p>
        </p:txBody>
      </p:sp>
      <p:cxnSp>
        <p:nvCxnSpPr>
          <p:cNvPr id="27" name="Connector 26"/>
          <p:cNvCxnSpPr/>
          <p:nvPr/>
        </p:nvCxnSpPr>
        <p:spPr>
          <a:xfrm>
            <a:off x="6126480" y="4160520"/>
            <a:ext cx="530352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126480" y="4160520"/>
            <a:ext cx="2011680" cy="310896"/>
          </a:xfrm>
          <a:prstGeom prst="rect">
            <a:avLst/>
          </a:prstGeom>
          <a:noFill/>
        </p:spPr>
        <p:txBody>
          <a:bodyPr wrap="square" lIns="54864" rIns="54864" tIns="27432" bIns="27432" anchor="ctr">
            <a:spAutoFit/>
          </a:bodyPr>
          <a:lstStyle/>
          <a:p>
            <a:pPr algn="l"/>
            <a:r>
              <a:rPr sz="1200" b="1">
                <a:solidFill>
                  <a:srgbClr val="0F172A"/>
                </a:solidFill>
                <a:latin typeface="Calibri"/>
              </a:rPr>
              <a:t>−2 logits</a:t>
            </a:r>
          </a:p>
        </p:txBody>
      </p:sp>
      <p:sp>
        <p:nvSpPr>
          <p:cNvPr id="29" name="TextBox 28"/>
          <p:cNvSpPr txBox="1"/>
          <p:nvPr/>
        </p:nvSpPr>
        <p:spPr>
          <a:xfrm>
            <a:off x="8138160" y="4160520"/>
            <a:ext cx="1463040" cy="310896"/>
          </a:xfrm>
          <a:prstGeom prst="rect">
            <a:avLst/>
          </a:prstGeom>
          <a:noFill/>
        </p:spPr>
        <p:txBody>
          <a:bodyPr wrap="square" lIns="54864" rIns="54864" tIns="27432" bIns="27432" anchor="ctr">
            <a:spAutoFit/>
          </a:bodyPr>
          <a:lstStyle/>
          <a:p>
            <a:pPr algn="r"/>
            <a:r>
              <a:rPr sz="1200" b="0">
                <a:solidFill>
                  <a:srgbClr val="475569"/>
                </a:solidFill>
                <a:latin typeface="Calibri"/>
              </a:rPr>
              <a:t>1 : 7</a:t>
            </a:r>
          </a:p>
        </p:txBody>
      </p:sp>
      <p:sp>
        <p:nvSpPr>
          <p:cNvPr id="30" name="TextBox 29"/>
          <p:cNvSpPr txBox="1"/>
          <p:nvPr/>
        </p:nvSpPr>
        <p:spPr>
          <a:xfrm>
            <a:off x="9601200" y="4160520"/>
            <a:ext cx="1828800" cy="310896"/>
          </a:xfrm>
          <a:prstGeom prst="rect">
            <a:avLst/>
          </a:prstGeom>
          <a:noFill/>
        </p:spPr>
        <p:txBody>
          <a:bodyPr wrap="square" lIns="54864" rIns="54864" tIns="27432" bIns="27432" anchor="ctr">
            <a:spAutoFit/>
          </a:bodyPr>
          <a:lstStyle/>
          <a:p>
            <a:pPr algn="r"/>
            <a:r>
              <a:rPr sz="1200" b="0">
                <a:solidFill>
                  <a:srgbClr val="475569"/>
                </a:solidFill>
                <a:latin typeface="Calibri"/>
              </a:rPr>
              <a:t>12%</a:t>
            </a:r>
          </a:p>
        </p:txBody>
      </p:sp>
      <p:cxnSp>
        <p:nvCxnSpPr>
          <p:cNvPr id="31" name="Connector 30"/>
          <p:cNvCxnSpPr/>
          <p:nvPr/>
        </p:nvCxnSpPr>
        <p:spPr>
          <a:xfrm>
            <a:off x="6126480" y="4471416"/>
            <a:ext cx="530352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777240" y="4617720"/>
            <a:ext cx="10607040" cy="1184148"/>
          </a:xfrm>
          <a:prstGeom prst="rect">
            <a:avLst/>
          </a:prstGeom>
          <a:solidFill>
            <a:srgbClr val="DBEAF6"/>
          </a:solidFill>
          <a:ln w="15875">
            <a:solidFill>
              <a:srgbClr val="1E5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754880"/>
            <a:ext cx="10058400" cy="329184"/>
          </a:xfrm>
          <a:prstGeom prst="rect">
            <a:avLst/>
          </a:prstGeom>
          <a:noFill/>
        </p:spPr>
        <p:txBody>
          <a:bodyPr wrap="square" anchor="t">
            <a:spAutoFit/>
          </a:bodyPr>
          <a:lstStyle/>
          <a:p>
            <a:pPr algn="l">
              <a:lnSpc>
                <a:spcPct val="100000"/>
              </a:lnSpc>
            </a:pPr>
            <a:r>
              <a:rPr sz="1500" b="1" i="0">
                <a:solidFill>
                  <a:srgbClr val="123A5A"/>
                </a:solidFill>
                <a:latin typeface="Calibri"/>
              </a:rPr>
              <a:t>What makes it a measurement rather than a score</a:t>
            </a:r>
          </a:p>
        </p:txBody>
      </p:sp>
      <p:sp>
        <p:nvSpPr>
          <p:cNvPr id="34" name="TextBox 33"/>
          <p:cNvSpPr txBox="1"/>
          <p:nvPr/>
        </p:nvSpPr>
        <p:spPr>
          <a:xfrm>
            <a:off x="1051560" y="5148072"/>
            <a:ext cx="10058400" cy="525780"/>
          </a:xfrm>
          <a:prstGeom prst="rect">
            <a:avLst/>
          </a:prstGeom>
          <a:noFill/>
        </p:spPr>
        <p:txBody>
          <a:bodyPr wrap="square" anchor="t">
            <a:spAutoFit/>
          </a:bodyPr>
          <a:lstStyle/>
          <a:p>
            <a:pPr algn="l">
              <a:lnSpc>
                <a:spcPct val="112000"/>
              </a:lnSpc>
            </a:pPr>
            <a:r>
              <a:rPr sz="1250" b="0" i="0">
                <a:solidFill>
                  <a:srgbClr val="475569"/>
                </a:solidFill>
                <a:latin typeface="Calibri"/>
              </a:rPr>
              <a:t>Persons and items land on the same ruler. A skill at +1.9 logits is not "hard" in the abstract; a person at +1.9 has even odds on it. That is a claim you can check in a room. And a person's raw score is a sufficient statistic for their measure — the one model in which adding up is honest, and it tells you the spacing of the rungs as it goes.</a:t>
            </a:r>
          </a:p>
        </p:txBody>
      </p:sp>
      <p:sp>
        <p:nvSpPr>
          <p:cNvPr id="35" name="TextBox 34"/>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Rasch</a:t>
            </a:r>
          </a:p>
        </p:txBody>
      </p:sp>
      <p:sp>
        <p:nvSpPr>
          <p:cNvPr id="36" name="TextBox 35"/>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THE PRODUCT</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200" b="1" i="0">
                <a:solidFill>
                  <a:srgbClr val="0F172A"/>
                </a:solidFill>
                <a:latin typeface="Calibri"/>
              </a:rPr>
              <a:t>The Wright map</a:t>
            </a:r>
          </a:p>
        </p:txBody>
      </p:sp>
      <p:sp>
        <p:nvSpPr>
          <p:cNvPr id="4" name="TextBox 3"/>
          <p:cNvSpPr txBox="1"/>
          <p:nvPr/>
        </p:nvSpPr>
        <p:spPr>
          <a:xfrm>
            <a:off x="777240" y="1600200"/>
            <a:ext cx="7315200" cy="365760"/>
          </a:xfrm>
          <a:prstGeom prst="rect">
            <a:avLst/>
          </a:prstGeom>
          <a:noFill/>
        </p:spPr>
        <p:txBody>
          <a:bodyPr wrap="square" anchor="t">
            <a:spAutoFit/>
          </a:bodyPr>
          <a:lstStyle/>
          <a:p>
            <a:pPr algn="l">
              <a:lnSpc>
                <a:spcPct val="100000"/>
              </a:lnSpc>
            </a:pPr>
            <a:r>
              <a:rPr sz="1300" b="0" i="0">
                <a:solidFill>
                  <a:srgbClr val="475569"/>
                </a:solidFill>
                <a:latin typeface="Calibri"/>
              </a:rPr>
              <a:t>The badge demo: 24 people, 12 SODOTO skills. Persons left, skills right, one ruler in logits.</a:t>
            </a:r>
          </a:p>
        </p:txBody>
      </p:sp>
      <p:sp>
        <p:nvSpPr>
          <p:cNvPr id="5" name="Rectangle 4"/>
          <p:cNvSpPr/>
          <p:nvPr/>
        </p:nvSpPr>
        <p:spPr>
          <a:xfrm>
            <a:off x="777240" y="2011680"/>
            <a:ext cx="7498079" cy="41605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4233672" y="2697480"/>
            <a:ext cx="0" cy="3246120"/>
          </a:xfrm>
          <a:prstGeom prst="line">
            <a:avLst/>
          </a:prstGeom>
          <a:ln w="25400">
            <a:solidFill>
              <a:srgbClr val="3341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169663" y="5943600"/>
            <a:ext cx="128017"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849624" y="5861304"/>
            <a:ext cx="292608" cy="182880"/>
          </a:xfrm>
          <a:prstGeom prst="rect">
            <a:avLst/>
          </a:prstGeom>
          <a:noFill/>
        </p:spPr>
        <p:txBody>
          <a:bodyPr wrap="none" lIns="0" rIns="0" tIns="0" bIns="0">
            <a:spAutoFit/>
          </a:bodyPr>
          <a:lstStyle/>
          <a:p>
            <a:pPr algn="r"/>
            <a:r>
              <a:rPr sz="800" b="1">
                <a:solidFill>
                  <a:srgbClr val="94A3B8"/>
                </a:solidFill>
                <a:latin typeface="Calibri"/>
              </a:rPr>
              <a:t>-4</a:t>
            </a:r>
          </a:p>
        </p:txBody>
      </p:sp>
      <p:cxnSp>
        <p:nvCxnSpPr>
          <p:cNvPr id="9" name="Connector 8"/>
          <p:cNvCxnSpPr/>
          <p:nvPr/>
        </p:nvCxnSpPr>
        <p:spPr>
          <a:xfrm>
            <a:off x="4169663" y="5582920"/>
            <a:ext cx="128017"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849624" y="5500624"/>
            <a:ext cx="292608" cy="182880"/>
          </a:xfrm>
          <a:prstGeom prst="rect">
            <a:avLst/>
          </a:prstGeom>
          <a:noFill/>
        </p:spPr>
        <p:txBody>
          <a:bodyPr wrap="none" lIns="0" rIns="0" tIns="0" bIns="0">
            <a:spAutoFit/>
          </a:bodyPr>
          <a:lstStyle/>
          <a:p>
            <a:pPr algn="r"/>
            <a:r>
              <a:rPr sz="800" b="1">
                <a:solidFill>
                  <a:srgbClr val="94A3B8"/>
                </a:solidFill>
                <a:latin typeface="Calibri"/>
              </a:rPr>
              <a:t>-3</a:t>
            </a:r>
          </a:p>
        </p:txBody>
      </p:sp>
      <p:cxnSp>
        <p:nvCxnSpPr>
          <p:cNvPr id="11" name="Connector 10"/>
          <p:cNvCxnSpPr/>
          <p:nvPr/>
        </p:nvCxnSpPr>
        <p:spPr>
          <a:xfrm>
            <a:off x="4169663" y="5222240"/>
            <a:ext cx="128017"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849624" y="5139944"/>
            <a:ext cx="292608" cy="182880"/>
          </a:xfrm>
          <a:prstGeom prst="rect">
            <a:avLst/>
          </a:prstGeom>
          <a:noFill/>
        </p:spPr>
        <p:txBody>
          <a:bodyPr wrap="none" lIns="0" rIns="0" tIns="0" bIns="0">
            <a:spAutoFit/>
          </a:bodyPr>
          <a:lstStyle/>
          <a:p>
            <a:pPr algn="r"/>
            <a:r>
              <a:rPr sz="800" b="1">
                <a:solidFill>
                  <a:srgbClr val="94A3B8"/>
                </a:solidFill>
                <a:latin typeface="Calibri"/>
              </a:rPr>
              <a:t>-2</a:t>
            </a:r>
          </a:p>
        </p:txBody>
      </p:sp>
      <p:cxnSp>
        <p:nvCxnSpPr>
          <p:cNvPr id="13" name="Connector 12"/>
          <p:cNvCxnSpPr/>
          <p:nvPr/>
        </p:nvCxnSpPr>
        <p:spPr>
          <a:xfrm>
            <a:off x="4169663" y="4861560"/>
            <a:ext cx="128017"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849624" y="4779264"/>
            <a:ext cx="292608" cy="182880"/>
          </a:xfrm>
          <a:prstGeom prst="rect">
            <a:avLst/>
          </a:prstGeom>
          <a:noFill/>
        </p:spPr>
        <p:txBody>
          <a:bodyPr wrap="none" lIns="0" rIns="0" tIns="0" bIns="0">
            <a:spAutoFit/>
          </a:bodyPr>
          <a:lstStyle/>
          <a:p>
            <a:pPr algn="r"/>
            <a:r>
              <a:rPr sz="800" b="1">
                <a:solidFill>
                  <a:srgbClr val="94A3B8"/>
                </a:solidFill>
                <a:latin typeface="Calibri"/>
              </a:rPr>
              <a:t>-1</a:t>
            </a:r>
          </a:p>
        </p:txBody>
      </p:sp>
      <p:cxnSp>
        <p:nvCxnSpPr>
          <p:cNvPr id="15" name="Connector 14"/>
          <p:cNvCxnSpPr/>
          <p:nvPr/>
        </p:nvCxnSpPr>
        <p:spPr>
          <a:xfrm>
            <a:off x="4169663" y="4500880"/>
            <a:ext cx="128017"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849624" y="4418584"/>
            <a:ext cx="292608" cy="182880"/>
          </a:xfrm>
          <a:prstGeom prst="rect">
            <a:avLst/>
          </a:prstGeom>
          <a:noFill/>
        </p:spPr>
        <p:txBody>
          <a:bodyPr wrap="none" lIns="0" rIns="0" tIns="0" bIns="0">
            <a:spAutoFit/>
          </a:bodyPr>
          <a:lstStyle/>
          <a:p>
            <a:pPr algn="r"/>
            <a:r>
              <a:rPr sz="800" b="1">
                <a:solidFill>
                  <a:srgbClr val="94A3B8"/>
                </a:solidFill>
                <a:latin typeface="Calibri"/>
              </a:rPr>
              <a:t>0</a:t>
            </a:r>
          </a:p>
        </p:txBody>
      </p:sp>
      <p:cxnSp>
        <p:nvCxnSpPr>
          <p:cNvPr id="17" name="Connector 16"/>
          <p:cNvCxnSpPr/>
          <p:nvPr/>
        </p:nvCxnSpPr>
        <p:spPr>
          <a:xfrm>
            <a:off x="4169663" y="4140200"/>
            <a:ext cx="128017"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849624" y="4057904"/>
            <a:ext cx="292608" cy="182880"/>
          </a:xfrm>
          <a:prstGeom prst="rect">
            <a:avLst/>
          </a:prstGeom>
          <a:noFill/>
        </p:spPr>
        <p:txBody>
          <a:bodyPr wrap="none" lIns="0" rIns="0" tIns="0" bIns="0">
            <a:spAutoFit/>
          </a:bodyPr>
          <a:lstStyle/>
          <a:p>
            <a:pPr algn="r"/>
            <a:r>
              <a:rPr sz="800" b="1">
                <a:solidFill>
                  <a:srgbClr val="94A3B8"/>
                </a:solidFill>
                <a:latin typeface="Calibri"/>
              </a:rPr>
              <a:t>+1</a:t>
            </a:r>
          </a:p>
        </p:txBody>
      </p:sp>
      <p:cxnSp>
        <p:nvCxnSpPr>
          <p:cNvPr id="19" name="Connector 18"/>
          <p:cNvCxnSpPr/>
          <p:nvPr/>
        </p:nvCxnSpPr>
        <p:spPr>
          <a:xfrm>
            <a:off x="4169663" y="3779519"/>
            <a:ext cx="128017"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849624" y="3697223"/>
            <a:ext cx="292608" cy="182880"/>
          </a:xfrm>
          <a:prstGeom prst="rect">
            <a:avLst/>
          </a:prstGeom>
          <a:noFill/>
        </p:spPr>
        <p:txBody>
          <a:bodyPr wrap="none" lIns="0" rIns="0" tIns="0" bIns="0">
            <a:spAutoFit/>
          </a:bodyPr>
          <a:lstStyle/>
          <a:p>
            <a:pPr algn="r"/>
            <a:r>
              <a:rPr sz="800" b="1">
                <a:solidFill>
                  <a:srgbClr val="94A3B8"/>
                </a:solidFill>
                <a:latin typeface="Calibri"/>
              </a:rPr>
              <a:t>+2</a:t>
            </a:r>
          </a:p>
        </p:txBody>
      </p:sp>
      <p:cxnSp>
        <p:nvCxnSpPr>
          <p:cNvPr id="21" name="Connector 20"/>
          <p:cNvCxnSpPr/>
          <p:nvPr/>
        </p:nvCxnSpPr>
        <p:spPr>
          <a:xfrm>
            <a:off x="4169663" y="3418840"/>
            <a:ext cx="128017"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849624" y="3336544"/>
            <a:ext cx="292608" cy="182880"/>
          </a:xfrm>
          <a:prstGeom prst="rect">
            <a:avLst/>
          </a:prstGeom>
          <a:noFill/>
        </p:spPr>
        <p:txBody>
          <a:bodyPr wrap="none" lIns="0" rIns="0" tIns="0" bIns="0">
            <a:spAutoFit/>
          </a:bodyPr>
          <a:lstStyle/>
          <a:p>
            <a:pPr algn="r"/>
            <a:r>
              <a:rPr sz="800" b="1">
                <a:solidFill>
                  <a:srgbClr val="94A3B8"/>
                </a:solidFill>
                <a:latin typeface="Calibri"/>
              </a:rPr>
              <a:t>+3</a:t>
            </a:r>
          </a:p>
        </p:txBody>
      </p:sp>
      <p:cxnSp>
        <p:nvCxnSpPr>
          <p:cNvPr id="23" name="Connector 22"/>
          <p:cNvCxnSpPr/>
          <p:nvPr/>
        </p:nvCxnSpPr>
        <p:spPr>
          <a:xfrm>
            <a:off x="4169663" y="3058160"/>
            <a:ext cx="128017"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849624" y="2975864"/>
            <a:ext cx="292608" cy="182880"/>
          </a:xfrm>
          <a:prstGeom prst="rect">
            <a:avLst/>
          </a:prstGeom>
          <a:noFill/>
        </p:spPr>
        <p:txBody>
          <a:bodyPr wrap="none" lIns="0" rIns="0" tIns="0" bIns="0">
            <a:spAutoFit/>
          </a:bodyPr>
          <a:lstStyle/>
          <a:p>
            <a:pPr algn="r"/>
            <a:r>
              <a:rPr sz="800" b="1">
                <a:solidFill>
                  <a:srgbClr val="94A3B8"/>
                </a:solidFill>
                <a:latin typeface="Calibri"/>
              </a:rPr>
              <a:t>+4</a:t>
            </a:r>
          </a:p>
        </p:txBody>
      </p:sp>
      <p:cxnSp>
        <p:nvCxnSpPr>
          <p:cNvPr id="25" name="Connector 24"/>
          <p:cNvCxnSpPr/>
          <p:nvPr/>
        </p:nvCxnSpPr>
        <p:spPr>
          <a:xfrm>
            <a:off x="4169663" y="2697480"/>
            <a:ext cx="128017" cy="0"/>
          </a:xfrm>
          <a:prstGeom prst="line">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849624" y="2615184"/>
            <a:ext cx="292608" cy="182880"/>
          </a:xfrm>
          <a:prstGeom prst="rect">
            <a:avLst/>
          </a:prstGeom>
          <a:noFill/>
        </p:spPr>
        <p:txBody>
          <a:bodyPr wrap="none" lIns="0" rIns="0" tIns="0" bIns="0">
            <a:spAutoFit/>
          </a:bodyPr>
          <a:lstStyle/>
          <a:p>
            <a:pPr algn="r"/>
            <a:r>
              <a:rPr sz="800" b="1">
                <a:solidFill>
                  <a:srgbClr val="94A3B8"/>
                </a:solidFill>
                <a:latin typeface="Calibri"/>
              </a:rPr>
              <a:t>+5</a:t>
            </a:r>
          </a:p>
        </p:txBody>
      </p:sp>
      <p:sp>
        <p:nvSpPr>
          <p:cNvPr id="27" name="TextBox 26"/>
          <p:cNvSpPr txBox="1"/>
          <p:nvPr/>
        </p:nvSpPr>
        <p:spPr>
          <a:xfrm>
            <a:off x="1216152" y="2148840"/>
            <a:ext cx="2743200" cy="182880"/>
          </a:xfrm>
          <a:prstGeom prst="rect">
            <a:avLst/>
          </a:prstGeom>
          <a:noFill/>
        </p:spPr>
        <p:txBody>
          <a:bodyPr wrap="none" lIns="0" rIns="0" tIns="0" bIns="0">
            <a:spAutoFit/>
          </a:bodyPr>
          <a:lstStyle/>
          <a:p>
            <a:pPr algn="r"/>
            <a:r>
              <a:rPr sz="900" b="1">
                <a:solidFill>
                  <a:srgbClr val="1E5F8C"/>
                </a:solidFill>
                <a:latin typeface="Calibri"/>
              </a:rPr>
              <a:t>PERSONS — more able above</a:t>
            </a:r>
          </a:p>
        </p:txBody>
      </p:sp>
      <p:sp>
        <p:nvSpPr>
          <p:cNvPr id="28" name="TextBox 27"/>
          <p:cNvSpPr txBox="1"/>
          <p:nvPr/>
        </p:nvSpPr>
        <p:spPr>
          <a:xfrm>
            <a:off x="4507992" y="2148840"/>
            <a:ext cx="2743200" cy="182880"/>
          </a:xfrm>
          <a:prstGeom prst="rect">
            <a:avLst/>
          </a:prstGeom>
          <a:noFill/>
        </p:spPr>
        <p:txBody>
          <a:bodyPr wrap="none" lIns="0" rIns="0" tIns="0" bIns="0">
            <a:spAutoFit/>
          </a:bodyPr>
          <a:lstStyle/>
          <a:p>
            <a:pPr algn="l"/>
            <a:r>
              <a:rPr sz="900" b="1">
                <a:solidFill>
                  <a:srgbClr val="B45309"/>
                </a:solidFill>
                <a:latin typeface="Calibri"/>
              </a:rPr>
              <a:t>SKILLS — harder above</a:t>
            </a:r>
          </a:p>
        </p:txBody>
      </p:sp>
      <p:sp>
        <p:nvSpPr>
          <p:cNvPr id="29" name="TextBox 28"/>
          <p:cNvSpPr txBox="1"/>
          <p:nvPr/>
        </p:nvSpPr>
        <p:spPr>
          <a:xfrm>
            <a:off x="3959352" y="5961888"/>
            <a:ext cx="548640" cy="182880"/>
          </a:xfrm>
          <a:prstGeom prst="rect">
            <a:avLst/>
          </a:prstGeom>
          <a:noFill/>
        </p:spPr>
        <p:txBody>
          <a:bodyPr wrap="none" lIns="0" rIns="0" tIns="0" bIns="0">
            <a:spAutoFit/>
          </a:bodyPr>
          <a:lstStyle/>
          <a:p>
            <a:pPr algn="ctr"/>
            <a:r>
              <a:rPr sz="800" b="0">
                <a:solidFill>
                  <a:srgbClr val="94A3B8"/>
                </a:solidFill>
                <a:latin typeface="Calibri"/>
              </a:rPr>
              <a:t>logits</a:t>
            </a:r>
          </a:p>
        </p:txBody>
      </p:sp>
      <p:sp>
        <p:nvSpPr>
          <p:cNvPr id="30" name="Oval 29"/>
          <p:cNvSpPr/>
          <p:nvPr/>
        </p:nvSpPr>
        <p:spPr>
          <a:xfrm>
            <a:off x="3726180" y="300786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570732" y="300786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415284" y="300786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1" y="2975864"/>
            <a:ext cx="2377440" cy="182880"/>
          </a:xfrm>
          <a:prstGeom prst="rect">
            <a:avLst/>
          </a:prstGeom>
          <a:noFill/>
        </p:spPr>
        <p:txBody>
          <a:bodyPr wrap="none" lIns="0" rIns="0" tIns="0" bIns="0">
            <a:spAutoFit/>
          </a:bodyPr>
          <a:lstStyle/>
          <a:p>
            <a:pPr algn="r"/>
            <a:r>
              <a:rPr sz="800" b="0">
                <a:solidFill>
                  <a:srgbClr val="475569"/>
                </a:solidFill>
                <a:latin typeface="Calibri"/>
              </a:rPr>
              <a:t>ray, sam, tess</a:t>
            </a:r>
          </a:p>
        </p:txBody>
      </p:sp>
      <p:sp>
        <p:nvSpPr>
          <p:cNvPr id="34" name="Oval 33"/>
          <p:cNvSpPr/>
          <p:nvPr/>
        </p:nvSpPr>
        <p:spPr>
          <a:xfrm>
            <a:off x="3726180" y="345871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570732" y="345871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19" y="3426714"/>
            <a:ext cx="2377440" cy="182880"/>
          </a:xfrm>
          <a:prstGeom prst="rect">
            <a:avLst/>
          </a:prstGeom>
          <a:noFill/>
        </p:spPr>
        <p:txBody>
          <a:bodyPr wrap="none" lIns="0" rIns="0" tIns="0" bIns="0">
            <a:spAutoFit/>
          </a:bodyPr>
          <a:lstStyle/>
          <a:p>
            <a:pPr algn="r"/>
            <a:r>
              <a:rPr sz="800" b="0">
                <a:solidFill>
                  <a:srgbClr val="475569"/>
                </a:solidFill>
                <a:latin typeface="Calibri"/>
              </a:rPr>
              <a:t>lee, nina</a:t>
            </a:r>
          </a:p>
        </p:txBody>
      </p:sp>
      <p:sp>
        <p:nvSpPr>
          <p:cNvPr id="37" name="Oval 36"/>
          <p:cNvSpPr/>
          <p:nvPr/>
        </p:nvSpPr>
        <p:spPr>
          <a:xfrm>
            <a:off x="3726180" y="381939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570732" y="381939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0119" y="3787394"/>
            <a:ext cx="2377440" cy="182880"/>
          </a:xfrm>
          <a:prstGeom prst="rect">
            <a:avLst/>
          </a:prstGeom>
          <a:noFill/>
        </p:spPr>
        <p:txBody>
          <a:bodyPr wrap="none" lIns="0" rIns="0" tIns="0" bIns="0">
            <a:spAutoFit/>
          </a:bodyPr>
          <a:lstStyle/>
          <a:p>
            <a:pPr algn="r"/>
            <a:r>
              <a:rPr sz="800" b="0">
                <a:solidFill>
                  <a:srgbClr val="475569"/>
                </a:solidFill>
                <a:latin typeface="Calibri"/>
              </a:rPr>
              <a:t>pia, quinn</a:t>
            </a:r>
          </a:p>
        </p:txBody>
      </p:sp>
      <p:sp>
        <p:nvSpPr>
          <p:cNvPr id="40" name="Oval 39"/>
          <p:cNvSpPr/>
          <p:nvPr/>
        </p:nvSpPr>
        <p:spPr>
          <a:xfrm>
            <a:off x="3726180" y="436041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570732" y="436041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0119" y="4328414"/>
            <a:ext cx="2377440" cy="182880"/>
          </a:xfrm>
          <a:prstGeom prst="rect">
            <a:avLst/>
          </a:prstGeom>
          <a:noFill/>
        </p:spPr>
        <p:txBody>
          <a:bodyPr wrap="none" lIns="0" rIns="0" tIns="0" bIns="0">
            <a:spAutoFit/>
          </a:bodyPr>
          <a:lstStyle/>
          <a:p>
            <a:pPr algn="r"/>
            <a:r>
              <a:rPr sz="800" b="0">
                <a:solidFill>
                  <a:srgbClr val="475569"/>
                </a:solidFill>
                <a:latin typeface="Calibri"/>
              </a:rPr>
              <a:t>kim, mo</a:t>
            </a:r>
          </a:p>
        </p:txBody>
      </p:sp>
      <p:sp>
        <p:nvSpPr>
          <p:cNvPr id="43" name="Oval 42"/>
          <p:cNvSpPr/>
          <p:nvPr/>
        </p:nvSpPr>
        <p:spPr>
          <a:xfrm>
            <a:off x="3726180" y="454075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15567" y="4508754"/>
            <a:ext cx="2377440" cy="182880"/>
          </a:xfrm>
          <a:prstGeom prst="rect">
            <a:avLst/>
          </a:prstGeom>
          <a:noFill/>
        </p:spPr>
        <p:txBody>
          <a:bodyPr wrap="none" lIns="0" rIns="0" tIns="0" bIns="0">
            <a:spAutoFit/>
          </a:bodyPr>
          <a:lstStyle/>
          <a:p>
            <a:pPr algn="r"/>
            <a:r>
              <a:rPr sz="800" b="0">
                <a:solidFill>
                  <a:srgbClr val="475569"/>
                </a:solidFill>
                <a:latin typeface="Calibri"/>
              </a:rPr>
              <a:t>ivan</a:t>
            </a:r>
          </a:p>
        </p:txBody>
      </p:sp>
      <p:sp>
        <p:nvSpPr>
          <p:cNvPr id="45" name="Oval 44"/>
          <p:cNvSpPr/>
          <p:nvPr/>
        </p:nvSpPr>
        <p:spPr>
          <a:xfrm>
            <a:off x="3726180" y="472109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570732" y="472109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415284" y="472109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259836" y="472109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104387" y="472109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948939" y="472109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8327" y="4689094"/>
            <a:ext cx="2377440" cy="182880"/>
          </a:xfrm>
          <a:prstGeom prst="rect">
            <a:avLst/>
          </a:prstGeom>
          <a:noFill/>
        </p:spPr>
        <p:txBody>
          <a:bodyPr wrap="none" lIns="0" rIns="0" tIns="0" bIns="0">
            <a:spAutoFit/>
          </a:bodyPr>
          <a:lstStyle/>
          <a:p>
            <a:pPr algn="r"/>
            <a:r>
              <a:rPr sz="800" b="0">
                <a:solidFill>
                  <a:srgbClr val="475569"/>
                </a:solidFill>
                <a:latin typeface="Calibri"/>
              </a:rPr>
              <a:t>chris, eli, fran, gus, hana, jo</a:t>
            </a:r>
          </a:p>
        </p:txBody>
      </p:sp>
      <p:sp>
        <p:nvSpPr>
          <p:cNvPr id="52" name="Oval 51"/>
          <p:cNvSpPr/>
          <p:nvPr/>
        </p:nvSpPr>
        <p:spPr>
          <a:xfrm>
            <a:off x="3726180" y="490143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15567" y="4869434"/>
            <a:ext cx="2377440" cy="182880"/>
          </a:xfrm>
          <a:prstGeom prst="rect">
            <a:avLst/>
          </a:prstGeom>
          <a:noFill/>
        </p:spPr>
        <p:txBody>
          <a:bodyPr wrap="none" lIns="0" rIns="0" tIns="0" bIns="0">
            <a:spAutoFit/>
          </a:bodyPr>
          <a:lstStyle/>
          <a:p>
            <a:pPr algn="r"/>
            <a:r>
              <a:rPr sz="800" b="0">
                <a:solidFill>
                  <a:srgbClr val="475569"/>
                </a:solidFill>
                <a:latin typeface="Calibri"/>
              </a:rPr>
              <a:t>ana</a:t>
            </a:r>
          </a:p>
        </p:txBody>
      </p:sp>
      <p:sp>
        <p:nvSpPr>
          <p:cNvPr id="54" name="Oval 53"/>
          <p:cNvSpPr/>
          <p:nvPr/>
        </p:nvSpPr>
        <p:spPr>
          <a:xfrm>
            <a:off x="3726180" y="517194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15567" y="5139944"/>
            <a:ext cx="2377440" cy="182880"/>
          </a:xfrm>
          <a:prstGeom prst="rect">
            <a:avLst/>
          </a:prstGeom>
          <a:noFill/>
        </p:spPr>
        <p:txBody>
          <a:bodyPr wrap="none" lIns="0" rIns="0" tIns="0" bIns="0">
            <a:spAutoFit/>
          </a:bodyPr>
          <a:lstStyle/>
          <a:p>
            <a:pPr algn="r"/>
            <a:r>
              <a:rPr sz="800" b="0">
                <a:solidFill>
                  <a:srgbClr val="475569"/>
                </a:solidFill>
                <a:latin typeface="Calibri"/>
              </a:rPr>
              <a:t>kerry</a:t>
            </a:r>
          </a:p>
        </p:txBody>
      </p:sp>
      <p:sp>
        <p:nvSpPr>
          <p:cNvPr id="56" name="Oval 55"/>
          <p:cNvSpPr/>
          <p:nvPr/>
        </p:nvSpPr>
        <p:spPr>
          <a:xfrm>
            <a:off x="3726180" y="535228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570732" y="535228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415284" y="535228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259836" y="535228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9223" y="5320284"/>
            <a:ext cx="2377440" cy="182880"/>
          </a:xfrm>
          <a:prstGeom prst="rect">
            <a:avLst/>
          </a:prstGeom>
          <a:noFill/>
        </p:spPr>
        <p:txBody>
          <a:bodyPr wrap="none" lIns="0" rIns="0" tIns="0" bIns="0">
            <a:spAutoFit/>
          </a:bodyPr>
          <a:lstStyle/>
          <a:p>
            <a:pPr algn="r"/>
            <a:r>
              <a:rPr sz="800" b="0">
                <a:solidFill>
                  <a:srgbClr val="475569"/>
                </a:solidFill>
                <a:latin typeface="Calibri"/>
              </a:rPr>
              <a:t>dorothy, luis, ben, dee</a:t>
            </a:r>
          </a:p>
        </p:txBody>
      </p:sp>
      <p:sp>
        <p:nvSpPr>
          <p:cNvPr id="61" name="Oval 60"/>
          <p:cNvSpPr/>
          <p:nvPr/>
        </p:nvSpPr>
        <p:spPr>
          <a:xfrm>
            <a:off x="3726180" y="5712968"/>
            <a:ext cx="100584" cy="100584"/>
          </a:xfrm>
          <a:prstGeom prst="ellipse">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15567" y="5680964"/>
            <a:ext cx="2377440" cy="182880"/>
          </a:xfrm>
          <a:prstGeom prst="rect">
            <a:avLst/>
          </a:prstGeom>
          <a:noFill/>
        </p:spPr>
        <p:txBody>
          <a:bodyPr wrap="none" lIns="0" rIns="0" tIns="0" bIns="0">
            <a:spAutoFit/>
          </a:bodyPr>
          <a:lstStyle/>
          <a:p>
            <a:pPr algn="r"/>
            <a:r>
              <a:rPr sz="800" b="0">
                <a:solidFill>
                  <a:srgbClr val="475569"/>
                </a:solidFill>
                <a:latin typeface="Calibri"/>
              </a:rPr>
              <a:t>marc</a:t>
            </a:r>
          </a:p>
        </p:txBody>
      </p:sp>
      <p:sp>
        <p:nvSpPr>
          <p:cNvPr id="63" name="Rectangle 62"/>
          <p:cNvSpPr/>
          <p:nvPr/>
        </p:nvSpPr>
        <p:spPr>
          <a:xfrm>
            <a:off x="4434840" y="2901340"/>
            <a:ext cx="91440" cy="11887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99432" y="2883052"/>
            <a:ext cx="2926080" cy="182880"/>
          </a:xfrm>
          <a:prstGeom prst="rect">
            <a:avLst/>
          </a:prstGeom>
          <a:noFill/>
        </p:spPr>
        <p:txBody>
          <a:bodyPr wrap="none" lIns="0" rIns="0" tIns="0" bIns="0">
            <a:spAutoFit/>
          </a:bodyPr>
          <a:lstStyle/>
          <a:p>
            <a:pPr algn="l"/>
            <a:r>
              <a:rPr sz="800" b="1">
                <a:solidFill>
                  <a:srgbClr val="DC2626"/>
                </a:solidFill>
                <a:latin typeface="Calibri"/>
              </a:rPr>
              <a:t>stand up an NDC server   misfit</a:t>
            </a:r>
          </a:p>
        </p:txBody>
      </p:sp>
      <p:sp>
        <p:nvSpPr>
          <p:cNvPr id="65" name="Rectangle 64"/>
          <p:cNvSpPr/>
          <p:nvPr/>
        </p:nvSpPr>
        <p:spPr>
          <a:xfrm>
            <a:off x="4434840" y="3366617"/>
            <a:ext cx="91440" cy="118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99432" y="3348329"/>
            <a:ext cx="2926080" cy="182880"/>
          </a:xfrm>
          <a:prstGeom prst="rect">
            <a:avLst/>
          </a:prstGeom>
          <a:noFill/>
        </p:spPr>
        <p:txBody>
          <a:bodyPr wrap="none" lIns="0" rIns="0" tIns="0" bIns="0">
            <a:spAutoFit/>
          </a:bodyPr>
          <a:lstStyle/>
          <a:p>
            <a:pPr algn="l"/>
            <a:r>
              <a:rPr sz="800" b="0">
                <a:solidFill>
                  <a:srgbClr val="475569"/>
                </a:solidFill>
                <a:latin typeface="Calibri"/>
              </a:rPr>
              <a:t>build a value network</a:t>
            </a:r>
          </a:p>
        </p:txBody>
      </p:sp>
      <p:sp>
        <p:nvSpPr>
          <p:cNvPr id="67" name="Rectangle 66"/>
          <p:cNvSpPr/>
          <p:nvPr/>
        </p:nvSpPr>
        <p:spPr>
          <a:xfrm>
            <a:off x="4434840" y="3752545"/>
            <a:ext cx="91440" cy="118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99432" y="3734257"/>
            <a:ext cx="2926080" cy="182880"/>
          </a:xfrm>
          <a:prstGeom prst="rect">
            <a:avLst/>
          </a:prstGeom>
          <a:noFill/>
        </p:spPr>
        <p:txBody>
          <a:bodyPr wrap="none" lIns="0" rIns="0" tIns="0" bIns="0">
            <a:spAutoFit/>
          </a:bodyPr>
          <a:lstStyle/>
          <a:p>
            <a:pPr algn="l"/>
            <a:r>
              <a:rPr sz="800" b="0">
                <a:solidFill>
                  <a:srgbClr val="475569"/>
                </a:solidFill>
                <a:latin typeface="Calibri"/>
              </a:rPr>
              <a:t>assign an IAD level</a:t>
            </a:r>
          </a:p>
        </p:txBody>
      </p:sp>
      <p:sp>
        <p:nvSpPr>
          <p:cNvPr id="69" name="Rectangle 68"/>
          <p:cNvSpPr/>
          <p:nvPr/>
        </p:nvSpPr>
        <p:spPr>
          <a:xfrm>
            <a:off x="4434840" y="4080763"/>
            <a:ext cx="91440" cy="118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599432" y="4062476"/>
            <a:ext cx="2926080" cy="182880"/>
          </a:xfrm>
          <a:prstGeom prst="rect">
            <a:avLst/>
          </a:prstGeom>
          <a:noFill/>
        </p:spPr>
        <p:txBody>
          <a:bodyPr wrap="none" lIns="0" rIns="0" tIns="0" bIns="0">
            <a:spAutoFit/>
          </a:bodyPr>
          <a:lstStyle/>
          <a:p>
            <a:pPr algn="l"/>
            <a:r>
              <a:rPr sz="800" b="0">
                <a:solidFill>
                  <a:srgbClr val="475569"/>
                </a:solidFill>
                <a:latin typeface="Calibri"/>
              </a:rPr>
              <a:t>label a value network arrow</a:t>
            </a:r>
          </a:p>
        </p:txBody>
      </p:sp>
      <p:sp>
        <p:nvSpPr>
          <p:cNvPr id="71" name="Rectangle 70"/>
          <p:cNvSpPr/>
          <p:nvPr/>
        </p:nvSpPr>
        <p:spPr>
          <a:xfrm>
            <a:off x="4434840" y="4228642"/>
            <a:ext cx="91440" cy="118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599432" y="4210354"/>
            <a:ext cx="2926080" cy="182880"/>
          </a:xfrm>
          <a:prstGeom prst="rect">
            <a:avLst/>
          </a:prstGeom>
          <a:noFill/>
        </p:spPr>
        <p:txBody>
          <a:bodyPr wrap="none" lIns="0" rIns="0" tIns="0" bIns="0">
            <a:spAutoFit/>
          </a:bodyPr>
          <a:lstStyle/>
          <a:p>
            <a:pPr algn="l"/>
            <a:r>
              <a:rPr sz="800" b="0">
                <a:solidFill>
                  <a:srgbClr val="475569"/>
                </a:solidFill>
                <a:latin typeface="Calibri"/>
              </a:rPr>
              <a:t>issue a signed badge</a:t>
            </a:r>
          </a:p>
        </p:txBody>
      </p:sp>
      <p:sp>
        <p:nvSpPr>
          <p:cNvPr id="73" name="Rectangle 72"/>
          <p:cNvSpPr/>
          <p:nvPr/>
        </p:nvSpPr>
        <p:spPr>
          <a:xfrm>
            <a:off x="4434840" y="4600143"/>
            <a:ext cx="91440" cy="118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599432" y="4581855"/>
            <a:ext cx="2926080" cy="182880"/>
          </a:xfrm>
          <a:prstGeom prst="rect">
            <a:avLst/>
          </a:prstGeom>
          <a:noFill/>
        </p:spPr>
        <p:txBody>
          <a:bodyPr wrap="none" lIns="0" rIns="0" tIns="0" bIns="0">
            <a:spAutoFit/>
          </a:bodyPr>
          <a:lstStyle/>
          <a:p>
            <a:pPr algn="l"/>
            <a:r>
              <a:rPr sz="800" b="0">
                <a:solidFill>
                  <a:srgbClr val="475569"/>
                </a:solidFill>
                <a:latin typeface="Calibri"/>
              </a:rPr>
              <a:t>fork from another site</a:t>
            </a:r>
          </a:p>
        </p:txBody>
      </p:sp>
      <p:sp>
        <p:nvSpPr>
          <p:cNvPr id="75" name="Rectangle 74"/>
          <p:cNvSpPr/>
          <p:nvPr/>
        </p:nvSpPr>
        <p:spPr>
          <a:xfrm>
            <a:off x="4434840" y="4823764"/>
            <a:ext cx="91440" cy="118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599432" y="4805476"/>
            <a:ext cx="2926080" cy="182880"/>
          </a:xfrm>
          <a:prstGeom prst="rect">
            <a:avLst/>
          </a:prstGeom>
          <a:noFill/>
        </p:spPr>
        <p:txBody>
          <a:bodyPr wrap="none" lIns="0" rIns="0" tIns="0" bIns="0">
            <a:spAutoFit/>
          </a:bodyPr>
          <a:lstStyle/>
          <a:p>
            <a:pPr algn="l"/>
            <a:r>
              <a:rPr sz="800" b="0">
                <a:solidFill>
                  <a:srgbClr val="475569"/>
                </a:solidFill>
                <a:latin typeface="Calibri"/>
              </a:rPr>
              <a:t>draw a simple graph</a:t>
            </a:r>
          </a:p>
        </p:txBody>
      </p:sp>
      <p:sp>
        <p:nvSpPr>
          <p:cNvPr id="77" name="Rectangle 76"/>
          <p:cNvSpPr/>
          <p:nvPr/>
        </p:nvSpPr>
        <p:spPr>
          <a:xfrm>
            <a:off x="4434840" y="4956352"/>
            <a:ext cx="91440" cy="118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99432" y="4938064"/>
            <a:ext cx="2926080" cy="182880"/>
          </a:xfrm>
          <a:prstGeom prst="rect">
            <a:avLst/>
          </a:prstGeom>
          <a:noFill/>
        </p:spPr>
        <p:txBody>
          <a:bodyPr wrap="none" lIns="0" rIns="0" tIns="0" bIns="0">
            <a:spAutoFit/>
          </a:bodyPr>
          <a:lstStyle/>
          <a:p>
            <a:pPr algn="l"/>
            <a:r>
              <a:rPr sz="800" b="0">
                <a:solidFill>
                  <a:srgbClr val="475569"/>
                </a:solidFill>
                <a:latin typeface="Calibri"/>
              </a:rPr>
              <a:t>edit a wiki page</a:t>
            </a:r>
          </a:p>
        </p:txBody>
      </p:sp>
      <p:sp>
        <p:nvSpPr>
          <p:cNvPr id="79" name="Rectangle 78"/>
          <p:cNvSpPr/>
          <p:nvPr/>
        </p:nvSpPr>
        <p:spPr>
          <a:xfrm>
            <a:off x="4434840" y="5088940"/>
            <a:ext cx="91440" cy="118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599432" y="5070652"/>
            <a:ext cx="2926080" cy="182880"/>
          </a:xfrm>
          <a:prstGeom prst="rect">
            <a:avLst/>
          </a:prstGeom>
          <a:noFill/>
        </p:spPr>
        <p:txBody>
          <a:bodyPr wrap="none" lIns="0" rIns="0" tIns="0" bIns="0">
            <a:spAutoFit/>
          </a:bodyPr>
          <a:lstStyle/>
          <a:p>
            <a:pPr algn="l"/>
            <a:r>
              <a:rPr sz="800" b="0">
                <a:solidFill>
                  <a:srgbClr val="475569"/>
                </a:solidFill>
                <a:latin typeface="Calibri"/>
              </a:rPr>
              <a:t>add a page to a lineup</a:t>
            </a:r>
          </a:p>
        </p:txBody>
      </p:sp>
      <p:sp>
        <p:nvSpPr>
          <p:cNvPr id="81" name="Rectangle 80"/>
          <p:cNvSpPr/>
          <p:nvPr/>
        </p:nvSpPr>
        <p:spPr>
          <a:xfrm>
            <a:off x="4434840" y="5221528"/>
            <a:ext cx="91440" cy="11887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599432" y="5203240"/>
            <a:ext cx="2926080" cy="182880"/>
          </a:xfrm>
          <a:prstGeom prst="rect">
            <a:avLst/>
          </a:prstGeom>
          <a:noFill/>
        </p:spPr>
        <p:txBody>
          <a:bodyPr wrap="none" lIns="0" rIns="0" tIns="0" bIns="0">
            <a:spAutoFit/>
          </a:bodyPr>
          <a:lstStyle/>
          <a:p>
            <a:pPr algn="l"/>
            <a:r>
              <a:rPr sz="800" b="1">
                <a:solidFill>
                  <a:srgbClr val="DC2626"/>
                </a:solidFill>
                <a:latin typeface="Calibri"/>
              </a:rPr>
              <a:t>run a campfire conversation   misfit</a:t>
            </a:r>
          </a:p>
        </p:txBody>
      </p:sp>
      <p:sp>
        <p:nvSpPr>
          <p:cNvPr id="83" name="Rectangle 82"/>
          <p:cNvSpPr/>
          <p:nvPr/>
        </p:nvSpPr>
        <p:spPr>
          <a:xfrm>
            <a:off x="4434840" y="5354116"/>
            <a:ext cx="91440" cy="118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599432" y="5335828"/>
            <a:ext cx="2926080" cy="182880"/>
          </a:xfrm>
          <a:prstGeom prst="rect">
            <a:avLst/>
          </a:prstGeom>
          <a:noFill/>
        </p:spPr>
        <p:txBody>
          <a:bodyPr wrap="none" lIns="0" rIns="0" tIns="0" bIns="0">
            <a:spAutoFit/>
          </a:bodyPr>
          <a:lstStyle/>
          <a:p>
            <a:pPr algn="l"/>
            <a:r>
              <a:rPr sz="800" b="0">
                <a:solidFill>
                  <a:srgbClr val="475569"/>
                </a:solidFill>
                <a:latin typeface="Calibri"/>
              </a:rPr>
              <a:t>publish a FedWiki page</a:t>
            </a:r>
          </a:p>
        </p:txBody>
      </p:sp>
      <p:sp>
        <p:nvSpPr>
          <p:cNvPr id="85" name="Rectangle 84"/>
          <p:cNvSpPr/>
          <p:nvPr/>
        </p:nvSpPr>
        <p:spPr>
          <a:xfrm>
            <a:off x="4434840" y="5486704"/>
            <a:ext cx="91440" cy="118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599432" y="5468416"/>
            <a:ext cx="2926080" cy="182880"/>
          </a:xfrm>
          <a:prstGeom prst="rect">
            <a:avLst/>
          </a:prstGeom>
          <a:noFill/>
        </p:spPr>
        <p:txBody>
          <a:bodyPr wrap="none" lIns="0" rIns="0" tIns="0" bIns="0">
            <a:spAutoFit/>
          </a:bodyPr>
          <a:lstStyle/>
          <a:p>
            <a:pPr algn="l"/>
            <a:r>
              <a:rPr sz="800" b="0">
                <a:solidFill>
                  <a:srgbClr val="475569"/>
                </a:solidFill>
                <a:latin typeface="Calibri"/>
              </a:rPr>
              <a:t>comment on a page</a:t>
            </a:r>
          </a:p>
        </p:txBody>
      </p:sp>
      <p:cxnSp>
        <p:nvCxnSpPr>
          <p:cNvPr id="87" name="Connector 86"/>
          <p:cNvCxnSpPr/>
          <p:nvPr/>
        </p:nvCxnSpPr>
        <p:spPr>
          <a:xfrm>
            <a:off x="1051560" y="2606040"/>
            <a:ext cx="6949440" cy="0"/>
          </a:xfrm>
          <a:prstGeom prst="line">
            <a:avLst/>
          </a:prstGeom>
          <a:ln w="9525">
            <a:solidFill>
              <a:srgbClr val="E2E8F0"/>
            </a:solidFill>
            <a:prstDash val="dash"/>
          </a:ln>
        </p:spPr>
        <p:style>
          <a:lnRef idx="2">
            <a:schemeClr val="accent1"/>
          </a:lnRef>
          <a:fillRef idx="0">
            <a:schemeClr val="accent1"/>
          </a:fillRef>
          <a:effectRef idx="1">
            <a:schemeClr val="accent1"/>
          </a:effectRef>
          <a:fontRef idx="minor">
            <a:schemeClr val="tx1"/>
          </a:fontRef>
        </p:style>
      </p:cxnSp>
      <p:sp>
        <p:nvSpPr>
          <p:cNvPr id="88" name="Oval 87"/>
          <p:cNvSpPr/>
          <p:nvPr/>
        </p:nvSpPr>
        <p:spPr>
          <a:xfrm>
            <a:off x="3726180" y="2464308"/>
            <a:ext cx="100584" cy="100584"/>
          </a:xfrm>
          <a:prstGeom prst="ellipse">
            <a:avLst/>
          </a:prstGeom>
          <a:noFill/>
          <a:ln w="19050">
            <a:solidFill>
              <a:srgbClr val="1E5F8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15567" y="2432304"/>
            <a:ext cx="2377440" cy="182880"/>
          </a:xfrm>
          <a:prstGeom prst="rect">
            <a:avLst/>
          </a:prstGeom>
          <a:noFill/>
        </p:spPr>
        <p:txBody>
          <a:bodyPr wrap="none" lIns="0" rIns="0" tIns="0" bIns="0">
            <a:spAutoFit/>
          </a:bodyPr>
          <a:lstStyle/>
          <a:p>
            <a:pPr algn="r"/>
            <a:r>
              <a:rPr sz="800" b="0">
                <a:solidFill>
                  <a:srgbClr val="94A3B8"/>
                </a:solidFill>
                <a:latin typeface="Calibri"/>
              </a:rPr>
              <a:t>omar — above every skill, no measure</a:t>
            </a:r>
          </a:p>
        </p:txBody>
      </p:sp>
      <p:cxnSp>
        <p:nvCxnSpPr>
          <p:cNvPr id="90" name="Connector 89"/>
          <p:cNvCxnSpPr/>
          <p:nvPr/>
        </p:nvCxnSpPr>
        <p:spPr>
          <a:xfrm>
            <a:off x="1051560" y="4504486"/>
            <a:ext cx="3072384" cy="0"/>
          </a:xfrm>
          <a:prstGeom prst="line">
            <a:avLst/>
          </a:prstGeom>
          <a:ln w="9525">
            <a:solidFill>
              <a:srgbClr val="1E5F8C"/>
            </a:solidFill>
            <a:prstDash val="dash"/>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1051560" y="4321606"/>
            <a:ext cx="1097280" cy="182880"/>
          </a:xfrm>
          <a:prstGeom prst="rect">
            <a:avLst/>
          </a:prstGeom>
          <a:noFill/>
        </p:spPr>
        <p:txBody>
          <a:bodyPr wrap="none" lIns="0" rIns="0" tIns="0" bIns="0">
            <a:spAutoFit/>
          </a:bodyPr>
          <a:lstStyle/>
          <a:p>
            <a:pPr algn="l"/>
            <a:r>
              <a:rPr sz="750" b="1">
                <a:solidFill>
                  <a:srgbClr val="1E5F8C"/>
                </a:solidFill>
                <a:latin typeface="Calibri"/>
              </a:rPr>
              <a:t>mean person</a:t>
            </a:r>
          </a:p>
        </p:txBody>
      </p:sp>
      <p:cxnSp>
        <p:nvCxnSpPr>
          <p:cNvPr id="92" name="Connector 91"/>
          <p:cNvCxnSpPr/>
          <p:nvPr/>
        </p:nvCxnSpPr>
        <p:spPr>
          <a:xfrm>
            <a:off x="7616952" y="4500880"/>
            <a:ext cx="384048" cy="0"/>
          </a:xfrm>
          <a:prstGeom prst="line">
            <a:avLst/>
          </a:prstGeom>
          <a:ln w="9525">
            <a:solidFill>
              <a:srgbClr val="B45309"/>
            </a:solidFill>
            <a:prstDash val="dash"/>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903719" y="4318000"/>
            <a:ext cx="1097280" cy="182880"/>
          </a:xfrm>
          <a:prstGeom prst="rect">
            <a:avLst/>
          </a:prstGeom>
          <a:noFill/>
        </p:spPr>
        <p:txBody>
          <a:bodyPr wrap="none" lIns="0" rIns="0" tIns="0" bIns="0">
            <a:spAutoFit/>
          </a:bodyPr>
          <a:lstStyle/>
          <a:p>
            <a:pPr algn="r"/>
            <a:r>
              <a:rPr sz="750" b="1">
                <a:solidFill>
                  <a:srgbClr val="B45309"/>
                </a:solidFill>
                <a:latin typeface="Calibri"/>
              </a:rPr>
              <a:t>mean skill = 0</a:t>
            </a:r>
          </a:p>
        </p:txBody>
      </p:sp>
      <p:sp>
        <p:nvSpPr>
          <p:cNvPr id="94" name="Rectangle 93"/>
          <p:cNvSpPr/>
          <p:nvPr/>
        </p:nvSpPr>
        <p:spPr>
          <a:xfrm>
            <a:off x="8549640" y="2011680"/>
            <a:ext cx="2834640" cy="12801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549640" y="2011680"/>
            <a:ext cx="50292" cy="128016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805672" y="2194560"/>
            <a:ext cx="2377440" cy="365760"/>
          </a:xfrm>
          <a:prstGeom prst="rect">
            <a:avLst/>
          </a:prstGeom>
          <a:noFill/>
        </p:spPr>
        <p:txBody>
          <a:bodyPr wrap="square" anchor="t">
            <a:spAutoFit/>
          </a:bodyPr>
          <a:lstStyle/>
          <a:p>
            <a:pPr algn="l">
              <a:lnSpc>
                <a:spcPct val="100000"/>
              </a:lnSpc>
            </a:pPr>
            <a:r>
              <a:rPr sz="1300" b="1" i="0">
                <a:solidFill>
                  <a:srgbClr val="0F172A"/>
                </a:solidFill>
                <a:latin typeface="Calibri"/>
              </a:rPr>
              <a:t>Read across, not down</a:t>
            </a:r>
          </a:p>
        </p:txBody>
      </p:sp>
      <p:sp>
        <p:nvSpPr>
          <p:cNvPr id="97" name="TextBox 96"/>
          <p:cNvSpPr txBox="1"/>
          <p:nvPr/>
        </p:nvSpPr>
        <p:spPr>
          <a:xfrm>
            <a:off x="8805672" y="2670048"/>
            <a:ext cx="2377440" cy="457199"/>
          </a:xfrm>
          <a:prstGeom prst="rect">
            <a:avLst/>
          </a:prstGeom>
          <a:noFill/>
        </p:spPr>
        <p:txBody>
          <a:bodyPr wrap="square" anchor="t">
            <a:spAutoFit/>
          </a:bodyPr>
          <a:lstStyle/>
          <a:p>
            <a:pPr algn="l">
              <a:lnSpc>
                <a:spcPct val="110000"/>
              </a:lnSpc>
            </a:pPr>
            <a:r>
              <a:rPr sz="900" b="0" i="0">
                <a:solidFill>
                  <a:srgbClr val="475569"/>
                </a:solidFill>
                <a:latin typeface="Calibri"/>
              </a:rPr>
              <a:t>A skill level with a person is one they have even odds on. Skills far above everyone are out of reach; far below, already universal.</a:t>
            </a:r>
          </a:p>
        </p:txBody>
      </p:sp>
      <p:sp>
        <p:nvSpPr>
          <p:cNvPr id="98" name="Rectangle 97"/>
          <p:cNvSpPr/>
          <p:nvPr/>
        </p:nvSpPr>
        <p:spPr>
          <a:xfrm>
            <a:off x="8549640" y="3429000"/>
            <a:ext cx="2834640" cy="12801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549640" y="3429000"/>
            <a:ext cx="50292" cy="128016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805672" y="3611880"/>
            <a:ext cx="2377440" cy="365760"/>
          </a:xfrm>
          <a:prstGeom prst="rect">
            <a:avLst/>
          </a:prstGeom>
          <a:noFill/>
        </p:spPr>
        <p:txBody>
          <a:bodyPr wrap="square" anchor="t">
            <a:spAutoFit/>
          </a:bodyPr>
          <a:lstStyle/>
          <a:p>
            <a:pPr algn="l">
              <a:lnSpc>
                <a:spcPct val="100000"/>
              </a:lnSpc>
            </a:pPr>
            <a:r>
              <a:rPr sz="1300" b="1" i="0">
                <a:solidFill>
                  <a:srgbClr val="0F172A"/>
                </a:solidFill>
                <a:latin typeface="Calibri"/>
              </a:rPr>
              <a:t>Targeting −0.01</a:t>
            </a:r>
          </a:p>
        </p:txBody>
      </p:sp>
      <p:sp>
        <p:nvSpPr>
          <p:cNvPr id="101" name="TextBox 100"/>
          <p:cNvSpPr txBox="1"/>
          <p:nvPr/>
        </p:nvSpPr>
        <p:spPr>
          <a:xfrm>
            <a:off x="8805672" y="4087368"/>
            <a:ext cx="2377440" cy="457199"/>
          </a:xfrm>
          <a:prstGeom prst="rect">
            <a:avLst/>
          </a:prstGeom>
          <a:noFill/>
        </p:spPr>
        <p:txBody>
          <a:bodyPr wrap="square" anchor="t">
            <a:spAutoFit/>
          </a:bodyPr>
          <a:lstStyle/>
          <a:p>
            <a:pPr algn="l">
              <a:lnSpc>
                <a:spcPct val="110000"/>
              </a:lnSpc>
            </a:pPr>
            <a:r>
              <a:rPr sz="900" b="0" i="0">
                <a:solidFill>
                  <a:srgbClr val="475569"/>
                </a:solidFill>
                <a:latin typeface="Calibri"/>
              </a:rPr>
              <a:t>Mean person against mean skill. The skills are aimed where the people are — a real instrument rarely manages that on its first run.</a:t>
            </a:r>
          </a:p>
        </p:txBody>
      </p:sp>
      <p:sp>
        <p:nvSpPr>
          <p:cNvPr id="102" name="Rectangle 101"/>
          <p:cNvSpPr/>
          <p:nvPr/>
        </p:nvSpPr>
        <p:spPr>
          <a:xfrm>
            <a:off x="8549640" y="4846320"/>
            <a:ext cx="2834640" cy="13258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549640" y="4846320"/>
            <a:ext cx="50292" cy="13258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805672" y="5029200"/>
            <a:ext cx="2377440" cy="365760"/>
          </a:xfrm>
          <a:prstGeom prst="rect">
            <a:avLst/>
          </a:prstGeom>
          <a:noFill/>
        </p:spPr>
        <p:txBody>
          <a:bodyPr wrap="square" anchor="t">
            <a:spAutoFit/>
          </a:bodyPr>
          <a:lstStyle/>
          <a:p>
            <a:pPr algn="l">
              <a:lnSpc>
                <a:spcPct val="100000"/>
              </a:lnSpc>
            </a:pPr>
            <a:r>
              <a:rPr sz="1300" b="1" i="0">
                <a:solidFill>
                  <a:srgbClr val="0F172A"/>
                </a:solidFill>
                <a:latin typeface="Calibri"/>
              </a:rPr>
              <a:t>Two things to see first</a:t>
            </a:r>
          </a:p>
        </p:txBody>
      </p:sp>
      <p:sp>
        <p:nvSpPr>
          <p:cNvPr id="105" name="TextBox 104"/>
          <p:cNvSpPr txBox="1"/>
          <p:nvPr/>
        </p:nvSpPr>
        <p:spPr>
          <a:xfrm>
            <a:off x="8805672" y="5504688"/>
            <a:ext cx="2377440" cy="502919"/>
          </a:xfrm>
          <a:prstGeom prst="rect">
            <a:avLst/>
          </a:prstGeom>
          <a:noFill/>
        </p:spPr>
        <p:txBody>
          <a:bodyPr wrap="square" anchor="t">
            <a:spAutoFit/>
          </a:bodyPr>
          <a:lstStyle/>
          <a:p>
            <a:pPr algn="l">
              <a:lnSpc>
                <a:spcPct val="110000"/>
              </a:lnSpc>
            </a:pPr>
            <a:r>
              <a:rPr sz="1050" b="0" i="0">
                <a:solidFill>
                  <a:srgbClr val="475569"/>
                </a:solidFill>
                <a:latin typeface="Calibri"/>
              </a:rPr>
              <a:t>Is there a skill near every cluster of people, or are there gaps on the ruler? And is anything red?</a:t>
            </a:r>
          </a:p>
        </p:txBody>
      </p:sp>
      <p:sp>
        <p:nvSpPr>
          <p:cNvPr id="106" name="TextBox 105"/>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Rasch</a:t>
            </a:r>
          </a:p>
        </p:txBody>
      </p:sp>
      <p:sp>
        <p:nvSpPr>
          <p:cNvPr id="107" name="TextBox 10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HONEST BEHAVIOUR 1 OF 3</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200" b="1" i="0">
                <a:solidFill>
                  <a:srgbClr val="0F172A"/>
                </a:solidFill>
                <a:latin typeface="Calibri"/>
              </a:rPr>
              <a:t>Misfit is information, not an error code</a:t>
            </a:r>
          </a:p>
        </p:txBody>
      </p:sp>
      <p:sp>
        <p:nvSpPr>
          <p:cNvPr id="4" name="TextBox 3"/>
          <p:cNvSpPr txBox="1"/>
          <p:nvPr/>
        </p:nvSpPr>
        <p:spPr>
          <a:xfrm>
            <a:off x="777240" y="1874519"/>
            <a:ext cx="10607040" cy="548640"/>
          </a:xfrm>
          <a:prstGeom prst="rect">
            <a:avLst/>
          </a:prstGeom>
          <a:noFill/>
        </p:spPr>
        <p:txBody>
          <a:bodyPr wrap="square" anchor="t">
            <a:spAutoFit/>
          </a:bodyPr>
          <a:lstStyle/>
          <a:p>
            <a:pPr algn="l">
              <a:lnSpc>
                <a:spcPct val="100000"/>
              </a:lnSpc>
            </a:pPr>
            <a:r>
              <a:rPr sz="1500" b="0" i="0">
                <a:solidFill>
                  <a:srgbClr val="475569"/>
                </a:solidFill>
                <a:latin typeface="Calibri"/>
              </a:rPr>
              <a:t>The model predicts every cell. Where responses disagree with the predictions more than chance allows, it says so — per item, per person, in words.</a:t>
            </a:r>
          </a:p>
        </p:txBody>
      </p:sp>
      <p:sp>
        <p:nvSpPr>
          <p:cNvPr id="5" name="TextBox 4"/>
          <p:cNvSpPr txBox="1"/>
          <p:nvPr/>
        </p:nvSpPr>
        <p:spPr>
          <a:xfrm>
            <a:off x="777240" y="2606040"/>
            <a:ext cx="3108960" cy="329184"/>
          </a:xfrm>
          <a:prstGeom prst="rect">
            <a:avLst/>
          </a:prstGeom>
          <a:noFill/>
        </p:spPr>
        <p:txBody>
          <a:bodyPr wrap="square" lIns="54864" rIns="54864" tIns="27432" bIns="27432" anchor="ctr">
            <a:spAutoFit/>
          </a:bodyPr>
          <a:lstStyle/>
          <a:p>
            <a:pPr algn="l"/>
            <a:r>
              <a:rPr sz="950" b="1">
                <a:solidFill>
                  <a:srgbClr val="94A3B8"/>
                </a:solidFill>
                <a:latin typeface="Calibri"/>
              </a:rPr>
              <a:t>Skill</a:t>
            </a:r>
          </a:p>
        </p:txBody>
      </p:sp>
      <p:sp>
        <p:nvSpPr>
          <p:cNvPr id="6" name="TextBox 5"/>
          <p:cNvSpPr txBox="1"/>
          <p:nvPr/>
        </p:nvSpPr>
        <p:spPr>
          <a:xfrm>
            <a:off x="3886200" y="2606040"/>
            <a:ext cx="1005840" cy="329184"/>
          </a:xfrm>
          <a:prstGeom prst="rect">
            <a:avLst/>
          </a:prstGeom>
          <a:noFill/>
        </p:spPr>
        <p:txBody>
          <a:bodyPr wrap="square" lIns="54864" rIns="54864" tIns="27432" bIns="27432" anchor="ctr">
            <a:spAutoFit/>
          </a:bodyPr>
          <a:lstStyle/>
          <a:p>
            <a:pPr algn="r"/>
            <a:r>
              <a:rPr sz="950" b="1">
                <a:solidFill>
                  <a:srgbClr val="94A3B8"/>
                </a:solidFill>
                <a:latin typeface="Calibri"/>
              </a:rPr>
              <a:t>Badged</a:t>
            </a:r>
          </a:p>
        </p:txBody>
      </p:sp>
      <p:sp>
        <p:nvSpPr>
          <p:cNvPr id="7" name="TextBox 6"/>
          <p:cNvSpPr txBox="1"/>
          <p:nvPr/>
        </p:nvSpPr>
        <p:spPr>
          <a:xfrm>
            <a:off x="4892040" y="2606040"/>
            <a:ext cx="1005840" cy="329184"/>
          </a:xfrm>
          <a:prstGeom prst="rect">
            <a:avLst/>
          </a:prstGeom>
          <a:noFill/>
        </p:spPr>
        <p:txBody>
          <a:bodyPr wrap="square" lIns="54864" rIns="54864" tIns="27432" bIns="27432" anchor="ctr">
            <a:spAutoFit/>
          </a:bodyPr>
          <a:lstStyle/>
          <a:p>
            <a:pPr algn="r"/>
            <a:r>
              <a:rPr sz="950" b="1">
                <a:solidFill>
                  <a:srgbClr val="94A3B8"/>
                </a:solidFill>
                <a:latin typeface="Calibri"/>
              </a:rPr>
              <a:t>Measure</a:t>
            </a:r>
          </a:p>
        </p:txBody>
      </p:sp>
      <p:sp>
        <p:nvSpPr>
          <p:cNvPr id="8" name="TextBox 7"/>
          <p:cNvSpPr txBox="1"/>
          <p:nvPr/>
        </p:nvSpPr>
        <p:spPr>
          <a:xfrm>
            <a:off x="5897879" y="2606040"/>
            <a:ext cx="914400" cy="329184"/>
          </a:xfrm>
          <a:prstGeom prst="rect">
            <a:avLst/>
          </a:prstGeom>
          <a:noFill/>
        </p:spPr>
        <p:txBody>
          <a:bodyPr wrap="square" lIns="54864" rIns="54864" tIns="27432" bIns="27432" anchor="ctr">
            <a:spAutoFit/>
          </a:bodyPr>
          <a:lstStyle/>
          <a:p>
            <a:pPr algn="r"/>
            <a:r>
              <a:rPr sz="950" b="1">
                <a:solidFill>
                  <a:srgbClr val="94A3B8"/>
                </a:solidFill>
                <a:latin typeface="Calibri"/>
              </a:rPr>
              <a:t>Infit</a:t>
            </a:r>
          </a:p>
        </p:txBody>
      </p:sp>
      <p:sp>
        <p:nvSpPr>
          <p:cNvPr id="9" name="TextBox 8"/>
          <p:cNvSpPr txBox="1"/>
          <p:nvPr/>
        </p:nvSpPr>
        <p:spPr>
          <a:xfrm>
            <a:off x="6812279" y="2606040"/>
            <a:ext cx="914400" cy="329184"/>
          </a:xfrm>
          <a:prstGeom prst="rect">
            <a:avLst/>
          </a:prstGeom>
          <a:noFill/>
        </p:spPr>
        <p:txBody>
          <a:bodyPr wrap="square" lIns="54864" rIns="54864" tIns="27432" bIns="27432" anchor="ctr">
            <a:spAutoFit/>
          </a:bodyPr>
          <a:lstStyle/>
          <a:p>
            <a:pPr algn="r"/>
            <a:r>
              <a:rPr sz="950" b="1">
                <a:solidFill>
                  <a:srgbClr val="94A3B8"/>
                </a:solidFill>
                <a:latin typeface="Calibri"/>
              </a:rPr>
              <a:t>Outfit</a:t>
            </a:r>
          </a:p>
        </p:txBody>
      </p:sp>
      <p:sp>
        <p:nvSpPr>
          <p:cNvPr id="10" name="TextBox 9"/>
          <p:cNvSpPr txBox="1"/>
          <p:nvPr/>
        </p:nvSpPr>
        <p:spPr>
          <a:xfrm>
            <a:off x="7726679" y="2606040"/>
            <a:ext cx="3657600" cy="329184"/>
          </a:xfrm>
          <a:prstGeom prst="rect">
            <a:avLst/>
          </a:prstGeom>
          <a:noFill/>
        </p:spPr>
        <p:txBody>
          <a:bodyPr wrap="square" lIns="54864" rIns="54864" tIns="27432" bIns="27432" anchor="ctr">
            <a:spAutoFit/>
          </a:bodyPr>
          <a:lstStyle/>
          <a:p>
            <a:pPr algn="l"/>
            <a:r>
              <a:rPr sz="950" b="1">
                <a:solidFill>
                  <a:srgbClr val="94A3B8"/>
                </a:solidFill>
                <a:latin typeface="Calibri"/>
              </a:rPr>
              <a:t>Reading</a:t>
            </a:r>
          </a:p>
        </p:txBody>
      </p:sp>
      <p:cxnSp>
        <p:nvCxnSpPr>
          <p:cNvPr id="11" name="Connector 10"/>
          <p:cNvCxnSpPr/>
          <p:nvPr/>
        </p:nvCxnSpPr>
        <p:spPr>
          <a:xfrm>
            <a:off x="777240" y="2935224"/>
            <a:ext cx="10607040" cy="0"/>
          </a:xfrm>
          <a:prstGeom prst="line">
            <a:avLst/>
          </a:prstGeom>
          <a:ln w="9525">
            <a:solidFill>
              <a:srgbClr val="94A3B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2935224"/>
            <a:ext cx="3108960" cy="329184"/>
          </a:xfrm>
          <a:prstGeom prst="rect">
            <a:avLst/>
          </a:prstGeom>
          <a:noFill/>
        </p:spPr>
        <p:txBody>
          <a:bodyPr wrap="square" lIns="54864" rIns="54864" tIns="27432" bIns="27432" anchor="ctr">
            <a:spAutoFit/>
          </a:bodyPr>
          <a:lstStyle/>
          <a:p>
            <a:pPr algn="l"/>
            <a:r>
              <a:rPr sz="1150" b="1">
                <a:solidFill>
                  <a:srgbClr val="0F172A"/>
                </a:solidFill>
                <a:latin typeface="Calibri"/>
              </a:rPr>
              <a:t>stand up an NDC server</a:t>
            </a:r>
          </a:p>
        </p:txBody>
      </p:sp>
      <p:sp>
        <p:nvSpPr>
          <p:cNvPr id="13" name="TextBox 12"/>
          <p:cNvSpPr txBox="1"/>
          <p:nvPr/>
        </p:nvSpPr>
        <p:spPr>
          <a:xfrm>
            <a:off x="3886200" y="2935224"/>
            <a:ext cx="1005840" cy="329184"/>
          </a:xfrm>
          <a:prstGeom prst="rect">
            <a:avLst/>
          </a:prstGeom>
          <a:noFill/>
        </p:spPr>
        <p:txBody>
          <a:bodyPr wrap="square" lIns="54864" rIns="54864" tIns="27432" bIns="27432" anchor="ctr">
            <a:spAutoFit/>
          </a:bodyPr>
          <a:lstStyle/>
          <a:p>
            <a:pPr algn="r"/>
            <a:r>
              <a:rPr sz="1150" b="0">
                <a:solidFill>
                  <a:srgbClr val="475569"/>
                </a:solidFill>
                <a:latin typeface="Calibri"/>
              </a:rPr>
              <a:t>2 of 23</a:t>
            </a:r>
          </a:p>
        </p:txBody>
      </p:sp>
      <p:sp>
        <p:nvSpPr>
          <p:cNvPr id="14" name="TextBox 13"/>
          <p:cNvSpPr txBox="1"/>
          <p:nvPr/>
        </p:nvSpPr>
        <p:spPr>
          <a:xfrm>
            <a:off x="4892040" y="2935224"/>
            <a:ext cx="1005840" cy="329184"/>
          </a:xfrm>
          <a:prstGeom prst="rect">
            <a:avLst/>
          </a:prstGeom>
          <a:noFill/>
        </p:spPr>
        <p:txBody>
          <a:bodyPr wrap="square" lIns="54864" rIns="54864" tIns="27432" bIns="27432" anchor="ctr">
            <a:spAutoFit/>
          </a:bodyPr>
          <a:lstStyle/>
          <a:p>
            <a:pPr algn="r"/>
            <a:r>
              <a:rPr sz="1150" b="0">
                <a:solidFill>
                  <a:srgbClr val="475569"/>
                </a:solidFill>
                <a:latin typeface="Calibri"/>
              </a:rPr>
              <a:t>+4.27</a:t>
            </a:r>
          </a:p>
        </p:txBody>
      </p:sp>
      <p:sp>
        <p:nvSpPr>
          <p:cNvPr id="15" name="TextBox 14"/>
          <p:cNvSpPr txBox="1"/>
          <p:nvPr/>
        </p:nvSpPr>
        <p:spPr>
          <a:xfrm>
            <a:off x="5897879" y="2935224"/>
            <a:ext cx="914400" cy="329184"/>
          </a:xfrm>
          <a:prstGeom prst="rect">
            <a:avLst/>
          </a:prstGeom>
          <a:noFill/>
        </p:spPr>
        <p:txBody>
          <a:bodyPr wrap="square" lIns="54864" rIns="54864" tIns="27432" bIns="27432" anchor="ctr">
            <a:spAutoFit/>
          </a:bodyPr>
          <a:lstStyle/>
          <a:p>
            <a:pPr algn="r"/>
            <a:r>
              <a:rPr sz="1150" b="0">
                <a:solidFill>
                  <a:srgbClr val="475569"/>
                </a:solidFill>
                <a:latin typeface="Calibri"/>
              </a:rPr>
              <a:t>1.36</a:t>
            </a:r>
          </a:p>
        </p:txBody>
      </p:sp>
      <p:sp>
        <p:nvSpPr>
          <p:cNvPr id="16" name="TextBox 15"/>
          <p:cNvSpPr txBox="1"/>
          <p:nvPr/>
        </p:nvSpPr>
        <p:spPr>
          <a:xfrm>
            <a:off x="6812279" y="2935224"/>
            <a:ext cx="914400" cy="329184"/>
          </a:xfrm>
          <a:prstGeom prst="rect">
            <a:avLst/>
          </a:prstGeom>
          <a:noFill/>
        </p:spPr>
        <p:txBody>
          <a:bodyPr wrap="square" lIns="54864" rIns="54864" tIns="27432" bIns="27432" anchor="ctr">
            <a:spAutoFit/>
          </a:bodyPr>
          <a:lstStyle/>
          <a:p>
            <a:pPr algn="r"/>
            <a:r>
              <a:rPr sz="1150" b="1">
                <a:solidFill>
                  <a:srgbClr val="DC2626"/>
                </a:solidFill>
                <a:latin typeface="Calibri"/>
              </a:rPr>
              <a:t>2.31</a:t>
            </a:r>
          </a:p>
        </p:txBody>
      </p:sp>
      <p:sp>
        <p:nvSpPr>
          <p:cNvPr id="17" name="TextBox 16"/>
          <p:cNvSpPr txBox="1"/>
          <p:nvPr/>
        </p:nvSpPr>
        <p:spPr>
          <a:xfrm>
            <a:off x="7726679" y="2935224"/>
            <a:ext cx="3657600" cy="329184"/>
          </a:xfrm>
          <a:prstGeom prst="rect">
            <a:avLst/>
          </a:prstGeom>
          <a:noFill/>
        </p:spPr>
        <p:txBody>
          <a:bodyPr wrap="square" lIns="54864" rIns="54864" tIns="27432" bIns="27432" anchor="ctr">
            <a:spAutoFit/>
          </a:bodyPr>
          <a:lstStyle/>
          <a:p>
            <a:pPr algn="l"/>
            <a:r>
              <a:rPr sz="1150" b="0">
                <a:solidFill>
                  <a:srgbClr val="475569"/>
                </a:solidFill>
                <a:latin typeface="Calibri"/>
              </a:rPr>
              <a:t>Two successes — outfit rests on almost nothing</a:t>
            </a:r>
          </a:p>
        </p:txBody>
      </p:sp>
      <p:cxnSp>
        <p:nvCxnSpPr>
          <p:cNvPr id="18" name="Connector 17"/>
          <p:cNvCxnSpPr/>
          <p:nvPr/>
        </p:nvCxnSpPr>
        <p:spPr>
          <a:xfrm>
            <a:off x="777240" y="3264408"/>
            <a:ext cx="1060704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77240" y="3264408"/>
            <a:ext cx="3108960" cy="329184"/>
          </a:xfrm>
          <a:prstGeom prst="rect">
            <a:avLst/>
          </a:prstGeom>
          <a:noFill/>
        </p:spPr>
        <p:txBody>
          <a:bodyPr wrap="square" lIns="54864" rIns="54864" tIns="27432" bIns="27432" anchor="ctr">
            <a:spAutoFit/>
          </a:bodyPr>
          <a:lstStyle/>
          <a:p>
            <a:pPr algn="l"/>
            <a:r>
              <a:rPr sz="1150" b="1">
                <a:solidFill>
                  <a:srgbClr val="0F172A"/>
                </a:solidFill>
                <a:latin typeface="Calibri"/>
              </a:rPr>
              <a:t>assign an IAD level</a:t>
            </a:r>
          </a:p>
        </p:txBody>
      </p:sp>
      <p:sp>
        <p:nvSpPr>
          <p:cNvPr id="20" name="TextBox 19"/>
          <p:cNvSpPr txBox="1"/>
          <p:nvPr/>
        </p:nvSpPr>
        <p:spPr>
          <a:xfrm>
            <a:off x="3886200" y="3264408"/>
            <a:ext cx="1005840" cy="329184"/>
          </a:xfrm>
          <a:prstGeom prst="rect">
            <a:avLst/>
          </a:prstGeom>
          <a:noFill/>
        </p:spPr>
        <p:txBody>
          <a:bodyPr wrap="square" lIns="54864" rIns="54864" tIns="27432" bIns="27432" anchor="ctr">
            <a:spAutoFit/>
          </a:bodyPr>
          <a:lstStyle/>
          <a:p>
            <a:pPr algn="r"/>
            <a:r>
              <a:rPr sz="1150" b="0">
                <a:solidFill>
                  <a:srgbClr val="475569"/>
                </a:solidFill>
                <a:latin typeface="Calibri"/>
              </a:rPr>
              <a:t>6 of 23</a:t>
            </a:r>
          </a:p>
        </p:txBody>
      </p:sp>
      <p:sp>
        <p:nvSpPr>
          <p:cNvPr id="21" name="TextBox 20"/>
          <p:cNvSpPr txBox="1"/>
          <p:nvPr/>
        </p:nvSpPr>
        <p:spPr>
          <a:xfrm>
            <a:off x="4892040" y="3264408"/>
            <a:ext cx="1005840" cy="329184"/>
          </a:xfrm>
          <a:prstGeom prst="rect">
            <a:avLst/>
          </a:prstGeom>
          <a:noFill/>
        </p:spPr>
        <p:txBody>
          <a:bodyPr wrap="square" lIns="54864" rIns="54864" tIns="27432" bIns="27432" anchor="ctr">
            <a:spAutoFit/>
          </a:bodyPr>
          <a:lstStyle/>
          <a:p>
            <a:pPr algn="r"/>
            <a:r>
              <a:rPr sz="1150" b="0">
                <a:solidFill>
                  <a:srgbClr val="475569"/>
                </a:solidFill>
                <a:latin typeface="Calibri"/>
              </a:rPr>
              <a:t>+1.91</a:t>
            </a:r>
          </a:p>
        </p:txBody>
      </p:sp>
      <p:sp>
        <p:nvSpPr>
          <p:cNvPr id="22" name="TextBox 21"/>
          <p:cNvSpPr txBox="1"/>
          <p:nvPr/>
        </p:nvSpPr>
        <p:spPr>
          <a:xfrm>
            <a:off x="5897879" y="3264408"/>
            <a:ext cx="914400" cy="329184"/>
          </a:xfrm>
          <a:prstGeom prst="rect">
            <a:avLst/>
          </a:prstGeom>
          <a:noFill/>
        </p:spPr>
        <p:txBody>
          <a:bodyPr wrap="square" lIns="54864" rIns="54864" tIns="27432" bIns="27432" anchor="ctr">
            <a:spAutoFit/>
          </a:bodyPr>
          <a:lstStyle/>
          <a:p>
            <a:pPr algn="r"/>
            <a:r>
              <a:rPr sz="1150" b="1">
                <a:solidFill>
                  <a:srgbClr val="B45309"/>
                </a:solidFill>
                <a:latin typeface="Calibri"/>
              </a:rPr>
              <a:t>0.40</a:t>
            </a:r>
          </a:p>
        </p:txBody>
      </p:sp>
      <p:sp>
        <p:nvSpPr>
          <p:cNvPr id="23" name="TextBox 22"/>
          <p:cNvSpPr txBox="1"/>
          <p:nvPr/>
        </p:nvSpPr>
        <p:spPr>
          <a:xfrm>
            <a:off x="6812279" y="3264408"/>
            <a:ext cx="914400" cy="329184"/>
          </a:xfrm>
          <a:prstGeom prst="rect">
            <a:avLst/>
          </a:prstGeom>
          <a:noFill/>
        </p:spPr>
        <p:txBody>
          <a:bodyPr wrap="square" lIns="54864" rIns="54864" tIns="27432" bIns="27432" anchor="ctr">
            <a:spAutoFit/>
          </a:bodyPr>
          <a:lstStyle/>
          <a:p>
            <a:pPr algn="r"/>
            <a:r>
              <a:rPr sz="1150" b="1">
                <a:solidFill>
                  <a:srgbClr val="B45309"/>
                </a:solidFill>
                <a:latin typeface="Calibri"/>
              </a:rPr>
              <a:t>0.18</a:t>
            </a:r>
          </a:p>
        </p:txBody>
      </p:sp>
      <p:sp>
        <p:nvSpPr>
          <p:cNvPr id="24" name="TextBox 23"/>
          <p:cNvSpPr txBox="1"/>
          <p:nvPr/>
        </p:nvSpPr>
        <p:spPr>
          <a:xfrm>
            <a:off x="7726679" y="3264408"/>
            <a:ext cx="3657600" cy="329184"/>
          </a:xfrm>
          <a:prstGeom prst="rect">
            <a:avLst/>
          </a:prstGeom>
          <a:noFill/>
        </p:spPr>
        <p:txBody>
          <a:bodyPr wrap="square" lIns="54864" rIns="54864" tIns="27432" bIns="27432" anchor="ctr">
            <a:spAutoFit/>
          </a:bodyPr>
          <a:lstStyle/>
          <a:p>
            <a:pPr algn="l"/>
            <a:r>
              <a:rPr sz="1150" b="0">
                <a:solidFill>
                  <a:srgbClr val="475569"/>
                </a:solidFill>
                <a:latin typeface="Calibri"/>
              </a:rPr>
              <a:t>Too predictable — tracks its neighbours</a:t>
            </a:r>
          </a:p>
        </p:txBody>
      </p:sp>
      <p:cxnSp>
        <p:nvCxnSpPr>
          <p:cNvPr id="25" name="Connector 24"/>
          <p:cNvCxnSpPr/>
          <p:nvPr/>
        </p:nvCxnSpPr>
        <p:spPr>
          <a:xfrm>
            <a:off x="777240" y="3593591"/>
            <a:ext cx="1060704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3593591"/>
            <a:ext cx="3108960" cy="329184"/>
          </a:xfrm>
          <a:prstGeom prst="rect">
            <a:avLst/>
          </a:prstGeom>
          <a:noFill/>
        </p:spPr>
        <p:txBody>
          <a:bodyPr wrap="square" lIns="54864" rIns="54864" tIns="27432" bIns="27432" anchor="ctr">
            <a:spAutoFit/>
          </a:bodyPr>
          <a:lstStyle/>
          <a:p>
            <a:pPr algn="l"/>
            <a:r>
              <a:rPr sz="1150" b="1">
                <a:solidFill>
                  <a:srgbClr val="0F172A"/>
                </a:solidFill>
                <a:latin typeface="Calibri"/>
              </a:rPr>
              <a:t>fork from another site</a:t>
            </a:r>
          </a:p>
        </p:txBody>
      </p:sp>
      <p:sp>
        <p:nvSpPr>
          <p:cNvPr id="27" name="TextBox 26"/>
          <p:cNvSpPr txBox="1"/>
          <p:nvPr/>
        </p:nvSpPr>
        <p:spPr>
          <a:xfrm>
            <a:off x="3886200" y="3593591"/>
            <a:ext cx="1005840" cy="329184"/>
          </a:xfrm>
          <a:prstGeom prst="rect">
            <a:avLst/>
          </a:prstGeom>
          <a:noFill/>
        </p:spPr>
        <p:txBody>
          <a:bodyPr wrap="square" lIns="54864" rIns="54864" tIns="27432" bIns="27432" anchor="ctr">
            <a:spAutoFit/>
          </a:bodyPr>
          <a:lstStyle/>
          <a:p>
            <a:pPr algn="r"/>
            <a:r>
              <a:rPr sz="1150" b="0">
                <a:solidFill>
                  <a:srgbClr val="475569"/>
                </a:solidFill>
                <a:latin typeface="Calibri"/>
              </a:rPr>
              <a:t>12 of 23</a:t>
            </a:r>
          </a:p>
        </p:txBody>
      </p:sp>
      <p:sp>
        <p:nvSpPr>
          <p:cNvPr id="28" name="TextBox 27"/>
          <p:cNvSpPr txBox="1"/>
          <p:nvPr/>
        </p:nvSpPr>
        <p:spPr>
          <a:xfrm>
            <a:off x="4892040" y="3593591"/>
            <a:ext cx="1005840" cy="329184"/>
          </a:xfrm>
          <a:prstGeom prst="rect">
            <a:avLst/>
          </a:prstGeom>
          <a:noFill/>
        </p:spPr>
        <p:txBody>
          <a:bodyPr wrap="square" lIns="54864" rIns="54864" tIns="27432" bIns="27432" anchor="ctr">
            <a:spAutoFit/>
          </a:bodyPr>
          <a:lstStyle/>
          <a:p>
            <a:pPr algn="r"/>
            <a:r>
              <a:rPr sz="1150" b="0">
                <a:solidFill>
                  <a:srgbClr val="475569"/>
                </a:solidFill>
                <a:latin typeface="Calibri"/>
              </a:rPr>
              <a:t>−0.44</a:t>
            </a:r>
          </a:p>
        </p:txBody>
      </p:sp>
      <p:sp>
        <p:nvSpPr>
          <p:cNvPr id="29" name="TextBox 28"/>
          <p:cNvSpPr txBox="1"/>
          <p:nvPr/>
        </p:nvSpPr>
        <p:spPr>
          <a:xfrm>
            <a:off x="5897879" y="3593591"/>
            <a:ext cx="914400" cy="329184"/>
          </a:xfrm>
          <a:prstGeom prst="rect">
            <a:avLst/>
          </a:prstGeom>
          <a:noFill/>
        </p:spPr>
        <p:txBody>
          <a:bodyPr wrap="square" lIns="54864" rIns="54864" tIns="27432" bIns="27432" anchor="ctr">
            <a:spAutoFit/>
          </a:bodyPr>
          <a:lstStyle/>
          <a:p>
            <a:pPr algn="r"/>
            <a:r>
              <a:rPr sz="1150" b="0">
                <a:solidFill>
                  <a:srgbClr val="475569"/>
                </a:solidFill>
                <a:latin typeface="Calibri"/>
              </a:rPr>
              <a:t>0.93</a:t>
            </a:r>
          </a:p>
        </p:txBody>
      </p:sp>
      <p:sp>
        <p:nvSpPr>
          <p:cNvPr id="30" name="TextBox 29"/>
          <p:cNvSpPr txBox="1"/>
          <p:nvPr/>
        </p:nvSpPr>
        <p:spPr>
          <a:xfrm>
            <a:off x="6812279" y="3593591"/>
            <a:ext cx="914400" cy="329184"/>
          </a:xfrm>
          <a:prstGeom prst="rect">
            <a:avLst/>
          </a:prstGeom>
          <a:noFill/>
        </p:spPr>
        <p:txBody>
          <a:bodyPr wrap="square" lIns="54864" rIns="54864" tIns="27432" bIns="27432" anchor="ctr">
            <a:spAutoFit/>
          </a:bodyPr>
          <a:lstStyle/>
          <a:p>
            <a:pPr algn="r"/>
            <a:r>
              <a:rPr sz="1150" b="0">
                <a:solidFill>
                  <a:srgbClr val="475569"/>
                </a:solidFill>
                <a:latin typeface="Calibri"/>
              </a:rPr>
              <a:t>0.84</a:t>
            </a:r>
          </a:p>
        </p:txBody>
      </p:sp>
      <p:sp>
        <p:nvSpPr>
          <p:cNvPr id="31" name="TextBox 30"/>
          <p:cNvSpPr txBox="1"/>
          <p:nvPr/>
        </p:nvSpPr>
        <p:spPr>
          <a:xfrm>
            <a:off x="7726679" y="3593591"/>
            <a:ext cx="3657600" cy="329184"/>
          </a:xfrm>
          <a:prstGeom prst="rect">
            <a:avLst/>
          </a:prstGeom>
          <a:noFill/>
        </p:spPr>
        <p:txBody>
          <a:bodyPr wrap="square" lIns="54864" rIns="54864" tIns="27432" bIns="27432" anchor="ctr">
            <a:spAutoFit/>
          </a:bodyPr>
          <a:lstStyle/>
          <a:p>
            <a:pPr algn="l"/>
            <a:r>
              <a:rPr sz="1150" b="0">
                <a:solidFill>
                  <a:srgbClr val="475569"/>
                </a:solidFill>
                <a:latin typeface="Calibri"/>
              </a:rPr>
              <a:t>Behaves as expected</a:t>
            </a:r>
          </a:p>
        </p:txBody>
      </p:sp>
      <p:cxnSp>
        <p:nvCxnSpPr>
          <p:cNvPr id="32" name="Connector 31"/>
          <p:cNvCxnSpPr/>
          <p:nvPr/>
        </p:nvCxnSpPr>
        <p:spPr>
          <a:xfrm>
            <a:off x="777240" y="3922776"/>
            <a:ext cx="1060704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77240" y="3922776"/>
            <a:ext cx="3108960" cy="329184"/>
          </a:xfrm>
          <a:prstGeom prst="rect">
            <a:avLst/>
          </a:prstGeom>
          <a:noFill/>
        </p:spPr>
        <p:txBody>
          <a:bodyPr wrap="square" lIns="54864" rIns="54864" tIns="27432" bIns="27432" anchor="ctr">
            <a:spAutoFit/>
          </a:bodyPr>
          <a:lstStyle/>
          <a:p>
            <a:pPr algn="l"/>
            <a:r>
              <a:rPr sz="1150" b="1">
                <a:solidFill>
                  <a:srgbClr val="DC2626"/>
                </a:solidFill>
                <a:latin typeface="Calibri"/>
              </a:rPr>
              <a:t>run a campfire conversation</a:t>
            </a:r>
          </a:p>
        </p:txBody>
      </p:sp>
      <p:sp>
        <p:nvSpPr>
          <p:cNvPr id="34" name="TextBox 33"/>
          <p:cNvSpPr txBox="1"/>
          <p:nvPr/>
        </p:nvSpPr>
        <p:spPr>
          <a:xfrm>
            <a:off x="3886200" y="3922776"/>
            <a:ext cx="1005840" cy="329184"/>
          </a:xfrm>
          <a:prstGeom prst="rect">
            <a:avLst/>
          </a:prstGeom>
          <a:noFill/>
        </p:spPr>
        <p:txBody>
          <a:bodyPr wrap="square" lIns="54864" rIns="54864" tIns="27432" bIns="27432" anchor="ctr">
            <a:spAutoFit/>
          </a:bodyPr>
          <a:lstStyle/>
          <a:p>
            <a:pPr algn="r"/>
            <a:r>
              <a:rPr sz="1150" b="0">
                <a:solidFill>
                  <a:srgbClr val="475569"/>
                </a:solidFill>
                <a:latin typeface="Calibri"/>
              </a:rPr>
              <a:t>15 of 23</a:t>
            </a:r>
          </a:p>
        </p:txBody>
      </p:sp>
      <p:sp>
        <p:nvSpPr>
          <p:cNvPr id="35" name="TextBox 34"/>
          <p:cNvSpPr txBox="1"/>
          <p:nvPr/>
        </p:nvSpPr>
        <p:spPr>
          <a:xfrm>
            <a:off x="4892040" y="3922776"/>
            <a:ext cx="1005840" cy="329184"/>
          </a:xfrm>
          <a:prstGeom prst="rect">
            <a:avLst/>
          </a:prstGeom>
          <a:noFill/>
        </p:spPr>
        <p:txBody>
          <a:bodyPr wrap="square" lIns="54864" rIns="54864" tIns="27432" bIns="27432" anchor="ctr">
            <a:spAutoFit/>
          </a:bodyPr>
          <a:lstStyle/>
          <a:p>
            <a:pPr algn="r"/>
            <a:r>
              <a:rPr sz="1150" b="0">
                <a:solidFill>
                  <a:srgbClr val="475569"/>
                </a:solidFill>
                <a:latin typeface="Calibri"/>
              </a:rPr>
              <a:t>−1.37</a:t>
            </a:r>
          </a:p>
        </p:txBody>
      </p:sp>
      <p:sp>
        <p:nvSpPr>
          <p:cNvPr id="36" name="TextBox 35"/>
          <p:cNvSpPr txBox="1"/>
          <p:nvPr/>
        </p:nvSpPr>
        <p:spPr>
          <a:xfrm>
            <a:off x="5897879" y="3922776"/>
            <a:ext cx="914400" cy="329184"/>
          </a:xfrm>
          <a:prstGeom prst="rect">
            <a:avLst/>
          </a:prstGeom>
          <a:noFill/>
        </p:spPr>
        <p:txBody>
          <a:bodyPr wrap="square" lIns="54864" rIns="54864" tIns="27432" bIns="27432" anchor="ctr">
            <a:spAutoFit/>
          </a:bodyPr>
          <a:lstStyle/>
          <a:p>
            <a:pPr algn="r"/>
            <a:r>
              <a:rPr sz="1150" b="1">
                <a:solidFill>
                  <a:srgbClr val="DC2626"/>
                </a:solidFill>
                <a:latin typeface="Calibri"/>
              </a:rPr>
              <a:t>2.07</a:t>
            </a:r>
          </a:p>
        </p:txBody>
      </p:sp>
      <p:sp>
        <p:nvSpPr>
          <p:cNvPr id="37" name="TextBox 36"/>
          <p:cNvSpPr txBox="1"/>
          <p:nvPr/>
        </p:nvSpPr>
        <p:spPr>
          <a:xfrm>
            <a:off x="6812279" y="3922776"/>
            <a:ext cx="914400" cy="329184"/>
          </a:xfrm>
          <a:prstGeom prst="rect">
            <a:avLst/>
          </a:prstGeom>
          <a:noFill/>
        </p:spPr>
        <p:txBody>
          <a:bodyPr wrap="square" lIns="54864" rIns="54864" tIns="27432" bIns="27432" anchor="ctr">
            <a:spAutoFit/>
          </a:bodyPr>
          <a:lstStyle/>
          <a:p>
            <a:pPr algn="r"/>
            <a:r>
              <a:rPr sz="1150" b="1">
                <a:solidFill>
                  <a:srgbClr val="DC2626"/>
                </a:solidFill>
                <a:latin typeface="Calibri"/>
              </a:rPr>
              <a:t>11.61</a:t>
            </a:r>
          </a:p>
        </p:txBody>
      </p:sp>
      <p:sp>
        <p:nvSpPr>
          <p:cNvPr id="38" name="TextBox 37"/>
          <p:cNvSpPr txBox="1"/>
          <p:nvPr/>
        </p:nvSpPr>
        <p:spPr>
          <a:xfrm>
            <a:off x="7726679" y="3922776"/>
            <a:ext cx="3657600" cy="329184"/>
          </a:xfrm>
          <a:prstGeom prst="rect">
            <a:avLst/>
          </a:prstGeom>
          <a:noFill/>
        </p:spPr>
        <p:txBody>
          <a:bodyPr wrap="square" lIns="54864" rIns="54864" tIns="27432" bIns="27432" anchor="ctr">
            <a:spAutoFit/>
          </a:bodyPr>
          <a:lstStyle/>
          <a:p>
            <a:pPr algn="l"/>
            <a:r>
              <a:rPr sz="1150" b="1">
                <a:solidFill>
                  <a:srgbClr val="DC2626"/>
                </a:solidFill>
                <a:latin typeface="Calibri"/>
              </a:rPr>
              <a:t>Badly noisy — measuring something else</a:t>
            </a:r>
          </a:p>
        </p:txBody>
      </p:sp>
      <p:cxnSp>
        <p:nvCxnSpPr>
          <p:cNvPr id="39" name="Connector 38"/>
          <p:cNvCxnSpPr/>
          <p:nvPr/>
        </p:nvCxnSpPr>
        <p:spPr>
          <a:xfrm>
            <a:off x="777240" y="4251960"/>
            <a:ext cx="1060704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77240" y="4251960"/>
            <a:ext cx="3108960" cy="329184"/>
          </a:xfrm>
          <a:prstGeom prst="rect">
            <a:avLst/>
          </a:prstGeom>
          <a:noFill/>
        </p:spPr>
        <p:txBody>
          <a:bodyPr wrap="square" lIns="54864" rIns="54864" tIns="27432" bIns="27432" anchor="ctr">
            <a:spAutoFit/>
          </a:bodyPr>
          <a:lstStyle/>
          <a:p>
            <a:pPr algn="l"/>
            <a:r>
              <a:rPr sz="1150" b="1">
                <a:solidFill>
                  <a:srgbClr val="0F172A"/>
                </a:solidFill>
                <a:latin typeface="Calibri"/>
              </a:rPr>
              <a:t>comment on a page</a:t>
            </a:r>
          </a:p>
        </p:txBody>
      </p:sp>
      <p:sp>
        <p:nvSpPr>
          <p:cNvPr id="41" name="TextBox 40"/>
          <p:cNvSpPr txBox="1"/>
          <p:nvPr/>
        </p:nvSpPr>
        <p:spPr>
          <a:xfrm>
            <a:off x="3886200" y="4251960"/>
            <a:ext cx="1005840" cy="329184"/>
          </a:xfrm>
          <a:prstGeom prst="rect">
            <a:avLst/>
          </a:prstGeom>
          <a:noFill/>
        </p:spPr>
        <p:txBody>
          <a:bodyPr wrap="square" lIns="54864" rIns="54864" tIns="27432" bIns="27432" anchor="ctr">
            <a:spAutoFit/>
          </a:bodyPr>
          <a:lstStyle/>
          <a:p>
            <a:pPr algn="r"/>
            <a:r>
              <a:rPr sz="1150" b="0">
                <a:solidFill>
                  <a:srgbClr val="475569"/>
                </a:solidFill>
                <a:latin typeface="Calibri"/>
              </a:rPr>
              <a:t>19 of 23</a:t>
            </a:r>
          </a:p>
        </p:txBody>
      </p:sp>
      <p:sp>
        <p:nvSpPr>
          <p:cNvPr id="42" name="TextBox 41"/>
          <p:cNvSpPr txBox="1"/>
          <p:nvPr/>
        </p:nvSpPr>
        <p:spPr>
          <a:xfrm>
            <a:off x="4892040" y="4251960"/>
            <a:ext cx="1005840" cy="329184"/>
          </a:xfrm>
          <a:prstGeom prst="rect">
            <a:avLst/>
          </a:prstGeom>
          <a:noFill/>
        </p:spPr>
        <p:txBody>
          <a:bodyPr wrap="square" lIns="54864" rIns="54864" tIns="27432" bIns="27432" anchor="ctr">
            <a:spAutoFit/>
          </a:bodyPr>
          <a:lstStyle/>
          <a:p>
            <a:pPr algn="r"/>
            <a:r>
              <a:rPr sz="1150" b="0">
                <a:solidFill>
                  <a:srgbClr val="475569"/>
                </a:solidFill>
                <a:latin typeface="Calibri"/>
              </a:rPr>
              <a:t>−2.76</a:t>
            </a:r>
          </a:p>
        </p:txBody>
      </p:sp>
      <p:sp>
        <p:nvSpPr>
          <p:cNvPr id="43" name="TextBox 42"/>
          <p:cNvSpPr txBox="1"/>
          <p:nvPr/>
        </p:nvSpPr>
        <p:spPr>
          <a:xfrm>
            <a:off x="5897879" y="4251960"/>
            <a:ext cx="914400" cy="329184"/>
          </a:xfrm>
          <a:prstGeom prst="rect">
            <a:avLst/>
          </a:prstGeom>
          <a:noFill/>
        </p:spPr>
        <p:txBody>
          <a:bodyPr wrap="square" lIns="54864" rIns="54864" tIns="27432" bIns="27432" anchor="ctr">
            <a:spAutoFit/>
          </a:bodyPr>
          <a:lstStyle/>
          <a:p>
            <a:pPr algn="r"/>
            <a:r>
              <a:rPr sz="1150" b="0">
                <a:solidFill>
                  <a:srgbClr val="475569"/>
                </a:solidFill>
                <a:latin typeface="Calibri"/>
              </a:rPr>
              <a:t>1.05</a:t>
            </a:r>
          </a:p>
        </p:txBody>
      </p:sp>
      <p:sp>
        <p:nvSpPr>
          <p:cNvPr id="44" name="TextBox 43"/>
          <p:cNvSpPr txBox="1"/>
          <p:nvPr/>
        </p:nvSpPr>
        <p:spPr>
          <a:xfrm>
            <a:off x="6812279" y="4251960"/>
            <a:ext cx="914400" cy="329184"/>
          </a:xfrm>
          <a:prstGeom prst="rect">
            <a:avLst/>
          </a:prstGeom>
          <a:noFill/>
        </p:spPr>
        <p:txBody>
          <a:bodyPr wrap="square" lIns="54864" rIns="54864" tIns="27432" bIns="27432" anchor="ctr">
            <a:spAutoFit/>
          </a:bodyPr>
          <a:lstStyle/>
          <a:p>
            <a:pPr algn="r"/>
            <a:r>
              <a:rPr sz="1150" b="0">
                <a:solidFill>
                  <a:srgbClr val="475569"/>
                </a:solidFill>
                <a:latin typeface="Calibri"/>
              </a:rPr>
              <a:t>0.66</a:t>
            </a:r>
          </a:p>
        </p:txBody>
      </p:sp>
      <p:sp>
        <p:nvSpPr>
          <p:cNvPr id="45" name="TextBox 44"/>
          <p:cNvSpPr txBox="1"/>
          <p:nvPr/>
        </p:nvSpPr>
        <p:spPr>
          <a:xfrm>
            <a:off x="7726679" y="4251960"/>
            <a:ext cx="3657600" cy="329184"/>
          </a:xfrm>
          <a:prstGeom prst="rect">
            <a:avLst/>
          </a:prstGeom>
          <a:noFill/>
        </p:spPr>
        <p:txBody>
          <a:bodyPr wrap="square" lIns="54864" rIns="54864" tIns="27432" bIns="27432" anchor="ctr">
            <a:spAutoFit/>
          </a:bodyPr>
          <a:lstStyle/>
          <a:p>
            <a:pPr algn="l"/>
            <a:r>
              <a:rPr sz="1150" b="0">
                <a:solidFill>
                  <a:srgbClr val="475569"/>
                </a:solidFill>
                <a:latin typeface="Calibri"/>
              </a:rPr>
              <a:t>Behaves as expected</a:t>
            </a:r>
          </a:p>
        </p:txBody>
      </p:sp>
      <p:cxnSp>
        <p:nvCxnSpPr>
          <p:cNvPr id="46" name="Connector 45"/>
          <p:cNvCxnSpPr/>
          <p:nvPr/>
        </p:nvCxnSpPr>
        <p:spPr>
          <a:xfrm>
            <a:off x="777240" y="4581144"/>
            <a:ext cx="1060704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777240" y="4754880"/>
            <a:ext cx="10607040" cy="1188720"/>
          </a:xfrm>
          <a:prstGeom prst="rect">
            <a:avLst/>
          </a:prstGeom>
          <a:solidFill>
            <a:srgbClr val="FEF2F2"/>
          </a:solidFill>
          <a:ln w="1587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51560" y="4892040"/>
            <a:ext cx="10058400" cy="329184"/>
          </a:xfrm>
          <a:prstGeom prst="rect">
            <a:avLst/>
          </a:prstGeom>
          <a:noFill/>
        </p:spPr>
        <p:txBody>
          <a:bodyPr wrap="square" anchor="t">
            <a:spAutoFit/>
          </a:bodyPr>
          <a:lstStyle/>
          <a:p>
            <a:pPr algn="l">
              <a:lnSpc>
                <a:spcPct val="100000"/>
              </a:lnSpc>
            </a:pPr>
            <a:r>
              <a:rPr sz="1500" b="1" i="0">
                <a:solidFill>
                  <a:srgbClr val="991B1B"/>
                </a:solidFill>
                <a:latin typeface="Calibri"/>
              </a:rPr>
              <a:t>Ten of twelve behave, one is flagged on thin evidence, one does not behave at all.</a:t>
            </a:r>
          </a:p>
        </p:txBody>
      </p:sp>
      <p:sp>
        <p:nvSpPr>
          <p:cNvPr id="49" name="TextBox 48"/>
          <p:cNvSpPr txBox="1"/>
          <p:nvPr/>
        </p:nvSpPr>
        <p:spPr>
          <a:xfrm>
            <a:off x="1051560" y="5285232"/>
            <a:ext cx="10058400" cy="530352"/>
          </a:xfrm>
          <a:prstGeom prst="rect">
            <a:avLst/>
          </a:prstGeom>
          <a:noFill/>
        </p:spPr>
        <p:txBody>
          <a:bodyPr wrap="square" anchor="t">
            <a:spAutoFit/>
          </a:bodyPr>
          <a:lstStyle/>
          <a:p>
            <a:pPr algn="l">
              <a:lnSpc>
                <a:spcPct val="112000"/>
              </a:lnSpc>
            </a:pPr>
            <a:r>
              <a:rPr sz="1250" b="0" i="0">
                <a:solidFill>
                  <a:srgbClr val="475569"/>
                </a:solidFill>
                <a:latin typeface="Calibri"/>
              </a:rPr>
              <a:t>Some of the least able people hold the campfire badge and some of the most able do not. The demo built it that way — running a campfire depends on temperament, not on the FedWiki-and-graph capability the other eleven share — and the model found it without being told. In a real ledger that is not a nuisance. It is the finding: this badge belongs to a different construct.</a:t>
            </a:r>
          </a:p>
        </p:txBody>
      </p:sp>
      <p:sp>
        <p:nvSpPr>
          <p:cNvPr id="50" name="TextBox 49"/>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Rasch</a:t>
            </a:r>
          </a:p>
        </p:txBody>
      </p:sp>
      <p:sp>
        <p:nvSpPr>
          <p:cNvPr id="51" name="TextBox 50"/>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READING THE FIT</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Two fit statistics, and why there are two</a:t>
            </a:r>
          </a:p>
        </p:txBody>
      </p:sp>
      <p:sp>
        <p:nvSpPr>
          <p:cNvPr id="4" name="Rectangle 3"/>
          <p:cNvSpPr/>
          <p:nvPr/>
        </p:nvSpPr>
        <p:spPr>
          <a:xfrm>
            <a:off x="777240" y="1965960"/>
            <a:ext cx="5120640" cy="19202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65960"/>
            <a:ext cx="50292" cy="192024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2148840"/>
            <a:ext cx="4663440" cy="365760"/>
          </a:xfrm>
          <a:prstGeom prst="rect">
            <a:avLst/>
          </a:prstGeom>
          <a:noFill/>
        </p:spPr>
        <p:txBody>
          <a:bodyPr wrap="square" anchor="t">
            <a:spAutoFit/>
          </a:bodyPr>
          <a:lstStyle/>
          <a:p>
            <a:pPr algn="l">
              <a:lnSpc>
                <a:spcPct val="100000"/>
              </a:lnSpc>
            </a:pPr>
            <a:r>
              <a:rPr sz="1500" b="1" i="0">
                <a:solidFill>
                  <a:srgbClr val="0F172A"/>
                </a:solidFill>
                <a:latin typeface="Calibri"/>
              </a:rPr>
              <a:t>Infit — information-weighted</a:t>
            </a:r>
          </a:p>
        </p:txBody>
      </p:sp>
      <p:sp>
        <p:nvSpPr>
          <p:cNvPr id="7" name="TextBox 6"/>
          <p:cNvSpPr txBox="1"/>
          <p:nvPr/>
        </p:nvSpPr>
        <p:spPr>
          <a:xfrm>
            <a:off x="1033271" y="2624328"/>
            <a:ext cx="4663440" cy="1097280"/>
          </a:xfrm>
          <a:prstGeom prst="rect">
            <a:avLst/>
          </a:prstGeom>
          <a:noFill/>
        </p:spPr>
        <p:txBody>
          <a:bodyPr wrap="square" anchor="t">
            <a:spAutoFit/>
          </a:bodyPr>
          <a:lstStyle/>
          <a:p>
            <a:pPr algn="l">
              <a:lnSpc>
                <a:spcPct val="110000"/>
              </a:lnSpc>
            </a:pPr>
            <a:r>
              <a:rPr sz="1250" b="0" i="0">
                <a:solidFill>
                  <a:srgbClr val="475569"/>
                </a:solidFill>
                <a:latin typeface="Calibri"/>
              </a:rPr>
              <a:t>Weights responses near a person's own level, where the model is least sure and the response carries most information. Reflects the item as a whole. An item with high infit means something different to different people.</a:t>
            </a:r>
          </a:p>
        </p:txBody>
      </p:sp>
      <p:sp>
        <p:nvSpPr>
          <p:cNvPr id="8" name="Rectangle 7"/>
          <p:cNvSpPr/>
          <p:nvPr/>
        </p:nvSpPr>
        <p:spPr>
          <a:xfrm>
            <a:off x="6263640" y="1965960"/>
            <a:ext cx="5120640" cy="19202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63640" y="1965960"/>
            <a:ext cx="50292" cy="19202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2148840"/>
            <a:ext cx="4663440" cy="365760"/>
          </a:xfrm>
          <a:prstGeom prst="rect">
            <a:avLst/>
          </a:prstGeom>
          <a:noFill/>
        </p:spPr>
        <p:txBody>
          <a:bodyPr wrap="square" anchor="t">
            <a:spAutoFit/>
          </a:bodyPr>
          <a:lstStyle/>
          <a:p>
            <a:pPr algn="l">
              <a:lnSpc>
                <a:spcPct val="100000"/>
              </a:lnSpc>
            </a:pPr>
            <a:r>
              <a:rPr sz="1500" b="1" i="0">
                <a:solidFill>
                  <a:srgbClr val="0F172A"/>
                </a:solidFill>
                <a:latin typeface="Calibri"/>
              </a:rPr>
              <a:t>Outfit — unweighted</a:t>
            </a:r>
          </a:p>
        </p:txBody>
      </p:sp>
      <p:sp>
        <p:nvSpPr>
          <p:cNvPr id="11" name="TextBox 10"/>
          <p:cNvSpPr txBox="1"/>
          <p:nvPr/>
        </p:nvSpPr>
        <p:spPr>
          <a:xfrm>
            <a:off x="6519672" y="2624328"/>
            <a:ext cx="4663440" cy="1097280"/>
          </a:xfrm>
          <a:prstGeom prst="rect">
            <a:avLst/>
          </a:prstGeom>
          <a:noFill/>
        </p:spPr>
        <p:txBody>
          <a:bodyPr wrap="square" anchor="t">
            <a:spAutoFit/>
          </a:bodyPr>
          <a:lstStyle/>
          <a:p>
            <a:pPr algn="l">
              <a:lnSpc>
                <a:spcPct val="110000"/>
              </a:lnSpc>
            </a:pPr>
            <a:r>
              <a:rPr sz="1250" b="0" i="0">
                <a:solidFill>
                  <a:srgbClr val="475569"/>
                </a:solidFill>
                <a:latin typeface="Calibri"/>
              </a:rPr>
              <a:t>Dominated by the few responses far from a person's level: the lucky guess on something far too hard, the careless miss on something far too easy. Ray holds 11 of 12 badges, misses the easy campfire one, and has an outfit of 19.7 — one cell did that.</a:t>
            </a:r>
          </a:p>
        </p:txBody>
      </p:sp>
      <p:sp>
        <p:nvSpPr>
          <p:cNvPr id="12" name="TextBox 11"/>
          <p:cNvSpPr txBox="1"/>
          <p:nvPr/>
        </p:nvSpPr>
        <p:spPr>
          <a:xfrm>
            <a:off x="777240" y="4160520"/>
            <a:ext cx="1463040" cy="329184"/>
          </a:xfrm>
          <a:prstGeom prst="rect">
            <a:avLst/>
          </a:prstGeom>
          <a:noFill/>
        </p:spPr>
        <p:txBody>
          <a:bodyPr wrap="square" lIns="54864" rIns="54864" tIns="27432" bIns="27432" anchor="ctr">
            <a:spAutoFit/>
          </a:bodyPr>
          <a:lstStyle/>
          <a:p>
            <a:pPr algn="l"/>
            <a:r>
              <a:rPr sz="1000" b="1">
                <a:solidFill>
                  <a:srgbClr val="94A3B8"/>
                </a:solidFill>
                <a:latin typeface="Calibri"/>
              </a:rPr>
              <a:t>Mean-square</a:t>
            </a:r>
          </a:p>
        </p:txBody>
      </p:sp>
      <p:sp>
        <p:nvSpPr>
          <p:cNvPr id="13" name="TextBox 12"/>
          <p:cNvSpPr txBox="1"/>
          <p:nvPr/>
        </p:nvSpPr>
        <p:spPr>
          <a:xfrm>
            <a:off x="2240280" y="4160520"/>
            <a:ext cx="2011680" cy="329184"/>
          </a:xfrm>
          <a:prstGeom prst="rect">
            <a:avLst/>
          </a:prstGeom>
          <a:noFill/>
        </p:spPr>
        <p:txBody>
          <a:bodyPr wrap="square" lIns="54864" rIns="54864" tIns="27432" bIns="27432" anchor="ctr">
            <a:spAutoFit/>
          </a:bodyPr>
          <a:lstStyle/>
          <a:p>
            <a:pPr algn="l"/>
            <a:r>
              <a:rPr sz="1000" b="1">
                <a:solidFill>
                  <a:srgbClr val="94A3B8"/>
                </a:solidFill>
                <a:latin typeface="Calibri"/>
              </a:rPr>
              <a:t>Pill</a:t>
            </a:r>
          </a:p>
        </p:txBody>
      </p:sp>
      <p:sp>
        <p:nvSpPr>
          <p:cNvPr id="14" name="TextBox 13"/>
          <p:cNvSpPr txBox="1"/>
          <p:nvPr/>
        </p:nvSpPr>
        <p:spPr>
          <a:xfrm>
            <a:off x="4251960" y="4160520"/>
            <a:ext cx="7132320" cy="329184"/>
          </a:xfrm>
          <a:prstGeom prst="rect">
            <a:avLst/>
          </a:prstGeom>
          <a:noFill/>
        </p:spPr>
        <p:txBody>
          <a:bodyPr wrap="square" lIns="54864" rIns="54864" tIns="27432" bIns="27432" anchor="ctr">
            <a:spAutoFit/>
          </a:bodyPr>
          <a:lstStyle/>
          <a:p>
            <a:pPr algn="l"/>
            <a:r>
              <a:rPr sz="1000" b="1">
                <a:solidFill>
                  <a:srgbClr val="94A3B8"/>
                </a:solidFill>
                <a:latin typeface="Calibri"/>
              </a:rPr>
              <a:t>Reading</a:t>
            </a:r>
          </a:p>
        </p:txBody>
      </p:sp>
      <p:cxnSp>
        <p:nvCxnSpPr>
          <p:cNvPr id="15" name="Connector 14"/>
          <p:cNvCxnSpPr/>
          <p:nvPr/>
        </p:nvCxnSpPr>
        <p:spPr>
          <a:xfrm>
            <a:off x="777240" y="4489704"/>
            <a:ext cx="10607040" cy="0"/>
          </a:xfrm>
          <a:prstGeom prst="line">
            <a:avLst/>
          </a:prstGeom>
          <a:ln w="9525">
            <a:solidFill>
              <a:srgbClr val="94A3B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4489704"/>
            <a:ext cx="1463040" cy="329184"/>
          </a:xfrm>
          <a:prstGeom prst="rect">
            <a:avLst/>
          </a:prstGeom>
          <a:noFill/>
        </p:spPr>
        <p:txBody>
          <a:bodyPr wrap="square" lIns="54864" rIns="54864" tIns="27432" bIns="27432" anchor="ctr">
            <a:spAutoFit/>
          </a:bodyPr>
          <a:lstStyle/>
          <a:p>
            <a:pPr algn="l"/>
            <a:r>
              <a:rPr sz="1200" b="1">
                <a:solidFill>
                  <a:srgbClr val="0F172A"/>
                </a:solidFill>
                <a:latin typeface="Calibri"/>
              </a:rPr>
              <a:t>0.7 – 1.5</a:t>
            </a:r>
          </a:p>
        </p:txBody>
      </p:sp>
      <p:sp>
        <p:nvSpPr>
          <p:cNvPr id="17" name="TextBox 16"/>
          <p:cNvSpPr txBox="1"/>
          <p:nvPr/>
        </p:nvSpPr>
        <p:spPr>
          <a:xfrm>
            <a:off x="2240280" y="4489704"/>
            <a:ext cx="2011680" cy="329184"/>
          </a:xfrm>
          <a:prstGeom prst="rect">
            <a:avLst/>
          </a:prstGeom>
          <a:noFill/>
        </p:spPr>
        <p:txBody>
          <a:bodyPr wrap="square" lIns="54864" rIns="54864" tIns="27432" bIns="27432" anchor="ctr">
            <a:spAutoFit/>
          </a:bodyPr>
          <a:lstStyle/>
          <a:p>
            <a:pPr algn="l"/>
            <a:r>
              <a:rPr sz="1200" b="1">
                <a:solidFill>
                  <a:srgbClr val="15803D"/>
                </a:solidFill>
                <a:latin typeface="Calibri"/>
              </a:rPr>
              <a:t>green</a:t>
            </a:r>
          </a:p>
        </p:txBody>
      </p:sp>
      <p:sp>
        <p:nvSpPr>
          <p:cNvPr id="18" name="TextBox 17"/>
          <p:cNvSpPr txBox="1"/>
          <p:nvPr/>
        </p:nvSpPr>
        <p:spPr>
          <a:xfrm>
            <a:off x="4251960" y="4489704"/>
            <a:ext cx="7132320" cy="329184"/>
          </a:xfrm>
          <a:prstGeom prst="rect">
            <a:avLst/>
          </a:prstGeom>
          <a:noFill/>
        </p:spPr>
        <p:txBody>
          <a:bodyPr wrap="square" lIns="54864" rIns="54864" tIns="27432" bIns="27432" anchor="ctr">
            <a:spAutoFit/>
          </a:bodyPr>
          <a:lstStyle/>
          <a:p>
            <a:pPr algn="l"/>
            <a:r>
              <a:rPr sz="1200" b="0">
                <a:solidFill>
                  <a:srgbClr val="475569"/>
                </a:solidFill>
                <a:latin typeface="Calibri"/>
              </a:rPr>
              <a:t>Behaves as the model expects</a:t>
            </a:r>
          </a:p>
        </p:txBody>
      </p:sp>
      <p:cxnSp>
        <p:nvCxnSpPr>
          <p:cNvPr id="19" name="Connector 18"/>
          <p:cNvCxnSpPr/>
          <p:nvPr/>
        </p:nvCxnSpPr>
        <p:spPr>
          <a:xfrm>
            <a:off x="777240" y="4818888"/>
            <a:ext cx="1060704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 y="4818888"/>
            <a:ext cx="1463040" cy="329184"/>
          </a:xfrm>
          <a:prstGeom prst="rect">
            <a:avLst/>
          </a:prstGeom>
          <a:noFill/>
        </p:spPr>
        <p:txBody>
          <a:bodyPr wrap="square" lIns="54864" rIns="54864" tIns="27432" bIns="27432" anchor="ctr">
            <a:spAutoFit/>
          </a:bodyPr>
          <a:lstStyle/>
          <a:p>
            <a:pPr algn="l"/>
            <a:r>
              <a:rPr sz="1200" b="1">
                <a:solidFill>
                  <a:srgbClr val="0F172A"/>
                </a:solidFill>
                <a:latin typeface="Calibri"/>
              </a:rPr>
              <a:t>1.5 – 2.0</a:t>
            </a:r>
          </a:p>
        </p:txBody>
      </p:sp>
      <p:sp>
        <p:nvSpPr>
          <p:cNvPr id="21" name="TextBox 20"/>
          <p:cNvSpPr txBox="1"/>
          <p:nvPr/>
        </p:nvSpPr>
        <p:spPr>
          <a:xfrm>
            <a:off x="2240280" y="4818888"/>
            <a:ext cx="2011680" cy="329184"/>
          </a:xfrm>
          <a:prstGeom prst="rect">
            <a:avLst/>
          </a:prstGeom>
          <a:noFill/>
        </p:spPr>
        <p:txBody>
          <a:bodyPr wrap="square" lIns="54864" rIns="54864" tIns="27432" bIns="27432" anchor="ctr">
            <a:spAutoFit/>
          </a:bodyPr>
          <a:lstStyle/>
          <a:p>
            <a:pPr algn="l"/>
            <a:r>
              <a:rPr sz="1200" b="1">
                <a:solidFill>
                  <a:srgbClr val="B45309"/>
                </a:solidFill>
                <a:latin typeface="Calibri"/>
              </a:rPr>
              <a:t>amber</a:t>
            </a:r>
          </a:p>
        </p:txBody>
      </p:sp>
      <p:sp>
        <p:nvSpPr>
          <p:cNvPr id="22" name="TextBox 21"/>
          <p:cNvSpPr txBox="1"/>
          <p:nvPr/>
        </p:nvSpPr>
        <p:spPr>
          <a:xfrm>
            <a:off x="4251960" y="4818888"/>
            <a:ext cx="7132320" cy="329184"/>
          </a:xfrm>
          <a:prstGeom prst="rect">
            <a:avLst/>
          </a:prstGeom>
          <a:noFill/>
        </p:spPr>
        <p:txBody>
          <a:bodyPr wrap="square" lIns="54864" rIns="54864" tIns="27432" bIns="27432" anchor="ctr">
            <a:spAutoFit/>
          </a:bodyPr>
          <a:lstStyle/>
          <a:p>
            <a:pPr algn="l"/>
            <a:r>
              <a:rPr sz="1200" b="0">
                <a:solidFill>
                  <a:srgbClr val="475569"/>
                </a:solidFill>
                <a:latin typeface="Calibri"/>
              </a:rPr>
              <a:t>Noisy — check whether the item means the same thing to everyone</a:t>
            </a:r>
          </a:p>
        </p:txBody>
      </p:sp>
      <p:cxnSp>
        <p:nvCxnSpPr>
          <p:cNvPr id="23" name="Connector 22"/>
          <p:cNvCxnSpPr/>
          <p:nvPr/>
        </p:nvCxnSpPr>
        <p:spPr>
          <a:xfrm>
            <a:off x="777240" y="5148072"/>
            <a:ext cx="1060704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240" y="5148072"/>
            <a:ext cx="1463040" cy="329184"/>
          </a:xfrm>
          <a:prstGeom prst="rect">
            <a:avLst/>
          </a:prstGeom>
          <a:noFill/>
        </p:spPr>
        <p:txBody>
          <a:bodyPr wrap="square" lIns="54864" rIns="54864" tIns="27432" bIns="27432" anchor="ctr">
            <a:spAutoFit/>
          </a:bodyPr>
          <a:lstStyle/>
          <a:p>
            <a:pPr algn="l"/>
            <a:r>
              <a:rPr sz="1200" b="1">
                <a:solidFill>
                  <a:srgbClr val="0F172A"/>
                </a:solidFill>
                <a:latin typeface="Calibri"/>
              </a:rPr>
              <a:t>above 2.0</a:t>
            </a:r>
          </a:p>
        </p:txBody>
      </p:sp>
      <p:sp>
        <p:nvSpPr>
          <p:cNvPr id="25" name="TextBox 24"/>
          <p:cNvSpPr txBox="1"/>
          <p:nvPr/>
        </p:nvSpPr>
        <p:spPr>
          <a:xfrm>
            <a:off x="2240280" y="5148072"/>
            <a:ext cx="2011680" cy="329184"/>
          </a:xfrm>
          <a:prstGeom prst="rect">
            <a:avLst/>
          </a:prstGeom>
          <a:noFill/>
        </p:spPr>
        <p:txBody>
          <a:bodyPr wrap="square" lIns="54864" rIns="54864" tIns="27432" bIns="27432" anchor="ctr">
            <a:spAutoFit/>
          </a:bodyPr>
          <a:lstStyle/>
          <a:p>
            <a:pPr algn="l"/>
            <a:r>
              <a:rPr sz="1200" b="1">
                <a:solidFill>
                  <a:srgbClr val="DC2626"/>
                </a:solidFill>
                <a:latin typeface="Calibri"/>
              </a:rPr>
              <a:t>red</a:t>
            </a:r>
          </a:p>
        </p:txBody>
      </p:sp>
      <p:sp>
        <p:nvSpPr>
          <p:cNvPr id="26" name="TextBox 25"/>
          <p:cNvSpPr txBox="1"/>
          <p:nvPr/>
        </p:nvSpPr>
        <p:spPr>
          <a:xfrm>
            <a:off x="4251960" y="5148072"/>
            <a:ext cx="7132320" cy="329184"/>
          </a:xfrm>
          <a:prstGeom prst="rect">
            <a:avLst/>
          </a:prstGeom>
          <a:noFill/>
        </p:spPr>
        <p:txBody>
          <a:bodyPr wrap="square" lIns="54864" rIns="54864" tIns="27432" bIns="27432" anchor="ctr">
            <a:spAutoFit/>
          </a:bodyPr>
          <a:lstStyle/>
          <a:p>
            <a:pPr algn="l"/>
            <a:r>
              <a:rPr sz="1200" b="0">
                <a:solidFill>
                  <a:srgbClr val="475569"/>
                </a:solidFill>
                <a:latin typeface="Calibri"/>
              </a:rPr>
              <a:t>Badly noisy — very likely measuring something else; look at this first</a:t>
            </a:r>
          </a:p>
        </p:txBody>
      </p:sp>
      <p:cxnSp>
        <p:nvCxnSpPr>
          <p:cNvPr id="27" name="Connector 26"/>
          <p:cNvCxnSpPr/>
          <p:nvPr/>
        </p:nvCxnSpPr>
        <p:spPr>
          <a:xfrm>
            <a:off x="777240" y="5477256"/>
            <a:ext cx="1060704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77240" y="5477256"/>
            <a:ext cx="1463040" cy="329184"/>
          </a:xfrm>
          <a:prstGeom prst="rect">
            <a:avLst/>
          </a:prstGeom>
          <a:noFill/>
        </p:spPr>
        <p:txBody>
          <a:bodyPr wrap="square" lIns="54864" rIns="54864" tIns="27432" bIns="27432" anchor="ctr">
            <a:spAutoFit/>
          </a:bodyPr>
          <a:lstStyle/>
          <a:p>
            <a:pPr algn="l"/>
            <a:r>
              <a:rPr sz="1200" b="1">
                <a:solidFill>
                  <a:srgbClr val="0F172A"/>
                </a:solidFill>
                <a:latin typeface="Calibri"/>
              </a:rPr>
              <a:t>below 0.7</a:t>
            </a:r>
          </a:p>
        </p:txBody>
      </p:sp>
      <p:sp>
        <p:nvSpPr>
          <p:cNvPr id="29" name="TextBox 28"/>
          <p:cNvSpPr txBox="1"/>
          <p:nvPr/>
        </p:nvSpPr>
        <p:spPr>
          <a:xfrm>
            <a:off x="2240280" y="5477256"/>
            <a:ext cx="2011680" cy="329184"/>
          </a:xfrm>
          <a:prstGeom prst="rect">
            <a:avLst/>
          </a:prstGeom>
          <a:noFill/>
        </p:spPr>
        <p:txBody>
          <a:bodyPr wrap="square" lIns="54864" rIns="54864" tIns="27432" bIns="27432" anchor="ctr">
            <a:spAutoFit/>
          </a:bodyPr>
          <a:lstStyle/>
          <a:p>
            <a:pPr algn="l"/>
            <a:r>
              <a:rPr sz="1200" b="1">
                <a:solidFill>
                  <a:srgbClr val="B45309"/>
                </a:solidFill>
                <a:latin typeface="Calibri"/>
              </a:rPr>
              <a:t>amber</a:t>
            </a:r>
          </a:p>
        </p:txBody>
      </p:sp>
      <p:sp>
        <p:nvSpPr>
          <p:cNvPr id="30" name="TextBox 29"/>
          <p:cNvSpPr txBox="1"/>
          <p:nvPr/>
        </p:nvSpPr>
        <p:spPr>
          <a:xfrm>
            <a:off x="4251960" y="5477256"/>
            <a:ext cx="7132320" cy="329184"/>
          </a:xfrm>
          <a:prstGeom prst="rect">
            <a:avLst/>
          </a:prstGeom>
          <a:noFill/>
        </p:spPr>
        <p:txBody>
          <a:bodyPr wrap="square" lIns="54864" rIns="54864" tIns="27432" bIns="27432" anchor="ctr">
            <a:spAutoFit/>
          </a:bodyPr>
          <a:lstStyle/>
          <a:p>
            <a:pPr algn="l"/>
            <a:r>
              <a:rPr sz="1200" b="0">
                <a:solidFill>
                  <a:srgbClr val="475569"/>
                </a:solidFill>
                <a:latin typeface="Calibri"/>
              </a:rPr>
              <a:t>Too predictable — often a near-duplicate; inflates reliability slightly</a:t>
            </a:r>
          </a:p>
        </p:txBody>
      </p:sp>
      <p:cxnSp>
        <p:nvCxnSpPr>
          <p:cNvPr id="31" name="Connector 30"/>
          <p:cNvCxnSpPr/>
          <p:nvPr/>
        </p:nvCxnSpPr>
        <p:spPr>
          <a:xfrm>
            <a:off x="777240" y="5806440"/>
            <a:ext cx="1060704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 y="5806440"/>
            <a:ext cx="10607040" cy="365760"/>
          </a:xfrm>
          <a:prstGeom prst="rect">
            <a:avLst/>
          </a:prstGeom>
          <a:noFill/>
        </p:spPr>
        <p:txBody>
          <a:bodyPr wrap="square" anchor="t">
            <a:spAutoFit/>
          </a:bodyPr>
          <a:lstStyle/>
          <a:p>
            <a:pPr algn="l">
              <a:lnSpc>
                <a:spcPct val="100000"/>
              </a:lnSpc>
            </a:pPr>
            <a:r>
              <a:rPr sz="1200" b="0" i="1">
                <a:solidFill>
                  <a:srgbClr val="475569"/>
                </a:solidFill>
                <a:latin typeface="Calibri"/>
              </a:rPr>
              <a:t>Misfit is where the interesting work is. Do not delete a misfitting item without looking at who succeeded on it and who did not — that pattern is the finding.</a:t>
            </a:r>
          </a:p>
        </p:txBody>
      </p:sp>
      <p:sp>
        <p:nvSpPr>
          <p:cNvPr id="33" name="TextBox 32"/>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Rasch</a:t>
            </a:r>
          </a:p>
        </p:txBody>
      </p:sp>
      <p:sp>
        <p:nvSpPr>
          <p:cNvPr id="34" name="TextBox 33"/>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HONEST BEHAVIOUR 2 OF 3</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200" b="1" i="0">
                <a:solidFill>
                  <a:srgbClr val="0F172A"/>
                </a:solidFill>
                <a:latin typeface="Calibri"/>
              </a:rPr>
              <a:t>Extreme scores are named, not extrapolated</a:t>
            </a:r>
          </a:p>
        </p:txBody>
      </p:sp>
      <p:sp>
        <p:nvSpPr>
          <p:cNvPr id="4" name="TextBox 3"/>
          <p:cNvSpPr txBox="1"/>
          <p:nvPr/>
        </p:nvSpPr>
        <p:spPr>
          <a:xfrm>
            <a:off x="777240" y="1874519"/>
            <a:ext cx="10607040" cy="457200"/>
          </a:xfrm>
          <a:prstGeom prst="rect">
            <a:avLst/>
          </a:prstGeom>
          <a:noFill/>
        </p:spPr>
        <p:txBody>
          <a:bodyPr wrap="square" anchor="t">
            <a:spAutoFit/>
          </a:bodyPr>
          <a:lstStyle/>
          <a:p>
            <a:pPr algn="l">
              <a:lnSpc>
                <a:spcPct val="100000"/>
              </a:lnSpc>
            </a:pPr>
            <a:r>
              <a:rPr sz="1600" b="0" i="0">
                <a:solidFill>
                  <a:srgbClr val="475569"/>
                </a:solidFill>
                <a:latin typeface="Calibri"/>
              </a:rPr>
              <a:t>Omar holds all twelve badges. He is somewhere above the hardest skill, and the data cannot say where.</a:t>
            </a:r>
          </a:p>
        </p:txBody>
      </p:sp>
      <p:sp>
        <p:nvSpPr>
          <p:cNvPr id="5" name="Rectangle 4"/>
          <p:cNvSpPr/>
          <p:nvPr/>
        </p:nvSpPr>
        <p:spPr>
          <a:xfrm>
            <a:off x="777240" y="2606040"/>
            <a:ext cx="5120640" cy="23317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606040"/>
            <a:ext cx="50292" cy="233172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788920"/>
            <a:ext cx="4663440" cy="365760"/>
          </a:xfrm>
          <a:prstGeom prst="rect">
            <a:avLst/>
          </a:prstGeom>
          <a:noFill/>
        </p:spPr>
        <p:txBody>
          <a:bodyPr wrap="square" anchor="t">
            <a:spAutoFit/>
          </a:bodyPr>
          <a:lstStyle/>
          <a:p>
            <a:pPr algn="l">
              <a:lnSpc>
                <a:spcPct val="100000"/>
              </a:lnSpc>
            </a:pPr>
            <a:r>
              <a:rPr sz="1500" b="1" i="0">
                <a:solidFill>
                  <a:srgbClr val="0F172A"/>
                </a:solidFill>
                <a:latin typeface="Calibri"/>
              </a:rPr>
              <a:t>What Winsteps does</a:t>
            </a:r>
          </a:p>
        </p:txBody>
      </p:sp>
      <p:sp>
        <p:nvSpPr>
          <p:cNvPr id="8" name="TextBox 7"/>
          <p:cNvSpPr txBox="1"/>
          <p:nvPr/>
        </p:nvSpPr>
        <p:spPr>
          <a:xfrm>
            <a:off x="1033271" y="3264408"/>
            <a:ext cx="4663440" cy="1508760"/>
          </a:xfrm>
          <a:prstGeom prst="rect">
            <a:avLst/>
          </a:prstGeom>
          <a:noFill/>
        </p:spPr>
        <p:txBody>
          <a:bodyPr wrap="square" anchor="t">
            <a:spAutoFit/>
          </a:bodyPr>
          <a:lstStyle/>
          <a:p>
            <a:pPr algn="l">
              <a:lnSpc>
                <a:spcPct val="110000"/>
              </a:lnSpc>
            </a:pPr>
            <a:r>
              <a:rPr sz="1250" b="0" i="0">
                <a:solidFill>
                  <a:srgbClr val="475569"/>
                </a:solidFill>
                <a:latin typeface="Calibri"/>
              </a:rPr>
              <a:t>Treats a perfect score as a fractional one — 11.7 of 12 by default (EXTRSC = 0.3) — and reports a measure with a standard error. Precise-looking, and arbitrary: change the setting and the person moves with no new data. The SE implies a sampling distribution around a quantity that has none.</a:t>
            </a:r>
          </a:p>
        </p:txBody>
      </p:sp>
      <p:sp>
        <p:nvSpPr>
          <p:cNvPr id="9" name="Rectangle 8"/>
          <p:cNvSpPr/>
          <p:nvPr/>
        </p:nvSpPr>
        <p:spPr>
          <a:xfrm>
            <a:off x="6263640" y="2606040"/>
            <a:ext cx="5120640" cy="23317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2606040"/>
            <a:ext cx="50292" cy="233172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2788920"/>
            <a:ext cx="4663440" cy="365760"/>
          </a:xfrm>
          <a:prstGeom prst="rect">
            <a:avLst/>
          </a:prstGeom>
          <a:noFill/>
        </p:spPr>
        <p:txBody>
          <a:bodyPr wrap="square" anchor="t">
            <a:spAutoFit/>
          </a:bodyPr>
          <a:lstStyle/>
          <a:p>
            <a:pPr algn="l">
              <a:lnSpc>
                <a:spcPct val="100000"/>
              </a:lnSpc>
            </a:pPr>
            <a:r>
              <a:rPr sz="1500" b="1" i="0">
                <a:solidFill>
                  <a:srgbClr val="0F172A"/>
                </a:solidFill>
                <a:latin typeface="Calibri"/>
              </a:rPr>
              <a:t>What this tool does</a:t>
            </a:r>
          </a:p>
        </p:txBody>
      </p:sp>
      <p:sp>
        <p:nvSpPr>
          <p:cNvPr id="12" name="TextBox 11"/>
          <p:cNvSpPr txBox="1"/>
          <p:nvPr/>
        </p:nvSpPr>
        <p:spPr>
          <a:xfrm>
            <a:off x="6519672" y="3264408"/>
            <a:ext cx="4663440" cy="1508760"/>
          </a:xfrm>
          <a:prstGeom prst="rect">
            <a:avLst/>
          </a:prstGeom>
          <a:noFill/>
        </p:spPr>
        <p:txBody>
          <a:bodyPr wrap="square" anchor="t">
            <a:spAutoFit/>
          </a:bodyPr>
          <a:lstStyle/>
          <a:p>
            <a:pPr algn="l">
              <a:lnSpc>
                <a:spcPct val="110000"/>
              </a:lnSpc>
            </a:pPr>
            <a:r>
              <a:rPr sz="1250" b="0" i="0">
                <a:solidFill>
                  <a:srgbClr val="475569"/>
                </a:solidFill>
                <a:latin typeface="Calibri"/>
              </a:rPr>
              <a:t>Draws Omar at the top of the map in a hollow marker with no number. The table says 12 of 12 · maximum. He enters nothing numeric — not the mean, not the reliability, not the export. The same for a person at the bottom, and for a skill everybody or nobody passed.</a:t>
            </a:r>
          </a:p>
        </p:txBody>
      </p:sp>
      <p:sp>
        <p:nvSpPr>
          <p:cNvPr id="13" name="Rectangle 12"/>
          <p:cNvSpPr/>
          <p:nvPr/>
        </p:nvSpPr>
        <p:spPr>
          <a:xfrm>
            <a:off x="777240" y="5120640"/>
            <a:ext cx="10607040" cy="1002792"/>
          </a:xfrm>
          <a:prstGeom prst="rect">
            <a:avLst/>
          </a:prstGeom>
          <a:solidFill>
            <a:srgbClr val="DCFCE7"/>
          </a:solidFill>
          <a:ln w="15875">
            <a:solidFill>
              <a:srgbClr val="86EF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257800"/>
            <a:ext cx="10058400" cy="329184"/>
          </a:xfrm>
          <a:prstGeom prst="rect">
            <a:avLst/>
          </a:prstGeom>
          <a:noFill/>
        </p:spPr>
        <p:txBody>
          <a:bodyPr wrap="square" anchor="t">
            <a:spAutoFit/>
          </a:bodyPr>
          <a:lstStyle/>
          <a:p>
            <a:pPr algn="l">
              <a:lnSpc>
                <a:spcPct val="100000"/>
              </a:lnSpc>
            </a:pPr>
            <a:r>
              <a:rPr sz="1500" b="1" i="0">
                <a:solidFill>
                  <a:srgbClr val="15803D"/>
                </a:solidFill>
                <a:latin typeface="Calibri"/>
              </a:rPr>
              <a:t>The pile-up stays visible. The fiction stays out.</a:t>
            </a:r>
          </a:p>
        </p:txBody>
      </p:sp>
      <p:sp>
        <p:nvSpPr>
          <p:cNvPr id="15" name="TextBox 14"/>
          <p:cNvSpPr txBox="1"/>
          <p:nvPr/>
        </p:nvSpPr>
        <p:spPr>
          <a:xfrm>
            <a:off x="1051560" y="5650992"/>
            <a:ext cx="10058400" cy="344424"/>
          </a:xfrm>
          <a:prstGeom prst="rect">
            <a:avLst/>
          </a:prstGeom>
          <a:noFill/>
        </p:spPr>
        <p:txBody>
          <a:bodyPr wrap="square" anchor="t">
            <a:spAutoFit/>
          </a:bodyPr>
          <a:lstStyle/>
          <a:p>
            <a:pPr algn="l">
              <a:lnSpc>
                <a:spcPct val="112000"/>
              </a:lnSpc>
            </a:pPr>
            <a:r>
              <a:rPr sz="1250" b="0" i="0">
                <a:solidFill>
                  <a:srgbClr val="475569"/>
                </a:solidFill>
                <a:latin typeface="Calibri"/>
              </a:rPr>
              <a:t>If a third of the group tops out, that ceiling is one of the most useful things a Wright map can show, and it is the most obvious thing on the page. What it does not get is a made-up measure.</a:t>
            </a:r>
          </a:p>
        </p:txBody>
      </p:sp>
      <p:sp>
        <p:nvSpPr>
          <p:cNvPr id="16" name="TextBox 15"/>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Rasch</a:t>
            </a:r>
          </a:p>
        </p:txBody>
      </p:sp>
      <p:sp>
        <p:nvSpPr>
          <p:cNvPr id="17" name="TextBox 1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HONEST BEHAVIOUR 3 OF 3</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200" b="1" i="0">
                <a:solidFill>
                  <a:srgbClr val="0F172A"/>
                </a:solidFill>
                <a:latin typeface="Calibri"/>
              </a:rPr>
              <a:t>The case a summed score can never show you</a:t>
            </a:r>
          </a:p>
        </p:txBody>
      </p:sp>
      <p:sp>
        <p:nvSpPr>
          <p:cNvPr id="4" name="TextBox 3"/>
          <p:cNvSpPr txBox="1"/>
          <p:nvPr/>
        </p:nvSpPr>
        <p:spPr>
          <a:xfrm>
            <a:off x="777240" y="1874519"/>
            <a:ext cx="10607040" cy="457200"/>
          </a:xfrm>
          <a:prstGeom prst="rect">
            <a:avLst/>
          </a:prstGeom>
          <a:noFill/>
        </p:spPr>
        <p:txBody>
          <a:bodyPr wrap="square" anchor="t">
            <a:spAutoFit/>
          </a:bodyPr>
          <a:lstStyle/>
          <a:p>
            <a:pPr algn="l">
              <a:lnSpc>
                <a:spcPct val="100000"/>
              </a:lnSpc>
            </a:pPr>
            <a:r>
              <a:rPr sz="1600" b="0" i="0">
                <a:solidFill>
                  <a:srgbClr val="475569"/>
                </a:solidFill>
                <a:latin typeface="Calibri"/>
              </a:rPr>
              <a:t>A neighbourhood participation questionnaire. 140 residents, seven statements, each answered 1 to 5.</a:t>
            </a:r>
          </a:p>
        </p:txBody>
      </p:sp>
      <p:sp>
        <p:nvSpPr>
          <p:cNvPr id="5" name="TextBox 4"/>
          <p:cNvSpPr txBox="1"/>
          <p:nvPr/>
        </p:nvSpPr>
        <p:spPr>
          <a:xfrm>
            <a:off x="777240" y="2514600"/>
            <a:ext cx="5303520" cy="3291840"/>
          </a:xfrm>
          <a:prstGeom prst="rect">
            <a:avLst/>
          </a:prstGeom>
          <a:noFill/>
        </p:spPr>
        <p:txBody>
          <a:bodyPr wrap="square">
            <a:spAutoFit/>
          </a:bodyPr>
          <a:lstStyle/>
          <a:p>
            <a:pPr>
              <a:lnSpc>
                <a:spcPct val="115000"/>
              </a:lnSpc>
              <a:spcAft>
                <a:spcPts val="500"/>
              </a:spcAft>
            </a:pPr>
            <a:r>
              <a:rPr sz="1350" b="0">
                <a:solidFill>
                  <a:srgbClr val="475569"/>
                </a:solidFill>
                <a:latin typeface="Calibri"/>
              </a:rPr>
              <a:t>·  I know who to call when something goes wrong</a:t>
            </a:r>
          </a:p>
          <a:p>
            <a:pPr>
              <a:lnSpc>
                <a:spcPct val="115000"/>
              </a:lnSpc>
              <a:spcAft>
                <a:spcPts val="500"/>
              </a:spcAft>
            </a:pPr>
            <a:r>
              <a:rPr sz="1350" b="0">
                <a:solidFill>
                  <a:srgbClr val="475569"/>
                </a:solidFill>
                <a:latin typeface="Calibri"/>
              </a:rPr>
              <a:t>·  People here look out for each other</a:t>
            </a:r>
          </a:p>
          <a:p>
            <a:pPr>
              <a:lnSpc>
                <a:spcPct val="115000"/>
              </a:lnSpc>
              <a:spcAft>
                <a:spcPts val="500"/>
              </a:spcAft>
            </a:pPr>
            <a:r>
              <a:rPr sz="1350" b="0">
                <a:solidFill>
                  <a:srgbClr val="475569"/>
                </a:solidFill>
                <a:latin typeface="Calibri"/>
              </a:rPr>
              <a:t>·  I have a say in what happens on my block</a:t>
            </a:r>
          </a:p>
          <a:p>
            <a:pPr>
              <a:lnSpc>
                <a:spcPct val="115000"/>
              </a:lnSpc>
              <a:spcAft>
                <a:spcPts val="500"/>
              </a:spcAft>
            </a:pPr>
            <a:r>
              <a:rPr sz="1350" b="0">
                <a:solidFill>
                  <a:srgbClr val="475569"/>
                </a:solidFill>
                <a:latin typeface="Calibri"/>
              </a:rPr>
              <a:t>·  I could get 10 neighbours to a meeting</a:t>
            </a:r>
          </a:p>
          <a:p>
            <a:pPr>
              <a:lnSpc>
                <a:spcPct val="115000"/>
              </a:lnSpc>
              <a:spcAft>
                <a:spcPts val="500"/>
              </a:spcAft>
            </a:pPr>
            <a:r>
              <a:rPr sz="1350" b="0">
                <a:solidFill>
                  <a:srgbClr val="475569"/>
                </a:solidFill>
                <a:latin typeface="Calibri"/>
              </a:rPr>
              <a:t>·  I have helped organise something locally</a:t>
            </a:r>
          </a:p>
          <a:p>
            <a:pPr>
              <a:lnSpc>
                <a:spcPct val="115000"/>
              </a:lnSpc>
              <a:spcAft>
                <a:spcPts val="500"/>
              </a:spcAft>
            </a:pPr>
            <a:r>
              <a:rPr sz="1350" b="0">
                <a:solidFill>
                  <a:srgbClr val="475569"/>
                </a:solidFill>
                <a:latin typeface="Calibri"/>
              </a:rPr>
              <a:t>·  Local decisions reflect what people here want</a:t>
            </a:r>
          </a:p>
          <a:p>
            <a:pPr>
              <a:lnSpc>
                <a:spcPct val="115000"/>
              </a:lnSpc>
              <a:spcAft>
                <a:spcPts val="500"/>
              </a:spcAft>
            </a:pPr>
            <a:r>
              <a:rPr sz="1350" b="0">
                <a:solidFill>
                  <a:srgbClr val="475569"/>
                </a:solidFill>
                <a:latin typeface="Calibri"/>
              </a:rPr>
              <a:t>·  I would take a problem to the council myself</a:t>
            </a:r>
          </a:p>
        </p:txBody>
      </p:sp>
      <p:sp>
        <p:nvSpPr>
          <p:cNvPr id="6" name="Rectangle 5"/>
          <p:cNvSpPr/>
          <p:nvPr/>
        </p:nvSpPr>
        <p:spPr>
          <a:xfrm>
            <a:off x="6263640" y="2514600"/>
            <a:ext cx="5120640" cy="15544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63640" y="2514600"/>
            <a:ext cx="50292" cy="155448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2697480"/>
            <a:ext cx="4663440" cy="365760"/>
          </a:xfrm>
          <a:prstGeom prst="rect">
            <a:avLst/>
          </a:prstGeom>
          <a:noFill/>
        </p:spPr>
        <p:txBody>
          <a:bodyPr wrap="square" anchor="t">
            <a:spAutoFit/>
          </a:bodyPr>
          <a:lstStyle/>
          <a:p>
            <a:pPr algn="l">
              <a:lnSpc>
                <a:spcPct val="100000"/>
              </a:lnSpc>
            </a:pPr>
            <a:r>
              <a:rPr sz="1400" b="1" i="0">
                <a:solidFill>
                  <a:srgbClr val="0F172A"/>
                </a:solidFill>
                <a:latin typeface="Calibri"/>
              </a:rPr>
              <a:t>With more than two categories</a:t>
            </a:r>
          </a:p>
        </p:txBody>
      </p:sp>
      <p:sp>
        <p:nvSpPr>
          <p:cNvPr id="9" name="TextBox 8"/>
          <p:cNvSpPr txBox="1"/>
          <p:nvPr/>
        </p:nvSpPr>
        <p:spPr>
          <a:xfrm>
            <a:off x="6519672" y="3172968"/>
            <a:ext cx="4663440" cy="731519"/>
          </a:xfrm>
          <a:prstGeom prst="rect">
            <a:avLst/>
          </a:prstGeom>
          <a:noFill/>
        </p:spPr>
        <p:txBody>
          <a:bodyPr wrap="square" anchor="t">
            <a:spAutoFit/>
          </a:bodyPr>
          <a:lstStyle/>
          <a:p>
            <a:pPr algn="l">
              <a:lnSpc>
                <a:spcPct val="110000"/>
              </a:lnSpc>
            </a:pPr>
            <a:r>
              <a:rPr sz="1150" b="0" i="0">
                <a:solidFill>
                  <a:srgbClr val="475569"/>
                </a:solidFill>
                <a:latin typeface="Calibri"/>
              </a:rPr>
              <a:t>the tool switches to the Andrich rating-scale model and estimates one extra thing: where on the ruler each step of the scale is crossed. These are the thresholds, shared across all seven statements — which is exactly what a Likert form assumes.</a:t>
            </a:r>
          </a:p>
        </p:txBody>
      </p:sp>
      <p:sp>
        <p:nvSpPr>
          <p:cNvPr id="10" name="Rectangle 9"/>
          <p:cNvSpPr/>
          <p:nvPr/>
        </p:nvSpPr>
        <p:spPr>
          <a:xfrm>
            <a:off x="6263640" y="4206240"/>
            <a:ext cx="5120640" cy="15544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4206240"/>
            <a:ext cx="50292" cy="15544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4389120"/>
            <a:ext cx="4663440" cy="365760"/>
          </a:xfrm>
          <a:prstGeom prst="rect">
            <a:avLst/>
          </a:prstGeom>
          <a:noFill/>
        </p:spPr>
        <p:txBody>
          <a:bodyPr wrap="square" anchor="t">
            <a:spAutoFit/>
          </a:bodyPr>
          <a:lstStyle/>
          <a:p>
            <a:pPr algn="l">
              <a:lnSpc>
                <a:spcPct val="100000"/>
              </a:lnSpc>
            </a:pPr>
            <a:r>
              <a:rPr sz="1400" b="1" i="0">
                <a:solidFill>
                  <a:srgbClr val="0F172A"/>
                </a:solidFill>
                <a:latin typeface="Calibri"/>
              </a:rPr>
              <a:t>They should climb</a:t>
            </a:r>
          </a:p>
        </p:txBody>
      </p:sp>
      <p:sp>
        <p:nvSpPr>
          <p:cNvPr id="13" name="TextBox 12"/>
          <p:cNvSpPr txBox="1"/>
          <p:nvPr/>
        </p:nvSpPr>
        <p:spPr>
          <a:xfrm>
            <a:off x="6519672" y="4864607"/>
            <a:ext cx="4663440" cy="731519"/>
          </a:xfrm>
          <a:prstGeom prst="rect">
            <a:avLst/>
          </a:prstGeom>
          <a:noFill/>
        </p:spPr>
        <p:txBody>
          <a:bodyPr wrap="square" anchor="t">
            <a:spAutoFit/>
          </a:bodyPr>
          <a:lstStyle/>
          <a:p>
            <a:pPr algn="l">
              <a:lnSpc>
                <a:spcPct val="110000"/>
              </a:lnSpc>
            </a:pPr>
            <a:r>
              <a:rPr sz="1200" b="0" i="0">
                <a:solidFill>
                  <a:srgbClr val="475569"/>
                </a:solidFill>
                <a:latin typeface="Calibri"/>
              </a:rPr>
              <a:t>The step into "agree" should be crossed higher on the ruler than the step into "neutral". If it is not, respondents are not using the categories in the order they were written — and no total score can tell you that.</a:t>
            </a:r>
          </a:p>
        </p:txBody>
      </p:sp>
      <p:sp>
        <p:nvSpPr>
          <p:cNvPr id="14" name="TextBox 13"/>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Rasch</a:t>
            </a:r>
          </a:p>
        </p:txBody>
      </p:sp>
      <p:sp>
        <p:nvSpPr>
          <p:cNvPr id="15" name="TextBox 14"/>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THE RATING SCALE CARD</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200" b="1" i="0">
                <a:solidFill>
                  <a:srgbClr val="0F172A"/>
                </a:solidFill>
                <a:latin typeface="Calibri"/>
              </a:rPr>
              <a:t>Category 4 is crossed below category 3</a:t>
            </a:r>
          </a:p>
        </p:txBody>
      </p:sp>
      <p:sp>
        <p:nvSpPr>
          <p:cNvPr id="4" name="TextBox 3"/>
          <p:cNvSpPr txBox="1"/>
          <p:nvPr/>
        </p:nvSpPr>
        <p:spPr>
          <a:xfrm>
            <a:off x="777240" y="1874519"/>
            <a:ext cx="1188720" cy="329184"/>
          </a:xfrm>
          <a:prstGeom prst="rect">
            <a:avLst/>
          </a:prstGeom>
          <a:noFill/>
        </p:spPr>
        <p:txBody>
          <a:bodyPr wrap="square" lIns="54864" rIns="54864" tIns="27432" bIns="27432" anchor="ctr">
            <a:spAutoFit/>
          </a:bodyPr>
          <a:lstStyle/>
          <a:p>
            <a:pPr algn="l"/>
            <a:r>
              <a:rPr sz="1000" b="1">
                <a:solidFill>
                  <a:srgbClr val="94A3B8"/>
                </a:solidFill>
                <a:latin typeface="Calibri"/>
              </a:rPr>
              <a:t>Category</a:t>
            </a:r>
          </a:p>
        </p:txBody>
      </p:sp>
      <p:sp>
        <p:nvSpPr>
          <p:cNvPr id="5" name="TextBox 4"/>
          <p:cNvSpPr txBox="1"/>
          <p:nvPr/>
        </p:nvSpPr>
        <p:spPr>
          <a:xfrm>
            <a:off x="1965960" y="1874519"/>
            <a:ext cx="1005840" cy="329184"/>
          </a:xfrm>
          <a:prstGeom prst="rect">
            <a:avLst/>
          </a:prstGeom>
          <a:noFill/>
        </p:spPr>
        <p:txBody>
          <a:bodyPr wrap="square" lIns="54864" rIns="54864" tIns="27432" bIns="27432" anchor="ctr">
            <a:spAutoFit/>
          </a:bodyPr>
          <a:lstStyle/>
          <a:p>
            <a:pPr algn="r"/>
            <a:r>
              <a:rPr sz="1000" b="1">
                <a:solidFill>
                  <a:srgbClr val="94A3B8"/>
                </a:solidFill>
                <a:latin typeface="Calibri"/>
              </a:rPr>
              <a:t>Used</a:t>
            </a:r>
          </a:p>
        </p:txBody>
      </p:sp>
      <p:sp>
        <p:nvSpPr>
          <p:cNvPr id="6" name="TextBox 5"/>
          <p:cNvSpPr txBox="1"/>
          <p:nvPr/>
        </p:nvSpPr>
        <p:spPr>
          <a:xfrm>
            <a:off x="2971800" y="1874519"/>
            <a:ext cx="914400" cy="329184"/>
          </a:xfrm>
          <a:prstGeom prst="rect">
            <a:avLst/>
          </a:prstGeom>
          <a:noFill/>
        </p:spPr>
        <p:txBody>
          <a:bodyPr wrap="square" lIns="54864" rIns="54864" tIns="27432" bIns="27432" anchor="ctr">
            <a:spAutoFit/>
          </a:bodyPr>
          <a:lstStyle/>
          <a:p>
            <a:pPr algn="r"/>
            <a:r>
              <a:rPr sz="1000" b="1">
                <a:solidFill>
                  <a:srgbClr val="94A3B8"/>
                </a:solidFill>
                <a:latin typeface="Calibri"/>
              </a:rPr>
              <a:t>%</a:t>
            </a:r>
          </a:p>
        </p:txBody>
      </p:sp>
      <p:sp>
        <p:nvSpPr>
          <p:cNvPr id="7" name="TextBox 6"/>
          <p:cNvSpPr txBox="1"/>
          <p:nvPr/>
        </p:nvSpPr>
        <p:spPr>
          <a:xfrm>
            <a:off x="3886200" y="1874519"/>
            <a:ext cx="1371600" cy="329184"/>
          </a:xfrm>
          <a:prstGeom prst="rect">
            <a:avLst/>
          </a:prstGeom>
          <a:noFill/>
        </p:spPr>
        <p:txBody>
          <a:bodyPr wrap="square" lIns="54864" rIns="54864" tIns="27432" bIns="27432" anchor="ctr">
            <a:spAutoFit/>
          </a:bodyPr>
          <a:lstStyle/>
          <a:p>
            <a:pPr algn="r"/>
            <a:r>
              <a:rPr sz="1000" b="1">
                <a:solidFill>
                  <a:srgbClr val="94A3B8"/>
                </a:solidFill>
                <a:latin typeface="Calibri"/>
              </a:rPr>
              <a:t>Threshold</a:t>
            </a:r>
          </a:p>
        </p:txBody>
      </p:sp>
      <p:sp>
        <p:nvSpPr>
          <p:cNvPr id="8" name="TextBox 7"/>
          <p:cNvSpPr txBox="1"/>
          <p:nvPr/>
        </p:nvSpPr>
        <p:spPr>
          <a:xfrm>
            <a:off x="5257800" y="1874519"/>
            <a:ext cx="4206240" cy="329184"/>
          </a:xfrm>
          <a:prstGeom prst="rect">
            <a:avLst/>
          </a:prstGeom>
          <a:noFill/>
        </p:spPr>
        <p:txBody>
          <a:bodyPr wrap="square" lIns="54864" rIns="54864" tIns="27432" bIns="27432" anchor="ctr">
            <a:spAutoFit/>
          </a:bodyPr>
          <a:lstStyle/>
          <a:p>
            <a:pPr algn="l"/>
            <a:r>
              <a:rPr sz="1000" b="1">
                <a:solidFill>
                  <a:srgbClr val="94A3B8"/>
                </a:solidFill>
                <a:latin typeface="Calibri"/>
              </a:rPr>
              <a:t>Reading</a:t>
            </a:r>
          </a:p>
        </p:txBody>
      </p:sp>
      <p:cxnSp>
        <p:nvCxnSpPr>
          <p:cNvPr id="9" name="Connector 8"/>
          <p:cNvCxnSpPr/>
          <p:nvPr/>
        </p:nvCxnSpPr>
        <p:spPr>
          <a:xfrm>
            <a:off x="777240" y="2203703"/>
            <a:ext cx="8686800" cy="0"/>
          </a:xfrm>
          <a:prstGeom prst="line">
            <a:avLst/>
          </a:prstGeom>
          <a:ln w="9525">
            <a:solidFill>
              <a:srgbClr val="94A3B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2203703"/>
            <a:ext cx="1188720" cy="329184"/>
          </a:xfrm>
          <a:prstGeom prst="rect">
            <a:avLst/>
          </a:prstGeom>
          <a:noFill/>
        </p:spPr>
        <p:txBody>
          <a:bodyPr wrap="square" lIns="54864" rIns="54864" tIns="27432" bIns="27432" anchor="ctr">
            <a:spAutoFit/>
          </a:bodyPr>
          <a:lstStyle/>
          <a:p>
            <a:pPr algn="l"/>
            <a:r>
              <a:rPr sz="1200" b="1">
                <a:solidFill>
                  <a:srgbClr val="0F172A"/>
                </a:solidFill>
                <a:latin typeface="Calibri"/>
              </a:rPr>
              <a:t>1</a:t>
            </a:r>
          </a:p>
        </p:txBody>
      </p:sp>
      <p:sp>
        <p:nvSpPr>
          <p:cNvPr id="11" name="TextBox 10"/>
          <p:cNvSpPr txBox="1"/>
          <p:nvPr/>
        </p:nvSpPr>
        <p:spPr>
          <a:xfrm>
            <a:off x="1965960" y="2203703"/>
            <a:ext cx="1005840" cy="329184"/>
          </a:xfrm>
          <a:prstGeom prst="rect">
            <a:avLst/>
          </a:prstGeom>
          <a:noFill/>
        </p:spPr>
        <p:txBody>
          <a:bodyPr wrap="square" lIns="54864" rIns="54864" tIns="27432" bIns="27432" anchor="ctr">
            <a:spAutoFit/>
          </a:bodyPr>
          <a:lstStyle/>
          <a:p>
            <a:pPr algn="r"/>
            <a:r>
              <a:rPr sz="1200" b="0">
                <a:solidFill>
                  <a:srgbClr val="475569"/>
                </a:solidFill>
                <a:latin typeface="Calibri"/>
              </a:rPr>
              <a:t>215</a:t>
            </a:r>
          </a:p>
        </p:txBody>
      </p:sp>
      <p:sp>
        <p:nvSpPr>
          <p:cNvPr id="12" name="TextBox 11"/>
          <p:cNvSpPr txBox="1"/>
          <p:nvPr/>
        </p:nvSpPr>
        <p:spPr>
          <a:xfrm>
            <a:off x="2971800" y="2203703"/>
            <a:ext cx="914400" cy="329184"/>
          </a:xfrm>
          <a:prstGeom prst="rect">
            <a:avLst/>
          </a:prstGeom>
          <a:noFill/>
        </p:spPr>
        <p:txBody>
          <a:bodyPr wrap="square" lIns="54864" rIns="54864" tIns="27432" bIns="27432" anchor="ctr">
            <a:spAutoFit/>
          </a:bodyPr>
          <a:lstStyle/>
          <a:p>
            <a:pPr algn="r"/>
            <a:r>
              <a:rPr sz="1200" b="0">
                <a:solidFill>
                  <a:srgbClr val="475569"/>
                </a:solidFill>
                <a:latin typeface="Calibri"/>
              </a:rPr>
              <a:t>21.9</a:t>
            </a:r>
          </a:p>
        </p:txBody>
      </p:sp>
      <p:sp>
        <p:nvSpPr>
          <p:cNvPr id="13" name="TextBox 12"/>
          <p:cNvSpPr txBox="1"/>
          <p:nvPr/>
        </p:nvSpPr>
        <p:spPr>
          <a:xfrm>
            <a:off x="3886200" y="2203703"/>
            <a:ext cx="1371600" cy="329184"/>
          </a:xfrm>
          <a:prstGeom prst="rect">
            <a:avLst/>
          </a:prstGeom>
          <a:noFill/>
        </p:spPr>
        <p:txBody>
          <a:bodyPr wrap="square" lIns="54864" rIns="54864" tIns="27432" bIns="27432" anchor="ctr">
            <a:spAutoFit/>
          </a:bodyPr>
          <a:lstStyle/>
          <a:p>
            <a:pPr algn="r"/>
            <a:r>
              <a:rPr sz="1200" b="0">
                <a:solidFill>
                  <a:srgbClr val="475569"/>
                </a:solidFill>
                <a:latin typeface="Calibri"/>
              </a:rPr>
              <a:t>baseline</a:t>
            </a:r>
          </a:p>
        </p:txBody>
      </p:sp>
      <p:sp>
        <p:nvSpPr>
          <p:cNvPr id="14" name="TextBox 13"/>
          <p:cNvSpPr txBox="1"/>
          <p:nvPr/>
        </p:nvSpPr>
        <p:spPr>
          <a:xfrm>
            <a:off x="5257800" y="2203703"/>
            <a:ext cx="4206240" cy="329184"/>
          </a:xfrm>
          <a:prstGeom prst="rect">
            <a:avLst/>
          </a:prstGeom>
          <a:noFill/>
        </p:spPr>
        <p:txBody>
          <a:bodyPr wrap="square" lIns="54864" rIns="54864" tIns="27432" bIns="27432" anchor="ctr">
            <a:spAutoFit/>
          </a:bodyPr>
          <a:lstStyle/>
          <a:p>
            <a:pPr algn="l"/>
            <a:r>
              <a:rPr sz="1200" b="0">
                <a:solidFill>
                  <a:srgbClr val="475569"/>
                </a:solidFill>
                <a:latin typeface="Calibri"/>
              </a:rPr>
              <a:t>—</a:t>
            </a:r>
          </a:p>
        </p:txBody>
      </p:sp>
      <p:cxnSp>
        <p:nvCxnSpPr>
          <p:cNvPr id="15" name="Connector 14"/>
          <p:cNvCxnSpPr/>
          <p:nvPr/>
        </p:nvCxnSpPr>
        <p:spPr>
          <a:xfrm>
            <a:off x="777240" y="2532887"/>
            <a:ext cx="8686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2532887"/>
            <a:ext cx="1188720" cy="329184"/>
          </a:xfrm>
          <a:prstGeom prst="rect">
            <a:avLst/>
          </a:prstGeom>
          <a:noFill/>
        </p:spPr>
        <p:txBody>
          <a:bodyPr wrap="square" lIns="54864" rIns="54864" tIns="27432" bIns="27432" anchor="ctr">
            <a:spAutoFit/>
          </a:bodyPr>
          <a:lstStyle/>
          <a:p>
            <a:pPr algn="l"/>
            <a:r>
              <a:rPr sz="1200" b="1">
                <a:solidFill>
                  <a:srgbClr val="0F172A"/>
                </a:solidFill>
                <a:latin typeface="Calibri"/>
              </a:rPr>
              <a:t>2</a:t>
            </a:r>
          </a:p>
        </p:txBody>
      </p:sp>
      <p:sp>
        <p:nvSpPr>
          <p:cNvPr id="17" name="TextBox 16"/>
          <p:cNvSpPr txBox="1"/>
          <p:nvPr/>
        </p:nvSpPr>
        <p:spPr>
          <a:xfrm>
            <a:off x="1965960" y="2532887"/>
            <a:ext cx="1005840" cy="329184"/>
          </a:xfrm>
          <a:prstGeom prst="rect">
            <a:avLst/>
          </a:prstGeom>
          <a:noFill/>
        </p:spPr>
        <p:txBody>
          <a:bodyPr wrap="square" lIns="54864" rIns="54864" tIns="27432" bIns="27432" anchor="ctr">
            <a:spAutoFit/>
          </a:bodyPr>
          <a:lstStyle/>
          <a:p>
            <a:pPr algn="r"/>
            <a:r>
              <a:rPr sz="1200" b="0">
                <a:solidFill>
                  <a:srgbClr val="475569"/>
                </a:solidFill>
                <a:latin typeface="Calibri"/>
              </a:rPr>
              <a:t>276</a:t>
            </a:r>
          </a:p>
        </p:txBody>
      </p:sp>
      <p:sp>
        <p:nvSpPr>
          <p:cNvPr id="18" name="TextBox 17"/>
          <p:cNvSpPr txBox="1"/>
          <p:nvPr/>
        </p:nvSpPr>
        <p:spPr>
          <a:xfrm>
            <a:off x="2971800" y="2532887"/>
            <a:ext cx="914400" cy="329184"/>
          </a:xfrm>
          <a:prstGeom prst="rect">
            <a:avLst/>
          </a:prstGeom>
          <a:noFill/>
        </p:spPr>
        <p:txBody>
          <a:bodyPr wrap="square" lIns="54864" rIns="54864" tIns="27432" bIns="27432" anchor="ctr">
            <a:spAutoFit/>
          </a:bodyPr>
          <a:lstStyle/>
          <a:p>
            <a:pPr algn="r"/>
            <a:r>
              <a:rPr sz="1200" b="0">
                <a:solidFill>
                  <a:srgbClr val="475569"/>
                </a:solidFill>
                <a:latin typeface="Calibri"/>
              </a:rPr>
              <a:t>28.2</a:t>
            </a:r>
          </a:p>
        </p:txBody>
      </p:sp>
      <p:sp>
        <p:nvSpPr>
          <p:cNvPr id="19" name="TextBox 18"/>
          <p:cNvSpPr txBox="1"/>
          <p:nvPr/>
        </p:nvSpPr>
        <p:spPr>
          <a:xfrm>
            <a:off x="3886200" y="2532887"/>
            <a:ext cx="1371600" cy="329184"/>
          </a:xfrm>
          <a:prstGeom prst="rect">
            <a:avLst/>
          </a:prstGeom>
          <a:noFill/>
        </p:spPr>
        <p:txBody>
          <a:bodyPr wrap="square" lIns="54864" rIns="54864" tIns="27432" bIns="27432" anchor="ctr">
            <a:spAutoFit/>
          </a:bodyPr>
          <a:lstStyle/>
          <a:p>
            <a:pPr algn="r"/>
            <a:r>
              <a:rPr sz="1200" b="0">
                <a:solidFill>
                  <a:srgbClr val="475569"/>
                </a:solidFill>
                <a:latin typeface="Calibri"/>
              </a:rPr>
              <a:t>−1.81</a:t>
            </a:r>
          </a:p>
        </p:txBody>
      </p:sp>
      <p:sp>
        <p:nvSpPr>
          <p:cNvPr id="20" name="TextBox 19"/>
          <p:cNvSpPr txBox="1"/>
          <p:nvPr/>
        </p:nvSpPr>
        <p:spPr>
          <a:xfrm>
            <a:off x="5257800" y="2532887"/>
            <a:ext cx="4206240" cy="329184"/>
          </a:xfrm>
          <a:prstGeom prst="rect">
            <a:avLst/>
          </a:prstGeom>
          <a:noFill/>
        </p:spPr>
        <p:txBody>
          <a:bodyPr wrap="square" lIns="54864" rIns="54864" tIns="27432" bIns="27432" anchor="ctr">
            <a:spAutoFit/>
          </a:bodyPr>
          <a:lstStyle/>
          <a:p>
            <a:pPr algn="l"/>
            <a:r>
              <a:rPr sz="1200" b="0">
                <a:solidFill>
                  <a:srgbClr val="475569"/>
                </a:solidFill>
                <a:latin typeface="Calibri"/>
              </a:rPr>
              <a:t>Used as expected</a:t>
            </a:r>
          </a:p>
        </p:txBody>
      </p:sp>
      <p:cxnSp>
        <p:nvCxnSpPr>
          <p:cNvPr id="21" name="Connector 20"/>
          <p:cNvCxnSpPr/>
          <p:nvPr/>
        </p:nvCxnSpPr>
        <p:spPr>
          <a:xfrm>
            <a:off x="777240" y="2862071"/>
            <a:ext cx="8686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2862071"/>
            <a:ext cx="1188720" cy="329184"/>
          </a:xfrm>
          <a:prstGeom prst="rect">
            <a:avLst/>
          </a:prstGeom>
          <a:noFill/>
        </p:spPr>
        <p:txBody>
          <a:bodyPr wrap="square" lIns="54864" rIns="54864" tIns="27432" bIns="27432" anchor="ctr">
            <a:spAutoFit/>
          </a:bodyPr>
          <a:lstStyle/>
          <a:p>
            <a:pPr algn="l"/>
            <a:r>
              <a:rPr sz="1200" b="1">
                <a:solidFill>
                  <a:srgbClr val="0F172A"/>
                </a:solidFill>
                <a:latin typeface="Calibri"/>
              </a:rPr>
              <a:t>3</a:t>
            </a:r>
          </a:p>
        </p:txBody>
      </p:sp>
      <p:sp>
        <p:nvSpPr>
          <p:cNvPr id="23" name="TextBox 22"/>
          <p:cNvSpPr txBox="1"/>
          <p:nvPr/>
        </p:nvSpPr>
        <p:spPr>
          <a:xfrm>
            <a:off x="1965960" y="2862071"/>
            <a:ext cx="1005840" cy="329184"/>
          </a:xfrm>
          <a:prstGeom prst="rect">
            <a:avLst/>
          </a:prstGeom>
          <a:noFill/>
        </p:spPr>
        <p:txBody>
          <a:bodyPr wrap="square" lIns="54864" rIns="54864" tIns="27432" bIns="27432" anchor="ctr">
            <a:spAutoFit/>
          </a:bodyPr>
          <a:lstStyle/>
          <a:p>
            <a:pPr algn="r"/>
            <a:r>
              <a:rPr sz="1200" b="0">
                <a:solidFill>
                  <a:srgbClr val="475569"/>
                </a:solidFill>
                <a:latin typeface="Calibri"/>
              </a:rPr>
              <a:t>95</a:t>
            </a:r>
          </a:p>
        </p:txBody>
      </p:sp>
      <p:sp>
        <p:nvSpPr>
          <p:cNvPr id="24" name="TextBox 23"/>
          <p:cNvSpPr txBox="1"/>
          <p:nvPr/>
        </p:nvSpPr>
        <p:spPr>
          <a:xfrm>
            <a:off x="2971800" y="2862071"/>
            <a:ext cx="914400" cy="329184"/>
          </a:xfrm>
          <a:prstGeom prst="rect">
            <a:avLst/>
          </a:prstGeom>
          <a:noFill/>
        </p:spPr>
        <p:txBody>
          <a:bodyPr wrap="square" lIns="54864" rIns="54864" tIns="27432" bIns="27432" anchor="ctr">
            <a:spAutoFit/>
          </a:bodyPr>
          <a:lstStyle/>
          <a:p>
            <a:pPr algn="r"/>
            <a:r>
              <a:rPr sz="1200" b="0">
                <a:solidFill>
                  <a:srgbClr val="475569"/>
                </a:solidFill>
                <a:latin typeface="Calibri"/>
              </a:rPr>
              <a:t>9.7</a:t>
            </a:r>
          </a:p>
        </p:txBody>
      </p:sp>
      <p:sp>
        <p:nvSpPr>
          <p:cNvPr id="25" name="TextBox 24"/>
          <p:cNvSpPr txBox="1"/>
          <p:nvPr/>
        </p:nvSpPr>
        <p:spPr>
          <a:xfrm>
            <a:off x="3886200" y="2862071"/>
            <a:ext cx="1371600" cy="329184"/>
          </a:xfrm>
          <a:prstGeom prst="rect">
            <a:avLst/>
          </a:prstGeom>
          <a:noFill/>
        </p:spPr>
        <p:txBody>
          <a:bodyPr wrap="square" lIns="54864" rIns="54864" tIns="27432" bIns="27432" anchor="ctr">
            <a:spAutoFit/>
          </a:bodyPr>
          <a:lstStyle/>
          <a:p>
            <a:pPr algn="r"/>
            <a:r>
              <a:rPr sz="1200" b="0">
                <a:solidFill>
                  <a:srgbClr val="475569"/>
                </a:solidFill>
                <a:latin typeface="Calibri"/>
              </a:rPr>
              <a:t>+0.63</a:t>
            </a:r>
          </a:p>
        </p:txBody>
      </p:sp>
      <p:sp>
        <p:nvSpPr>
          <p:cNvPr id="26" name="TextBox 25"/>
          <p:cNvSpPr txBox="1"/>
          <p:nvPr/>
        </p:nvSpPr>
        <p:spPr>
          <a:xfrm>
            <a:off x="5257800" y="2862071"/>
            <a:ext cx="4206240" cy="329184"/>
          </a:xfrm>
          <a:prstGeom prst="rect">
            <a:avLst/>
          </a:prstGeom>
          <a:noFill/>
        </p:spPr>
        <p:txBody>
          <a:bodyPr wrap="square" lIns="54864" rIns="54864" tIns="27432" bIns="27432" anchor="ctr">
            <a:spAutoFit/>
          </a:bodyPr>
          <a:lstStyle/>
          <a:p>
            <a:pPr algn="l"/>
            <a:r>
              <a:rPr sz="1200" b="0">
                <a:solidFill>
                  <a:srgbClr val="475569"/>
                </a:solidFill>
                <a:latin typeface="Calibri"/>
              </a:rPr>
              <a:t>Used as expected</a:t>
            </a:r>
          </a:p>
        </p:txBody>
      </p:sp>
      <p:cxnSp>
        <p:nvCxnSpPr>
          <p:cNvPr id="27" name="Connector 26"/>
          <p:cNvCxnSpPr/>
          <p:nvPr/>
        </p:nvCxnSpPr>
        <p:spPr>
          <a:xfrm>
            <a:off x="777240" y="3191255"/>
            <a:ext cx="8686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77240" y="3191255"/>
            <a:ext cx="1188720" cy="329184"/>
          </a:xfrm>
          <a:prstGeom prst="rect">
            <a:avLst/>
          </a:prstGeom>
          <a:noFill/>
        </p:spPr>
        <p:txBody>
          <a:bodyPr wrap="square" lIns="54864" rIns="54864" tIns="27432" bIns="27432" anchor="ctr">
            <a:spAutoFit/>
          </a:bodyPr>
          <a:lstStyle/>
          <a:p>
            <a:pPr algn="l"/>
            <a:r>
              <a:rPr sz="1200" b="1">
                <a:solidFill>
                  <a:srgbClr val="DC2626"/>
                </a:solidFill>
                <a:latin typeface="Calibri"/>
              </a:rPr>
              <a:t>4</a:t>
            </a:r>
          </a:p>
        </p:txBody>
      </p:sp>
      <p:sp>
        <p:nvSpPr>
          <p:cNvPr id="29" name="TextBox 28"/>
          <p:cNvSpPr txBox="1"/>
          <p:nvPr/>
        </p:nvSpPr>
        <p:spPr>
          <a:xfrm>
            <a:off x="1965960" y="3191255"/>
            <a:ext cx="1005840" cy="329184"/>
          </a:xfrm>
          <a:prstGeom prst="rect">
            <a:avLst/>
          </a:prstGeom>
          <a:noFill/>
        </p:spPr>
        <p:txBody>
          <a:bodyPr wrap="square" lIns="54864" rIns="54864" tIns="27432" bIns="27432" anchor="ctr">
            <a:spAutoFit/>
          </a:bodyPr>
          <a:lstStyle/>
          <a:p>
            <a:pPr algn="r"/>
            <a:r>
              <a:rPr sz="1200" b="0">
                <a:solidFill>
                  <a:srgbClr val="475569"/>
                </a:solidFill>
                <a:latin typeface="Calibri"/>
              </a:rPr>
              <a:t>205</a:t>
            </a:r>
          </a:p>
        </p:txBody>
      </p:sp>
      <p:sp>
        <p:nvSpPr>
          <p:cNvPr id="30" name="TextBox 29"/>
          <p:cNvSpPr txBox="1"/>
          <p:nvPr/>
        </p:nvSpPr>
        <p:spPr>
          <a:xfrm>
            <a:off x="2971800" y="3191255"/>
            <a:ext cx="914400" cy="329184"/>
          </a:xfrm>
          <a:prstGeom prst="rect">
            <a:avLst/>
          </a:prstGeom>
          <a:noFill/>
        </p:spPr>
        <p:txBody>
          <a:bodyPr wrap="square" lIns="54864" rIns="54864" tIns="27432" bIns="27432" anchor="ctr">
            <a:spAutoFit/>
          </a:bodyPr>
          <a:lstStyle/>
          <a:p>
            <a:pPr algn="r"/>
            <a:r>
              <a:rPr sz="1200" b="0">
                <a:solidFill>
                  <a:srgbClr val="475569"/>
                </a:solidFill>
                <a:latin typeface="Calibri"/>
              </a:rPr>
              <a:t>20.9</a:t>
            </a:r>
          </a:p>
        </p:txBody>
      </p:sp>
      <p:sp>
        <p:nvSpPr>
          <p:cNvPr id="31" name="TextBox 30"/>
          <p:cNvSpPr txBox="1"/>
          <p:nvPr/>
        </p:nvSpPr>
        <p:spPr>
          <a:xfrm>
            <a:off x="3886200" y="3191255"/>
            <a:ext cx="1371600" cy="329184"/>
          </a:xfrm>
          <a:prstGeom prst="rect">
            <a:avLst/>
          </a:prstGeom>
          <a:noFill/>
        </p:spPr>
        <p:txBody>
          <a:bodyPr wrap="square" lIns="54864" rIns="54864" tIns="27432" bIns="27432" anchor="ctr">
            <a:spAutoFit/>
          </a:bodyPr>
          <a:lstStyle/>
          <a:p>
            <a:pPr algn="r"/>
            <a:r>
              <a:rPr sz="1200" b="1">
                <a:solidFill>
                  <a:srgbClr val="DC2626"/>
                </a:solidFill>
                <a:latin typeface="Calibri"/>
              </a:rPr>
              <a:t>−0.31</a:t>
            </a:r>
          </a:p>
        </p:txBody>
      </p:sp>
      <p:sp>
        <p:nvSpPr>
          <p:cNvPr id="32" name="TextBox 31"/>
          <p:cNvSpPr txBox="1"/>
          <p:nvPr/>
        </p:nvSpPr>
        <p:spPr>
          <a:xfrm>
            <a:off x="5257800" y="3191255"/>
            <a:ext cx="4206240" cy="329184"/>
          </a:xfrm>
          <a:prstGeom prst="rect">
            <a:avLst/>
          </a:prstGeom>
          <a:noFill/>
        </p:spPr>
        <p:txBody>
          <a:bodyPr wrap="square" lIns="54864" rIns="54864" tIns="27432" bIns="27432" anchor="ctr">
            <a:spAutoFit/>
          </a:bodyPr>
          <a:lstStyle/>
          <a:p>
            <a:pPr algn="l"/>
            <a:r>
              <a:rPr sz="1200" b="1">
                <a:solidFill>
                  <a:srgbClr val="DC2626"/>
                </a:solidFill>
                <a:latin typeface="Calibri"/>
              </a:rPr>
              <a:t>Disordered — sits below the one beneath it</a:t>
            </a:r>
          </a:p>
        </p:txBody>
      </p:sp>
      <p:cxnSp>
        <p:nvCxnSpPr>
          <p:cNvPr id="33" name="Connector 32"/>
          <p:cNvCxnSpPr/>
          <p:nvPr/>
        </p:nvCxnSpPr>
        <p:spPr>
          <a:xfrm>
            <a:off x="777240" y="3520439"/>
            <a:ext cx="8686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7240" y="3520439"/>
            <a:ext cx="1188720" cy="329184"/>
          </a:xfrm>
          <a:prstGeom prst="rect">
            <a:avLst/>
          </a:prstGeom>
          <a:noFill/>
        </p:spPr>
        <p:txBody>
          <a:bodyPr wrap="square" lIns="54864" rIns="54864" tIns="27432" bIns="27432" anchor="ctr">
            <a:spAutoFit/>
          </a:bodyPr>
          <a:lstStyle/>
          <a:p>
            <a:pPr algn="l"/>
            <a:r>
              <a:rPr sz="1200" b="1">
                <a:solidFill>
                  <a:srgbClr val="0F172A"/>
                </a:solidFill>
                <a:latin typeface="Calibri"/>
              </a:rPr>
              <a:t>5</a:t>
            </a:r>
          </a:p>
        </p:txBody>
      </p:sp>
      <p:sp>
        <p:nvSpPr>
          <p:cNvPr id="35" name="TextBox 34"/>
          <p:cNvSpPr txBox="1"/>
          <p:nvPr/>
        </p:nvSpPr>
        <p:spPr>
          <a:xfrm>
            <a:off x="1965960" y="3520439"/>
            <a:ext cx="1005840" cy="329184"/>
          </a:xfrm>
          <a:prstGeom prst="rect">
            <a:avLst/>
          </a:prstGeom>
          <a:noFill/>
        </p:spPr>
        <p:txBody>
          <a:bodyPr wrap="square" lIns="54864" rIns="54864" tIns="27432" bIns="27432" anchor="ctr">
            <a:spAutoFit/>
          </a:bodyPr>
          <a:lstStyle/>
          <a:p>
            <a:pPr algn="r"/>
            <a:r>
              <a:rPr sz="1200" b="0">
                <a:solidFill>
                  <a:srgbClr val="475569"/>
                </a:solidFill>
                <a:latin typeface="Calibri"/>
              </a:rPr>
              <a:t>189</a:t>
            </a:r>
          </a:p>
        </p:txBody>
      </p:sp>
      <p:sp>
        <p:nvSpPr>
          <p:cNvPr id="36" name="TextBox 35"/>
          <p:cNvSpPr txBox="1"/>
          <p:nvPr/>
        </p:nvSpPr>
        <p:spPr>
          <a:xfrm>
            <a:off x="2971800" y="3520439"/>
            <a:ext cx="914400" cy="329184"/>
          </a:xfrm>
          <a:prstGeom prst="rect">
            <a:avLst/>
          </a:prstGeom>
          <a:noFill/>
        </p:spPr>
        <p:txBody>
          <a:bodyPr wrap="square" lIns="54864" rIns="54864" tIns="27432" bIns="27432" anchor="ctr">
            <a:spAutoFit/>
          </a:bodyPr>
          <a:lstStyle/>
          <a:p>
            <a:pPr algn="r"/>
            <a:r>
              <a:rPr sz="1200" b="0">
                <a:solidFill>
                  <a:srgbClr val="475569"/>
                </a:solidFill>
                <a:latin typeface="Calibri"/>
              </a:rPr>
              <a:t>19.3</a:t>
            </a:r>
          </a:p>
        </p:txBody>
      </p:sp>
      <p:sp>
        <p:nvSpPr>
          <p:cNvPr id="37" name="TextBox 36"/>
          <p:cNvSpPr txBox="1"/>
          <p:nvPr/>
        </p:nvSpPr>
        <p:spPr>
          <a:xfrm>
            <a:off x="3886200" y="3520439"/>
            <a:ext cx="1371600" cy="329184"/>
          </a:xfrm>
          <a:prstGeom prst="rect">
            <a:avLst/>
          </a:prstGeom>
          <a:noFill/>
        </p:spPr>
        <p:txBody>
          <a:bodyPr wrap="square" lIns="54864" rIns="54864" tIns="27432" bIns="27432" anchor="ctr">
            <a:spAutoFit/>
          </a:bodyPr>
          <a:lstStyle/>
          <a:p>
            <a:pPr algn="r"/>
            <a:r>
              <a:rPr sz="1200" b="0">
                <a:solidFill>
                  <a:srgbClr val="475569"/>
                </a:solidFill>
                <a:latin typeface="Calibri"/>
              </a:rPr>
              <a:t>+1.48</a:t>
            </a:r>
          </a:p>
        </p:txBody>
      </p:sp>
      <p:sp>
        <p:nvSpPr>
          <p:cNvPr id="38" name="TextBox 37"/>
          <p:cNvSpPr txBox="1"/>
          <p:nvPr/>
        </p:nvSpPr>
        <p:spPr>
          <a:xfrm>
            <a:off x="5257800" y="3520439"/>
            <a:ext cx="4206240" cy="329184"/>
          </a:xfrm>
          <a:prstGeom prst="rect">
            <a:avLst/>
          </a:prstGeom>
          <a:noFill/>
        </p:spPr>
        <p:txBody>
          <a:bodyPr wrap="square" lIns="54864" rIns="54864" tIns="27432" bIns="27432" anchor="ctr">
            <a:spAutoFit/>
          </a:bodyPr>
          <a:lstStyle/>
          <a:p>
            <a:pPr algn="l"/>
            <a:r>
              <a:rPr sz="1200" b="0">
                <a:solidFill>
                  <a:srgbClr val="475569"/>
                </a:solidFill>
                <a:latin typeface="Calibri"/>
              </a:rPr>
              <a:t>Used as expected</a:t>
            </a:r>
          </a:p>
        </p:txBody>
      </p:sp>
      <p:cxnSp>
        <p:nvCxnSpPr>
          <p:cNvPr id="39" name="Connector 38"/>
          <p:cNvCxnSpPr/>
          <p:nvPr/>
        </p:nvCxnSpPr>
        <p:spPr>
          <a:xfrm>
            <a:off x="777240" y="3849623"/>
            <a:ext cx="8686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 y="4343400"/>
            <a:ext cx="8046720" cy="0"/>
          </a:xfrm>
          <a:prstGeom prst="line">
            <a:avLst/>
          </a:prstGeom>
          <a:ln w="19050">
            <a:solidFill>
              <a:srgbClr val="334155"/>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673352" y="4288536"/>
            <a:ext cx="0" cy="109728"/>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490472" y="4434840"/>
            <a:ext cx="365760" cy="182880"/>
          </a:xfrm>
          <a:prstGeom prst="rect">
            <a:avLst/>
          </a:prstGeom>
          <a:noFill/>
        </p:spPr>
        <p:txBody>
          <a:bodyPr wrap="none" lIns="0" rIns="0" tIns="0" bIns="0">
            <a:spAutoFit/>
          </a:bodyPr>
          <a:lstStyle/>
          <a:p>
            <a:pPr algn="ctr"/>
            <a:r>
              <a:rPr sz="800" b="1">
                <a:solidFill>
                  <a:srgbClr val="94A3B8"/>
                </a:solidFill>
                <a:latin typeface="Calibri"/>
              </a:rPr>
              <a:t>-2</a:t>
            </a:r>
          </a:p>
        </p:txBody>
      </p:sp>
      <p:cxnSp>
        <p:nvCxnSpPr>
          <p:cNvPr id="43" name="Connector 42"/>
          <p:cNvCxnSpPr/>
          <p:nvPr/>
        </p:nvCxnSpPr>
        <p:spPr>
          <a:xfrm>
            <a:off x="3282696" y="4288536"/>
            <a:ext cx="0" cy="109728"/>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099815" y="4434840"/>
            <a:ext cx="365760" cy="182880"/>
          </a:xfrm>
          <a:prstGeom prst="rect">
            <a:avLst/>
          </a:prstGeom>
          <a:noFill/>
        </p:spPr>
        <p:txBody>
          <a:bodyPr wrap="none" lIns="0" rIns="0" tIns="0" bIns="0">
            <a:spAutoFit/>
          </a:bodyPr>
          <a:lstStyle/>
          <a:p>
            <a:pPr algn="ctr"/>
            <a:r>
              <a:rPr sz="800" b="1">
                <a:solidFill>
                  <a:srgbClr val="94A3B8"/>
                </a:solidFill>
                <a:latin typeface="Calibri"/>
              </a:rPr>
              <a:t>-1</a:t>
            </a:r>
          </a:p>
        </p:txBody>
      </p:sp>
      <p:cxnSp>
        <p:nvCxnSpPr>
          <p:cNvPr id="45" name="Connector 44"/>
          <p:cNvCxnSpPr/>
          <p:nvPr/>
        </p:nvCxnSpPr>
        <p:spPr>
          <a:xfrm>
            <a:off x="4892040" y="4288536"/>
            <a:ext cx="0" cy="109728"/>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709160" y="4434840"/>
            <a:ext cx="365760" cy="182880"/>
          </a:xfrm>
          <a:prstGeom prst="rect">
            <a:avLst/>
          </a:prstGeom>
          <a:noFill/>
        </p:spPr>
        <p:txBody>
          <a:bodyPr wrap="none" lIns="0" rIns="0" tIns="0" bIns="0">
            <a:spAutoFit/>
          </a:bodyPr>
          <a:lstStyle/>
          <a:p>
            <a:pPr algn="ctr"/>
            <a:r>
              <a:rPr sz="800" b="1">
                <a:solidFill>
                  <a:srgbClr val="94A3B8"/>
                </a:solidFill>
                <a:latin typeface="Calibri"/>
              </a:rPr>
              <a:t>0</a:t>
            </a:r>
          </a:p>
        </p:txBody>
      </p:sp>
      <p:cxnSp>
        <p:nvCxnSpPr>
          <p:cNvPr id="47" name="Connector 46"/>
          <p:cNvCxnSpPr/>
          <p:nvPr/>
        </p:nvCxnSpPr>
        <p:spPr>
          <a:xfrm>
            <a:off x="6501384" y="4288536"/>
            <a:ext cx="0" cy="109728"/>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318504" y="4434840"/>
            <a:ext cx="365760" cy="182880"/>
          </a:xfrm>
          <a:prstGeom prst="rect">
            <a:avLst/>
          </a:prstGeom>
          <a:noFill/>
        </p:spPr>
        <p:txBody>
          <a:bodyPr wrap="none" lIns="0" rIns="0" tIns="0" bIns="0">
            <a:spAutoFit/>
          </a:bodyPr>
          <a:lstStyle/>
          <a:p>
            <a:pPr algn="ctr"/>
            <a:r>
              <a:rPr sz="800" b="1">
                <a:solidFill>
                  <a:srgbClr val="94A3B8"/>
                </a:solidFill>
                <a:latin typeface="Calibri"/>
              </a:rPr>
              <a:t>+1</a:t>
            </a:r>
          </a:p>
        </p:txBody>
      </p:sp>
      <p:cxnSp>
        <p:nvCxnSpPr>
          <p:cNvPr id="49" name="Connector 48"/>
          <p:cNvCxnSpPr/>
          <p:nvPr/>
        </p:nvCxnSpPr>
        <p:spPr>
          <a:xfrm>
            <a:off x="8110728" y="4288536"/>
            <a:ext cx="0" cy="109728"/>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927848" y="4434840"/>
            <a:ext cx="365760" cy="182880"/>
          </a:xfrm>
          <a:prstGeom prst="rect">
            <a:avLst/>
          </a:prstGeom>
          <a:noFill/>
        </p:spPr>
        <p:txBody>
          <a:bodyPr wrap="none" lIns="0" rIns="0" tIns="0" bIns="0">
            <a:spAutoFit/>
          </a:bodyPr>
          <a:lstStyle/>
          <a:p>
            <a:pPr algn="ctr"/>
            <a:r>
              <a:rPr sz="800" b="1">
                <a:solidFill>
                  <a:srgbClr val="94A3B8"/>
                </a:solidFill>
                <a:latin typeface="Calibri"/>
              </a:rPr>
              <a:t>+2</a:t>
            </a:r>
          </a:p>
        </p:txBody>
      </p:sp>
      <p:sp>
        <p:nvSpPr>
          <p:cNvPr id="51" name="Oval 50"/>
          <p:cNvSpPr/>
          <p:nvPr/>
        </p:nvSpPr>
        <p:spPr>
          <a:xfrm>
            <a:off x="1905975" y="4270248"/>
            <a:ext cx="146304" cy="14630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613367" y="3959352"/>
            <a:ext cx="731520" cy="182880"/>
          </a:xfrm>
          <a:prstGeom prst="rect">
            <a:avLst/>
          </a:prstGeom>
          <a:noFill/>
        </p:spPr>
        <p:txBody>
          <a:bodyPr wrap="none" lIns="0" rIns="0" tIns="0" bIns="0">
            <a:spAutoFit/>
          </a:bodyPr>
          <a:lstStyle/>
          <a:p>
            <a:pPr algn="ctr"/>
            <a:r>
              <a:rPr sz="900" b="1">
                <a:solidFill>
                  <a:srgbClr val="B45309"/>
                </a:solidFill>
                <a:latin typeface="Calibri"/>
              </a:rPr>
              <a:t>into 2</a:t>
            </a:r>
          </a:p>
        </p:txBody>
      </p:sp>
      <p:sp>
        <p:nvSpPr>
          <p:cNvPr id="53" name="Oval 52"/>
          <p:cNvSpPr/>
          <p:nvPr/>
        </p:nvSpPr>
        <p:spPr>
          <a:xfrm>
            <a:off x="5832774" y="4270248"/>
            <a:ext cx="146304" cy="14630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40166" y="3959352"/>
            <a:ext cx="731520" cy="182880"/>
          </a:xfrm>
          <a:prstGeom prst="rect">
            <a:avLst/>
          </a:prstGeom>
          <a:noFill/>
        </p:spPr>
        <p:txBody>
          <a:bodyPr wrap="none" lIns="0" rIns="0" tIns="0" bIns="0">
            <a:spAutoFit/>
          </a:bodyPr>
          <a:lstStyle/>
          <a:p>
            <a:pPr algn="ctr"/>
            <a:r>
              <a:rPr sz="900" b="1">
                <a:solidFill>
                  <a:srgbClr val="B45309"/>
                </a:solidFill>
                <a:latin typeface="Calibri"/>
              </a:rPr>
              <a:t>into 3</a:t>
            </a:r>
          </a:p>
        </p:txBody>
      </p:sp>
      <p:sp>
        <p:nvSpPr>
          <p:cNvPr id="55" name="Oval 54"/>
          <p:cNvSpPr/>
          <p:nvPr/>
        </p:nvSpPr>
        <p:spPr>
          <a:xfrm>
            <a:off x="4319991" y="4270248"/>
            <a:ext cx="146304" cy="14630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027383" y="4654296"/>
            <a:ext cx="731520" cy="182880"/>
          </a:xfrm>
          <a:prstGeom prst="rect">
            <a:avLst/>
          </a:prstGeom>
          <a:noFill/>
        </p:spPr>
        <p:txBody>
          <a:bodyPr wrap="none" lIns="0" rIns="0" tIns="0" bIns="0">
            <a:spAutoFit/>
          </a:bodyPr>
          <a:lstStyle/>
          <a:p>
            <a:pPr algn="ctr"/>
            <a:r>
              <a:rPr sz="900" b="1">
                <a:solidFill>
                  <a:srgbClr val="DC2626"/>
                </a:solidFill>
                <a:latin typeface="Calibri"/>
              </a:rPr>
              <a:t>into 4</a:t>
            </a:r>
          </a:p>
        </p:txBody>
      </p:sp>
      <p:sp>
        <p:nvSpPr>
          <p:cNvPr id="57" name="Oval 56"/>
          <p:cNvSpPr/>
          <p:nvPr/>
        </p:nvSpPr>
        <p:spPr>
          <a:xfrm>
            <a:off x="7200717" y="4270248"/>
            <a:ext cx="146304" cy="14630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908109" y="3959352"/>
            <a:ext cx="731520" cy="182880"/>
          </a:xfrm>
          <a:prstGeom prst="rect">
            <a:avLst/>
          </a:prstGeom>
          <a:noFill/>
        </p:spPr>
        <p:txBody>
          <a:bodyPr wrap="none" lIns="0" rIns="0" tIns="0" bIns="0">
            <a:spAutoFit/>
          </a:bodyPr>
          <a:lstStyle/>
          <a:p>
            <a:pPr algn="ctr"/>
            <a:r>
              <a:rPr sz="900" b="1">
                <a:solidFill>
                  <a:srgbClr val="B45309"/>
                </a:solidFill>
                <a:latin typeface="Calibri"/>
              </a:rPr>
              <a:t>into 5</a:t>
            </a:r>
          </a:p>
        </p:txBody>
      </p:sp>
      <p:cxnSp>
        <p:nvCxnSpPr>
          <p:cNvPr id="59" name="Connector 58"/>
          <p:cNvCxnSpPr/>
          <p:nvPr/>
        </p:nvCxnSpPr>
        <p:spPr>
          <a:xfrm flipH="1">
            <a:off x="4393143" y="4434840"/>
            <a:ext cx="1512783" cy="219456"/>
          </a:xfrm>
          <a:prstGeom prst="line">
            <a:avLst/>
          </a:prstGeom>
          <a:ln w="12700">
            <a:solidFill>
              <a:srgbClr val="DC2626"/>
            </a:solidFill>
            <a:prstDash val="dash"/>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868680" y="4910328"/>
            <a:ext cx="7315200" cy="182880"/>
          </a:xfrm>
          <a:prstGeom prst="rect">
            <a:avLst/>
          </a:prstGeom>
          <a:noFill/>
        </p:spPr>
        <p:txBody>
          <a:bodyPr wrap="none" lIns="0" rIns="0" tIns="0" bIns="0">
            <a:spAutoFit/>
          </a:bodyPr>
          <a:lstStyle/>
          <a:p>
            <a:pPr algn="l"/>
            <a:r>
              <a:rPr sz="800" b="0">
                <a:solidFill>
                  <a:srgbClr val="94A3B8"/>
                </a:solidFill>
                <a:latin typeface="Calibri"/>
              </a:rPr>
              <a:t>thresholds on the logit ruler — the step into 4 is crossed 0.94 logits below the step into 3</a:t>
            </a:r>
          </a:p>
        </p:txBody>
      </p:sp>
      <p:sp>
        <p:nvSpPr>
          <p:cNvPr id="61" name="Rectangle 60"/>
          <p:cNvSpPr/>
          <p:nvPr/>
        </p:nvSpPr>
        <p:spPr>
          <a:xfrm>
            <a:off x="8549640" y="1874519"/>
            <a:ext cx="2834640" cy="19659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549640" y="1874519"/>
            <a:ext cx="50292" cy="196596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805672" y="2057400"/>
            <a:ext cx="2377440" cy="365760"/>
          </a:xfrm>
          <a:prstGeom prst="rect">
            <a:avLst/>
          </a:prstGeom>
          <a:noFill/>
        </p:spPr>
        <p:txBody>
          <a:bodyPr wrap="square" anchor="t">
            <a:spAutoFit/>
          </a:bodyPr>
          <a:lstStyle/>
          <a:p>
            <a:pPr algn="l">
              <a:lnSpc>
                <a:spcPct val="100000"/>
              </a:lnSpc>
            </a:pPr>
            <a:r>
              <a:rPr sz="1300" b="1" i="0">
                <a:solidFill>
                  <a:srgbClr val="0F172A"/>
                </a:solidFill>
                <a:latin typeface="Calibri"/>
              </a:rPr>
              <a:t>What a total shows</a:t>
            </a:r>
          </a:p>
        </p:txBody>
      </p:sp>
      <p:sp>
        <p:nvSpPr>
          <p:cNvPr id="64" name="TextBox 63"/>
          <p:cNvSpPr txBox="1"/>
          <p:nvPr/>
        </p:nvSpPr>
        <p:spPr>
          <a:xfrm>
            <a:off x="8805672" y="2532887"/>
            <a:ext cx="2377440" cy="1143000"/>
          </a:xfrm>
          <a:prstGeom prst="rect">
            <a:avLst/>
          </a:prstGeom>
          <a:noFill/>
        </p:spPr>
        <p:txBody>
          <a:bodyPr wrap="square" anchor="t">
            <a:spAutoFit/>
          </a:bodyPr>
          <a:lstStyle/>
          <a:p>
            <a:pPr algn="l">
              <a:lnSpc>
                <a:spcPct val="110000"/>
              </a:lnSpc>
            </a:pPr>
            <a:r>
              <a:rPr sz="1100" b="0" i="0">
                <a:solidFill>
                  <a:srgbClr val="475569"/>
                </a:solidFill>
                <a:latin typeface="Calibri"/>
              </a:rPr>
              <a:t>Nothing. Every resident gets a number from 7 to 35. The distribution looks normal. Reliability looks fine. The report goes to the board.</a:t>
            </a:r>
          </a:p>
        </p:txBody>
      </p:sp>
      <p:sp>
        <p:nvSpPr>
          <p:cNvPr id="65" name="Rectangle 64"/>
          <p:cNvSpPr/>
          <p:nvPr/>
        </p:nvSpPr>
        <p:spPr>
          <a:xfrm>
            <a:off x="8549640" y="3977639"/>
            <a:ext cx="2834640" cy="21031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549640" y="3977639"/>
            <a:ext cx="50292" cy="21031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805672" y="4160520"/>
            <a:ext cx="2377440" cy="365760"/>
          </a:xfrm>
          <a:prstGeom prst="rect">
            <a:avLst/>
          </a:prstGeom>
          <a:noFill/>
        </p:spPr>
        <p:txBody>
          <a:bodyPr wrap="square" anchor="t">
            <a:spAutoFit/>
          </a:bodyPr>
          <a:lstStyle/>
          <a:p>
            <a:pPr algn="l">
              <a:lnSpc>
                <a:spcPct val="100000"/>
              </a:lnSpc>
            </a:pPr>
            <a:r>
              <a:rPr sz="1300" b="1" i="0">
                <a:solidFill>
                  <a:srgbClr val="0F172A"/>
                </a:solidFill>
                <a:latin typeface="Calibri"/>
              </a:rPr>
              <a:t>What the thresholds show</a:t>
            </a:r>
          </a:p>
        </p:txBody>
      </p:sp>
      <p:sp>
        <p:nvSpPr>
          <p:cNvPr id="68" name="TextBox 67"/>
          <p:cNvSpPr txBox="1"/>
          <p:nvPr/>
        </p:nvSpPr>
        <p:spPr>
          <a:xfrm>
            <a:off x="8805672" y="4636007"/>
            <a:ext cx="2377440" cy="1280160"/>
          </a:xfrm>
          <a:prstGeom prst="rect">
            <a:avLst/>
          </a:prstGeom>
          <a:noFill/>
        </p:spPr>
        <p:txBody>
          <a:bodyPr wrap="square" anchor="t">
            <a:spAutoFit/>
          </a:bodyPr>
          <a:lstStyle/>
          <a:p>
            <a:pPr algn="l">
              <a:lnSpc>
                <a:spcPct val="110000"/>
              </a:lnSpc>
            </a:pPr>
            <a:r>
              <a:rPr sz="1100" b="0" i="0">
                <a:solidFill>
                  <a:srgbClr val="475569"/>
                </a:solidFill>
                <a:latin typeface="Calibri"/>
              </a:rPr>
              <a:t>Category 3 is used under 10% of the time and there is no point on the ruler where it is the most likely answer. Residents are not distinguishing "neutral" from "agree". Collapse 3 and 4, re-run.</a:t>
            </a:r>
          </a:p>
        </p:txBody>
      </p:sp>
      <p:sp>
        <p:nvSpPr>
          <p:cNvPr id="69" name="TextBox 68"/>
          <p:cNvSpPr txBox="1"/>
          <p:nvPr/>
        </p:nvSpPr>
        <p:spPr>
          <a:xfrm>
            <a:off x="777240" y="5349240"/>
            <a:ext cx="7589520" cy="548640"/>
          </a:xfrm>
          <a:prstGeom prst="rect">
            <a:avLst/>
          </a:prstGeom>
          <a:noFill/>
        </p:spPr>
        <p:txBody>
          <a:bodyPr wrap="square" anchor="t">
            <a:spAutoFit/>
          </a:bodyPr>
          <a:lstStyle/>
          <a:p>
            <a:pPr algn="l">
              <a:lnSpc>
                <a:spcPct val="100000"/>
              </a:lnSpc>
            </a:pPr>
            <a:r>
              <a:rPr sz="1150" b="0" i="1">
                <a:solidFill>
                  <a:srgbClr val="475569"/>
                </a:solidFill>
                <a:latin typeface="Calibri"/>
              </a:rPr>
              <a:t>Generated from a model with the middle thresholds deliberately reversed — a recovery, not a discovery. But it is the shape of the real finding.</a:t>
            </a:r>
          </a:p>
        </p:txBody>
      </p:sp>
      <p:sp>
        <p:nvSpPr>
          <p:cNvPr id="70" name="TextBox 69"/>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Rasch</a:t>
            </a:r>
          </a:p>
        </p:txBody>
      </p:sp>
      <p:sp>
        <p:nvSpPr>
          <p:cNvPr id="71" name="TextBox 70"/>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LIMITS, STATED IN THE TOOL</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Two things it will not pretend</a:t>
            </a:r>
          </a:p>
        </p:txBody>
      </p:sp>
      <p:sp>
        <p:nvSpPr>
          <p:cNvPr id="4" name="Rectangle 3"/>
          <p:cNvSpPr/>
          <p:nvPr/>
        </p:nvSpPr>
        <p:spPr>
          <a:xfrm>
            <a:off x="777240" y="1965960"/>
            <a:ext cx="5120640" cy="24688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65960"/>
            <a:ext cx="50292" cy="246888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2148840"/>
            <a:ext cx="4663440" cy="365760"/>
          </a:xfrm>
          <a:prstGeom prst="rect">
            <a:avLst/>
          </a:prstGeom>
          <a:noFill/>
        </p:spPr>
        <p:txBody>
          <a:bodyPr wrap="square" anchor="t">
            <a:spAutoFit/>
          </a:bodyPr>
          <a:lstStyle/>
          <a:p>
            <a:pPr algn="l">
              <a:lnSpc>
                <a:spcPct val="100000"/>
              </a:lnSpc>
            </a:pPr>
            <a:r>
              <a:rPr sz="1500" b="1" i="0">
                <a:solidFill>
                  <a:srgbClr val="0F172A"/>
                </a:solidFill>
                <a:latin typeface="Calibri"/>
              </a:rPr>
              <a:t>Detecting a subtle disordering needs respondents</a:t>
            </a:r>
          </a:p>
        </p:txBody>
      </p:sp>
      <p:sp>
        <p:nvSpPr>
          <p:cNvPr id="7" name="TextBox 6"/>
          <p:cNvSpPr txBox="1"/>
          <p:nvPr/>
        </p:nvSpPr>
        <p:spPr>
          <a:xfrm>
            <a:off x="1033271" y="2624328"/>
            <a:ext cx="4663440" cy="1645920"/>
          </a:xfrm>
          <a:prstGeom prst="rect">
            <a:avLst/>
          </a:prstGeom>
          <a:noFill/>
        </p:spPr>
        <p:txBody>
          <a:bodyPr wrap="square" anchor="t">
            <a:spAutoFit/>
          </a:bodyPr>
          <a:lstStyle/>
          <a:p>
            <a:pPr algn="l">
              <a:lnSpc>
                <a:spcPct val="110000"/>
              </a:lnSpc>
            </a:pPr>
            <a:r>
              <a:rPr sz="1250" b="0" i="0">
                <a:solidFill>
                  <a:srgbClr val="475569"/>
                </a:solidFill>
                <a:latin typeface="Calibri"/>
              </a:rPr>
              <a:t>An earlier version of this demo had 60 residents and a 0.2-logit reversal. The estimator reported the thresholds as ordered — the reversal was real but smaller than the sampling noise. That is the estimator being honest. At 1,500 respondents it recovers a 0.2-logit reversal reliably. Not cleverness; sample size.</a:t>
            </a:r>
          </a:p>
        </p:txBody>
      </p:sp>
      <p:sp>
        <p:nvSpPr>
          <p:cNvPr id="8" name="Rectangle 7"/>
          <p:cNvSpPr/>
          <p:nvPr/>
        </p:nvSpPr>
        <p:spPr>
          <a:xfrm>
            <a:off x="6263640" y="1965960"/>
            <a:ext cx="5120640" cy="24688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63640" y="1965960"/>
            <a:ext cx="50292" cy="24688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2148840"/>
            <a:ext cx="4663440" cy="365760"/>
          </a:xfrm>
          <a:prstGeom prst="rect">
            <a:avLst/>
          </a:prstGeom>
          <a:noFill/>
        </p:spPr>
        <p:txBody>
          <a:bodyPr wrap="square" anchor="t">
            <a:spAutoFit/>
          </a:bodyPr>
          <a:lstStyle/>
          <a:p>
            <a:pPr algn="l">
              <a:lnSpc>
                <a:spcPct val="100000"/>
              </a:lnSpc>
            </a:pPr>
            <a:r>
              <a:rPr sz="1500" b="1" i="0">
                <a:solidFill>
                  <a:srgbClr val="0F172A"/>
                </a:solidFill>
                <a:latin typeface="Calibri"/>
              </a:rPr>
              <a:t>Spacing is approximate; sequence is reliable</a:t>
            </a:r>
          </a:p>
        </p:txBody>
      </p:sp>
      <p:sp>
        <p:nvSpPr>
          <p:cNvPr id="11" name="TextBox 10"/>
          <p:cNvSpPr txBox="1"/>
          <p:nvPr/>
        </p:nvSpPr>
        <p:spPr>
          <a:xfrm>
            <a:off x="6519672" y="2624328"/>
            <a:ext cx="4663440" cy="1645920"/>
          </a:xfrm>
          <a:prstGeom prst="rect">
            <a:avLst/>
          </a:prstGeom>
          <a:noFill/>
        </p:spPr>
        <p:txBody>
          <a:bodyPr wrap="square" anchor="t">
            <a:spAutoFit/>
          </a:bodyPr>
          <a:lstStyle/>
          <a:p>
            <a:pPr algn="l">
              <a:lnSpc>
                <a:spcPct val="110000"/>
              </a:lnSpc>
            </a:pPr>
            <a:r>
              <a:rPr sz="1250" b="0" i="0">
                <a:solidFill>
                  <a:srgbClr val="475569"/>
                </a:solidFill>
                <a:latin typeface="Calibri"/>
              </a:rPr>
              <a:t>The estimation method (JMLE) spreads its estimates 10–20% wider than the truth with few items. Winsteps applies a correction factor; this tool does not. The disordering diagnostic depends only on the order of the thresholds, which the bias does not touch.</a:t>
            </a:r>
          </a:p>
        </p:txBody>
      </p:sp>
      <p:sp>
        <p:nvSpPr>
          <p:cNvPr id="12" name="Rectangle 11"/>
          <p:cNvSpPr/>
          <p:nvPr/>
        </p:nvSpPr>
        <p:spPr>
          <a:xfrm>
            <a:off x="777240" y="4663440"/>
            <a:ext cx="10607040" cy="1365504"/>
          </a:xfrm>
          <a:prstGeom prst="rect">
            <a:avLst/>
          </a:prstGeom>
          <a:solidFill>
            <a:srgbClr val="DBEAF6"/>
          </a:solidFill>
          <a:ln w="15875">
            <a:solidFill>
              <a:srgbClr val="1E5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800600"/>
            <a:ext cx="10058400" cy="329184"/>
          </a:xfrm>
          <a:prstGeom prst="rect">
            <a:avLst/>
          </a:prstGeom>
          <a:noFill/>
        </p:spPr>
        <p:txBody>
          <a:bodyPr wrap="square" anchor="t">
            <a:spAutoFit/>
          </a:bodyPr>
          <a:lstStyle/>
          <a:p>
            <a:pPr algn="l">
              <a:lnSpc>
                <a:spcPct val="100000"/>
              </a:lnSpc>
            </a:pPr>
            <a:r>
              <a:rPr sz="1500" b="1" i="0">
                <a:solidFill>
                  <a:srgbClr val="123A5A"/>
                </a:solidFill>
                <a:latin typeface="Calibri"/>
              </a:rPr>
              <a:t>The estimator has been checked against known answers</a:t>
            </a:r>
          </a:p>
        </p:txBody>
      </p:sp>
      <p:sp>
        <p:nvSpPr>
          <p:cNvPr id="14" name="TextBox 13"/>
          <p:cNvSpPr txBox="1"/>
          <p:nvPr/>
        </p:nvSpPr>
        <p:spPr>
          <a:xfrm>
            <a:off x="1051560" y="5193792"/>
            <a:ext cx="10058400" cy="707136"/>
          </a:xfrm>
          <a:prstGeom prst="rect">
            <a:avLst/>
          </a:prstGeom>
          <a:noFill/>
        </p:spPr>
        <p:txBody>
          <a:bodyPr wrap="square" anchor="t">
            <a:spAutoFit/>
          </a:bodyPr>
          <a:lstStyle/>
          <a:p>
            <a:pPr algn="l">
              <a:lnSpc>
                <a:spcPct val="112000"/>
              </a:lnSpc>
            </a:pPr>
            <a:r>
              <a:rPr sz="1250" b="0" i="0">
                <a:solidFill>
                  <a:srgbClr val="475569"/>
                </a:solidFill>
                <a:latin typeface="Calibri"/>
              </a:rPr>
              <a:t>Parameter recovery on simulated data: correlation 0.995 dichotomous (400 × 12) and 0.999 for a 4-category rating scale (500 × 10), RMS error about 0.2 logits. Threshold order recovered correctly in strongly disordered, mildly disordered, and ordered conditions. The bug that nearly shipped — margins that disagreed after an extreme was removed — is caught by a check that they must agree.</a:t>
            </a:r>
          </a:p>
        </p:txBody>
      </p:sp>
      <p:sp>
        <p:nvSpPr>
          <p:cNvPr id="15" name="TextBox 14"/>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Rasch</a:t>
            </a:r>
          </a:p>
        </p:txBody>
      </p:sp>
      <p:sp>
        <p:nvSpPr>
          <p:cNvPr id="16" name="TextBox 15"/>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DOES IT HOLD TOGETHER?</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200" b="1" i="0">
                <a:solidFill>
                  <a:srgbClr val="0F172A"/>
                </a:solidFill>
                <a:latin typeface="Calibri"/>
              </a:rPr>
              <a:t>How many groups can the data tell apart?</a:t>
            </a:r>
          </a:p>
        </p:txBody>
      </p:sp>
      <p:sp>
        <p:nvSpPr>
          <p:cNvPr id="4" name="TextBox 3"/>
          <p:cNvSpPr txBox="1"/>
          <p:nvPr/>
        </p:nvSpPr>
        <p:spPr>
          <a:xfrm>
            <a:off x="777240" y="1874519"/>
            <a:ext cx="2011680" cy="640080"/>
          </a:xfrm>
          <a:prstGeom prst="rect">
            <a:avLst/>
          </a:prstGeom>
          <a:noFill/>
        </p:spPr>
        <p:txBody>
          <a:bodyPr wrap="square" anchor="t">
            <a:spAutoFit/>
          </a:bodyPr>
          <a:lstStyle/>
          <a:p>
            <a:pPr algn="l">
              <a:lnSpc>
                <a:spcPct val="100000"/>
              </a:lnSpc>
            </a:pPr>
            <a:r>
              <a:rPr sz="3600" b="1" i="0">
                <a:solidFill>
                  <a:srgbClr val="123A5A"/>
                </a:solidFill>
                <a:latin typeface="Calibri"/>
              </a:rPr>
              <a:t>0.84</a:t>
            </a:r>
          </a:p>
        </p:txBody>
      </p:sp>
      <p:sp>
        <p:nvSpPr>
          <p:cNvPr id="5" name="TextBox 4"/>
          <p:cNvSpPr txBox="1"/>
          <p:nvPr/>
        </p:nvSpPr>
        <p:spPr>
          <a:xfrm>
            <a:off x="777240" y="2514600"/>
            <a:ext cx="2011680" cy="274320"/>
          </a:xfrm>
          <a:prstGeom prst="rect">
            <a:avLst/>
          </a:prstGeom>
          <a:noFill/>
        </p:spPr>
        <p:txBody>
          <a:bodyPr wrap="square" anchor="t">
            <a:spAutoFit/>
          </a:bodyPr>
          <a:lstStyle/>
          <a:p>
            <a:pPr algn="l">
              <a:lnSpc>
                <a:spcPct val="100000"/>
              </a:lnSpc>
            </a:pPr>
            <a:r>
              <a:rPr sz="950" b="1" i="0">
                <a:solidFill>
                  <a:srgbClr val="94A3B8"/>
                </a:solidFill>
                <a:latin typeface="Calibri"/>
              </a:rPr>
              <a:t>PERSON RELIABILITY</a:t>
            </a:r>
          </a:p>
        </p:txBody>
      </p:sp>
      <p:sp>
        <p:nvSpPr>
          <p:cNvPr id="6" name="TextBox 5"/>
          <p:cNvSpPr txBox="1"/>
          <p:nvPr/>
        </p:nvSpPr>
        <p:spPr>
          <a:xfrm>
            <a:off x="2926080" y="1874519"/>
            <a:ext cx="2011680" cy="640080"/>
          </a:xfrm>
          <a:prstGeom prst="rect">
            <a:avLst/>
          </a:prstGeom>
          <a:noFill/>
        </p:spPr>
        <p:txBody>
          <a:bodyPr wrap="square" anchor="t">
            <a:spAutoFit/>
          </a:bodyPr>
          <a:lstStyle/>
          <a:p>
            <a:pPr algn="l">
              <a:lnSpc>
                <a:spcPct val="100000"/>
              </a:lnSpc>
            </a:pPr>
            <a:r>
              <a:rPr sz="3600" b="1" i="0">
                <a:solidFill>
                  <a:srgbClr val="123A5A"/>
                </a:solidFill>
                <a:latin typeface="Calibri"/>
              </a:rPr>
              <a:t>2.32</a:t>
            </a:r>
          </a:p>
        </p:txBody>
      </p:sp>
      <p:sp>
        <p:nvSpPr>
          <p:cNvPr id="7" name="TextBox 6"/>
          <p:cNvSpPr txBox="1"/>
          <p:nvPr/>
        </p:nvSpPr>
        <p:spPr>
          <a:xfrm>
            <a:off x="2926080" y="2514600"/>
            <a:ext cx="2011680" cy="274320"/>
          </a:xfrm>
          <a:prstGeom prst="rect">
            <a:avLst/>
          </a:prstGeom>
          <a:noFill/>
        </p:spPr>
        <p:txBody>
          <a:bodyPr wrap="square" anchor="t">
            <a:spAutoFit/>
          </a:bodyPr>
          <a:lstStyle/>
          <a:p>
            <a:pPr algn="l">
              <a:lnSpc>
                <a:spcPct val="100000"/>
              </a:lnSpc>
            </a:pPr>
            <a:r>
              <a:rPr sz="950" b="1" i="0">
                <a:solidFill>
                  <a:srgbClr val="94A3B8"/>
                </a:solidFill>
                <a:latin typeface="Calibri"/>
              </a:rPr>
              <a:t>SEPARATION</a:t>
            </a:r>
          </a:p>
        </p:txBody>
      </p:sp>
      <p:sp>
        <p:nvSpPr>
          <p:cNvPr id="8" name="TextBox 7"/>
          <p:cNvSpPr txBox="1"/>
          <p:nvPr/>
        </p:nvSpPr>
        <p:spPr>
          <a:xfrm>
            <a:off x="5074920" y="1874519"/>
            <a:ext cx="2011680" cy="640080"/>
          </a:xfrm>
          <a:prstGeom prst="rect">
            <a:avLst/>
          </a:prstGeom>
          <a:noFill/>
        </p:spPr>
        <p:txBody>
          <a:bodyPr wrap="square" anchor="t">
            <a:spAutoFit/>
          </a:bodyPr>
          <a:lstStyle/>
          <a:p>
            <a:pPr algn="l">
              <a:lnSpc>
                <a:spcPct val="100000"/>
              </a:lnSpc>
            </a:pPr>
            <a:r>
              <a:rPr sz="3600" b="1" i="0">
                <a:solidFill>
                  <a:srgbClr val="123A5A"/>
                </a:solidFill>
                <a:latin typeface="Calibri"/>
              </a:rPr>
              <a:t>3.4</a:t>
            </a:r>
          </a:p>
        </p:txBody>
      </p:sp>
      <p:sp>
        <p:nvSpPr>
          <p:cNvPr id="9" name="TextBox 8"/>
          <p:cNvSpPr txBox="1"/>
          <p:nvPr/>
        </p:nvSpPr>
        <p:spPr>
          <a:xfrm>
            <a:off x="5074920" y="2514600"/>
            <a:ext cx="2011680" cy="274320"/>
          </a:xfrm>
          <a:prstGeom prst="rect">
            <a:avLst/>
          </a:prstGeom>
          <a:noFill/>
        </p:spPr>
        <p:txBody>
          <a:bodyPr wrap="square" anchor="t">
            <a:spAutoFit/>
          </a:bodyPr>
          <a:lstStyle/>
          <a:p>
            <a:pPr algn="l">
              <a:lnSpc>
                <a:spcPct val="100000"/>
              </a:lnSpc>
            </a:pPr>
            <a:r>
              <a:rPr sz="950" b="1" i="0">
                <a:solidFill>
                  <a:srgbClr val="94A3B8"/>
                </a:solidFill>
                <a:latin typeface="Calibri"/>
              </a:rPr>
              <a:t>STRATA</a:t>
            </a:r>
          </a:p>
        </p:txBody>
      </p:sp>
      <p:sp>
        <p:nvSpPr>
          <p:cNvPr id="10" name="TextBox 9"/>
          <p:cNvSpPr txBox="1"/>
          <p:nvPr/>
        </p:nvSpPr>
        <p:spPr>
          <a:xfrm>
            <a:off x="7223760" y="1874519"/>
            <a:ext cx="2011680" cy="640080"/>
          </a:xfrm>
          <a:prstGeom prst="rect">
            <a:avLst/>
          </a:prstGeom>
          <a:noFill/>
        </p:spPr>
        <p:txBody>
          <a:bodyPr wrap="square" anchor="t">
            <a:spAutoFit/>
          </a:bodyPr>
          <a:lstStyle/>
          <a:p>
            <a:pPr algn="l">
              <a:lnSpc>
                <a:spcPct val="100000"/>
              </a:lnSpc>
            </a:pPr>
            <a:r>
              <a:rPr sz="3600" b="1" i="0">
                <a:solidFill>
                  <a:srgbClr val="123A5A"/>
                </a:solidFill>
                <a:latin typeface="Calibri"/>
              </a:rPr>
              <a:t>2.31</a:t>
            </a:r>
          </a:p>
        </p:txBody>
      </p:sp>
      <p:sp>
        <p:nvSpPr>
          <p:cNvPr id="11" name="TextBox 10"/>
          <p:cNvSpPr txBox="1"/>
          <p:nvPr/>
        </p:nvSpPr>
        <p:spPr>
          <a:xfrm>
            <a:off x="7223760" y="2514600"/>
            <a:ext cx="2011680" cy="274320"/>
          </a:xfrm>
          <a:prstGeom prst="rect">
            <a:avLst/>
          </a:prstGeom>
          <a:noFill/>
        </p:spPr>
        <p:txBody>
          <a:bodyPr wrap="square" anchor="t">
            <a:spAutoFit/>
          </a:bodyPr>
          <a:lstStyle/>
          <a:p>
            <a:pPr algn="l">
              <a:lnSpc>
                <a:spcPct val="100000"/>
              </a:lnSpc>
            </a:pPr>
            <a:r>
              <a:rPr sz="950" b="1" i="0">
                <a:solidFill>
                  <a:srgbClr val="94A3B8"/>
                </a:solidFill>
                <a:latin typeface="Calibri"/>
              </a:rPr>
              <a:t>SD (LOGITS)</a:t>
            </a:r>
          </a:p>
        </p:txBody>
      </p:sp>
      <p:sp>
        <p:nvSpPr>
          <p:cNvPr id="12" name="TextBox 11"/>
          <p:cNvSpPr txBox="1"/>
          <p:nvPr/>
        </p:nvSpPr>
        <p:spPr>
          <a:xfrm>
            <a:off x="9372600" y="1874519"/>
            <a:ext cx="2011680" cy="640080"/>
          </a:xfrm>
          <a:prstGeom prst="rect">
            <a:avLst/>
          </a:prstGeom>
          <a:noFill/>
        </p:spPr>
        <p:txBody>
          <a:bodyPr wrap="square" anchor="t">
            <a:spAutoFit/>
          </a:bodyPr>
          <a:lstStyle/>
          <a:p>
            <a:pPr algn="l">
              <a:lnSpc>
                <a:spcPct val="100000"/>
              </a:lnSpc>
            </a:pPr>
            <a:r>
              <a:rPr sz="3600" b="1" i="0">
                <a:solidFill>
                  <a:srgbClr val="123A5A"/>
                </a:solidFill>
                <a:latin typeface="Calibri"/>
              </a:rPr>
              <a:t>0.92</a:t>
            </a:r>
          </a:p>
        </p:txBody>
      </p:sp>
      <p:sp>
        <p:nvSpPr>
          <p:cNvPr id="13" name="TextBox 12"/>
          <p:cNvSpPr txBox="1"/>
          <p:nvPr/>
        </p:nvSpPr>
        <p:spPr>
          <a:xfrm>
            <a:off x="9372600" y="2514600"/>
            <a:ext cx="2011680" cy="274320"/>
          </a:xfrm>
          <a:prstGeom prst="rect">
            <a:avLst/>
          </a:prstGeom>
          <a:noFill/>
        </p:spPr>
        <p:txBody>
          <a:bodyPr wrap="square" anchor="t">
            <a:spAutoFit/>
          </a:bodyPr>
          <a:lstStyle/>
          <a:p>
            <a:pPr algn="l">
              <a:lnSpc>
                <a:spcPct val="100000"/>
              </a:lnSpc>
            </a:pPr>
            <a:r>
              <a:rPr sz="950" b="1" i="0">
                <a:solidFill>
                  <a:srgbClr val="94A3B8"/>
                </a:solidFill>
                <a:latin typeface="Calibri"/>
              </a:rPr>
              <a:t>RMSE</a:t>
            </a:r>
          </a:p>
        </p:txBody>
      </p:sp>
      <p:sp>
        <p:nvSpPr>
          <p:cNvPr id="14" name="TextBox 13"/>
          <p:cNvSpPr txBox="1"/>
          <p:nvPr/>
        </p:nvSpPr>
        <p:spPr>
          <a:xfrm>
            <a:off x="777240" y="2880360"/>
            <a:ext cx="7315200" cy="274320"/>
          </a:xfrm>
          <a:prstGeom prst="rect">
            <a:avLst/>
          </a:prstGeom>
          <a:noFill/>
        </p:spPr>
        <p:txBody>
          <a:bodyPr wrap="square" anchor="t">
            <a:spAutoFit/>
          </a:bodyPr>
          <a:lstStyle/>
          <a:p>
            <a:pPr algn="l">
              <a:lnSpc>
                <a:spcPct val="100000"/>
              </a:lnSpc>
            </a:pPr>
            <a:r>
              <a:rPr sz="1100" b="0" i="1">
                <a:solidFill>
                  <a:srgbClr val="475569"/>
                </a:solidFill>
                <a:latin typeface="Calibri"/>
              </a:rPr>
              <a:t>The badge demo: 23 measurable people, 12 skills.</a:t>
            </a:r>
          </a:p>
        </p:txBody>
      </p:sp>
      <p:sp>
        <p:nvSpPr>
          <p:cNvPr id="15" name="Rectangle 14"/>
          <p:cNvSpPr/>
          <p:nvPr/>
        </p:nvSpPr>
        <p:spPr>
          <a:xfrm>
            <a:off x="777240" y="3383280"/>
            <a:ext cx="3383280" cy="17830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83280"/>
            <a:ext cx="50292" cy="178308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3566160"/>
            <a:ext cx="2926080" cy="365760"/>
          </a:xfrm>
          <a:prstGeom prst="rect">
            <a:avLst/>
          </a:prstGeom>
          <a:noFill/>
        </p:spPr>
        <p:txBody>
          <a:bodyPr wrap="square" anchor="t">
            <a:spAutoFit/>
          </a:bodyPr>
          <a:lstStyle/>
          <a:p>
            <a:pPr algn="l">
              <a:lnSpc>
                <a:spcPct val="100000"/>
              </a:lnSpc>
            </a:pPr>
            <a:r>
              <a:rPr sz="1400" b="1" i="0">
                <a:solidFill>
                  <a:srgbClr val="0F172A"/>
                </a:solidFill>
                <a:latin typeface="Calibri"/>
              </a:rPr>
              <a:t>Reliability</a:t>
            </a:r>
          </a:p>
        </p:txBody>
      </p:sp>
      <p:sp>
        <p:nvSpPr>
          <p:cNvPr id="18" name="TextBox 17"/>
          <p:cNvSpPr txBox="1"/>
          <p:nvPr/>
        </p:nvSpPr>
        <p:spPr>
          <a:xfrm>
            <a:off x="1033271" y="4041648"/>
            <a:ext cx="2926080" cy="960119"/>
          </a:xfrm>
          <a:prstGeom prst="rect">
            <a:avLst/>
          </a:prstGeom>
          <a:noFill/>
        </p:spPr>
        <p:txBody>
          <a:bodyPr wrap="square" anchor="t">
            <a:spAutoFit/>
          </a:bodyPr>
          <a:lstStyle/>
          <a:p>
            <a:pPr algn="l">
              <a:lnSpc>
                <a:spcPct val="110000"/>
              </a:lnSpc>
            </a:pPr>
            <a:r>
              <a:rPr sz="1200" b="0" i="0">
                <a:solidFill>
                  <a:srgbClr val="475569"/>
                </a:solidFill>
                <a:latin typeface="Calibri"/>
              </a:rPr>
              <a:t>Share of the spread in measures that is real rather than error: (SD² − MSE) / SD². Same fact as separation, as a ratio.</a:t>
            </a:r>
          </a:p>
        </p:txBody>
      </p:sp>
      <p:sp>
        <p:nvSpPr>
          <p:cNvPr id="19" name="Rectangle 18"/>
          <p:cNvSpPr/>
          <p:nvPr/>
        </p:nvSpPr>
        <p:spPr>
          <a:xfrm>
            <a:off x="4389120" y="3383280"/>
            <a:ext cx="3383280" cy="17830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89120" y="3383280"/>
            <a:ext cx="50292" cy="178308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5152" y="3566160"/>
            <a:ext cx="2926080" cy="365760"/>
          </a:xfrm>
          <a:prstGeom prst="rect">
            <a:avLst/>
          </a:prstGeom>
          <a:noFill/>
        </p:spPr>
        <p:txBody>
          <a:bodyPr wrap="square" anchor="t">
            <a:spAutoFit/>
          </a:bodyPr>
          <a:lstStyle/>
          <a:p>
            <a:pPr algn="l">
              <a:lnSpc>
                <a:spcPct val="100000"/>
              </a:lnSpc>
            </a:pPr>
            <a:r>
              <a:rPr sz="1400" b="1" i="0">
                <a:solidFill>
                  <a:srgbClr val="0F172A"/>
                </a:solidFill>
                <a:latin typeface="Calibri"/>
              </a:rPr>
              <a:t>Separation</a:t>
            </a:r>
          </a:p>
        </p:txBody>
      </p:sp>
      <p:sp>
        <p:nvSpPr>
          <p:cNvPr id="22" name="TextBox 21"/>
          <p:cNvSpPr txBox="1"/>
          <p:nvPr/>
        </p:nvSpPr>
        <p:spPr>
          <a:xfrm>
            <a:off x="4645152" y="4041648"/>
            <a:ext cx="2926080" cy="960119"/>
          </a:xfrm>
          <a:prstGeom prst="rect">
            <a:avLst/>
          </a:prstGeom>
          <a:noFill/>
        </p:spPr>
        <p:txBody>
          <a:bodyPr wrap="square" anchor="t">
            <a:spAutoFit/>
          </a:bodyPr>
          <a:lstStyle/>
          <a:p>
            <a:pPr algn="l">
              <a:lnSpc>
                <a:spcPct val="110000"/>
              </a:lnSpc>
            </a:pPr>
            <a:r>
              <a:rPr sz="1200" b="0" i="0">
                <a:solidFill>
                  <a:srgbClr val="475569"/>
                </a:solidFill>
                <a:latin typeface="Calibri"/>
              </a:rPr>
              <a:t>Spread of measures divided by the typical error. 2.32 means the measures spread more than twice as wide as they are uncertain.</a:t>
            </a:r>
          </a:p>
        </p:txBody>
      </p:sp>
      <p:sp>
        <p:nvSpPr>
          <p:cNvPr id="23" name="Rectangle 22"/>
          <p:cNvSpPr/>
          <p:nvPr/>
        </p:nvSpPr>
        <p:spPr>
          <a:xfrm>
            <a:off x="8001000" y="3383280"/>
            <a:ext cx="3383280" cy="17830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01000" y="3383280"/>
            <a:ext cx="50292" cy="178308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57031" y="3566160"/>
            <a:ext cx="2926080" cy="365760"/>
          </a:xfrm>
          <a:prstGeom prst="rect">
            <a:avLst/>
          </a:prstGeom>
          <a:noFill/>
        </p:spPr>
        <p:txBody>
          <a:bodyPr wrap="square" anchor="t">
            <a:spAutoFit/>
          </a:bodyPr>
          <a:lstStyle/>
          <a:p>
            <a:pPr algn="l">
              <a:lnSpc>
                <a:spcPct val="100000"/>
              </a:lnSpc>
            </a:pPr>
            <a:r>
              <a:rPr sz="1400" b="1" i="0">
                <a:solidFill>
                  <a:srgbClr val="0F172A"/>
                </a:solidFill>
                <a:latin typeface="Calibri"/>
              </a:rPr>
              <a:t>Strata — the plain-language one</a:t>
            </a:r>
          </a:p>
        </p:txBody>
      </p:sp>
      <p:sp>
        <p:nvSpPr>
          <p:cNvPr id="26" name="TextBox 25"/>
          <p:cNvSpPr txBox="1"/>
          <p:nvPr/>
        </p:nvSpPr>
        <p:spPr>
          <a:xfrm>
            <a:off x="8257031" y="4041648"/>
            <a:ext cx="2926080" cy="960119"/>
          </a:xfrm>
          <a:prstGeom prst="rect">
            <a:avLst/>
          </a:prstGeom>
          <a:noFill/>
        </p:spPr>
        <p:txBody>
          <a:bodyPr wrap="square" anchor="t">
            <a:spAutoFit/>
          </a:bodyPr>
          <a:lstStyle/>
          <a:p>
            <a:pPr algn="l">
              <a:lnSpc>
                <a:spcPct val="110000"/>
              </a:lnSpc>
            </a:pPr>
            <a:r>
              <a:rPr sz="1200" b="0" i="0">
                <a:solidFill>
                  <a:srgbClr val="475569"/>
                </a:solidFill>
                <a:latin typeface="Calibri"/>
              </a:rPr>
              <a:t>(4G + 1) / 3. About three distinguishable groups of people. Enough to sort the ledger into levels. Not enough to rank people individually.</a:t>
            </a:r>
          </a:p>
        </p:txBody>
      </p:sp>
      <p:sp>
        <p:nvSpPr>
          <p:cNvPr id="27" name="Rectangle 26"/>
          <p:cNvSpPr/>
          <p:nvPr/>
        </p:nvSpPr>
        <p:spPr>
          <a:xfrm>
            <a:off x="777240" y="5303520"/>
            <a:ext cx="10607040" cy="822960"/>
          </a:xfrm>
          <a:prstGeom prst="rect">
            <a:avLst/>
          </a:prstGeom>
          <a:solidFill>
            <a:srgbClr val="FEF9C3"/>
          </a:solidFill>
          <a:ln w="15875">
            <a:solidFill>
              <a:srgbClr val="FDE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440680"/>
            <a:ext cx="10058400" cy="329184"/>
          </a:xfrm>
          <a:prstGeom prst="rect">
            <a:avLst/>
          </a:prstGeom>
          <a:noFill/>
        </p:spPr>
        <p:txBody>
          <a:bodyPr wrap="square" anchor="t">
            <a:spAutoFit/>
          </a:bodyPr>
          <a:lstStyle/>
          <a:p>
            <a:pPr algn="l">
              <a:lnSpc>
                <a:spcPct val="100000"/>
              </a:lnSpc>
            </a:pPr>
            <a:r>
              <a:rPr sz="1500" b="1" i="0">
                <a:solidFill>
                  <a:srgbClr val="854D0E"/>
                </a:solidFill>
                <a:latin typeface="Calibri"/>
              </a:rPr>
              <a:t>Three strata is a sort, not a ranking</a:t>
            </a:r>
          </a:p>
        </p:txBody>
      </p:sp>
      <p:sp>
        <p:nvSpPr>
          <p:cNvPr id="29" name="TextBox 28"/>
          <p:cNvSpPr txBox="1"/>
          <p:nvPr/>
        </p:nvSpPr>
        <p:spPr>
          <a:xfrm>
            <a:off x="1051560" y="5833872"/>
            <a:ext cx="10058400" cy="164592"/>
          </a:xfrm>
          <a:prstGeom prst="rect">
            <a:avLst/>
          </a:prstGeom>
          <a:noFill/>
        </p:spPr>
        <p:txBody>
          <a:bodyPr wrap="square" anchor="t">
            <a:spAutoFit/>
          </a:bodyPr>
          <a:lstStyle/>
          <a:p>
            <a:pPr algn="l">
              <a:lnSpc>
                <a:spcPct val="112000"/>
              </a:lnSpc>
            </a:pPr>
            <a:r>
              <a:rPr sz="1200" b="0" i="0">
                <a:solidFill>
                  <a:srgbClr val="475569"/>
                </a:solidFill>
                <a:latin typeface="Calibri"/>
              </a:rPr>
              <a:t>Ranking individuals from an instrument with three strata is the standard misuse — the tool says so, in words, beside the number.</a:t>
            </a:r>
          </a:p>
        </p:txBody>
      </p:sp>
      <p:sp>
        <p:nvSpPr>
          <p:cNvPr id="30" name="TextBox 29"/>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Rasch</a:t>
            </a:r>
          </a:p>
        </p:txBody>
      </p:sp>
      <p:sp>
        <p:nvSpPr>
          <p:cNvPr id="31" name="TextBox 30"/>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WHY NOW</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The badge ledger is already the data</a:t>
            </a:r>
          </a:p>
        </p:txBody>
      </p:sp>
      <p:sp>
        <p:nvSpPr>
          <p:cNvPr id="4" name="Rectangle 3"/>
          <p:cNvSpPr/>
          <p:nvPr/>
        </p:nvSpPr>
        <p:spPr>
          <a:xfrm>
            <a:off x="777240" y="1965960"/>
            <a:ext cx="5166360" cy="16916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65960"/>
            <a:ext cx="50292" cy="169164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2148840"/>
            <a:ext cx="4709160" cy="365760"/>
          </a:xfrm>
          <a:prstGeom prst="rect">
            <a:avLst/>
          </a:prstGeom>
          <a:noFill/>
        </p:spPr>
        <p:txBody>
          <a:bodyPr wrap="square" anchor="t">
            <a:spAutoFit/>
          </a:bodyPr>
          <a:lstStyle/>
          <a:p>
            <a:pPr algn="l">
              <a:lnSpc>
                <a:spcPct val="100000"/>
              </a:lnSpc>
            </a:pPr>
            <a:r>
              <a:rPr sz="1500" b="1" i="0">
                <a:solidFill>
                  <a:srgbClr val="0F172A"/>
                </a:solidFill>
                <a:latin typeface="Calibri"/>
              </a:rPr>
              <a:t>Persons × skills, badged or not</a:t>
            </a:r>
          </a:p>
        </p:txBody>
      </p:sp>
      <p:sp>
        <p:nvSpPr>
          <p:cNvPr id="7" name="TextBox 6"/>
          <p:cNvSpPr txBox="1"/>
          <p:nvPr/>
        </p:nvSpPr>
        <p:spPr>
          <a:xfrm>
            <a:off x="1033271" y="2624328"/>
            <a:ext cx="4709160" cy="868680"/>
          </a:xfrm>
          <a:prstGeom prst="rect">
            <a:avLst/>
          </a:prstGeom>
          <a:noFill/>
        </p:spPr>
        <p:txBody>
          <a:bodyPr wrap="square" anchor="t">
            <a:spAutoFit/>
          </a:bodyPr>
          <a:lstStyle/>
          <a:p>
            <a:pPr algn="l">
              <a:lnSpc>
                <a:spcPct val="110000"/>
              </a:lnSpc>
            </a:pPr>
            <a:r>
              <a:rPr sz="1250" b="0" i="0">
                <a:solidFill>
                  <a:srgbClr val="475569"/>
                </a:solidFill>
                <a:latin typeface="Calibri"/>
              </a:rPr>
              <a:t>The classic dichotomous design. No survey needed — the observations already exist, made by a mentor rather than reported by the person. Observed, not asserted.</a:t>
            </a:r>
          </a:p>
        </p:txBody>
      </p:sp>
      <p:sp>
        <p:nvSpPr>
          <p:cNvPr id="8" name="Rectangle 7"/>
          <p:cNvSpPr/>
          <p:nvPr/>
        </p:nvSpPr>
        <p:spPr>
          <a:xfrm>
            <a:off x="6217920" y="1965960"/>
            <a:ext cx="5166360" cy="16916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965960"/>
            <a:ext cx="50292" cy="169164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3952" y="2148840"/>
            <a:ext cx="4709160" cy="365760"/>
          </a:xfrm>
          <a:prstGeom prst="rect">
            <a:avLst/>
          </a:prstGeom>
          <a:noFill/>
        </p:spPr>
        <p:txBody>
          <a:bodyPr wrap="square" anchor="t">
            <a:spAutoFit/>
          </a:bodyPr>
          <a:lstStyle/>
          <a:p>
            <a:pPr algn="l">
              <a:lnSpc>
                <a:spcPct val="100000"/>
              </a:lnSpc>
            </a:pPr>
            <a:r>
              <a:rPr sz="1500" b="1" i="0">
                <a:solidFill>
                  <a:srgbClr val="0F172A"/>
                </a:solidFill>
                <a:latin typeface="Calibri"/>
              </a:rPr>
              <a:t>A measure can go on a control chart</a:t>
            </a:r>
          </a:p>
        </p:txBody>
      </p:sp>
      <p:sp>
        <p:nvSpPr>
          <p:cNvPr id="11" name="TextBox 10"/>
          <p:cNvSpPr txBox="1"/>
          <p:nvPr/>
        </p:nvSpPr>
        <p:spPr>
          <a:xfrm>
            <a:off x="6473952" y="2624328"/>
            <a:ext cx="4709160" cy="868680"/>
          </a:xfrm>
          <a:prstGeom prst="rect">
            <a:avLst/>
          </a:prstGeom>
          <a:noFill/>
        </p:spPr>
        <p:txBody>
          <a:bodyPr wrap="square" anchor="t">
            <a:spAutoFit/>
          </a:bodyPr>
          <a:lstStyle/>
          <a:p>
            <a:pPr algn="l">
              <a:lnSpc>
                <a:spcPct val="110000"/>
              </a:lnSpc>
            </a:pPr>
            <a:r>
              <a:rPr sz="1250" b="0" i="0">
                <a:solidFill>
                  <a:srgbClr val="475569"/>
                </a:solidFill>
                <a:latin typeface="Calibri"/>
              </a:rPr>
              <a:t>A total of ordinal responses is not on an interval scale and must not be charted. A Rasch measure is. The path: badge ledger → Rasch measure → RCN Process Behavior Charts.</a:t>
            </a:r>
          </a:p>
        </p:txBody>
      </p:sp>
      <p:sp>
        <p:nvSpPr>
          <p:cNvPr id="12" name="Rectangle 11"/>
          <p:cNvSpPr/>
          <p:nvPr/>
        </p:nvSpPr>
        <p:spPr>
          <a:xfrm>
            <a:off x="777240" y="3840479"/>
            <a:ext cx="5166360" cy="16916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40479"/>
            <a:ext cx="50292" cy="169164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4023359"/>
            <a:ext cx="4709160" cy="365760"/>
          </a:xfrm>
          <a:prstGeom prst="rect">
            <a:avLst/>
          </a:prstGeom>
          <a:noFill/>
        </p:spPr>
        <p:txBody>
          <a:bodyPr wrap="square" anchor="t">
            <a:spAutoFit/>
          </a:bodyPr>
          <a:lstStyle/>
          <a:p>
            <a:pPr algn="l">
              <a:lnSpc>
                <a:spcPct val="100000"/>
              </a:lnSpc>
            </a:pPr>
            <a:r>
              <a:rPr sz="1500" b="1" i="0">
                <a:solidFill>
                  <a:srgbClr val="0F172A"/>
                </a:solidFill>
                <a:latin typeface="Calibri"/>
              </a:rPr>
              <a:t>Comparable across neighbourhoods</a:t>
            </a:r>
          </a:p>
        </p:txBody>
      </p:sp>
      <p:sp>
        <p:nvSpPr>
          <p:cNvPr id="15" name="TextBox 14"/>
          <p:cNvSpPr txBox="1"/>
          <p:nvPr/>
        </p:nvSpPr>
        <p:spPr>
          <a:xfrm>
            <a:off x="1033271" y="4498847"/>
            <a:ext cx="4709160" cy="868680"/>
          </a:xfrm>
          <a:prstGeom prst="rect">
            <a:avLst/>
          </a:prstGeom>
          <a:noFill/>
        </p:spPr>
        <p:txBody>
          <a:bodyPr wrap="square" anchor="t">
            <a:spAutoFit/>
          </a:bodyPr>
          <a:lstStyle/>
          <a:p>
            <a:pPr algn="l">
              <a:lnSpc>
                <a:spcPct val="110000"/>
              </a:lnSpc>
            </a:pPr>
            <a:r>
              <a:rPr sz="1250" b="0" i="0">
                <a:solidFill>
                  <a:srgbClr val="475569"/>
                </a:solidFill>
                <a:latin typeface="Calibri"/>
              </a:rPr>
              <a:t>Measures are person-free and item-free. A construct measured with one set of items in Superior, Arizona and another in Whatcom County stays on one ruler if some items are shared.</a:t>
            </a:r>
          </a:p>
        </p:txBody>
      </p:sp>
      <p:sp>
        <p:nvSpPr>
          <p:cNvPr id="16" name="Rectangle 15"/>
          <p:cNvSpPr/>
          <p:nvPr/>
        </p:nvSpPr>
        <p:spPr>
          <a:xfrm>
            <a:off x="6217920" y="3840479"/>
            <a:ext cx="5166360" cy="16916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840479"/>
            <a:ext cx="50292" cy="169164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23359"/>
            <a:ext cx="4709160" cy="365760"/>
          </a:xfrm>
          <a:prstGeom prst="rect">
            <a:avLst/>
          </a:prstGeom>
          <a:noFill/>
        </p:spPr>
        <p:txBody>
          <a:bodyPr wrap="square" anchor="t">
            <a:spAutoFit/>
          </a:bodyPr>
          <a:lstStyle/>
          <a:p>
            <a:pPr algn="l">
              <a:lnSpc>
                <a:spcPct val="100000"/>
              </a:lnSpc>
            </a:pPr>
            <a:r>
              <a:rPr sz="1500" b="1" i="0">
                <a:solidFill>
                  <a:srgbClr val="0F172A"/>
                </a:solidFill>
                <a:latin typeface="Calibri"/>
              </a:rPr>
              <a:t>It can be wrong, and says so</a:t>
            </a:r>
          </a:p>
        </p:txBody>
      </p:sp>
      <p:sp>
        <p:nvSpPr>
          <p:cNvPr id="19" name="TextBox 18"/>
          <p:cNvSpPr txBox="1"/>
          <p:nvPr/>
        </p:nvSpPr>
        <p:spPr>
          <a:xfrm>
            <a:off x="6473952" y="4498847"/>
            <a:ext cx="4709160" cy="868680"/>
          </a:xfrm>
          <a:prstGeom prst="rect">
            <a:avLst/>
          </a:prstGeom>
          <a:noFill/>
        </p:spPr>
        <p:txBody>
          <a:bodyPr wrap="square" anchor="t">
            <a:spAutoFit/>
          </a:bodyPr>
          <a:lstStyle/>
          <a:p>
            <a:pPr algn="l">
              <a:lnSpc>
                <a:spcPct val="110000"/>
              </a:lnSpc>
            </a:pPr>
            <a:r>
              <a:rPr sz="1250" b="0" i="0">
                <a:solidFill>
                  <a:srgbClr val="475569"/>
                </a:solidFill>
                <a:latin typeface="Calibri"/>
              </a:rPr>
              <a:t>Data fit the model or they do not. A summed score cannot fail — that is its weakness, not its strength.</a:t>
            </a:r>
          </a:p>
        </p:txBody>
      </p:sp>
      <p:sp>
        <p:nvSpPr>
          <p:cNvPr id="20" name="TextBox 19"/>
          <p:cNvSpPr txBox="1"/>
          <p:nvPr/>
        </p:nvSpPr>
        <p:spPr>
          <a:xfrm>
            <a:off x="777240" y="5715000"/>
            <a:ext cx="10607040" cy="548640"/>
          </a:xfrm>
          <a:prstGeom prst="rect">
            <a:avLst/>
          </a:prstGeom>
          <a:noFill/>
        </p:spPr>
        <p:txBody>
          <a:bodyPr wrap="square" anchor="t">
            <a:spAutoFit/>
          </a:bodyPr>
          <a:lstStyle/>
          <a:p>
            <a:pPr algn="l">
              <a:lnSpc>
                <a:spcPct val="100000"/>
              </a:lnSpc>
            </a:pPr>
            <a:r>
              <a:rPr sz="1150" b="0" i="1">
                <a:solidFill>
                  <a:srgbClr val="475569"/>
                </a:solidFill>
                <a:latin typeface="Calibri"/>
              </a:rPr>
              <a:t>Lineage: Rasch → Wright and Linacre at Chicago → Bill Mahoney finding measures in Judy Hibbard's data, which became the Patient Activation Measure. The same method, on a badge ledger, asks how far a person is from running a neighbourhood.</a:t>
            </a:r>
          </a:p>
        </p:txBody>
      </p:sp>
      <p:sp>
        <p:nvSpPr>
          <p:cNvPr id="21" name="TextBox 20"/>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Rasch</a:t>
            </a:r>
          </a:p>
        </p:txBody>
      </p:sp>
      <p:sp>
        <p:nvSpPr>
          <p:cNvPr id="22" name="TextBox 21"/>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SCOPE</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Seven words, and that is deliberate</a:t>
            </a:r>
          </a:p>
        </p:txBody>
      </p:sp>
      <p:sp>
        <p:nvSpPr>
          <p:cNvPr id="4" name="Rectangle 3"/>
          <p:cNvSpPr/>
          <p:nvPr/>
        </p:nvSpPr>
        <p:spPr>
          <a:xfrm>
            <a:off x="777240" y="1965960"/>
            <a:ext cx="1028700" cy="38404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93392"/>
            <a:ext cx="1028700" cy="329184"/>
          </a:xfrm>
          <a:prstGeom prst="rect">
            <a:avLst/>
          </a:prstGeom>
          <a:noFill/>
        </p:spPr>
        <p:txBody>
          <a:bodyPr wrap="square" anchor="t">
            <a:spAutoFit/>
          </a:bodyPr>
          <a:lstStyle/>
          <a:p>
            <a:pPr algn="ctr">
              <a:lnSpc>
                <a:spcPct val="100000"/>
              </a:lnSpc>
            </a:pPr>
            <a:r>
              <a:rPr sz="1400" b="0" i="0">
                <a:solidFill>
                  <a:srgbClr val="0F172A"/>
                </a:solidFill>
                <a:latin typeface="Calibri"/>
              </a:rPr>
              <a:t>measure</a:t>
            </a:r>
          </a:p>
        </p:txBody>
      </p:sp>
      <p:sp>
        <p:nvSpPr>
          <p:cNvPr id="6" name="Rectangle 5"/>
          <p:cNvSpPr/>
          <p:nvPr/>
        </p:nvSpPr>
        <p:spPr>
          <a:xfrm>
            <a:off x="1933956" y="1965960"/>
            <a:ext cx="502920" cy="38404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33956" y="1993392"/>
            <a:ext cx="502920" cy="329184"/>
          </a:xfrm>
          <a:prstGeom prst="rect">
            <a:avLst/>
          </a:prstGeom>
          <a:noFill/>
        </p:spPr>
        <p:txBody>
          <a:bodyPr wrap="square" anchor="t">
            <a:spAutoFit/>
          </a:bodyPr>
          <a:lstStyle/>
          <a:p>
            <a:pPr algn="ctr">
              <a:lnSpc>
                <a:spcPct val="100000"/>
              </a:lnSpc>
            </a:pPr>
            <a:r>
              <a:rPr sz="1400" b="0" i="0">
                <a:solidFill>
                  <a:srgbClr val="0F172A"/>
                </a:solidFill>
                <a:latin typeface="Calibri"/>
              </a:rPr>
              <a:t>SE</a:t>
            </a:r>
          </a:p>
        </p:txBody>
      </p:sp>
      <p:sp>
        <p:nvSpPr>
          <p:cNvPr id="8" name="Rectangle 7"/>
          <p:cNvSpPr/>
          <p:nvPr/>
        </p:nvSpPr>
        <p:spPr>
          <a:xfrm>
            <a:off x="2564892" y="1965960"/>
            <a:ext cx="818388" cy="38404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4892" y="1993392"/>
            <a:ext cx="818388" cy="329184"/>
          </a:xfrm>
          <a:prstGeom prst="rect">
            <a:avLst/>
          </a:prstGeom>
          <a:noFill/>
        </p:spPr>
        <p:txBody>
          <a:bodyPr wrap="square" anchor="t">
            <a:spAutoFit/>
          </a:bodyPr>
          <a:lstStyle/>
          <a:p>
            <a:pPr algn="ctr">
              <a:lnSpc>
                <a:spcPct val="100000"/>
              </a:lnSpc>
            </a:pPr>
            <a:r>
              <a:rPr sz="1400" b="0" i="0">
                <a:solidFill>
                  <a:srgbClr val="0F172A"/>
                </a:solidFill>
                <a:latin typeface="Calibri"/>
              </a:rPr>
              <a:t>infit</a:t>
            </a:r>
          </a:p>
        </p:txBody>
      </p:sp>
      <p:sp>
        <p:nvSpPr>
          <p:cNvPr id="10" name="Rectangle 9"/>
          <p:cNvSpPr/>
          <p:nvPr/>
        </p:nvSpPr>
        <p:spPr>
          <a:xfrm>
            <a:off x="3511296" y="1965960"/>
            <a:ext cx="923544" cy="38404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11296" y="1993392"/>
            <a:ext cx="923544" cy="329184"/>
          </a:xfrm>
          <a:prstGeom prst="rect">
            <a:avLst/>
          </a:prstGeom>
          <a:noFill/>
        </p:spPr>
        <p:txBody>
          <a:bodyPr wrap="square" anchor="t">
            <a:spAutoFit/>
          </a:bodyPr>
          <a:lstStyle/>
          <a:p>
            <a:pPr algn="ctr">
              <a:lnSpc>
                <a:spcPct val="100000"/>
              </a:lnSpc>
            </a:pPr>
            <a:r>
              <a:rPr sz="1400" b="0" i="0">
                <a:solidFill>
                  <a:srgbClr val="0F172A"/>
                </a:solidFill>
                <a:latin typeface="Calibri"/>
              </a:rPr>
              <a:t>outfit</a:t>
            </a:r>
          </a:p>
        </p:txBody>
      </p:sp>
      <p:sp>
        <p:nvSpPr>
          <p:cNvPr id="12" name="Rectangle 11"/>
          <p:cNvSpPr/>
          <p:nvPr/>
        </p:nvSpPr>
        <p:spPr>
          <a:xfrm>
            <a:off x="4562856" y="1965960"/>
            <a:ext cx="1449324" cy="38404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6" y="1993392"/>
            <a:ext cx="1449324" cy="329184"/>
          </a:xfrm>
          <a:prstGeom prst="rect">
            <a:avLst/>
          </a:prstGeom>
          <a:noFill/>
        </p:spPr>
        <p:txBody>
          <a:bodyPr wrap="square" anchor="t">
            <a:spAutoFit/>
          </a:bodyPr>
          <a:lstStyle/>
          <a:p>
            <a:pPr algn="ctr">
              <a:lnSpc>
                <a:spcPct val="100000"/>
              </a:lnSpc>
            </a:pPr>
            <a:r>
              <a:rPr sz="1400" b="0" i="0">
                <a:solidFill>
                  <a:srgbClr val="0F172A"/>
                </a:solidFill>
                <a:latin typeface="Calibri"/>
              </a:rPr>
              <a:t>reliability</a:t>
            </a:r>
          </a:p>
        </p:txBody>
      </p:sp>
      <p:sp>
        <p:nvSpPr>
          <p:cNvPr id="14" name="Rectangle 13"/>
          <p:cNvSpPr/>
          <p:nvPr/>
        </p:nvSpPr>
        <p:spPr>
          <a:xfrm>
            <a:off x="6140196" y="1965960"/>
            <a:ext cx="1344168" cy="38404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40196" y="1993392"/>
            <a:ext cx="1344168" cy="329184"/>
          </a:xfrm>
          <a:prstGeom prst="rect">
            <a:avLst/>
          </a:prstGeom>
          <a:noFill/>
        </p:spPr>
        <p:txBody>
          <a:bodyPr wrap="square" anchor="t">
            <a:spAutoFit/>
          </a:bodyPr>
          <a:lstStyle/>
          <a:p>
            <a:pPr algn="ctr">
              <a:lnSpc>
                <a:spcPct val="100000"/>
              </a:lnSpc>
            </a:pPr>
            <a:r>
              <a:rPr sz="1400" b="0" i="0">
                <a:solidFill>
                  <a:srgbClr val="0F172A"/>
                </a:solidFill>
                <a:latin typeface="Calibri"/>
              </a:rPr>
              <a:t>separation</a:t>
            </a:r>
          </a:p>
        </p:txBody>
      </p:sp>
      <p:sp>
        <p:nvSpPr>
          <p:cNvPr id="16" name="Rectangle 15"/>
          <p:cNvSpPr/>
          <p:nvPr/>
        </p:nvSpPr>
        <p:spPr>
          <a:xfrm>
            <a:off x="7612379" y="1965960"/>
            <a:ext cx="923544" cy="38404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12379" y="1993392"/>
            <a:ext cx="923544" cy="329184"/>
          </a:xfrm>
          <a:prstGeom prst="rect">
            <a:avLst/>
          </a:prstGeom>
          <a:noFill/>
        </p:spPr>
        <p:txBody>
          <a:bodyPr wrap="square" anchor="t">
            <a:spAutoFit/>
          </a:bodyPr>
          <a:lstStyle/>
          <a:p>
            <a:pPr algn="ctr">
              <a:lnSpc>
                <a:spcPct val="100000"/>
              </a:lnSpc>
            </a:pPr>
            <a:r>
              <a:rPr sz="1400" b="0" i="0">
                <a:solidFill>
                  <a:srgbClr val="0F172A"/>
                </a:solidFill>
                <a:latin typeface="Calibri"/>
              </a:rPr>
              <a:t>strata</a:t>
            </a:r>
          </a:p>
        </p:txBody>
      </p:sp>
      <p:sp>
        <p:nvSpPr>
          <p:cNvPr id="18" name="TextBox 17"/>
          <p:cNvSpPr txBox="1"/>
          <p:nvPr/>
        </p:nvSpPr>
        <p:spPr>
          <a:xfrm>
            <a:off x="777240" y="2606040"/>
            <a:ext cx="5486400" cy="320040"/>
          </a:xfrm>
          <a:prstGeom prst="rect">
            <a:avLst/>
          </a:prstGeom>
          <a:noFill/>
        </p:spPr>
        <p:txBody>
          <a:bodyPr wrap="square" anchor="t">
            <a:spAutoFit/>
          </a:bodyPr>
          <a:lstStyle/>
          <a:p>
            <a:pPr algn="l">
              <a:lnSpc>
                <a:spcPct val="100000"/>
              </a:lnSpc>
            </a:pPr>
            <a:r>
              <a:rPr sz="1300" b="0" i="0">
                <a:solidFill>
                  <a:srgbClr val="475569"/>
                </a:solidFill>
                <a:latin typeface="Calibri"/>
              </a:rPr>
              <a:t>Deliberately absent:</a:t>
            </a:r>
          </a:p>
        </p:txBody>
      </p:sp>
      <p:sp>
        <p:nvSpPr>
          <p:cNvPr id="19" name="Rectangle 18"/>
          <p:cNvSpPr/>
          <p:nvPr/>
        </p:nvSpPr>
        <p:spPr>
          <a:xfrm>
            <a:off x="777240" y="2971800"/>
            <a:ext cx="1636776" cy="384048"/>
          </a:xfrm>
          <a:prstGeom prst="rect">
            <a:avLst/>
          </a:prstGeom>
          <a:solidFill>
            <a:srgbClr val="F8FA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999232"/>
            <a:ext cx="1636776" cy="329184"/>
          </a:xfrm>
          <a:prstGeom prst="rect">
            <a:avLst/>
          </a:prstGeom>
          <a:noFill/>
        </p:spPr>
        <p:txBody>
          <a:bodyPr wrap="square" anchor="t">
            <a:spAutoFit/>
          </a:bodyPr>
          <a:lstStyle/>
          <a:p>
            <a:pPr algn="ctr">
              <a:lnSpc>
                <a:spcPct val="100000"/>
              </a:lnSpc>
            </a:pPr>
            <a:r>
              <a:rPr sz="1300" b="0" i="0">
                <a:solidFill>
                  <a:srgbClr val="94A3B8"/>
                </a:solidFill>
                <a:latin typeface="Calibri"/>
              </a:rPr>
              <a:t>partial credit</a:t>
            </a:r>
          </a:p>
        </p:txBody>
      </p:sp>
      <p:sp>
        <p:nvSpPr>
          <p:cNvPr id="21" name="Rectangle 20"/>
          <p:cNvSpPr/>
          <p:nvPr/>
        </p:nvSpPr>
        <p:spPr>
          <a:xfrm>
            <a:off x="2542032" y="2971800"/>
            <a:ext cx="1828800" cy="384048"/>
          </a:xfrm>
          <a:prstGeom prst="rect">
            <a:avLst/>
          </a:prstGeom>
          <a:solidFill>
            <a:srgbClr val="F8FA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42032" y="2999232"/>
            <a:ext cx="1828800" cy="329184"/>
          </a:xfrm>
          <a:prstGeom prst="rect">
            <a:avLst/>
          </a:prstGeom>
          <a:noFill/>
        </p:spPr>
        <p:txBody>
          <a:bodyPr wrap="square" anchor="t">
            <a:spAutoFit/>
          </a:bodyPr>
          <a:lstStyle/>
          <a:p>
            <a:pPr algn="ctr">
              <a:lnSpc>
                <a:spcPct val="100000"/>
              </a:lnSpc>
            </a:pPr>
            <a:r>
              <a:rPr sz="1300" b="0" i="0">
                <a:solidFill>
                  <a:srgbClr val="94A3B8"/>
                </a:solidFill>
                <a:latin typeface="Calibri"/>
              </a:rPr>
              <a:t>many-facet Rasch</a:t>
            </a:r>
          </a:p>
        </p:txBody>
      </p:sp>
      <p:sp>
        <p:nvSpPr>
          <p:cNvPr id="23" name="Rectangle 22"/>
          <p:cNvSpPr/>
          <p:nvPr/>
        </p:nvSpPr>
        <p:spPr>
          <a:xfrm>
            <a:off x="4498848" y="2971800"/>
            <a:ext cx="580644" cy="384048"/>
          </a:xfrm>
          <a:prstGeom prst="rect">
            <a:avLst/>
          </a:prstGeom>
          <a:solidFill>
            <a:srgbClr val="F8FA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2999232"/>
            <a:ext cx="580644" cy="329184"/>
          </a:xfrm>
          <a:prstGeom prst="rect">
            <a:avLst/>
          </a:prstGeom>
          <a:noFill/>
        </p:spPr>
        <p:txBody>
          <a:bodyPr wrap="square" anchor="t">
            <a:spAutoFit/>
          </a:bodyPr>
          <a:lstStyle/>
          <a:p>
            <a:pPr algn="ctr">
              <a:lnSpc>
                <a:spcPct val="100000"/>
              </a:lnSpc>
            </a:pPr>
            <a:r>
              <a:rPr sz="1300" b="0" i="0">
                <a:solidFill>
                  <a:srgbClr val="94A3B8"/>
                </a:solidFill>
                <a:latin typeface="Calibri"/>
              </a:rPr>
              <a:t>DIF</a:t>
            </a:r>
          </a:p>
        </p:txBody>
      </p:sp>
      <p:sp>
        <p:nvSpPr>
          <p:cNvPr id="25" name="Rectangle 24"/>
          <p:cNvSpPr/>
          <p:nvPr/>
        </p:nvSpPr>
        <p:spPr>
          <a:xfrm>
            <a:off x="5207508" y="2971800"/>
            <a:ext cx="1828800" cy="384048"/>
          </a:xfrm>
          <a:prstGeom prst="rect">
            <a:avLst/>
          </a:prstGeom>
          <a:solidFill>
            <a:srgbClr val="F8FA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07508" y="2999232"/>
            <a:ext cx="1828800" cy="329184"/>
          </a:xfrm>
          <a:prstGeom prst="rect">
            <a:avLst/>
          </a:prstGeom>
          <a:noFill/>
        </p:spPr>
        <p:txBody>
          <a:bodyPr wrap="square" anchor="t">
            <a:spAutoFit/>
          </a:bodyPr>
          <a:lstStyle/>
          <a:p>
            <a:pPr algn="ctr">
              <a:lnSpc>
                <a:spcPct val="100000"/>
              </a:lnSpc>
            </a:pPr>
            <a:r>
              <a:rPr sz="1300" b="0" i="0">
                <a:solidFill>
                  <a:srgbClr val="94A3B8"/>
                </a:solidFill>
                <a:latin typeface="Calibri"/>
              </a:rPr>
              <a:t>PCA of residuals</a:t>
            </a:r>
          </a:p>
        </p:txBody>
      </p:sp>
      <p:sp>
        <p:nvSpPr>
          <p:cNvPr id="27" name="Rectangle 26"/>
          <p:cNvSpPr/>
          <p:nvPr/>
        </p:nvSpPr>
        <p:spPr>
          <a:xfrm>
            <a:off x="7164324" y="2971800"/>
            <a:ext cx="2884932" cy="384048"/>
          </a:xfrm>
          <a:prstGeom prst="rect">
            <a:avLst/>
          </a:prstGeom>
          <a:solidFill>
            <a:srgbClr val="F8FA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64324" y="2999232"/>
            <a:ext cx="2884932" cy="329184"/>
          </a:xfrm>
          <a:prstGeom prst="rect">
            <a:avLst/>
          </a:prstGeom>
          <a:noFill/>
        </p:spPr>
        <p:txBody>
          <a:bodyPr wrap="square" anchor="t">
            <a:spAutoFit/>
          </a:bodyPr>
          <a:lstStyle/>
          <a:p>
            <a:pPr algn="ctr">
              <a:lnSpc>
                <a:spcPct val="100000"/>
              </a:lnSpc>
            </a:pPr>
            <a:r>
              <a:rPr sz="1300" b="0" i="0">
                <a:solidFill>
                  <a:srgbClr val="94A3B8"/>
                </a:solidFill>
                <a:latin typeface="Calibri"/>
              </a:rPr>
              <a:t>extreme-score extrapolation</a:t>
            </a:r>
          </a:p>
        </p:txBody>
      </p:sp>
      <p:sp>
        <p:nvSpPr>
          <p:cNvPr id="29" name="Rectangle 28"/>
          <p:cNvSpPr/>
          <p:nvPr/>
        </p:nvSpPr>
        <p:spPr>
          <a:xfrm>
            <a:off x="777240" y="3474720"/>
            <a:ext cx="1732788" cy="384048"/>
          </a:xfrm>
          <a:prstGeom prst="rect">
            <a:avLst/>
          </a:prstGeom>
          <a:solidFill>
            <a:srgbClr val="F8FA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502151"/>
            <a:ext cx="1732788" cy="329184"/>
          </a:xfrm>
          <a:prstGeom prst="rect">
            <a:avLst/>
          </a:prstGeom>
          <a:noFill/>
        </p:spPr>
        <p:txBody>
          <a:bodyPr wrap="square" anchor="t">
            <a:spAutoFit/>
          </a:bodyPr>
          <a:lstStyle/>
          <a:p>
            <a:pPr algn="ctr">
              <a:lnSpc>
                <a:spcPct val="100000"/>
              </a:lnSpc>
            </a:pPr>
            <a:r>
              <a:rPr sz="1300" b="0" i="0">
                <a:solidFill>
                  <a:srgbClr val="94A3B8"/>
                </a:solidFill>
                <a:latin typeface="Calibri"/>
              </a:rPr>
              <a:t>bias correction</a:t>
            </a:r>
          </a:p>
        </p:txBody>
      </p:sp>
      <p:sp>
        <p:nvSpPr>
          <p:cNvPr id="31" name="Rectangle 30"/>
          <p:cNvSpPr/>
          <p:nvPr/>
        </p:nvSpPr>
        <p:spPr>
          <a:xfrm>
            <a:off x="2638044" y="3474720"/>
            <a:ext cx="1156716" cy="384048"/>
          </a:xfrm>
          <a:prstGeom prst="rect">
            <a:avLst/>
          </a:prstGeom>
          <a:solidFill>
            <a:srgbClr val="F8FA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38044" y="3502151"/>
            <a:ext cx="1156716" cy="329184"/>
          </a:xfrm>
          <a:prstGeom prst="rect">
            <a:avLst/>
          </a:prstGeom>
          <a:noFill/>
        </p:spPr>
        <p:txBody>
          <a:bodyPr wrap="square" anchor="t">
            <a:spAutoFit/>
          </a:bodyPr>
          <a:lstStyle/>
          <a:p>
            <a:pPr algn="ctr">
              <a:lnSpc>
                <a:spcPct val="100000"/>
              </a:lnSpc>
            </a:pPr>
            <a:r>
              <a:rPr sz="1300" b="0" i="0">
                <a:solidFill>
                  <a:srgbClr val="94A3B8"/>
                </a:solidFill>
                <a:latin typeface="Calibri"/>
              </a:rPr>
              <a:t>anchoring</a:t>
            </a:r>
          </a:p>
        </p:txBody>
      </p:sp>
      <p:sp>
        <p:nvSpPr>
          <p:cNvPr id="33" name="Rectangle 32"/>
          <p:cNvSpPr/>
          <p:nvPr/>
        </p:nvSpPr>
        <p:spPr>
          <a:xfrm>
            <a:off x="777240" y="3977639"/>
            <a:ext cx="10607040" cy="1005840"/>
          </a:xfrm>
          <a:prstGeom prst="rect">
            <a:avLst/>
          </a:prstGeom>
          <a:solidFill>
            <a:srgbClr val="DBEAF6"/>
          </a:solidFill>
          <a:ln w="15875">
            <a:solidFill>
              <a:srgbClr val="1E5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 y="4114800"/>
            <a:ext cx="10058400" cy="329184"/>
          </a:xfrm>
          <a:prstGeom prst="rect">
            <a:avLst/>
          </a:prstGeom>
          <a:noFill/>
        </p:spPr>
        <p:txBody>
          <a:bodyPr wrap="square" anchor="t">
            <a:spAutoFit/>
          </a:bodyPr>
          <a:lstStyle/>
          <a:p>
            <a:pPr algn="l">
              <a:lnSpc>
                <a:spcPct val="100000"/>
              </a:lnSpc>
            </a:pPr>
            <a:r>
              <a:rPr sz="1500" b="1" i="0">
                <a:solidFill>
                  <a:srgbClr val="123A5A"/>
                </a:solidFill>
                <a:latin typeface="Calibri"/>
              </a:rPr>
              <a:t>The first version should be the version a co-op board can read</a:t>
            </a:r>
          </a:p>
        </p:txBody>
      </p:sp>
      <p:sp>
        <p:nvSpPr>
          <p:cNvPr id="35" name="TextBox 34"/>
          <p:cNvSpPr txBox="1"/>
          <p:nvPr/>
        </p:nvSpPr>
        <p:spPr>
          <a:xfrm>
            <a:off x="1051560" y="4507992"/>
            <a:ext cx="10058400" cy="347472"/>
          </a:xfrm>
          <a:prstGeom prst="rect">
            <a:avLst/>
          </a:prstGeom>
          <a:noFill/>
        </p:spPr>
        <p:txBody>
          <a:bodyPr wrap="square" anchor="t">
            <a:spAutoFit/>
          </a:bodyPr>
          <a:lstStyle/>
          <a:p>
            <a:pPr algn="l">
              <a:lnSpc>
                <a:spcPct val="112000"/>
              </a:lnSpc>
            </a:pPr>
            <a:r>
              <a:rPr sz="1250" b="0" i="0">
                <a:solidFill>
                  <a:srgbClr val="475569"/>
                </a:solidFill>
                <a:latin typeface="Calibri"/>
              </a:rPr>
              <a:t>All of these are legitimate and some are important. Every addition is something the board has to learn. The rating-scale model was added because Likert forms need it and the disordering check is the single most valuable thing Rasch offers a survey.</a:t>
            </a:r>
          </a:p>
        </p:txBody>
      </p:sp>
      <p:sp>
        <p:nvSpPr>
          <p:cNvPr id="36" name="Rectangle 35"/>
          <p:cNvSpPr/>
          <p:nvPr/>
        </p:nvSpPr>
        <p:spPr>
          <a:xfrm>
            <a:off x="777240" y="5120640"/>
            <a:ext cx="10607040" cy="1005840"/>
          </a:xfrm>
          <a:prstGeom prst="rect">
            <a:avLst/>
          </a:prstGeom>
          <a:solidFill>
            <a:srgbClr val="FEF9C3"/>
          </a:solidFill>
          <a:ln w="15875">
            <a:solidFill>
              <a:srgbClr val="FDE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257800"/>
            <a:ext cx="10058400" cy="329184"/>
          </a:xfrm>
          <a:prstGeom prst="rect">
            <a:avLst/>
          </a:prstGeom>
          <a:noFill/>
        </p:spPr>
        <p:txBody>
          <a:bodyPr wrap="square" anchor="t">
            <a:spAutoFit/>
          </a:bodyPr>
          <a:lstStyle/>
          <a:p>
            <a:pPr algn="l">
              <a:lnSpc>
                <a:spcPct val="100000"/>
              </a:lnSpc>
            </a:pPr>
            <a:r>
              <a:rPr sz="1500" b="1" i="0">
                <a:solidFill>
                  <a:srgbClr val="854D0E"/>
                </a:solidFill>
                <a:latin typeface="Calibri"/>
              </a:rPr>
              <a:t>When a real need appears, the estimator is ready to build on</a:t>
            </a:r>
          </a:p>
        </p:txBody>
      </p:sp>
      <p:sp>
        <p:nvSpPr>
          <p:cNvPr id="38" name="TextBox 37"/>
          <p:cNvSpPr txBox="1"/>
          <p:nvPr/>
        </p:nvSpPr>
        <p:spPr>
          <a:xfrm>
            <a:off x="1051560" y="5650992"/>
            <a:ext cx="10058400" cy="347472"/>
          </a:xfrm>
          <a:prstGeom prst="rect">
            <a:avLst/>
          </a:prstGeom>
          <a:noFill/>
        </p:spPr>
        <p:txBody>
          <a:bodyPr wrap="square" anchor="t">
            <a:spAutoFit/>
          </a:bodyPr>
          <a:lstStyle/>
          <a:p>
            <a:pPr algn="l">
              <a:lnSpc>
                <a:spcPct val="112000"/>
              </a:lnSpc>
            </a:pPr>
            <a:r>
              <a:rPr sz="1250" b="0" i="0">
                <a:solidFill>
                  <a:srgbClr val="475569"/>
                </a:solidFill>
                <a:latin typeface="Calibri"/>
              </a:rPr>
              <a:t>A badge that different mentors award at different standards is what many-facet Rasch is for, and it will probably be the first addition. It goes on top of an estimator that has been verified to recover known parameters.</a:t>
            </a:r>
          </a:p>
        </p:txBody>
      </p:sp>
      <p:sp>
        <p:nvSpPr>
          <p:cNvPr id="39" name="TextBox 38"/>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Rasch</a:t>
            </a:r>
          </a:p>
        </p:txBody>
      </p:sp>
      <p:sp>
        <p:nvSpPr>
          <p:cNvPr id="40" name="TextBox 39"/>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3A5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12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1371600"/>
            <a:ext cx="1463040"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058400" cy="731520"/>
          </a:xfrm>
          <a:prstGeom prst="rect">
            <a:avLst/>
          </a:prstGeom>
          <a:noFill/>
        </p:spPr>
        <p:txBody>
          <a:bodyPr wrap="square" anchor="t">
            <a:spAutoFit/>
          </a:bodyPr>
          <a:lstStyle/>
          <a:p>
            <a:pPr algn="l">
              <a:lnSpc>
                <a:spcPct val="100000"/>
              </a:lnSpc>
            </a:pPr>
            <a:r>
              <a:rPr sz="3400" b="1" i="0">
                <a:solidFill>
                  <a:srgbClr val="FFFFFF"/>
                </a:solidFill>
                <a:latin typeface="Calibri"/>
              </a:rPr>
              <a:t>What we would need from you</a:t>
            </a:r>
          </a:p>
        </p:txBody>
      </p:sp>
      <p:sp>
        <p:nvSpPr>
          <p:cNvPr id="5" name="Rectangle 4"/>
          <p:cNvSpPr/>
          <p:nvPr/>
        </p:nvSpPr>
        <p:spPr>
          <a:xfrm>
            <a:off x="777240" y="2606040"/>
            <a:ext cx="50292" cy="8686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624328"/>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A real badge ledger</a:t>
            </a:r>
          </a:p>
        </p:txBody>
      </p:sp>
      <p:sp>
        <p:nvSpPr>
          <p:cNvPr id="7" name="TextBox 6"/>
          <p:cNvSpPr txBox="1"/>
          <p:nvPr/>
        </p:nvSpPr>
        <p:spPr>
          <a:xfrm>
            <a:off x="4846320" y="2606040"/>
            <a:ext cx="6492240" cy="868680"/>
          </a:xfrm>
          <a:prstGeom prst="rect">
            <a:avLst/>
          </a:prstGeom>
          <a:noFill/>
        </p:spPr>
        <p:txBody>
          <a:bodyPr wrap="square" anchor="t">
            <a:spAutoFit/>
          </a:bodyPr>
          <a:lstStyle/>
          <a:p>
            <a:pPr algn="l">
              <a:lnSpc>
                <a:spcPct val="115000"/>
              </a:lnSpc>
            </a:pPr>
            <a:r>
              <a:rPr sz="1300" b="0" i="0">
                <a:solidFill>
                  <a:srgbClr val="C6DBEA"/>
                </a:solidFill>
                <a:latin typeface="Calibri"/>
              </a:rPr>
              <a:t>One row per person, one column per badge, 1 where it is held. Twenty people and ten badges is enough to see whether the skills reach the people.</a:t>
            </a:r>
          </a:p>
        </p:txBody>
      </p:sp>
      <p:sp>
        <p:nvSpPr>
          <p:cNvPr id="8" name="Rectangle 7"/>
          <p:cNvSpPr/>
          <p:nvPr/>
        </p:nvSpPr>
        <p:spPr>
          <a:xfrm>
            <a:off x="777240" y="3520440"/>
            <a:ext cx="50292" cy="8686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538728"/>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One questionnaire you already use</a:t>
            </a:r>
          </a:p>
        </p:txBody>
      </p:sp>
      <p:sp>
        <p:nvSpPr>
          <p:cNvPr id="10" name="TextBox 9"/>
          <p:cNvSpPr txBox="1"/>
          <p:nvPr/>
        </p:nvSpPr>
        <p:spPr>
          <a:xfrm>
            <a:off x="4846320" y="3520440"/>
            <a:ext cx="6492240" cy="868680"/>
          </a:xfrm>
          <a:prstGeom prst="rect">
            <a:avLst/>
          </a:prstGeom>
          <a:noFill/>
        </p:spPr>
        <p:txBody>
          <a:bodyPr wrap="square" anchor="t">
            <a:spAutoFit/>
          </a:bodyPr>
          <a:lstStyle/>
          <a:p>
            <a:pPr algn="l">
              <a:lnSpc>
                <a:spcPct val="115000"/>
              </a:lnSpc>
            </a:pPr>
            <a:r>
              <a:rPr sz="1300" b="0" i="0">
                <a:solidFill>
                  <a:srgbClr val="C6DBEA"/>
                </a:solidFill>
                <a:latin typeface="Calibri"/>
              </a:rPr>
              <a:t>Raw responses, one row per respondent, one column per statement. The thresholds will say whether the scale works as written.</a:t>
            </a:r>
          </a:p>
        </p:txBody>
      </p:sp>
      <p:sp>
        <p:nvSpPr>
          <p:cNvPr id="11" name="Rectangle 10"/>
          <p:cNvSpPr/>
          <p:nvPr/>
        </p:nvSpPr>
        <p:spPr>
          <a:xfrm>
            <a:off x="777240" y="4434840"/>
            <a:ext cx="50292" cy="8686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53127"/>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The item you suspect</a:t>
            </a:r>
          </a:p>
        </p:txBody>
      </p:sp>
      <p:sp>
        <p:nvSpPr>
          <p:cNvPr id="13" name="TextBox 12"/>
          <p:cNvSpPr txBox="1"/>
          <p:nvPr/>
        </p:nvSpPr>
        <p:spPr>
          <a:xfrm>
            <a:off x="4846320" y="4434840"/>
            <a:ext cx="6492240" cy="868680"/>
          </a:xfrm>
          <a:prstGeom prst="rect">
            <a:avLst/>
          </a:prstGeom>
          <a:noFill/>
        </p:spPr>
        <p:txBody>
          <a:bodyPr wrap="square" anchor="t">
            <a:spAutoFit/>
          </a:bodyPr>
          <a:lstStyle/>
          <a:p>
            <a:pPr algn="l">
              <a:lnSpc>
                <a:spcPct val="115000"/>
              </a:lnSpc>
            </a:pPr>
            <a:r>
              <a:rPr sz="1300" b="0" i="0">
                <a:solidFill>
                  <a:srgbClr val="C6DBEA"/>
                </a:solidFill>
                <a:latin typeface="Calibri"/>
              </a:rPr>
              <a:t>Every instrument has one that "never quite fit". Naming it before the run is the fastest test of whether the method earns its keep.</a:t>
            </a:r>
          </a:p>
        </p:txBody>
      </p:sp>
      <p:sp>
        <p:nvSpPr>
          <p:cNvPr id="14" name="Rectangle 13"/>
          <p:cNvSpPr/>
          <p:nvPr/>
        </p:nvSpPr>
        <p:spPr>
          <a:xfrm>
            <a:off x="777240" y="5349240"/>
            <a:ext cx="50292" cy="8686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5367527"/>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A room</a:t>
            </a:r>
          </a:p>
        </p:txBody>
      </p:sp>
      <p:sp>
        <p:nvSpPr>
          <p:cNvPr id="16" name="TextBox 15"/>
          <p:cNvSpPr txBox="1"/>
          <p:nvPr/>
        </p:nvSpPr>
        <p:spPr>
          <a:xfrm>
            <a:off x="4846320" y="5349240"/>
            <a:ext cx="6492240" cy="868680"/>
          </a:xfrm>
          <a:prstGeom prst="rect">
            <a:avLst/>
          </a:prstGeom>
          <a:noFill/>
        </p:spPr>
        <p:txBody>
          <a:bodyPr wrap="square" anchor="t">
            <a:spAutoFit/>
          </a:bodyPr>
          <a:lstStyle/>
          <a:p>
            <a:pPr algn="l">
              <a:lnSpc>
                <a:spcPct val="115000"/>
              </a:lnSpc>
            </a:pPr>
            <a:r>
              <a:rPr sz="1300" b="0" i="0">
                <a:solidFill>
                  <a:srgbClr val="C6DBEA"/>
                </a:solidFill>
                <a:latin typeface="Calibri"/>
              </a:rPr>
              <a:t>The Wright map is meant to be read by a group with no training. Whether that is true is something only a room can tell us.</a:t>
            </a:r>
          </a:p>
        </p:txBody>
      </p:sp>
      <p:sp>
        <p:nvSpPr>
          <p:cNvPr id="17" name="TextBox 16"/>
          <p:cNvSpPr txBox="1"/>
          <p:nvPr/>
        </p:nvSpPr>
        <p:spPr>
          <a:xfrm>
            <a:off x="777240" y="6355080"/>
            <a:ext cx="10058400" cy="320040"/>
          </a:xfrm>
          <a:prstGeom prst="rect">
            <a:avLst/>
          </a:prstGeom>
          <a:noFill/>
        </p:spPr>
        <p:txBody>
          <a:bodyPr wrap="square" anchor="t">
            <a:spAutoFit/>
          </a:bodyPr>
          <a:lstStyle/>
          <a:p>
            <a:pPr algn="l">
              <a:lnSpc>
                <a:spcPct val="100000"/>
              </a:lnSpc>
            </a:pPr>
            <a:r>
              <a:rPr sz="1300" b="0" i="1">
                <a:solidFill>
                  <a:srgbClr val="7BA7C7"/>
                </a:solidFill>
                <a:latin typeface="Calibri"/>
              </a:rPr>
              <a:t>The tool, an introduction, and a full user manual are ready to try 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