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A9690"/>
                </a:solidFill>
                <a:latin typeface="Calibri"/>
              </a:rPr>
              <a:t>RELOCALIZE CREATIVITY NETWORK · OPEN SOURCE · FREE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Conversation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BE4DE"/>
                </a:solidFill>
                <a:latin typeface="Calibri"/>
              </a:rPr>
              <a:t>Make the intent and the biases of everyone in the room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FBE4DE"/>
                </a:solidFill>
                <a:latin typeface="Calibri"/>
              </a:rPr>
              <a:t>visible to each other — during the conversation,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FBE4DE"/>
                </a:solidFill>
                <a:latin typeface="Calibri"/>
              </a:rPr>
              <a:t>not in the debrief afterwards.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A9690"/>
                </a:solidFill>
                <a:latin typeface="Calibri"/>
              </a:rPr>
              <a:t>Runs in a browser · no account · one shared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E4DE"/>
                </a:solidFill>
                <a:latin typeface="Calibri"/>
              </a:rPr>
              <a:t>tools/bias-checker.html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2A14"/>
                </a:solidFill>
                <a:latin typeface="Calibri"/>
              </a:rPr>
              <a:t>CONVERSATION NAVIGATOR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814"/>
                </a:solidFill>
                <a:latin typeface="Calibri"/>
              </a:rPr>
              <a:t>Most facilitation breakdowns are not failures of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8A2A14"/>
                </a:solidFill>
                <a:latin typeface="Calibri"/>
              </a:rPr>
              <a:t>They are failures of transparency.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377440"/>
            <a:ext cx="5577840" cy="160020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1A1814"/>
                </a:solidFill>
                <a:latin typeface="Calibri"/>
              </a:rPr>
              <a:t>Everyone arrives with an intent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One person came to decide. Another came to think out loud. A third came to be heard. Nobody says so, and the meeting is judged a failure by three different standards.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2377440"/>
            <a:ext cx="5577840" cy="160020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1A1814"/>
                </a:solidFill>
                <a:latin typeface="Calibri"/>
              </a:rPr>
              <a:t>Everyone arrives with a bias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Half-attending. Certain of being understood. Hardening under challenge. These are ordinary, and mostly invisible to the person having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206240"/>
            <a:ext cx="11365992" cy="1371600"/>
          </a:xfrm>
          <a:prstGeom prst="rect">
            <a:avLst/>
          </a:prstGeom>
          <a:solidFill>
            <a:srgbClr val="FBE4DE"/>
          </a:solidFill>
          <a:ln w="19050">
            <a:solidFill>
              <a:srgbClr val="C84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8A2A14"/>
                </a:solidFill>
                <a:latin typeface="Calibri"/>
              </a:rPr>
              <a:t>The tool does one thing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It puts both on the table, live, where the group can see them — and flags when a person's own stated intent is in tension with a bias they have just admitted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690"/>
                </a:solidFill>
                <a:latin typeface="Calibri"/>
              </a:rPr>
              <a:t>This is a self-report tool. You declare your own intent and notice your own biases — never anyone else's.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2A14"/>
                </a:solidFill>
                <a:latin typeface="Calibri"/>
              </a:rPr>
              <a:t>CONVERSATION NAVIGATOR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814"/>
                </a:solidFill>
                <a:latin typeface="Calibri"/>
              </a:rPr>
              <a:t>Four steps, no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2724912" cy="173736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500" b="1">
                <a:solidFill>
                  <a:srgbClr val="1A1814"/>
                </a:solidFill>
                <a:latin typeface="Calibri"/>
              </a:rPr>
              <a:t>1 · Start</a:t>
            </a:r>
          </a:p>
          <a:p>
            <a:pPr algn="l"/>
            <a:r>
              <a:rPr sz="1400" b="0">
                <a:solidFill>
                  <a:srgbClr val="5A5650"/>
                </a:solidFill>
                <a:latin typeface="Calibri"/>
              </a:rPr>
              <a:t>Open the tool. A six-character session ID is generated and added to the URL.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28416" y="1828800"/>
            <a:ext cx="2724912" cy="173736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500" b="1">
                <a:solidFill>
                  <a:srgbClr val="1A1814"/>
                </a:solidFill>
                <a:latin typeface="Calibri"/>
              </a:rPr>
              <a:t>2 · Invite</a:t>
            </a:r>
          </a:p>
          <a:p>
            <a:pPr algn="l"/>
            <a:r>
              <a:rPr sz="1400" b="0">
                <a:solidFill>
                  <a:srgbClr val="5A5650"/>
                </a:solidFill>
                <a:latin typeface="Calibri"/>
              </a:rPr>
              <a:t>Share that URL. Anyone who opens it is in the same live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828800"/>
            <a:ext cx="2724912" cy="173736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500" b="1">
                <a:solidFill>
                  <a:srgbClr val="1A1814"/>
                </a:solidFill>
                <a:latin typeface="Calibri"/>
              </a:rPr>
              <a:t>3 · Join</a:t>
            </a:r>
          </a:p>
          <a:p>
            <a:pPr algn="l"/>
            <a:r>
              <a:rPr sz="1400" b="0">
                <a:solidFill>
                  <a:srgbClr val="5A5650"/>
                </a:solidFill>
                <a:latin typeface="Calibri"/>
              </a:rPr>
              <a:t>Enter a name. Your card appears for everyone, and updates as you change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1828800"/>
            <a:ext cx="2724912" cy="173736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500" b="1">
                <a:solidFill>
                  <a:srgbClr val="1A1814"/>
                </a:solidFill>
                <a:latin typeface="Calibri"/>
              </a:rPr>
              <a:t>4 · Close</a:t>
            </a:r>
          </a:p>
          <a:p>
            <a:pPr algn="l"/>
            <a:r>
              <a:rPr sz="1400" b="0">
                <a:solidFill>
                  <a:srgbClr val="5A5650"/>
                </a:solidFill>
                <a:latin typeface="Calibri"/>
              </a:rPr>
              <a:t>Export the session, then end it. Ending deletes everything.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931920"/>
            <a:ext cx="11365992" cy="1371600"/>
          </a:xfrm>
          <a:prstGeom prst="rect">
            <a:avLst/>
          </a:prstGeom>
          <a:solidFill>
            <a:srgbClr val="FDF3DC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92400E"/>
                </a:solidFill>
                <a:latin typeface="Calibri"/>
              </a:rPr>
              <a:t>Update it during the conversation, not just at the start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The point is not the opening declaration. It is noticing, twenty minutes in, that you came to explore and have started convincing — and changing your card while the others watch.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690"/>
                </a:solidFill>
                <a:latin typeface="Calibri"/>
              </a:rPr>
              <a:t>Everything syncs live through a Firebase Realtime Database. No logins, no installs, no server of your 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2A14"/>
                </a:solidFill>
                <a:latin typeface="Calibri"/>
              </a:rPr>
              <a:t>CONVERSATION NAVIGATOR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814"/>
                </a:solidFill>
                <a:latin typeface="Calibri"/>
              </a:rPr>
              <a:t>Your intent — pick as many as are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83080"/>
            <a:ext cx="2724912" cy="123444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Learning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Understand something you do not already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328416" y="1783080"/>
            <a:ext cx="2724912" cy="123444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Socializing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The relationship is the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783080"/>
            <a:ext cx="2724912" cy="123444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Convincing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You hold a position and want it adopted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1783080"/>
            <a:ext cx="2724912" cy="123444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Exploring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The question is genuinely open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00400"/>
            <a:ext cx="2724912" cy="123444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Producing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There is a deliverable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8416" y="3200400"/>
            <a:ext cx="2724912" cy="123444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Venting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Discharging energy; content is secondary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3200400"/>
            <a:ext cx="2724912" cy="123444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Being heard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You need to feel understood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62288" y="3200400"/>
            <a:ext cx="2724912" cy="123444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Sharing / Teaching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You have something to 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00600"/>
            <a:ext cx="11365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A5650"/>
                </a:solidFill>
                <a:latin typeface="Calibri"/>
              </a:rPr>
              <a:t>Add your own if none of these fit. Drag to reorder. Multiple intents are normal — "being heard" and "producing something" are often both live at once.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690"/>
                </a:solidFill>
                <a:latin typeface="Calibri"/>
              </a:rPr>
              <a:t>Eight built-in intents; custom intents are per-participant and appear in the group stats alongside the built-ins.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2A14"/>
                </a:solidFill>
                <a:latin typeface="Calibri"/>
              </a:rPr>
              <a:t>CONVERSATION NAVIGATOR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814"/>
                </a:solidFill>
                <a:latin typeface="Calibri"/>
              </a:rPr>
              <a:t>Biases I am noticing in myself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83080"/>
            <a:ext cx="3694176" cy="118872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Divided attention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Part of you is elsewhere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783080"/>
            <a:ext cx="3694176" cy="118872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Assuming success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You believe you were understood — unverified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1783080"/>
            <a:ext cx="3694176" cy="118872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Doubling down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Pushback hardens rather than opens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154680"/>
            <a:ext cx="3694176" cy="118872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Statements : Questions &gt; 1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Asserting more than asking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154680"/>
            <a:ext cx="3694176" cy="118872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Tone limiting participation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Your manner makes it harder for others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3154680"/>
            <a:ext cx="3694176" cy="118872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We need a model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Reaching for a framework instead of specifics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617720"/>
            <a:ext cx="11365992" cy="1371600"/>
          </a:xfrm>
          <a:prstGeom prst="rect">
            <a:avLst/>
          </a:prstGeom>
          <a:solidFill>
            <a:srgbClr val="FBE4DE"/>
          </a:solidFill>
          <a:ln w="19050">
            <a:solidFill>
              <a:srgbClr val="C84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8A2A14"/>
                </a:solidFill>
                <a:latin typeface="Calibri"/>
              </a:rPr>
              <a:t>The wording is doing real work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Not "biases in the room" and not "biases I see in you". A tool that let people tag each other would be a weapon. This one only lets you tag yourself, which is the only version a group will actually use twice.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690"/>
                </a:solidFill>
                <a:latin typeface="Calibri"/>
              </a:rPr>
              <a:t>Six built-in biases; you can add your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2A14"/>
                </a:solidFill>
                <a:latin typeface="Calibri"/>
              </a:rPr>
              <a:t>CONVERSATION NAVIGATOR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814"/>
                </a:solidFill>
                <a:latin typeface="Calibri"/>
              </a:rPr>
              <a:t>Where the tool speaks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459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A5650"/>
                </a:solidFill>
                <a:latin typeface="Calibri"/>
              </a:rPr>
              <a:t>When your stated intent conflicts with a bias you have just admitted, a warning appears on your card — visible to everyone.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331720"/>
            <a:ext cx="11365992" cy="384048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377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2EB"/>
                </a:solidFill>
                <a:latin typeface="Calibri"/>
              </a:rPr>
              <a:t>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377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2EB"/>
                </a:solidFill>
                <a:latin typeface="Calibri"/>
              </a:rPr>
              <a:t>CONFLICTS WITH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715768"/>
            <a:ext cx="113659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77063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Calibri"/>
              </a:rPr>
              <a:t>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770632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2A14"/>
                </a:solidFill>
                <a:latin typeface="Calibri"/>
              </a:rPr>
              <a:t>Assuming success · Doubling 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118104"/>
            <a:ext cx="11365992" cy="402336"/>
          </a:xfrm>
          <a:prstGeom prst="rect">
            <a:avLst/>
          </a:prstGeom>
          <a:solidFill>
            <a:srgbClr val="F5F2EB"/>
          </a:solidFill>
          <a:ln w="63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1729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Calibri"/>
              </a:rPr>
              <a:t>Socializing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172968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2A14"/>
                </a:solidFill>
                <a:latin typeface="Calibri"/>
              </a:rPr>
              <a:t>Doubling down · Tone limiting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20440"/>
            <a:ext cx="113659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57530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Calibri"/>
              </a:rPr>
              <a:t>Convincing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575304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2A14"/>
                </a:solidFill>
                <a:latin typeface="Calibri"/>
              </a:rPr>
              <a:t>Divided attention · Assuming success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922776"/>
            <a:ext cx="11365992" cy="402336"/>
          </a:xfrm>
          <a:prstGeom prst="rect">
            <a:avLst/>
          </a:prstGeom>
          <a:solidFill>
            <a:srgbClr val="F5F2EB"/>
          </a:solidFill>
          <a:ln w="63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77639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Calibri"/>
              </a:rPr>
              <a:t>Exploring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977639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2A14"/>
                </a:solidFill>
                <a:latin typeface="Calibri"/>
              </a:rPr>
              <a:t>Doubling down · We need a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25112"/>
            <a:ext cx="113659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3799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Calibri"/>
              </a:rPr>
              <a:t>Producing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379976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2A14"/>
                </a:solidFill>
                <a:latin typeface="Calibri"/>
              </a:rPr>
              <a:t>Divided attention · Doubling down · We need a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727448"/>
            <a:ext cx="11365992" cy="402336"/>
          </a:xfrm>
          <a:prstGeom prst="rect">
            <a:avLst/>
          </a:prstGeom>
          <a:solidFill>
            <a:srgbClr val="F5F2EB"/>
          </a:solidFill>
          <a:ln w="63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7823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Calibri"/>
              </a:rPr>
              <a:t>Venting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782312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690"/>
                </a:solidFill>
                <a:latin typeface="Calibri"/>
              </a:rPr>
              <a:t>(none)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129784"/>
            <a:ext cx="113659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1846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Calibri"/>
              </a:rPr>
              <a:t>Being heard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184648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2A14"/>
                </a:solidFill>
                <a:latin typeface="Calibri"/>
              </a:rPr>
              <a:t>Doubling down · Tone limiting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532120"/>
            <a:ext cx="11365992" cy="402336"/>
          </a:xfrm>
          <a:prstGeom prst="rect">
            <a:avLst/>
          </a:prstGeom>
          <a:solidFill>
            <a:srgbClr val="F5F2EB"/>
          </a:solidFill>
          <a:ln w="63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58698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Calibri"/>
              </a:rPr>
              <a:t>Sharing / Teaching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586984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2A14"/>
                </a:solidFill>
                <a:latin typeface="Calibri"/>
              </a:rPr>
              <a:t>Statements &gt; Questions · Tone limiting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690"/>
                </a:solidFill>
                <a:latin typeface="Calibri"/>
              </a:rPr>
              <a:t>The table is deterministic — the tool never infers a conflict, it looks one 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2A14"/>
                </a:solidFill>
                <a:latin typeface="Calibri"/>
              </a:rPr>
              <a:t>CONVERSATION NAVIGATOR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814"/>
                </a:solidFill>
                <a:latin typeface="Calibri"/>
              </a:rPr>
              <a:t>Positive Affect Score — how much capacity is actually in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459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A5650"/>
                </a:solidFill>
                <a:latin typeface="Calibri"/>
              </a:rPr>
              <a:t>Ten words, rated 1–5, adding to a score between 10 and 50. Under thirty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286000"/>
            <a:ext cx="5577840" cy="1920240"/>
          </a:xfrm>
          <a:prstGeom prst="rect">
            <a:avLst/>
          </a:prstGeom>
          <a:solidFill>
            <a:srgbClr val="FBE4DE"/>
          </a:solidFill>
          <a:ln w="19050">
            <a:solidFill>
              <a:srgbClr val="C84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8A2A14"/>
                </a:solidFill>
                <a:latin typeface="Calibri"/>
              </a:rPr>
              <a:t>Take it twice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Once at the start, once at the end. Your card shows your own shift; the Stats view shows how the whole room moved. The change is the number worth looking at — a single score in isolation says very little.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2286000"/>
            <a:ext cx="5577840" cy="192024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1A1814"/>
                </a:solidFill>
                <a:latin typeface="Calibri"/>
              </a:rPr>
              <a:t>Deliberately no bands here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The four activation bands used in the health tools are calibrated for a past-week reading. Labelling someone in a meeting "Learning the basics" on the strength of their last twenty minutes would be both wrong and insulting.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407408"/>
            <a:ext cx="11365992" cy="128016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1A1814"/>
                </a:solidFill>
                <a:latin typeface="Calibri"/>
              </a:rPr>
              <a:t>Optional NA-10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A second set of ten negative-affect words, scored separately and never subtracted from the positive score. The two are close to independent — a person can be high on both at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690"/>
                </a:solidFill>
                <a:latin typeface="Calibri"/>
              </a:rPr>
              <a:t>PANAS: Watson, Clark &amp; Tellegen (1988). The standalone version with history, past-week framing and bands is tools/positive-affect-score.html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2A14"/>
                </a:solidFill>
                <a:latin typeface="Calibri"/>
              </a:rPr>
              <a:t>CONVERSATION NAVIGATOR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814"/>
                </a:solidFill>
                <a:latin typeface="Calibri"/>
              </a:rPr>
              <a:t>Five shared models everyone can click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2157984" cy="155448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Six Questions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Edit the questions, type answers, vote on each other's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24912" y="1828800"/>
            <a:ext cx="2157984" cy="155448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Cynefin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Mark the domain, or the boundary you are crossing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8344" y="1828800"/>
            <a:ext cx="2157984" cy="155448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eVSM v2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Click the function or the flow under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1775" y="1828800"/>
            <a:ext cx="2157984" cy="155448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15 Ps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Mark what is relevant to the topic</a:t>
            </a:r>
          </a:p>
        </p:txBody>
      </p:sp>
      <p:sp>
        <p:nvSpPr>
          <p:cNvPr id="9" name="Rectangle 8"/>
          <p:cNvSpPr/>
          <p:nvPr/>
        </p:nvSpPr>
        <p:spPr>
          <a:xfrm>
            <a:off x="9665207" y="1828800"/>
            <a:ext cx="2157984" cy="155448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Six Hats</a:t>
            </a:r>
          </a:p>
          <a:p>
            <a:pPr algn="l"/>
            <a:r>
              <a:rPr sz="1300" b="0">
                <a:solidFill>
                  <a:srgbClr val="5A5650"/>
                </a:solidFill>
                <a:latin typeface="Calibri"/>
              </a:rPr>
              <a:t>Which mode is actually dominant right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703320"/>
            <a:ext cx="11365992" cy="1554480"/>
          </a:xfrm>
          <a:prstGeom prst="rect">
            <a:avLst/>
          </a:prstGeom>
          <a:solidFill>
            <a:srgbClr val="FBE4DE"/>
          </a:solidFill>
          <a:ln w="19050">
            <a:solidFill>
              <a:srgbClr val="C84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8A2A14"/>
                </a:solidFill>
                <a:latin typeface="Calibri"/>
              </a:rPr>
              <a:t>Counts aggregate live, and hovering shows who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Every click is attributed. In an open session, hovering any bar in the Stats view names the people behind it — intents, biases, model clicks, affect scores and Six Questions votes alike. Upload a graph JSON from the RCN Graph Tool to add a diagram of your 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690"/>
                </a:solidFill>
                <a:latin typeface="Calibri"/>
              </a:rPr>
              <a:t>Models are shared click targets — unlike intents, biases and the affect score, which are private self-reports about yourself.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2A14"/>
                </a:solidFill>
                <a:latin typeface="Calibri"/>
              </a:rPr>
              <a:t>CONVERSATION NAVIGATOR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814"/>
                </a:solidFill>
                <a:latin typeface="Calibri"/>
              </a:rPr>
              <a:t>Names are on by default — and anyone can switch them 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5577840" cy="1554480"/>
          </a:xfrm>
          <a:prstGeom prst="rect">
            <a:avLst/>
          </a:prstGeom>
          <a:solidFill>
            <a:srgbClr val="E0EFE2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2A5C33"/>
                </a:solidFill>
                <a:latin typeface="Calibri"/>
              </a:rPr>
              <a:t>Open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Names are visible to everyone. Hover any aggregate to see who holds that intent, checked that bias, clicked that node or scored that number.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828800"/>
            <a:ext cx="5577840" cy="1554480"/>
          </a:xfrm>
          <a:prstGeom prst="rect">
            <a:avLst/>
          </a:prstGeom>
          <a:solidFill>
            <a:srgbClr val="EDEAE2"/>
          </a:solidFill>
          <a:ln w="19050">
            <a:solidFill>
              <a:srgbClr val="5A5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1A1814"/>
                </a:solidFill>
                <a:latin typeface="Calibri"/>
              </a:rPr>
              <a:t>Anonymous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The moment one participant ticks the box, the whole session goes anonymous for everyone. Distributions, means and counts remain; no name appears anywhere.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657600"/>
            <a:ext cx="11365992" cy="1463040"/>
          </a:xfrm>
          <a:prstGeom prst="rect">
            <a:avLst/>
          </a:prstGeom>
          <a:solidFill>
            <a:srgbClr val="FBE4DE"/>
          </a:solidFill>
          <a:ln w="19050">
            <a:solidFill>
              <a:srgbClr val="C84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8A2A14"/>
                </a:solidFill>
                <a:latin typeface="Calibri"/>
              </a:rPr>
              <a:t>One person is enough, and that is the design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Anonymity is not a majority vote. If a single person in the room needs cover to answer honestly, they get it without having to argue for it — and without having to identify themselves as the one who asked.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690"/>
                </a:solidFill>
                <a:latin typeface="Calibri"/>
              </a:rPr>
              <a:t>Someone who leaves keeps their anonymity choice: their data is still in the export, so their consent still binds.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2A14"/>
                </a:solidFill>
                <a:latin typeface="Calibri"/>
              </a:rPr>
              <a:t>CONVERSATION NAVIGATOR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814"/>
                </a:solidFill>
                <a:latin typeface="Calibri"/>
              </a:rPr>
              <a:t>Leaving does not withdraw what you said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3694176" cy="173736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500" b="1">
                <a:solidFill>
                  <a:srgbClr val="1A1814"/>
                </a:solidFill>
                <a:latin typeface="Calibri"/>
              </a:rPr>
              <a:t>Close your tab</a:t>
            </a:r>
          </a:p>
          <a:p>
            <a:pPr algn="l"/>
            <a:r>
              <a:rPr sz="1400" b="0">
                <a:solidFill>
                  <a:srgbClr val="5A5650"/>
                </a:solidFill>
                <a:latin typeface="Calibri"/>
              </a:rPr>
              <a:t>Your card greys out and is marked LEFT. Everything you contributed stays in the session and in its export. A crash or a sleeping phone behaves the same 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1828800"/>
            <a:ext cx="3694176" cy="1737360"/>
          </a:xfrm>
          <a:prstGeom prst="rect">
            <a:avLst/>
          </a:prstGeom>
          <a:solidFill>
            <a:srgbClr val="FDF3DC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500" b="1">
                <a:solidFill>
                  <a:srgbClr val="92400E"/>
                </a:solidFill>
                <a:latin typeface="Calibri"/>
              </a:rPr>
              <a:t>Remove my input</a:t>
            </a:r>
          </a:p>
          <a:p>
            <a:pPr algn="l"/>
            <a:r>
              <a:rPr sz="1400" b="0">
                <a:solidFill>
                  <a:srgbClr val="5A5650"/>
                </a:solidFill>
                <a:latin typeface="Calibri"/>
              </a:rPr>
              <a:t>Deletes your card and your contributions for good. This is the only thing that erases them, and it asks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1828800"/>
            <a:ext cx="3685032" cy="1737360"/>
          </a:xfrm>
          <a:prstGeom prst="rect">
            <a:avLst/>
          </a:prstGeom>
          <a:solidFill>
            <a:srgbClr val="FBE4DE"/>
          </a:solidFill>
          <a:ln w="19050">
            <a:solidFill>
              <a:srgbClr val="C84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500" b="1">
                <a:solidFill>
                  <a:srgbClr val="8A2A14"/>
                </a:solidFill>
                <a:latin typeface="Calibri"/>
              </a:rPr>
              <a:t>End session</a:t>
            </a:r>
          </a:p>
          <a:p>
            <a:pPr algn="l"/>
            <a:r>
              <a:rPr sz="1400" b="0">
                <a:solidFill>
                  <a:srgbClr val="5A5650"/>
                </a:solidFill>
                <a:latin typeface="Calibri"/>
              </a:rPr>
              <a:t>Clears the whole session — every record, topic and model interaction. Export first; it cannot be undone.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840480"/>
            <a:ext cx="11365992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1A1814"/>
                </a:solidFill>
                <a:latin typeface="Calibri"/>
              </a:rPr>
              <a:t>Why it works this way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If leaving deleted your input, an export would only ever capture whoever happened to still have a tab open — which is to say, the least representative version of the meeting. Rejoining under the same name resumes your existing card rather than creating a second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690"/>
                </a:solidFill>
                <a:latin typeface="Calibri"/>
              </a:rPr>
              <a:t>A session outlives the meeting. Anyone with the six-character link can read it until somebody ends it — so end it when the group is finished.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2A14"/>
                </a:solidFill>
                <a:latin typeface="Calibri"/>
              </a:rPr>
              <a:t>CONVERSATION NAVIGATOR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814"/>
                </a:solidFill>
                <a:latin typeface="Calibri"/>
              </a:rPr>
              <a:t>What you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5577840" cy="192024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1A1814"/>
                </a:solidFill>
                <a:latin typeface="Calibri"/>
              </a:rPr>
              <a:t>FedWiki page JSON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Drags straight onto any FedWiki server. Participants, intent and bias distributions, affect scores, topics, model interactions, Six Questions answers — plus your own summary and carry-forward notes.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828800"/>
            <a:ext cx="5577840" cy="1920240"/>
          </a:xfrm>
          <a:prstGeom prst="rect">
            <a:avLst/>
          </a:prstGeom>
          <a:solidFill>
            <a:srgbClr val="F5F2EB"/>
          </a:solidFill>
          <a:ln w="19050"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1A1814"/>
                </a:solidFill>
                <a:latin typeface="Calibri"/>
              </a:rPr>
              <a:t>Raw session JSON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The full state for archiving or your own analysis. Names are stripped automatically when the session is anonymous, exactly as they are everywhere else.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977639"/>
            <a:ext cx="11365992" cy="1188720"/>
          </a:xfrm>
          <a:prstGeom prst="rect">
            <a:avLst/>
          </a:prstGeom>
          <a:solidFill>
            <a:srgbClr val="FBE4DE"/>
          </a:solidFill>
          <a:ln w="19050">
            <a:solidFill>
              <a:srgbClr val="C84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0584" bIns="91440"/>
          <a:lstStyle/>
          <a:p>
            <a:pPr algn="l"/>
            <a:r>
              <a:rPr sz="1600" b="1">
                <a:solidFill>
                  <a:srgbClr val="8A2A14"/>
                </a:solidFill>
                <a:latin typeface="Calibri"/>
              </a:rPr>
              <a:t>Two fields worth filling in before you export</a:t>
            </a:r>
          </a:p>
          <a:p>
            <a:pPr algn="l"/>
            <a:r>
              <a:rPr sz="1500" b="0">
                <a:solidFill>
                  <a:srgbClr val="5A5650"/>
                </a:solidFill>
                <a:latin typeface="Calibri"/>
              </a:rPr>
              <a:t>Summary — what happened, what shifted.    Carry Forward — what the group needs to bring next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690"/>
                </a:solidFill>
                <a:latin typeface="Calibri"/>
              </a:rPr>
              <a:t>Both exports include people who have already left.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E4DE"/>
                </a:solidFill>
                <a:latin typeface="Calibri"/>
              </a:rPr>
              <a:t>THE BET UNDERNEATH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 group cannot fix how it is talking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while the way it is talking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is the one thing nobody will say out 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BE4DE"/>
                </a:solidFill>
                <a:latin typeface="Calibri"/>
              </a:rPr>
              <a:t>So make it the cheapest thing in the room to say.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BE4DE"/>
                </a:solidFill>
                <a:latin typeface="Calibri"/>
              </a:rPr>
              <a:t>tools/bias-checker.html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690"/>
                </a:solidFill>
                <a:latin typeface="Calibri"/>
              </a:rPr>
              <a:t>Introduction · User Manual · Process Flow · hosted at Wiki Café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