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4A044E"/>
        </a:solidFill>
        <a:effectLst/>
      </p:bgPr>
    </p:bg>
    <p:spTree>
      <p:nvGrpSpPr>
        <p:cNvPr id="1" name=""/>
        <p:cNvGrpSpPr/>
        <p:nvPr/>
      </p:nvGrpSpPr>
      <p:grpSpPr/>
      <p:sp>
        <p:nvSpPr>
          <p:cNvPr id="2" name="TextBox 1"/>
          <p:cNvSpPr txBox="1"/>
          <p:nvPr/>
        </p:nvSpPr>
        <p:spPr>
          <a:xfrm>
            <a:off x="777240" y="1371600"/>
            <a:ext cx="10058400" cy="292608"/>
          </a:xfrm>
          <a:prstGeom prst="rect">
            <a:avLst/>
          </a:prstGeom>
          <a:noFill/>
        </p:spPr>
        <p:txBody>
          <a:bodyPr wrap="square" anchor="t">
            <a:spAutoFit/>
          </a:bodyPr>
          <a:lstStyle/>
          <a:p>
            <a:pPr algn="l">
              <a:lnSpc>
                <a:spcPct val="100000"/>
              </a:lnSpc>
            </a:pPr>
            <a:r>
              <a:rPr sz="1100" b="1" i="0">
                <a:solidFill>
                  <a:srgbClr val="D98FE0"/>
                </a:solidFill>
                <a:latin typeface="Calibri"/>
              </a:rPr>
              <a:t>RELOCALIZE CREATIVITY NETWORK</a:t>
            </a:r>
          </a:p>
        </p:txBody>
      </p:sp>
      <p:sp>
        <p:nvSpPr>
          <p:cNvPr id="3" name="TextBox 2"/>
          <p:cNvSpPr txBox="1"/>
          <p:nvPr/>
        </p:nvSpPr>
        <p:spPr>
          <a:xfrm>
            <a:off x="777240" y="1828800"/>
            <a:ext cx="10515600" cy="1097280"/>
          </a:xfrm>
          <a:prstGeom prst="rect">
            <a:avLst/>
          </a:prstGeom>
          <a:noFill/>
        </p:spPr>
        <p:txBody>
          <a:bodyPr wrap="square" anchor="t">
            <a:spAutoFit/>
          </a:bodyPr>
          <a:lstStyle/>
          <a:p>
            <a:pPr algn="l">
              <a:lnSpc>
                <a:spcPct val="95000"/>
              </a:lnSpc>
            </a:pPr>
            <a:r>
              <a:rPr sz="4200" b="1" i="0">
                <a:solidFill>
                  <a:srgbClr val="FFFFFF"/>
                </a:solidFill>
                <a:latin typeface="Calibri"/>
              </a:rPr>
              <a:t>Seeing the work as it actually is</a:t>
            </a:r>
          </a:p>
        </p:txBody>
      </p:sp>
      <p:sp>
        <p:nvSpPr>
          <p:cNvPr id="4" name="TextBox 3"/>
          <p:cNvSpPr txBox="1"/>
          <p:nvPr/>
        </p:nvSpPr>
        <p:spPr>
          <a:xfrm>
            <a:off x="777240" y="3017520"/>
            <a:ext cx="9601200" cy="731520"/>
          </a:xfrm>
          <a:prstGeom prst="rect">
            <a:avLst/>
          </a:prstGeom>
          <a:noFill/>
        </p:spPr>
        <p:txBody>
          <a:bodyPr wrap="square" anchor="t">
            <a:spAutoFit/>
          </a:bodyPr>
          <a:lstStyle/>
          <a:p>
            <a:pPr algn="l">
              <a:lnSpc>
                <a:spcPct val="120000"/>
              </a:lnSpc>
            </a:pPr>
            <a:r>
              <a:rPr sz="1900" b="0" i="0">
                <a:solidFill>
                  <a:srgbClr val="E9C5EF"/>
                </a:solidFill>
                <a:latin typeface="Calibri"/>
              </a:rPr>
              <a:t>Value Stream Mapping and A3 Problem Solving, in Cindy Jimmerson's healthcare version</a:t>
            </a:r>
          </a:p>
        </p:txBody>
      </p:sp>
      <p:cxnSp>
        <p:nvCxnSpPr>
          <p:cNvPr id="5" name="Connector 4"/>
          <p:cNvCxnSpPr/>
          <p:nvPr/>
        </p:nvCxnSpPr>
        <p:spPr>
          <a:xfrm>
            <a:off x="777240" y="3977639"/>
            <a:ext cx="3063240" cy="0"/>
          </a:xfrm>
          <a:prstGeom prst="line">
            <a:avLst/>
          </a:prstGeom>
          <a:ln w="31750">
            <a:solidFill>
              <a:srgbClr val="B4530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77240" y="4297680"/>
            <a:ext cx="10241280" cy="822960"/>
          </a:xfrm>
          <a:prstGeom prst="rect">
            <a:avLst/>
          </a:prstGeom>
          <a:noFill/>
        </p:spPr>
        <p:txBody>
          <a:bodyPr wrap="square" anchor="t">
            <a:spAutoFit/>
          </a:bodyPr>
          <a:lstStyle/>
          <a:p>
            <a:pPr algn="l">
              <a:lnSpc>
                <a:spcPct val="130000"/>
              </a:lnSpc>
            </a:pPr>
            <a:r>
              <a:rPr sz="1500" b="0" i="0">
                <a:solidFill>
                  <a:srgbClr val="C9A5D5"/>
                </a:solidFill>
                <a:latin typeface="Calibri"/>
              </a:rPr>
              <a:t>Two tools, one loop:  map the stream  →  find the storm bursts  →  A3 the worst one  →  measure whether it moved</a:t>
            </a:r>
          </a:p>
        </p:txBody>
      </p:sp>
      <p:sp>
        <p:nvSpPr>
          <p:cNvPr id="7" name="TextBox 6"/>
          <p:cNvSpPr txBox="1"/>
          <p:nvPr/>
        </p:nvSpPr>
        <p:spPr>
          <a:xfrm>
            <a:off x="777240" y="5943600"/>
            <a:ext cx="5486400" cy="320040"/>
          </a:xfrm>
          <a:prstGeom prst="rect">
            <a:avLst/>
          </a:prstGeom>
          <a:noFill/>
        </p:spPr>
        <p:txBody>
          <a:bodyPr wrap="square" anchor="t">
            <a:spAutoFit/>
          </a:bodyPr>
          <a:lstStyle/>
          <a:p>
            <a:pPr algn="l">
              <a:lnSpc>
                <a:spcPct val="100000"/>
              </a:lnSpc>
            </a:pPr>
            <a:r>
              <a:rPr sz="1300" b="0" i="0">
                <a:solidFill>
                  <a:srgbClr val="9A6FA8"/>
                </a:solidFill>
                <a:latin typeface="Calibri"/>
              </a:rPr>
              <a:t>Whatcom Wealth and Health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A21CAF"/>
                </a:solidFill>
                <a:latin typeface="Calibri"/>
              </a:rPr>
              <a:t>WHY BOTHER</a:t>
            </a:r>
          </a:p>
        </p:txBody>
      </p:sp>
      <p:sp>
        <p:nvSpPr>
          <p:cNvPr id="3" name="TextBox 2"/>
          <p:cNvSpPr txBox="1"/>
          <p:nvPr/>
        </p:nvSpPr>
        <p:spPr>
          <a:xfrm>
            <a:off x="777240" y="868680"/>
            <a:ext cx="10607040" cy="1188720"/>
          </a:xfrm>
          <a:prstGeom prst="rect">
            <a:avLst/>
          </a:prstGeom>
          <a:noFill/>
        </p:spPr>
        <p:txBody>
          <a:bodyPr wrap="square" anchor="t">
            <a:spAutoFit/>
          </a:bodyPr>
          <a:lstStyle/>
          <a:p>
            <a:pPr algn="l">
              <a:lnSpc>
                <a:spcPct val="95000"/>
              </a:lnSpc>
            </a:pPr>
            <a:r>
              <a:rPr sz="3200" b="1" i="0">
                <a:solidFill>
                  <a:srgbClr val="0F172A"/>
                </a:solidFill>
                <a:latin typeface="Calibri"/>
              </a:rPr>
              <a:t>Everyone knows the process. Nobody has watched it.</a:t>
            </a:r>
          </a:p>
        </p:txBody>
      </p:sp>
      <p:sp>
        <p:nvSpPr>
          <p:cNvPr id="4" name="TextBox 3"/>
          <p:cNvSpPr txBox="1"/>
          <p:nvPr/>
        </p:nvSpPr>
        <p:spPr>
          <a:xfrm>
            <a:off x="777240" y="1965960"/>
            <a:ext cx="10424160" cy="2377440"/>
          </a:xfrm>
          <a:prstGeom prst="rect">
            <a:avLst/>
          </a:prstGeom>
          <a:noFill/>
        </p:spPr>
        <p:txBody>
          <a:bodyPr wrap="square">
            <a:spAutoFit/>
          </a:bodyPr>
          <a:lstStyle/>
          <a:p>
            <a:pPr>
              <a:lnSpc>
                <a:spcPct val="115000"/>
              </a:lnSpc>
              <a:spcAft>
                <a:spcPts val="1000"/>
              </a:spcAft>
            </a:pPr>
            <a:r>
              <a:rPr sz="1700" b="0">
                <a:solidFill>
                  <a:srgbClr val="475569"/>
                </a:solidFill>
                <a:latin typeface="Calibri"/>
              </a:rPr>
              <a:t>—  Ask five people how a referral moves and you get five answers, all sincere, none complete.</a:t>
            </a:r>
          </a:p>
          <a:p>
            <a:pPr>
              <a:lnSpc>
                <a:spcPct val="115000"/>
              </a:lnSpc>
              <a:spcAft>
                <a:spcPts val="1000"/>
              </a:spcAft>
            </a:pPr>
            <a:r>
              <a:rPr sz="1700" b="0">
                <a:solidFill>
                  <a:srgbClr val="475569"/>
                </a:solidFill>
                <a:latin typeface="Calibri"/>
              </a:rPr>
              <a:t>—  Each person can see their own step clearly and the handoffs on either side not at all.</a:t>
            </a:r>
          </a:p>
          <a:p>
            <a:pPr>
              <a:lnSpc>
                <a:spcPct val="115000"/>
              </a:lnSpc>
              <a:spcAft>
                <a:spcPts val="1000"/>
              </a:spcAft>
            </a:pPr>
            <a:r>
              <a:rPr sz="1700" b="0">
                <a:solidFill>
                  <a:srgbClr val="475569"/>
                </a:solidFill>
                <a:latin typeface="Calibri"/>
              </a:rPr>
              <a:t>—  So improvement gets aimed at the steps — which are usually fine — instead of the gaps between them, which are not.</a:t>
            </a:r>
          </a:p>
          <a:p>
            <a:pPr>
              <a:lnSpc>
                <a:spcPct val="115000"/>
              </a:lnSpc>
              <a:spcAft>
                <a:spcPts val="1000"/>
              </a:spcAft>
            </a:pPr>
            <a:r>
              <a:rPr sz="1700" b="0">
                <a:solidFill>
                  <a:srgbClr val="475569"/>
                </a:solidFill>
                <a:latin typeface="Calibri"/>
              </a:rPr>
              <a:t>—  And "we already fixed that" is impossible to check, because nobody wrote down what it was before.</a:t>
            </a:r>
          </a:p>
        </p:txBody>
      </p:sp>
      <p:sp>
        <p:nvSpPr>
          <p:cNvPr id="5" name="Rectangle 4"/>
          <p:cNvSpPr/>
          <p:nvPr/>
        </p:nvSpPr>
        <p:spPr>
          <a:xfrm>
            <a:off x="777240" y="4572000"/>
            <a:ext cx="10424160" cy="1188720"/>
          </a:xfrm>
          <a:prstGeom prst="rect">
            <a:avLst/>
          </a:prstGeom>
          <a:solidFill>
            <a:srgbClr val="FAE8FF"/>
          </a:solidFill>
          <a:ln w="15875">
            <a:solidFill>
              <a:srgbClr val="F0AB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4709160"/>
            <a:ext cx="9875520" cy="329184"/>
          </a:xfrm>
          <a:prstGeom prst="rect">
            <a:avLst/>
          </a:prstGeom>
          <a:noFill/>
        </p:spPr>
        <p:txBody>
          <a:bodyPr wrap="square" anchor="t">
            <a:spAutoFit/>
          </a:bodyPr>
          <a:lstStyle/>
          <a:p>
            <a:pPr algn="l">
              <a:lnSpc>
                <a:spcPct val="100000"/>
              </a:lnSpc>
            </a:pPr>
            <a:r>
              <a:rPr sz="1500" b="1" i="0">
                <a:solidFill>
                  <a:srgbClr val="4A044E"/>
                </a:solidFill>
                <a:latin typeface="Calibri"/>
              </a:rPr>
              <a:t>The move that changes this</a:t>
            </a:r>
          </a:p>
        </p:txBody>
      </p:sp>
      <p:sp>
        <p:nvSpPr>
          <p:cNvPr id="7" name="TextBox 6"/>
          <p:cNvSpPr txBox="1"/>
          <p:nvPr/>
        </p:nvSpPr>
        <p:spPr>
          <a:xfrm>
            <a:off x="1051560" y="5102352"/>
            <a:ext cx="9875520" cy="530352"/>
          </a:xfrm>
          <a:prstGeom prst="rect">
            <a:avLst/>
          </a:prstGeom>
          <a:noFill/>
        </p:spPr>
        <p:txBody>
          <a:bodyPr wrap="square" anchor="t">
            <a:spAutoFit/>
          </a:bodyPr>
          <a:lstStyle/>
          <a:p>
            <a:pPr algn="l">
              <a:lnSpc>
                <a:spcPct val="112000"/>
              </a:lnSpc>
            </a:pPr>
            <a:r>
              <a:rPr sz="1450" b="0" i="0">
                <a:solidFill>
                  <a:srgbClr val="475569"/>
                </a:solidFill>
                <a:latin typeface="Calibri"/>
              </a:rPr>
              <a:t>Follow one patient, one condition, one time, from end to end, and write down the clock. Not an average. Not a policy. One real episode, watched.</a:t>
            </a:r>
          </a:p>
        </p:txBody>
      </p:sp>
      <p:sp>
        <p:nvSpPr>
          <p:cNvPr id="8" name="TextBox 7"/>
          <p:cNvSpPr txBox="1"/>
          <p:nvPr/>
        </p:nvSpPr>
        <p:spPr>
          <a:xfrm>
            <a:off x="777240" y="6355080"/>
            <a:ext cx="5486400" cy="274320"/>
          </a:xfrm>
          <a:prstGeom prst="rect">
            <a:avLst/>
          </a:prstGeom>
          <a:noFill/>
        </p:spPr>
        <p:txBody>
          <a:bodyPr wrap="square" anchor="t">
            <a:spAutoFit/>
          </a:bodyPr>
          <a:lstStyle/>
          <a:p>
            <a:pPr algn="l">
              <a:lnSpc>
                <a:spcPct val="100000"/>
              </a:lnSpc>
            </a:pPr>
            <a:r>
              <a:rPr sz="900" b="0" i="0">
                <a:solidFill>
                  <a:srgbClr val="94A3B8"/>
                </a:solidFill>
                <a:latin typeface="Calibri"/>
              </a:rPr>
              <a:t>RCN · Lean in Healthcare — VSM + A3</a:t>
            </a:r>
          </a:p>
        </p:txBody>
      </p:sp>
      <p:sp>
        <p:nvSpPr>
          <p:cNvPr id="9" name="TextBox 8"/>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4A3B8"/>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A21CAF"/>
                </a:solidFill>
                <a:latin typeface="Calibri"/>
              </a:rPr>
              <a:t>PROVENANCE</a:t>
            </a:r>
          </a:p>
        </p:txBody>
      </p:sp>
      <p:sp>
        <p:nvSpPr>
          <p:cNvPr id="3" name="TextBox 2"/>
          <p:cNvSpPr txBox="1"/>
          <p:nvPr/>
        </p:nvSpPr>
        <p:spPr>
          <a:xfrm>
            <a:off x="777240" y="868680"/>
            <a:ext cx="10607040" cy="1188720"/>
          </a:xfrm>
          <a:prstGeom prst="rect">
            <a:avLst/>
          </a:prstGeom>
          <a:noFill/>
        </p:spPr>
        <p:txBody>
          <a:bodyPr wrap="square" anchor="t">
            <a:spAutoFit/>
          </a:bodyPr>
          <a:lstStyle/>
          <a:p>
            <a:pPr algn="l">
              <a:lnSpc>
                <a:spcPct val="95000"/>
              </a:lnSpc>
            </a:pPr>
            <a:r>
              <a:rPr sz="3400" b="1" i="0">
                <a:solidFill>
                  <a:srgbClr val="0F172A"/>
                </a:solidFill>
                <a:latin typeface="Calibri"/>
              </a:rPr>
              <a:t>Jimmerson's version, not the factory one</a:t>
            </a:r>
          </a:p>
        </p:txBody>
      </p:sp>
      <p:sp>
        <p:nvSpPr>
          <p:cNvPr id="4" name="TextBox 3"/>
          <p:cNvSpPr txBox="1"/>
          <p:nvPr/>
        </p:nvSpPr>
        <p:spPr>
          <a:xfrm>
            <a:off x="777240" y="1874519"/>
            <a:ext cx="10424160" cy="1005840"/>
          </a:xfrm>
          <a:prstGeom prst="rect">
            <a:avLst/>
          </a:prstGeom>
          <a:noFill/>
        </p:spPr>
        <p:txBody>
          <a:bodyPr wrap="square" anchor="t">
            <a:spAutoFit/>
          </a:bodyPr>
          <a:lstStyle/>
          <a:p>
            <a:pPr algn="l">
              <a:lnSpc>
                <a:spcPct val="125000"/>
              </a:lnSpc>
            </a:pPr>
            <a:r>
              <a:rPr sz="1550" b="0" i="0">
                <a:solidFill>
                  <a:srgbClr val="475569"/>
                </a:solidFill>
                <a:latin typeface="Calibri"/>
              </a:rPr>
              <a:t>Cindy Jimmerson learned Toyota Production System methods through the engagement at Community Medical Center in Missoula, and spent the years since adapting them for care. The adaptations are the whole point — a generic Lean template drops exactly the parts that make it work in a clinic.</a:t>
            </a:r>
          </a:p>
        </p:txBody>
      </p:sp>
      <p:sp>
        <p:nvSpPr>
          <p:cNvPr id="5" name="Rectangle 4"/>
          <p:cNvSpPr/>
          <p:nvPr/>
        </p:nvSpPr>
        <p:spPr>
          <a:xfrm>
            <a:off x="777240" y="3063240"/>
            <a:ext cx="5074920" cy="137160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3063240"/>
            <a:ext cx="50292" cy="1371600"/>
          </a:xfrm>
          <a:prstGeom prst="rect">
            <a:avLst/>
          </a:prstGeom>
          <a:solidFill>
            <a:srgbClr val="A21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3246120"/>
            <a:ext cx="4617720" cy="365760"/>
          </a:xfrm>
          <a:prstGeom prst="rect">
            <a:avLst/>
          </a:prstGeom>
          <a:noFill/>
        </p:spPr>
        <p:txBody>
          <a:bodyPr wrap="square" anchor="t">
            <a:spAutoFit/>
          </a:bodyPr>
          <a:lstStyle/>
          <a:p>
            <a:pPr algn="l">
              <a:lnSpc>
                <a:spcPct val="100000"/>
              </a:lnSpc>
            </a:pPr>
            <a:r>
              <a:rPr sz="1500" b="1" i="0">
                <a:solidFill>
                  <a:srgbClr val="0F172A"/>
                </a:solidFill>
                <a:latin typeface="Calibri"/>
              </a:rPr>
              <a:t>One episode, not an average</a:t>
            </a:r>
          </a:p>
        </p:txBody>
      </p:sp>
      <p:sp>
        <p:nvSpPr>
          <p:cNvPr id="8" name="TextBox 7"/>
          <p:cNvSpPr txBox="1"/>
          <p:nvPr/>
        </p:nvSpPr>
        <p:spPr>
          <a:xfrm>
            <a:off x="1033271" y="3721608"/>
            <a:ext cx="4617720" cy="548640"/>
          </a:xfrm>
          <a:prstGeom prst="rect">
            <a:avLst/>
          </a:prstGeom>
          <a:noFill/>
        </p:spPr>
        <p:txBody>
          <a:bodyPr wrap="square" anchor="t">
            <a:spAutoFit/>
          </a:bodyPr>
          <a:lstStyle/>
          <a:p>
            <a:pPr algn="l">
              <a:lnSpc>
                <a:spcPct val="110000"/>
              </a:lnSpc>
            </a:pPr>
            <a:r>
              <a:rPr sz="1050" b="0" i="0">
                <a:solidFill>
                  <a:srgbClr val="475569"/>
                </a:solidFill>
                <a:latin typeface="Calibri"/>
              </a:rPr>
              <a:t>Manufacturing maps a product family over a month. She maps one patient, one condition, one pass — because the variation between episodes is the thing you are trying to see, not noise to average away.</a:t>
            </a:r>
          </a:p>
        </p:txBody>
      </p:sp>
      <p:sp>
        <p:nvSpPr>
          <p:cNvPr id="9" name="Rectangle 8"/>
          <p:cNvSpPr/>
          <p:nvPr/>
        </p:nvSpPr>
        <p:spPr>
          <a:xfrm>
            <a:off x="6126479" y="3063240"/>
            <a:ext cx="5074920" cy="137160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79" y="3063240"/>
            <a:ext cx="50292" cy="1371600"/>
          </a:xfrm>
          <a:prstGeom prst="rect">
            <a:avLst/>
          </a:prstGeom>
          <a:solidFill>
            <a:srgbClr val="A21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82512" y="3246120"/>
            <a:ext cx="4617720" cy="365760"/>
          </a:xfrm>
          <a:prstGeom prst="rect">
            <a:avLst/>
          </a:prstGeom>
          <a:noFill/>
        </p:spPr>
        <p:txBody>
          <a:bodyPr wrap="square" anchor="t">
            <a:spAutoFit/>
          </a:bodyPr>
          <a:lstStyle/>
          <a:p>
            <a:pPr algn="l">
              <a:lnSpc>
                <a:spcPct val="100000"/>
              </a:lnSpc>
            </a:pPr>
            <a:r>
              <a:rPr sz="1500" b="1" i="0">
                <a:solidFill>
                  <a:srgbClr val="0F172A"/>
                </a:solidFill>
                <a:latin typeface="Calibri"/>
              </a:rPr>
              <a:t>Four flows, not one</a:t>
            </a:r>
          </a:p>
        </p:txBody>
      </p:sp>
      <p:sp>
        <p:nvSpPr>
          <p:cNvPr id="12" name="TextBox 11"/>
          <p:cNvSpPr txBox="1"/>
          <p:nvPr/>
        </p:nvSpPr>
        <p:spPr>
          <a:xfrm>
            <a:off x="6382512" y="3721608"/>
            <a:ext cx="4617720" cy="548640"/>
          </a:xfrm>
          <a:prstGeom prst="rect">
            <a:avLst/>
          </a:prstGeom>
          <a:noFill/>
        </p:spPr>
        <p:txBody>
          <a:bodyPr wrap="square" anchor="t">
            <a:spAutoFit/>
          </a:bodyPr>
          <a:lstStyle/>
          <a:p>
            <a:pPr algn="l">
              <a:lnSpc>
                <a:spcPct val="110000"/>
              </a:lnSpc>
            </a:pPr>
            <a:r>
              <a:rPr sz="1000" b="0" i="0">
                <a:solidFill>
                  <a:srgbClr val="475569"/>
                </a:solidFill>
                <a:latin typeface="Calibri"/>
              </a:rPr>
              <a:t>In a factory the product is inert. In a clinic the patient is present and waiting while the provider, the information and the supplies each arrive — or fail to. All four must converge at the point of care.</a:t>
            </a:r>
          </a:p>
        </p:txBody>
      </p:sp>
      <p:sp>
        <p:nvSpPr>
          <p:cNvPr id="13" name="Rectangle 12"/>
          <p:cNvSpPr/>
          <p:nvPr/>
        </p:nvSpPr>
        <p:spPr>
          <a:xfrm>
            <a:off x="777240" y="4572000"/>
            <a:ext cx="5074920" cy="137160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4572000"/>
            <a:ext cx="50292" cy="1371600"/>
          </a:xfrm>
          <a:prstGeom prst="rect">
            <a:avLst/>
          </a:prstGeom>
          <a:solidFill>
            <a:srgbClr val="A21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1" y="4754880"/>
            <a:ext cx="4617720" cy="365760"/>
          </a:xfrm>
          <a:prstGeom prst="rect">
            <a:avLst/>
          </a:prstGeom>
          <a:noFill/>
        </p:spPr>
        <p:txBody>
          <a:bodyPr wrap="square" anchor="t">
            <a:spAutoFit/>
          </a:bodyPr>
          <a:lstStyle/>
          <a:p>
            <a:pPr algn="l">
              <a:lnSpc>
                <a:spcPct val="100000"/>
              </a:lnSpc>
            </a:pPr>
            <a:r>
              <a:rPr sz="1500" b="1" i="0">
                <a:solidFill>
                  <a:srgbClr val="0F172A"/>
                </a:solidFill>
                <a:latin typeface="Calibri"/>
              </a:rPr>
              <a:t>Storm bursts</a:t>
            </a:r>
          </a:p>
        </p:txBody>
      </p:sp>
      <p:sp>
        <p:nvSpPr>
          <p:cNvPr id="16" name="TextBox 15"/>
          <p:cNvSpPr txBox="1"/>
          <p:nvPr/>
        </p:nvSpPr>
        <p:spPr>
          <a:xfrm>
            <a:off x="1033271" y="5230368"/>
            <a:ext cx="4617720" cy="548640"/>
          </a:xfrm>
          <a:prstGeom prst="rect">
            <a:avLst/>
          </a:prstGeom>
          <a:noFill/>
        </p:spPr>
        <p:txBody>
          <a:bodyPr wrap="square" anchor="t">
            <a:spAutoFit/>
          </a:bodyPr>
          <a:lstStyle/>
          <a:p>
            <a:pPr algn="l">
              <a:lnSpc>
                <a:spcPct val="110000"/>
              </a:lnSpc>
            </a:pPr>
            <a:r>
              <a:rPr sz="1250" b="0" i="0">
                <a:solidFill>
                  <a:srgbClr val="475569"/>
                </a:solidFill>
                <a:latin typeface="Calibri"/>
              </a:rPr>
              <a:t>Every problem you witness gets a jagged star on the map, named. Each is a candidate A3. This is how what you saw survives the walk back to the desk.</a:t>
            </a:r>
          </a:p>
        </p:txBody>
      </p:sp>
      <p:sp>
        <p:nvSpPr>
          <p:cNvPr id="17" name="Rectangle 16"/>
          <p:cNvSpPr/>
          <p:nvPr/>
        </p:nvSpPr>
        <p:spPr>
          <a:xfrm>
            <a:off x="6126479" y="4572000"/>
            <a:ext cx="5074920" cy="137160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26479" y="4572000"/>
            <a:ext cx="50292" cy="1371600"/>
          </a:xfrm>
          <a:prstGeom prst="rect">
            <a:avLst/>
          </a:prstGeom>
          <a:solidFill>
            <a:srgbClr val="A21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82512" y="4754880"/>
            <a:ext cx="4617720" cy="365760"/>
          </a:xfrm>
          <a:prstGeom prst="rect">
            <a:avLst/>
          </a:prstGeom>
          <a:noFill/>
        </p:spPr>
        <p:txBody>
          <a:bodyPr wrap="square" anchor="t">
            <a:spAutoFit/>
          </a:bodyPr>
          <a:lstStyle/>
          <a:p>
            <a:pPr algn="l">
              <a:lnSpc>
                <a:spcPct val="100000"/>
              </a:lnSpc>
            </a:pPr>
            <a:r>
              <a:rPr sz="1500" b="1" i="0">
                <a:solidFill>
                  <a:srgbClr val="0F172A"/>
                </a:solidFill>
                <a:latin typeface="Calibri"/>
              </a:rPr>
              <a:t>Drawn in pencil, by the worker</a:t>
            </a:r>
          </a:p>
        </p:txBody>
      </p:sp>
      <p:sp>
        <p:nvSpPr>
          <p:cNvPr id="20" name="TextBox 19"/>
          <p:cNvSpPr txBox="1"/>
          <p:nvPr/>
        </p:nvSpPr>
        <p:spPr>
          <a:xfrm>
            <a:off x="6382512" y="5230368"/>
            <a:ext cx="4617720" cy="548640"/>
          </a:xfrm>
          <a:prstGeom prst="rect">
            <a:avLst/>
          </a:prstGeom>
          <a:noFill/>
        </p:spPr>
        <p:txBody>
          <a:bodyPr wrap="square" anchor="t">
            <a:spAutoFit/>
          </a:bodyPr>
          <a:lstStyle/>
          <a:p>
            <a:pPr algn="l">
              <a:lnSpc>
                <a:spcPct val="110000"/>
              </a:lnSpc>
            </a:pPr>
            <a:r>
              <a:rPr sz="1250" b="0" i="0">
                <a:solidFill>
                  <a:srgbClr val="475569"/>
                </a:solidFill>
                <a:latin typeface="Calibri"/>
              </a:rPr>
              <a:t>Not by a consultant, not in a modelling package. The map and the A3 are conversation pieces that get marked up by the people who do the work.</a:t>
            </a:r>
          </a:p>
        </p:txBody>
      </p:sp>
      <p:sp>
        <p:nvSpPr>
          <p:cNvPr id="21" name="TextBox 20"/>
          <p:cNvSpPr txBox="1"/>
          <p:nvPr/>
        </p:nvSpPr>
        <p:spPr>
          <a:xfrm>
            <a:off x="777240" y="6355080"/>
            <a:ext cx="5486400" cy="274320"/>
          </a:xfrm>
          <a:prstGeom prst="rect">
            <a:avLst/>
          </a:prstGeom>
          <a:noFill/>
        </p:spPr>
        <p:txBody>
          <a:bodyPr wrap="square" anchor="t">
            <a:spAutoFit/>
          </a:bodyPr>
          <a:lstStyle/>
          <a:p>
            <a:pPr algn="l">
              <a:lnSpc>
                <a:spcPct val="100000"/>
              </a:lnSpc>
            </a:pPr>
            <a:r>
              <a:rPr sz="900" b="0" i="0">
                <a:solidFill>
                  <a:srgbClr val="94A3B8"/>
                </a:solidFill>
                <a:latin typeface="Calibri"/>
              </a:rPr>
              <a:t>RCN · Lean in Healthcare — VSM + A3</a:t>
            </a:r>
          </a:p>
        </p:txBody>
      </p:sp>
      <p:sp>
        <p:nvSpPr>
          <p:cNvPr id="22" name="TextBox 21"/>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4A3B8"/>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A21CAF"/>
                </a:solidFill>
                <a:latin typeface="Calibri"/>
              </a:rPr>
              <a:t>PART ONE · THE MAP</a:t>
            </a:r>
          </a:p>
        </p:txBody>
      </p:sp>
      <p:sp>
        <p:nvSpPr>
          <p:cNvPr id="3" name="TextBox 2"/>
          <p:cNvSpPr txBox="1"/>
          <p:nvPr/>
        </p:nvSpPr>
        <p:spPr>
          <a:xfrm>
            <a:off x="777240" y="868680"/>
            <a:ext cx="10607040" cy="1188720"/>
          </a:xfrm>
          <a:prstGeom prst="rect">
            <a:avLst/>
          </a:prstGeom>
          <a:noFill/>
        </p:spPr>
        <p:txBody>
          <a:bodyPr wrap="square" anchor="t">
            <a:spAutoFit/>
          </a:bodyPr>
          <a:lstStyle/>
          <a:p>
            <a:pPr algn="l">
              <a:lnSpc>
                <a:spcPct val="95000"/>
              </a:lnSpc>
            </a:pPr>
            <a:r>
              <a:rPr sz="3400" b="1" i="0">
                <a:solidFill>
                  <a:srgbClr val="0F172A"/>
                </a:solidFill>
                <a:latin typeface="Calibri"/>
              </a:rPr>
              <a:t>Four flows, four lanes, and a timeline underneath</a:t>
            </a:r>
          </a:p>
        </p:txBody>
      </p:sp>
      <p:sp>
        <p:nvSpPr>
          <p:cNvPr id="4" name="Rectangle 3"/>
          <p:cNvSpPr/>
          <p:nvPr/>
        </p:nvSpPr>
        <p:spPr>
          <a:xfrm>
            <a:off x="777240" y="1965960"/>
            <a:ext cx="10424160" cy="658368"/>
          </a:xfrm>
          <a:prstGeom prst="rect">
            <a:avLst/>
          </a:prstGeom>
          <a:solidFill>
            <a:srgbClr val="FDF4FF"/>
          </a:solidFill>
          <a:ln w="15875">
            <a:solidFill>
              <a:srgbClr val="F5D0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2048255"/>
            <a:ext cx="2194560" cy="274320"/>
          </a:xfrm>
          <a:prstGeom prst="rect">
            <a:avLst/>
          </a:prstGeom>
          <a:noFill/>
        </p:spPr>
        <p:txBody>
          <a:bodyPr wrap="square" anchor="t">
            <a:spAutoFit/>
          </a:bodyPr>
          <a:lstStyle/>
          <a:p>
            <a:pPr algn="l">
              <a:lnSpc>
                <a:spcPct val="100000"/>
              </a:lnSpc>
            </a:pPr>
            <a:r>
              <a:rPr sz="1250" b="1" i="0">
                <a:solidFill>
                  <a:srgbClr val="A21CAF"/>
                </a:solidFill>
                <a:latin typeface="Calibri"/>
              </a:rPr>
              <a:t>PATIENT</a:t>
            </a:r>
          </a:p>
        </p:txBody>
      </p:sp>
      <p:sp>
        <p:nvSpPr>
          <p:cNvPr id="6" name="TextBox 5"/>
          <p:cNvSpPr txBox="1"/>
          <p:nvPr/>
        </p:nvSpPr>
        <p:spPr>
          <a:xfrm>
            <a:off x="3108960" y="2066543"/>
            <a:ext cx="7863840" cy="320040"/>
          </a:xfrm>
          <a:prstGeom prst="rect">
            <a:avLst/>
          </a:prstGeom>
          <a:noFill/>
        </p:spPr>
        <p:txBody>
          <a:bodyPr wrap="square" anchor="t">
            <a:spAutoFit/>
          </a:bodyPr>
          <a:lstStyle/>
          <a:p>
            <a:pPr algn="l">
              <a:lnSpc>
                <a:spcPct val="100000"/>
              </a:lnSpc>
            </a:pPr>
            <a:r>
              <a:rPr sz="1250" b="0" i="0">
                <a:solidFill>
                  <a:srgbClr val="475569"/>
                </a:solidFill>
                <a:latin typeface="Calibri"/>
              </a:rPr>
              <a:t>the person moving through</a:t>
            </a:r>
          </a:p>
        </p:txBody>
      </p:sp>
      <p:sp>
        <p:nvSpPr>
          <p:cNvPr id="7" name="Rectangle 6"/>
          <p:cNvSpPr/>
          <p:nvPr/>
        </p:nvSpPr>
        <p:spPr>
          <a:xfrm>
            <a:off x="777240" y="2715768"/>
            <a:ext cx="10424160" cy="658368"/>
          </a:xfrm>
          <a:prstGeom prst="rect">
            <a:avLst/>
          </a:prstGeom>
          <a:solidFill>
            <a:srgbClr val="F8FA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798063"/>
            <a:ext cx="2194560" cy="274320"/>
          </a:xfrm>
          <a:prstGeom prst="rect">
            <a:avLst/>
          </a:prstGeom>
          <a:noFill/>
        </p:spPr>
        <p:txBody>
          <a:bodyPr wrap="square" anchor="t">
            <a:spAutoFit/>
          </a:bodyPr>
          <a:lstStyle/>
          <a:p>
            <a:pPr algn="l">
              <a:lnSpc>
                <a:spcPct val="100000"/>
              </a:lnSpc>
            </a:pPr>
            <a:r>
              <a:rPr sz="1250" b="1" i="0">
                <a:solidFill>
                  <a:srgbClr val="475569"/>
                </a:solidFill>
                <a:latin typeface="Calibri"/>
              </a:rPr>
              <a:t>PROVIDER</a:t>
            </a:r>
          </a:p>
        </p:txBody>
      </p:sp>
      <p:sp>
        <p:nvSpPr>
          <p:cNvPr id="9" name="TextBox 8"/>
          <p:cNvSpPr txBox="1"/>
          <p:nvPr/>
        </p:nvSpPr>
        <p:spPr>
          <a:xfrm>
            <a:off x="3108960" y="2816351"/>
            <a:ext cx="7863840" cy="320040"/>
          </a:xfrm>
          <a:prstGeom prst="rect">
            <a:avLst/>
          </a:prstGeom>
          <a:noFill/>
        </p:spPr>
        <p:txBody>
          <a:bodyPr wrap="square" anchor="t">
            <a:spAutoFit/>
          </a:bodyPr>
          <a:lstStyle/>
          <a:p>
            <a:pPr algn="l">
              <a:lnSpc>
                <a:spcPct val="100000"/>
              </a:lnSpc>
            </a:pPr>
            <a:r>
              <a:rPr sz="1250" b="0" i="0">
                <a:solidFill>
                  <a:srgbClr val="475569"/>
                </a:solidFill>
                <a:latin typeface="Calibri"/>
              </a:rPr>
              <a:t>who does the work — plus the waits, handoffs and decisions that break it</a:t>
            </a:r>
          </a:p>
        </p:txBody>
      </p:sp>
      <p:sp>
        <p:nvSpPr>
          <p:cNvPr id="10" name="Rectangle 9"/>
          <p:cNvSpPr/>
          <p:nvPr/>
        </p:nvSpPr>
        <p:spPr>
          <a:xfrm>
            <a:off x="777240" y="3465576"/>
            <a:ext cx="10424160" cy="658368"/>
          </a:xfrm>
          <a:prstGeom prst="rect">
            <a:avLst/>
          </a:prstGeom>
          <a:solidFill>
            <a:srgbClr val="F0FDFA"/>
          </a:solidFill>
          <a:ln w="15875">
            <a:solidFill>
              <a:srgbClr val="CCFB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547872"/>
            <a:ext cx="2194560" cy="274320"/>
          </a:xfrm>
          <a:prstGeom prst="rect">
            <a:avLst/>
          </a:prstGeom>
          <a:noFill/>
        </p:spPr>
        <p:txBody>
          <a:bodyPr wrap="square" anchor="t">
            <a:spAutoFit/>
          </a:bodyPr>
          <a:lstStyle/>
          <a:p>
            <a:pPr algn="l">
              <a:lnSpc>
                <a:spcPct val="100000"/>
              </a:lnSpc>
            </a:pPr>
            <a:r>
              <a:rPr sz="1250" b="1" i="0">
                <a:solidFill>
                  <a:srgbClr val="0F766E"/>
                </a:solidFill>
                <a:latin typeface="Calibri"/>
              </a:rPr>
              <a:t>INFORMATION</a:t>
            </a:r>
          </a:p>
        </p:txBody>
      </p:sp>
      <p:sp>
        <p:nvSpPr>
          <p:cNvPr id="12" name="TextBox 11"/>
          <p:cNvSpPr txBox="1"/>
          <p:nvPr/>
        </p:nvSpPr>
        <p:spPr>
          <a:xfrm>
            <a:off x="3108960" y="3566160"/>
            <a:ext cx="7863840" cy="320040"/>
          </a:xfrm>
          <a:prstGeom prst="rect">
            <a:avLst/>
          </a:prstGeom>
          <a:noFill/>
        </p:spPr>
        <p:txBody>
          <a:bodyPr wrap="square" anchor="t">
            <a:spAutoFit/>
          </a:bodyPr>
          <a:lstStyle/>
          <a:p>
            <a:pPr algn="l">
              <a:lnSpc>
                <a:spcPct val="100000"/>
              </a:lnSpc>
            </a:pPr>
            <a:r>
              <a:rPr sz="1250" b="0" i="0">
                <a:solidFill>
                  <a:srgbClr val="475569"/>
                </a:solidFill>
                <a:latin typeface="Calibri"/>
              </a:rPr>
              <a:t>orders, results, records — the one people forget</a:t>
            </a:r>
          </a:p>
        </p:txBody>
      </p:sp>
      <p:sp>
        <p:nvSpPr>
          <p:cNvPr id="13" name="Rectangle 12"/>
          <p:cNvSpPr/>
          <p:nvPr/>
        </p:nvSpPr>
        <p:spPr>
          <a:xfrm>
            <a:off x="777240" y="4215383"/>
            <a:ext cx="10424160" cy="658368"/>
          </a:xfrm>
          <a:prstGeom prst="rect">
            <a:avLst/>
          </a:prstGeom>
          <a:solidFill>
            <a:srgbClr val="FFFBEB"/>
          </a:solidFill>
          <a:ln w="15875">
            <a:solidFill>
              <a:srgbClr val="FDE6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297679"/>
            <a:ext cx="2194560" cy="274320"/>
          </a:xfrm>
          <a:prstGeom prst="rect">
            <a:avLst/>
          </a:prstGeom>
          <a:noFill/>
        </p:spPr>
        <p:txBody>
          <a:bodyPr wrap="square" anchor="t">
            <a:spAutoFit/>
          </a:bodyPr>
          <a:lstStyle/>
          <a:p>
            <a:pPr algn="l">
              <a:lnSpc>
                <a:spcPct val="100000"/>
              </a:lnSpc>
            </a:pPr>
            <a:r>
              <a:rPr sz="1250" b="1" i="0">
                <a:solidFill>
                  <a:srgbClr val="B45309"/>
                </a:solidFill>
                <a:latin typeface="Calibri"/>
              </a:rPr>
              <a:t>SUPPLIES</a:t>
            </a:r>
          </a:p>
        </p:txBody>
      </p:sp>
      <p:sp>
        <p:nvSpPr>
          <p:cNvPr id="15" name="TextBox 14"/>
          <p:cNvSpPr txBox="1"/>
          <p:nvPr/>
        </p:nvSpPr>
        <p:spPr>
          <a:xfrm>
            <a:off x="3108960" y="4315968"/>
            <a:ext cx="7863840" cy="320040"/>
          </a:xfrm>
          <a:prstGeom prst="rect">
            <a:avLst/>
          </a:prstGeom>
          <a:noFill/>
        </p:spPr>
        <p:txBody>
          <a:bodyPr wrap="square" anchor="t">
            <a:spAutoFit/>
          </a:bodyPr>
          <a:lstStyle/>
          <a:p>
            <a:pPr algn="l">
              <a:lnSpc>
                <a:spcPct val="100000"/>
              </a:lnSpc>
            </a:pPr>
            <a:r>
              <a:rPr sz="1250" b="0" i="0">
                <a:solidFill>
                  <a:srgbClr val="475569"/>
                </a:solidFill>
                <a:latin typeface="Calibri"/>
              </a:rPr>
              <a:t>equipment, meds, materials</a:t>
            </a:r>
          </a:p>
        </p:txBody>
      </p:sp>
      <p:sp>
        <p:nvSpPr>
          <p:cNvPr id="16" name="Rectangle 15"/>
          <p:cNvSpPr/>
          <p:nvPr/>
        </p:nvSpPr>
        <p:spPr>
          <a:xfrm>
            <a:off x="777240" y="5029200"/>
            <a:ext cx="10424160" cy="658368"/>
          </a:xfrm>
          <a:prstGeom prst="rect">
            <a:avLst/>
          </a:prstGeom>
          <a:solidFill>
            <a:srgbClr val="FAFAFA"/>
          </a:solidFill>
          <a:ln w="15875">
            <a:solidFill>
              <a:srgbClr val="E5E5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5111496"/>
            <a:ext cx="2194560" cy="274320"/>
          </a:xfrm>
          <a:prstGeom prst="rect">
            <a:avLst/>
          </a:prstGeom>
          <a:noFill/>
        </p:spPr>
        <p:txBody>
          <a:bodyPr wrap="square" anchor="t">
            <a:spAutoFit/>
          </a:bodyPr>
          <a:lstStyle/>
          <a:p>
            <a:pPr algn="l">
              <a:lnSpc>
                <a:spcPct val="100000"/>
              </a:lnSpc>
            </a:pPr>
            <a:r>
              <a:rPr sz="1250" b="1" i="0">
                <a:solidFill>
                  <a:srgbClr val="475569"/>
                </a:solidFill>
                <a:latin typeface="Calibri"/>
              </a:rPr>
              <a:t>TIMELINE</a:t>
            </a:r>
          </a:p>
        </p:txBody>
      </p:sp>
      <p:sp>
        <p:nvSpPr>
          <p:cNvPr id="18" name="TextBox 17"/>
          <p:cNvSpPr txBox="1"/>
          <p:nvPr/>
        </p:nvSpPr>
        <p:spPr>
          <a:xfrm>
            <a:off x="3108960" y="5129784"/>
            <a:ext cx="7863840" cy="320040"/>
          </a:xfrm>
          <a:prstGeom prst="rect">
            <a:avLst/>
          </a:prstGeom>
          <a:noFill/>
        </p:spPr>
        <p:txBody>
          <a:bodyPr wrap="square" anchor="t">
            <a:spAutoFit/>
          </a:bodyPr>
          <a:lstStyle/>
          <a:p>
            <a:pPr algn="l">
              <a:lnSpc>
                <a:spcPct val="100000"/>
              </a:lnSpc>
            </a:pPr>
            <a:r>
              <a:rPr sz="1250" b="0" i="1">
                <a:solidFill>
                  <a:srgbClr val="475569"/>
                </a:solidFill>
                <a:latin typeface="Calibri"/>
              </a:rPr>
              <a:t>value-added above, waiting below — computed, never drawn by hand</a:t>
            </a:r>
          </a:p>
        </p:txBody>
      </p:sp>
      <p:sp>
        <p:nvSpPr>
          <p:cNvPr id="19" name="TextBox 18"/>
          <p:cNvSpPr txBox="1"/>
          <p:nvPr/>
        </p:nvSpPr>
        <p:spPr>
          <a:xfrm>
            <a:off x="777240" y="5870448"/>
            <a:ext cx="10424160" cy="320040"/>
          </a:xfrm>
          <a:prstGeom prst="rect">
            <a:avLst/>
          </a:prstGeom>
          <a:noFill/>
        </p:spPr>
        <p:txBody>
          <a:bodyPr wrap="square" anchor="t">
            <a:spAutoFit/>
          </a:bodyPr>
          <a:lstStyle/>
          <a:p>
            <a:pPr algn="l">
              <a:lnSpc>
                <a:spcPct val="100000"/>
              </a:lnSpc>
            </a:pPr>
            <a:r>
              <a:rPr sz="1250" b="0" i="1">
                <a:solidFill>
                  <a:srgbClr val="94A3B8"/>
                </a:solidFill>
                <a:latin typeface="Calibri"/>
              </a:rPr>
              <a:t>The lanes are a guide, not a cage. Storm bursts have no lane — a burst goes wherever you saw the problem.</a:t>
            </a:r>
          </a:p>
        </p:txBody>
      </p:sp>
      <p:sp>
        <p:nvSpPr>
          <p:cNvPr id="20" name="TextBox 19"/>
          <p:cNvSpPr txBox="1"/>
          <p:nvPr/>
        </p:nvSpPr>
        <p:spPr>
          <a:xfrm>
            <a:off x="777240" y="6355080"/>
            <a:ext cx="5486400" cy="274320"/>
          </a:xfrm>
          <a:prstGeom prst="rect">
            <a:avLst/>
          </a:prstGeom>
          <a:noFill/>
        </p:spPr>
        <p:txBody>
          <a:bodyPr wrap="square" anchor="t">
            <a:spAutoFit/>
          </a:bodyPr>
          <a:lstStyle/>
          <a:p>
            <a:pPr algn="l">
              <a:lnSpc>
                <a:spcPct val="100000"/>
              </a:lnSpc>
            </a:pPr>
            <a:r>
              <a:rPr sz="900" b="0" i="0">
                <a:solidFill>
                  <a:srgbClr val="94A3B8"/>
                </a:solidFill>
                <a:latin typeface="Calibri"/>
              </a:rPr>
              <a:t>RCN · Lean in Healthcare — VSM + A3</a:t>
            </a:r>
          </a:p>
        </p:txBody>
      </p:sp>
      <p:sp>
        <p:nvSpPr>
          <p:cNvPr id="21" name="TextBox 20"/>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4A3B8"/>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A21CAF"/>
                </a:solidFill>
                <a:latin typeface="Calibri"/>
              </a:rPr>
              <a:t>A REAL STREAM</a:t>
            </a:r>
          </a:p>
        </p:txBody>
      </p:sp>
      <p:sp>
        <p:nvSpPr>
          <p:cNvPr id="3" name="TextBox 2"/>
          <p:cNvSpPr txBox="1"/>
          <p:nvPr/>
        </p:nvSpPr>
        <p:spPr>
          <a:xfrm>
            <a:off x="777240" y="868680"/>
            <a:ext cx="10607040" cy="1188720"/>
          </a:xfrm>
          <a:prstGeom prst="rect">
            <a:avLst/>
          </a:prstGeom>
          <a:noFill/>
        </p:spPr>
        <p:txBody>
          <a:bodyPr wrap="square" anchor="t">
            <a:spAutoFit/>
          </a:bodyPr>
          <a:lstStyle/>
          <a:p>
            <a:pPr algn="l">
              <a:lnSpc>
                <a:spcPct val="95000"/>
              </a:lnSpc>
            </a:pPr>
            <a:r>
              <a:rPr sz="3400" b="1" i="0">
                <a:solidFill>
                  <a:srgbClr val="0F172A"/>
                </a:solidFill>
                <a:latin typeface="Calibri"/>
              </a:rPr>
              <a:t>Clinic referral to first CHW contact</a:t>
            </a:r>
          </a:p>
        </p:txBody>
      </p:sp>
      <p:sp>
        <p:nvSpPr>
          <p:cNvPr id="4" name="TextBox 3"/>
          <p:cNvSpPr txBox="1"/>
          <p:nvPr/>
        </p:nvSpPr>
        <p:spPr>
          <a:xfrm>
            <a:off x="777240" y="1828800"/>
            <a:ext cx="10424160" cy="365760"/>
          </a:xfrm>
          <a:prstGeom prst="rect">
            <a:avLst/>
          </a:prstGeom>
          <a:noFill/>
        </p:spPr>
        <p:txBody>
          <a:bodyPr wrap="square" anchor="t">
            <a:spAutoFit/>
          </a:bodyPr>
          <a:lstStyle/>
          <a:p>
            <a:pPr algn="l">
              <a:lnSpc>
                <a:spcPct val="100000"/>
              </a:lnSpc>
            </a:pPr>
            <a:r>
              <a:rPr sz="1500" b="0" i="0">
                <a:solidFill>
                  <a:srgbClr val="475569"/>
                </a:solidFill>
                <a:latin typeface="Calibri"/>
              </a:rPr>
              <a:t>One referral, followed from the exam room to the first phone call.</a:t>
            </a:r>
          </a:p>
        </p:txBody>
      </p:sp>
      <p:cxnSp>
        <p:nvCxnSpPr>
          <p:cNvPr id="5" name="Connector 4"/>
          <p:cNvCxnSpPr/>
          <p:nvPr/>
        </p:nvCxnSpPr>
        <p:spPr>
          <a:xfrm>
            <a:off x="1234440" y="2496312"/>
            <a:ext cx="283185" cy="0"/>
          </a:xfrm>
          <a:prstGeom prst="line">
            <a:avLst/>
          </a:prstGeom>
          <a:ln w="20320">
            <a:solidFill>
              <a:srgbClr val="475569"/>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1234440" y="2496312"/>
            <a:ext cx="283185" cy="1051560"/>
          </a:xfrm>
          <a:prstGeom prst="rect">
            <a:avLst/>
          </a:prstGeom>
          <a:solidFill>
            <a:srgbClr val="F0F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a:off x="1234440" y="2496312"/>
            <a:ext cx="283185" cy="0"/>
          </a:xfrm>
          <a:prstGeom prst="line">
            <a:avLst/>
          </a:prstGeom>
          <a:ln w="27940">
            <a:solidFill>
              <a:srgbClr val="15803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517625" y="2496312"/>
            <a:ext cx="276536" cy="0"/>
          </a:xfrm>
          <a:prstGeom prst="line">
            <a:avLst/>
          </a:prstGeom>
          <a:ln w="20320">
            <a:solidFill>
              <a:srgbClr val="475569"/>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1517625" y="2496312"/>
            <a:ext cx="276536" cy="1051560"/>
          </a:xfrm>
          <a:prstGeom prst="rect">
            <a:avLst/>
          </a:prstGeom>
          <a:solidFill>
            <a:srgbClr val="F0F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a:off x="1517625" y="2496312"/>
            <a:ext cx="276536" cy="0"/>
          </a:xfrm>
          <a:prstGeom prst="line">
            <a:avLst/>
          </a:prstGeom>
          <a:ln w="27940">
            <a:solidFill>
              <a:srgbClr val="15803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794161" y="2496312"/>
            <a:ext cx="275798" cy="0"/>
          </a:xfrm>
          <a:prstGeom prst="line">
            <a:avLst/>
          </a:prstGeom>
          <a:ln w="20320">
            <a:solidFill>
              <a:srgbClr val="475569"/>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1794161" y="2496312"/>
            <a:ext cx="275797" cy="1051560"/>
          </a:xfrm>
          <a:prstGeom prst="rect">
            <a:avLst/>
          </a:prstGeom>
          <a:solidFill>
            <a:srgbClr val="F0F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1794161" y="2496312"/>
            <a:ext cx="275798" cy="0"/>
          </a:xfrm>
          <a:prstGeom prst="line">
            <a:avLst/>
          </a:prstGeom>
          <a:ln w="27940">
            <a:solidFill>
              <a:srgbClr val="15803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069959" y="2496312"/>
            <a:ext cx="0" cy="1051560"/>
          </a:xfrm>
          <a:prstGeom prst="line">
            <a:avLst/>
          </a:prstGeom>
          <a:ln w="20320">
            <a:solidFill>
              <a:srgbClr val="47556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069959" y="3547872"/>
            <a:ext cx="296484" cy="0"/>
          </a:xfrm>
          <a:prstGeom prst="line">
            <a:avLst/>
          </a:prstGeom>
          <a:ln w="20320">
            <a:solidFill>
              <a:srgbClr val="47556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2366443" y="2496312"/>
            <a:ext cx="0" cy="1051560"/>
          </a:xfrm>
          <a:prstGeom prst="line">
            <a:avLst/>
          </a:prstGeom>
          <a:ln w="20320">
            <a:solidFill>
              <a:srgbClr val="47556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366443" y="2496312"/>
            <a:ext cx="275059" cy="0"/>
          </a:xfrm>
          <a:prstGeom prst="line">
            <a:avLst/>
          </a:prstGeom>
          <a:ln w="20320">
            <a:solidFill>
              <a:srgbClr val="475569"/>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2366443" y="2496312"/>
            <a:ext cx="275058" cy="1051560"/>
          </a:xfrm>
          <a:prstGeom prst="rect">
            <a:avLst/>
          </a:prstGeom>
          <a:solidFill>
            <a:srgbClr val="F0F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2366443" y="2496312"/>
            <a:ext cx="275059" cy="0"/>
          </a:xfrm>
          <a:prstGeom prst="line">
            <a:avLst/>
          </a:prstGeom>
          <a:ln w="27940">
            <a:solidFill>
              <a:srgbClr val="15803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2641502" y="2496312"/>
            <a:ext cx="0" cy="1051560"/>
          </a:xfrm>
          <a:prstGeom prst="line">
            <a:avLst/>
          </a:prstGeom>
          <a:ln w="20320">
            <a:solidFill>
              <a:srgbClr val="47556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641502" y="3547872"/>
            <a:ext cx="7721423" cy="0"/>
          </a:xfrm>
          <a:prstGeom prst="line">
            <a:avLst/>
          </a:prstGeom>
          <a:ln w="20320">
            <a:solidFill>
              <a:srgbClr val="47556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10362925" y="2496312"/>
            <a:ext cx="0" cy="1051560"/>
          </a:xfrm>
          <a:prstGeom prst="line">
            <a:avLst/>
          </a:prstGeom>
          <a:ln w="20320">
            <a:solidFill>
              <a:srgbClr val="47556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0362925" y="2496312"/>
            <a:ext cx="278753" cy="0"/>
          </a:xfrm>
          <a:prstGeom prst="line">
            <a:avLst/>
          </a:prstGeom>
          <a:ln w="20320">
            <a:solidFill>
              <a:srgbClr val="475569"/>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10362925" y="2496312"/>
            <a:ext cx="278752" cy="1051560"/>
          </a:xfrm>
          <a:prstGeom prst="rect">
            <a:avLst/>
          </a:prstGeom>
          <a:solidFill>
            <a:srgbClr val="F0F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Connector 24"/>
          <p:cNvCxnSpPr/>
          <p:nvPr/>
        </p:nvCxnSpPr>
        <p:spPr>
          <a:xfrm>
            <a:off x="10362925" y="2496312"/>
            <a:ext cx="278753" cy="0"/>
          </a:xfrm>
          <a:prstGeom prst="line">
            <a:avLst/>
          </a:prstGeom>
          <a:ln w="27940">
            <a:solidFill>
              <a:srgbClr val="15803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0641678" y="2496312"/>
            <a:ext cx="285402" cy="0"/>
          </a:xfrm>
          <a:prstGeom prst="line">
            <a:avLst/>
          </a:prstGeom>
          <a:ln w="20320">
            <a:solidFill>
              <a:srgbClr val="475569"/>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10641678" y="2496312"/>
            <a:ext cx="285401" cy="1051560"/>
          </a:xfrm>
          <a:prstGeom prst="rect">
            <a:avLst/>
          </a:prstGeom>
          <a:solidFill>
            <a:srgbClr val="F0F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Connector 27"/>
          <p:cNvCxnSpPr/>
          <p:nvPr/>
        </p:nvCxnSpPr>
        <p:spPr>
          <a:xfrm>
            <a:off x="10641678" y="2496312"/>
            <a:ext cx="285402" cy="0"/>
          </a:xfrm>
          <a:prstGeom prst="line">
            <a:avLst/>
          </a:prstGeom>
          <a:ln w="27940">
            <a:solidFill>
              <a:srgbClr val="15803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941832" y="2414016"/>
            <a:ext cx="274320" cy="182880"/>
          </a:xfrm>
          <a:prstGeom prst="rect">
            <a:avLst/>
          </a:prstGeom>
          <a:noFill/>
        </p:spPr>
        <p:txBody>
          <a:bodyPr wrap="none" lIns="0" rIns="0" tIns="0" bIns="0">
            <a:spAutoFit/>
          </a:bodyPr>
          <a:lstStyle/>
          <a:p>
            <a:pPr algn="r"/>
            <a:r>
              <a:rPr sz="900" b="1">
                <a:solidFill>
                  <a:srgbClr val="15803D"/>
                </a:solidFill>
                <a:latin typeface="Calibri"/>
              </a:rPr>
              <a:t>VA</a:t>
            </a:r>
          </a:p>
        </p:txBody>
      </p:sp>
      <p:sp>
        <p:nvSpPr>
          <p:cNvPr id="30" name="TextBox 29"/>
          <p:cNvSpPr txBox="1"/>
          <p:nvPr/>
        </p:nvSpPr>
        <p:spPr>
          <a:xfrm>
            <a:off x="850392" y="3465576"/>
            <a:ext cx="365760" cy="182880"/>
          </a:xfrm>
          <a:prstGeom prst="rect">
            <a:avLst/>
          </a:prstGeom>
          <a:noFill/>
        </p:spPr>
        <p:txBody>
          <a:bodyPr wrap="none" lIns="0" rIns="0" tIns="0" bIns="0">
            <a:spAutoFit/>
          </a:bodyPr>
          <a:lstStyle/>
          <a:p>
            <a:pPr algn="r"/>
            <a:r>
              <a:rPr sz="900" b="1">
                <a:solidFill>
                  <a:srgbClr val="B91C1C"/>
                </a:solidFill>
                <a:latin typeface="Calibri"/>
              </a:rPr>
              <a:t>WAIT</a:t>
            </a:r>
          </a:p>
        </p:txBody>
      </p:sp>
      <p:sp>
        <p:nvSpPr>
          <p:cNvPr id="31" name="TextBox 30"/>
          <p:cNvSpPr txBox="1"/>
          <p:nvPr/>
        </p:nvSpPr>
        <p:spPr>
          <a:xfrm>
            <a:off x="5486400" y="3703320"/>
            <a:ext cx="3657600" cy="182880"/>
          </a:xfrm>
          <a:prstGeom prst="rect">
            <a:avLst/>
          </a:prstGeom>
          <a:noFill/>
        </p:spPr>
        <p:txBody>
          <a:bodyPr wrap="none" lIns="0" rIns="0" tIns="0" bIns="0">
            <a:spAutoFit/>
          </a:bodyPr>
          <a:lstStyle/>
          <a:p>
            <a:pPr algn="l"/>
            <a:r>
              <a:rPr sz="1100" b="1">
                <a:solidFill>
                  <a:srgbClr val="B91C1C"/>
                </a:solidFill>
                <a:latin typeface="Calibri"/>
              </a:rPr>
              <a:t>7 days sitting in a shared inbox</a:t>
            </a:r>
          </a:p>
        </p:txBody>
      </p:sp>
      <p:sp>
        <p:nvSpPr>
          <p:cNvPr id="32" name="Rectangle 31"/>
          <p:cNvSpPr/>
          <p:nvPr/>
        </p:nvSpPr>
        <p:spPr>
          <a:xfrm>
            <a:off x="777240" y="4160520"/>
            <a:ext cx="1975104" cy="91440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41832" y="4279392"/>
            <a:ext cx="1691640" cy="384048"/>
          </a:xfrm>
          <a:prstGeom prst="rect">
            <a:avLst/>
          </a:prstGeom>
          <a:noFill/>
        </p:spPr>
        <p:txBody>
          <a:bodyPr wrap="square" anchor="t">
            <a:spAutoFit/>
          </a:bodyPr>
          <a:lstStyle/>
          <a:p>
            <a:pPr algn="l">
              <a:lnSpc>
                <a:spcPct val="100000"/>
              </a:lnSpc>
            </a:pPr>
            <a:r>
              <a:rPr sz="2100" b="1" i="0">
                <a:solidFill>
                  <a:srgbClr val="B91C1C"/>
                </a:solidFill>
                <a:latin typeface="Calibri"/>
              </a:rPr>
              <a:t>7 days</a:t>
            </a:r>
          </a:p>
        </p:txBody>
      </p:sp>
      <p:sp>
        <p:nvSpPr>
          <p:cNvPr id="34" name="TextBox 33"/>
          <p:cNvSpPr txBox="1"/>
          <p:nvPr/>
        </p:nvSpPr>
        <p:spPr>
          <a:xfrm>
            <a:off x="941832" y="4700016"/>
            <a:ext cx="1691640" cy="274320"/>
          </a:xfrm>
          <a:prstGeom prst="rect">
            <a:avLst/>
          </a:prstGeom>
          <a:noFill/>
        </p:spPr>
        <p:txBody>
          <a:bodyPr wrap="square" anchor="t">
            <a:spAutoFit/>
          </a:bodyPr>
          <a:lstStyle/>
          <a:p>
            <a:pPr algn="l">
              <a:lnSpc>
                <a:spcPct val="100000"/>
              </a:lnSpc>
            </a:pPr>
            <a:r>
              <a:rPr sz="1050" b="0" i="0">
                <a:solidFill>
                  <a:srgbClr val="94A3B8"/>
                </a:solidFill>
                <a:latin typeface="Calibri"/>
              </a:rPr>
              <a:t>Lead time</a:t>
            </a:r>
          </a:p>
        </p:txBody>
      </p:sp>
      <p:sp>
        <p:nvSpPr>
          <p:cNvPr id="35" name="Rectangle 34"/>
          <p:cNvSpPr/>
          <p:nvPr/>
        </p:nvSpPr>
        <p:spPr>
          <a:xfrm>
            <a:off x="2889504" y="4160520"/>
            <a:ext cx="1975104" cy="91440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054096" y="4279392"/>
            <a:ext cx="1691640" cy="384048"/>
          </a:xfrm>
          <a:prstGeom prst="rect">
            <a:avLst/>
          </a:prstGeom>
          <a:noFill/>
        </p:spPr>
        <p:txBody>
          <a:bodyPr wrap="square" anchor="t">
            <a:spAutoFit/>
          </a:bodyPr>
          <a:lstStyle/>
          <a:p>
            <a:pPr algn="l">
              <a:lnSpc>
                <a:spcPct val="100000"/>
              </a:lnSpc>
            </a:pPr>
            <a:r>
              <a:rPr sz="2100" b="1" i="0">
                <a:solidFill>
                  <a:srgbClr val="15803D"/>
                </a:solidFill>
                <a:latin typeface="Calibri"/>
              </a:rPr>
              <a:t>39 min</a:t>
            </a:r>
          </a:p>
        </p:txBody>
      </p:sp>
      <p:sp>
        <p:nvSpPr>
          <p:cNvPr id="37" name="TextBox 36"/>
          <p:cNvSpPr txBox="1"/>
          <p:nvPr/>
        </p:nvSpPr>
        <p:spPr>
          <a:xfrm>
            <a:off x="3054096" y="4700016"/>
            <a:ext cx="1691640" cy="274320"/>
          </a:xfrm>
          <a:prstGeom prst="rect">
            <a:avLst/>
          </a:prstGeom>
          <a:noFill/>
        </p:spPr>
        <p:txBody>
          <a:bodyPr wrap="square" anchor="t">
            <a:spAutoFit/>
          </a:bodyPr>
          <a:lstStyle/>
          <a:p>
            <a:pPr algn="l">
              <a:lnSpc>
                <a:spcPct val="100000"/>
              </a:lnSpc>
            </a:pPr>
            <a:r>
              <a:rPr sz="1050" b="0" i="0">
                <a:solidFill>
                  <a:srgbClr val="94A3B8"/>
                </a:solidFill>
                <a:latin typeface="Calibri"/>
              </a:rPr>
              <a:t>Value-added</a:t>
            </a:r>
          </a:p>
        </p:txBody>
      </p:sp>
      <p:sp>
        <p:nvSpPr>
          <p:cNvPr id="38" name="Rectangle 37"/>
          <p:cNvSpPr/>
          <p:nvPr/>
        </p:nvSpPr>
        <p:spPr>
          <a:xfrm>
            <a:off x="5001768" y="4160520"/>
            <a:ext cx="1975104" cy="91440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166359" y="4279392"/>
            <a:ext cx="1691640" cy="384048"/>
          </a:xfrm>
          <a:prstGeom prst="rect">
            <a:avLst/>
          </a:prstGeom>
          <a:noFill/>
        </p:spPr>
        <p:txBody>
          <a:bodyPr wrap="square" anchor="t">
            <a:spAutoFit/>
          </a:bodyPr>
          <a:lstStyle/>
          <a:p>
            <a:pPr algn="l">
              <a:lnSpc>
                <a:spcPct val="100000"/>
              </a:lnSpc>
            </a:pPr>
            <a:r>
              <a:rPr sz="2100" b="1" i="0">
                <a:solidFill>
                  <a:srgbClr val="A21CAF"/>
                </a:solidFill>
                <a:latin typeface="Calibri"/>
              </a:rPr>
              <a:t>0.38%</a:t>
            </a:r>
          </a:p>
        </p:txBody>
      </p:sp>
      <p:sp>
        <p:nvSpPr>
          <p:cNvPr id="40" name="TextBox 39"/>
          <p:cNvSpPr txBox="1"/>
          <p:nvPr/>
        </p:nvSpPr>
        <p:spPr>
          <a:xfrm>
            <a:off x="5166359" y="4700016"/>
            <a:ext cx="1691640" cy="274320"/>
          </a:xfrm>
          <a:prstGeom prst="rect">
            <a:avLst/>
          </a:prstGeom>
          <a:noFill/>
        </p:spPr>
        <p:txBody>
          <a:bodyPr wrap="square" anchor="t">
            <a:spAutoFit/>
          </a:bodyPr>
          <a:lstStyle/>
          <a:p>
            <a:pPr algn="l">
              <a:lnSpc>
                <a:spcPct val="100000"/>
              </a:lnSpc>
            </a:pPr>
            <a:r>
              <a:rPr sz="1050" b="0" i="0">
                <a:solidFill>
                  <a:srgbClr val="94A3B8"/>
                </a:solidFill>
                <a:latin typeface="Calibri"/>
              </a:rPr>
              <a:t>Worth paying for</a:t>
            </a:r>
          </a:p>
        </p:txBody>
      </p:sp>
      <p:sp>
        <p:nvSpPr>
          <p:cNvPr id="41" name="Rectangle 40"/>
          <p:cNvSpPr/>
          <p:nvPr/>
        </p:nvSpPr>
        <p:spPr>
          <a:xfrm>
            <a:off x="7114031" y="4160520"/>
            <a:ext cx="1975104" cy="91440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278623" y="4279392"/>
            <a:ext cx="1691640" cy="384048"/>
          </a:xfrm>
          <a:prstGeom prst="rect">
            <a:avLst/>
          </a:prstGeom>
          <a:noFill/>
        </p:spPr>
        <p:txBody>
          <a:bodyPr wrap="square" anchor="t">
            <a:spAutoFit/>
          </a:bodyPr>
          <a:lstStyle/>
          <a:p>
            <a:pPr algn="l">
              <a:lnSpc>
                <a:spcPct val="100000"/>
              </a:lnSpc>
            </a:pPr>
            <a:r>
              <a:rPr sz="2100" b="1" i="0">
                <a:solidFill>
                  <a:srgbClr val="475569"/>
                </a:solidFill>
                <a:latin typeface="Calibri"/>
              </a:rPr>
              <a:t>1</a:t>
            </a:r>
          </a:p>
        </p:txBody>
      </p:sp>
      <p:sp>
        <p:nvSpPr>
          <p:cNvPr id="43" name="TextBox 42"/>
          <p:cNvSpPr txBox="1"/>
          <p:nvPr/>
        </p:nvSpPr>
        <p:spPr>
          <a:xfrm>
            <a:off x="7278623" y="4700016"/>
            <a:ext cx="1691640" cy="274320"/>
          </a:xfrm>
          <a:prstGeom prst="rect">
            <a:avLst/>
          </a:prstGeom>
          <a:noFill/>
        </p:spPr>
        <p:txBody>
          <a:bodyPr wrap="square" anchor="t">
            <a:spAutoFit/>
          </a:bodyPr>
          <a:lstStyle/>
          <a:p>
            <a:pPr algn="l">
              <a:lnSpc>
                <a:spcPct val="100000"/>
              </a:lnSpc>
            </a:pPr>
            <a:r>
              <a:rPr sz="1050" b="0" i="0">
                <a:solidFill>
                  <a:srgbClr val="94A3B8"/>
                </a:solidFill>
                <a:latin typeface="Calibri"/>
              </a:rPr>
              <a:t>Handoffs</a:t>
            </a:r>
          </a:p>
        </p:txBody>
      </p:sp>
      <p:sp>
        <p:nvSpPr>
          <p:cNvPr id="44" name="Rectangle 43"/>
          <p:cNvSpPr/>
          <p:nvPr/>
        </p:nvSpPr>
        <p:spPr>
          <a:xfrm>
            <a:off x="9226296" y="4160520"/>
            <a:ext cx="1975104" cy="91440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390888" y="4279392"/>
            <a:ext cx="1691640" cy="384048"/>
          </a:xfrm>
          <a:prstGeom prst="rect">
            <a:avLst/>
          </a:prstGeom>
          <a:noFill/>
        </p:spPr>
        <p:txBody>
          <a:bodyPr wrap="square" anchor="t">
            <a:spAutoFit/>
          </a:bodyPr>
          <a:lstStyle/>
          <a:p>
            <a:pPr algn="l">
              <a:lnSpc>
                <a:spcPct val="100000"/>
              </a:lnSpc>
            </a:pPr>
            <a:r>
              <a:rPr sz="2100" b="1" i="0">
                <a:solidFill>
                  <a:srgbClr val="B45309"/>
                </a:solidFill>
                <a:latin typeface="Calibri"/>
              </a:rPr>
              <a:t>3</a:t>
            </a:r>
          </a:p>
        </p:txBody>
      </p:sp>
      <p:sp>
        <p:nvSpPr>
          <p:cNvPr id="46" name="TextBox 45"/>
          <p:cNvSpPr txBox="1"/>
          <p:nvPr/>
        </p:nvSpPr>
        <p:spPr>
          <a:xfrm>
            <a:off x="9390888" y="4700016"/>
            <a:ext cx="1691640" cy="274320"/>
          </a:xfrm>
          <a:prstGeom prst="rect">
            <a:avLst/>
          </a:prstGeom>
          <a:noFill/>
        </p:spPr>
        <p:txBody>
          <a:bodyPr wrap="square" anchor="t">
            <a:spAutoFit/>
          </a:bodyPr>
          <a:lstStyle/>
          <a:p>
            <a:pPr algn="l">
              <a:lnSpc>
                <a:spcPct val="100000"/>
              </a:lnSpc>
            </a:pPr>
            <a:r>
              <a:rPr sz="1050" b="0" i="0">
                <a:solidFill>
                  <a:srgbClr val="94A3B8"/>
                </a:solidFill>
                <a:latin typeface="Calibri"/>
              </a:rPr>
              <a:t>Storm bursts</a:t>
            </a:r>
          </a:p>
        </p:txBody>
      </p:sp>
      <p:sp>
        <p:nvSpPr>
          <p:cNvPr id="47" name="Rectangle 46"/>
          <p:cNvSpPr/>
          <p:nvPr/>
        </p:nvSpPr>
        <p:spPr>
          <a:xfrm>
            <a:off x="777240" y="5285232"/>
            <a:ext cx="10424160" cy="886967"/>
          </a:xfrm>
          <a:prstGeom prst="rect">
            <a:avLst/>
          </a:prstGeom>
          <a:solidFill>
            <a:srgbClr val="FEF2F2"/>
          </a:solidFill>
          <a:ln w="1587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51560" y="5422392"/>
            <a:ext cx="9875520" cy="329184"/>
          </a:xfrm>
          <a:prstGeom prst="rect">
            <a:avLst/>
          </a:prstGeom>
          <a:noFill/>
        </p:spPr>
        <p:txBody>
          <a:bodyPr wrap="square" anchor="t">
            <a:spAutoFit/>
          </a:bodyPr>
          <a:lstStyle/>
          <a:p>
            <a:pPr algn="l">
              <a:lnSpc>
                <a:spcPct val="100000"/>
              </a:lnSpc>
            </a:pPr>
            <a:r>
              <a:rPr sz="1500" b="1" i="0">
                <a:solidFill>
                  <a:srgbClr val="991B1B"/>
                </a:solidFill>
                <a:latin typeface="Calibri"/>
              </a:rPr>
              <a:t>This is the number that stops the room</a:t>
            </a:r>
          </a:p>
        </p:txBody>
      </p:sp>
      <p:sp>
        <p:nvSpPr>
          <p:cNvPr id="49" name="TextBox 48"/>
          <p:cNvSpPr txBox="1"/>
          <p:nvPr/>
        </p:nvSpPr>
        <p:spPr>
          <a:xfrm>
            <a:off x="1051560" y="5815584"/>
            <a:ext cx="9875520" cy="228599"/>
          </a:xfrm>
          <a:prstGeom prst="rect">
            <a:avLst/>
          </a:prstGeom>
          <a:noFill/>
        </p:spPr>
        <p:txBody>
          <a:bodyPr wrap="square" anchor="t">
            <a:spAutoFit/>
          </a:bodyPr>
          <a:lstStyle/>
          <a:p>
            <a:pPr algn="l">
              <a:lnSpc>
                <a:spcPct val="112000"/>
              </a:lnSpc>
            </a:pPr>
            <a:r>
              <a:rPr sz="900" b="0" i="0">
                <a:solidFill>
                  <a:srgbClr val="475569"/>
                </a:solidFill>
                <a:latin typeface="Calibri"/>
              </a:rPr>
              <a:t>Thirty-nine minutes of work inside a seven-day wait. Nobody was lazy and nothing broke — the referral simply had no owner while it was in transit between two organizations.</a:t>
            </a:r>
          </a:p>
        </p:txBody>
      </p:sp>
      <p:sp>
        <p:nvSpPr>
          <p:cNvPr id="50" name="TextBox 49"/>
          <p:cNvSpPr txBox="1"/>
          <p:nvPr/>
        </p:nvSpPr>
        <p:spPr>
          <a:xfrm>
            <a:off x="777240" y="6355080"/>
            <a:ext cx="5486400" cy="274320"/>
          </a:xfrm>
          <a:prstGeom prst="rect">
            <a:avLst/>
          </a:prstGeom>
          <a:noFill/>
        </p:spPr>
        <p:txBody>
          <a:bodyPr wrap="square" anchor="t">
            <a:spAutoFit/>
          </a:bodyPr>
          <a:lstStyle/>
          <a:p>
            <a:pPr algn="l">
              <a:lnSpc>
                <a:spcPct val="100000"/>
              </a:lnSpc>
            </a:pPr>
            <a:r>
              <a:rPr sz="900" b="0" i="0">
                <a:solidFill>
                  <a:srgbClr val="94A3B8"/>
                </a:solidFill>
                <a:latin typeface="Calibri"/>
              </a:rPr>
              <a:t>RCN · Lean in Healthcare — VSM + A3</a:t>
            </a:r>
          </a:p>
        </p:txBody>
      </p:sp>
      <p:sp>
        <p:nvSpPr>
          <p:cNvPr id="51" name="TextBox 50"/>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4A3B8"/>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A21CAF"/>
                </a:solidFill>
                <a:latin typeface="Calibri"/>
              </a:rPr>
              <a:t>CHECK OBSERVATION</a:t>
            </a:r>
          </a:p>
        </p:txBody>
      </p:sp>
      <p:sp>
        <p:nvSpPr>
          <p:cNvPr id="3" name="TextBox 2"/>
          <p:cNvSpPr txBox="1"/>
          <p:nvPr/>
        </p:nvSpPr>
        <p:spPr>
          <a:xfrm>
            <a:off x="777240" y="868680"/>
            <a:ext cx="10607040" cy="1188720"/>
          </a:xfrm>
          <a:prstGeom prst="rect">
            <a:avLst/>
          </a:prstGeom>
          <a:noFill/>
        </p:spPr>
        <p:txBody>
          <a:bodyPr wrap="square" anchor="t">
            <a:spAutoFit/>
          </a:bodyPr>
          <a:lstStyle/>
          <a:p>
            <a:pPr algn="l">
              <a:lnSpc>
                <a:spcPct val="95000"/>
              </a:lnSpc>
            </a:pPr>
            <a:r>
              <a:rPr sz="3400" b="1" i="0">
                <a:solidFill>
                  <a:srgbClr val="0F172A"/>
                </a:solidFill>
                <a:latin typeface="Calibri"/>
              </a:rPr>
              <a:t>The tool checks the observation, not the drawing</a:t>
            </a:r>
          </a:p>
        </p:txBody>
      </p:sp>
      <p:sp>
        <p:nvSpPr>
          <p:cNvPr id="4" name="TextBox 3"/>
          <p:cNvSpPr txBox="1"/>
          <p:nvPr/>
        </p:nvSpPr>
        <p:spPr>
          <a:xfrm>
            <a:off x="777240" y="1874519"/>
            <a:ext cx="10424160" cy="365760"/>
          </a:xfrm>
          <a:prstGeom prst="rect">
            <a:avLst/>
          </a:prstGeom>
          <a:noFill/>
        </p:spPr>
        <p:txBody>
          <a:bodyPr wrap="square" anchor="t">
            <a:spAutoFit/>
          </a:bodyPr>
          <a:lstStyle/>
          <a:p>
            <a:pPr algn="l">
              <a:lnSpc>
                <a:spcPct val="100000"/>
              </a:lnSpc>
            </a:pPr>
            <a:r>
              <a:rPr sz="1500" b="0" i="0">
                <a:solidFill>
                  <a:srgbClr val="475569"/>
                </a:solidFill>
                <a:latin typeface="Calibri"/>
              </a:rPr>
              <a:t>A tidy diagram can still be a reconstruction from policy. These are the questions it asks you:</a:t>
            </a:r>
          </a:p>
        </p:txBody>
      </p:sp>
      <p:sp>
        <p:nvSpPr>
          <p:cNvPr id="5" name="Rectangle 4"/>
          <p:cNvSpPr/>
          <p:nvPr/>
        </p:nvSpPr>
        <p:spPr>
          <a:xfrm>
            <a:off x="777240" y="2377440"/>
            <a:ext cx="50292" cy="512064"/>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395728"/>
            <a:ext cx="3931920" cy="320040"/>
          </a:xfrm>
          <a:prstGeom prst="rect">
            <a:avLst/>
          </a:prstGeom>
          <a:noFill/>
        </p:spPr>
        <p:txBody>
          <a:bodyPr wrap="square" anchor="t">
            <a:spAutoFit/>
          </a:bodyPr>
          <a:lstStyle/>
          <a:p>
            <a:pPr algn="l">
              <a:lnSpc>
                <a:spcPct val="100000"/>
              </a:lnSpc>
            </a:pPr>
            <a:r>
              <a:rPr sz="1400" b="1" i="0">
                <a:solidFill>
                  <a:srgbClr val="0F172A"/>
                </a:solidFill>
                <a:latin typeface="Calibri"/>
              </a:rPr>
              <a:t>Nothing in the patient lane</a:t>
            </a:r>
          </a:p>
        </p:txBody>
      </p:sp>
      <p:sp>
        <p:nvSpPr>
          <p:cNvPr id="7" name="TextBox 6"/>
          <p:cNvSpPr txBox="1"/>
          <p:nvPr/>
        </p:nvSpPr>
        <p:spPr>
          <a:xfrm>
            <a:off x="5029200" y="2404872"/>
            <a:ext cx="6172200" cy="365760"/>
          </a:xfrm>
          <a:prstGeom prst="rect">
            <a:avLst/>
          </a:prstGeom>
          <a:noFill/>
        </p:spPr>
        <p:txBody>
          <a:bodyPr wrap="square" anchor="t">
            <a:spAutoFit/>
          </a:bodyPr>
          <a:lstStyle/>
          <a:p>
            <a:pPr algn="l">
              <a:lnSpc>
                <a:spcPct val="100000"/>
              </a:lnSpc>
            </a:pPr>
            <a:r>
              <a:rPr sz="1300" b="0" i="0">
                <a:solidFill>
                  <a:srgbClr val="475569"/>
                </a:solidFill>
                <a:latin typeface="Calibri"/>
              </a:rPr>
              <a:t>Then it is a process map, not a value stream.</a:t>
            </a:r>
          </a:p>
        </p:txBody>
      </p:sp>
      <p:sp>
        <p:nvSpPr>
          <p:cNvPr id="8" name="Rectangle 7"/>
          <p:cNvSpPr/>
          <p:nvPr/>
        </p:nvSpPr>
        <p:spPr>
          <a:xfrm>
            <a:off x="777240" y="2980944"/>
            <a:ext cx="50292" cy="512064"/>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999232"/>
            <a:ext cx="3931920" cy="320040"/>
          </a:xfrm>
          <a:prstGeom prst="rect">
            <a:avLst/>
          </a:prstGeom>
          <a:noFill/>
        </p:spPr>
        <p:txBody>
          <a:bodyPr wrap="square" anchor="t">
            <a:spAutoFit/>
          </a:bodyPr>
          <a:lstStyle/>
          <a:p>
            <a:pPr algn="l">
              <a:lnSpc>
                <a:spcPct val="100000"/>
              </a:lnSpc>
            </a:pPr>
            <a:r>
              <a:rPr sz="1400" b="1" i="0">
                <a:solidFill>
                  <a:srgbClr val="0F172A"/>
                </a:solidFill>
                <a:latin typeface="Calibri"/>
              </a:rPr>
              <a:t>No times recorded</a:t>
            </a:r>
          </a:p>
        </p:txBody>
      </p:sp>
      <p:sp>
        <p:nvSpPr>
          <p:cNvPr id="10" name="TextBox 9"/>
          <p:cNvSpPr txBox="1"/>
          <p:nvPr/>
        </p:nvSpPr>
        <p:spPr>
          <a:xfrm>
            <a:off x="5029200" y="3008376"/>
            <a:ext cx="6172200" cy="365760"/>
          </a:xfrm>
          <a:prstGeom prst="rect">
            <a:avLst/>
          </a:prstGeom>
          <a:noFill/>
        </p:spPr>
        <p:txBody>
          <a:bodyPr wrap="square" anchor="t">
            <a:spAutoFit/>
          </a:bodyPr>
          <a:lstStyle/>
          <a:p>
            <a:pPr algn="l">
              <a:lnSpc>
                <a:spcPct val="100000"/>
              </a:lnSpc>
            </a:pPr>
            <a:r>
              <a:rPr sz="1300" b="0" i="0">
                <a:solidFill>
                  <a:srgbClr val="475569"/>
                </a:solidFill>
                <a:latin typeface="Calibri"/>
              </a:rPr>
              <a:t>The ratio is the whole argument. Without it this is a flowchart.</a:t>
            </a:r>
          </a:p>
        </p:txBody>
      </p:sp>
      <p:sp>
        <p:nvSpPr>
          <p:cNvPr id="11" name="Rectangle 10"/>
          <p:cNvSpPr/>
          <p:nvPr/>
        </p:nvSpPr>
        <p:spPr>
          <a:xfrm>
            <a:off x="777240" y="3584448"/>
            <a:ext cx="50292" cy="512064"/>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3602736"/>
            <a:ext cx="3931920" cy="320040"/>
          </a:xfrm>
          <a:prstGeom prst="rect">
            <a:avLst/>
          </a:prstGeom>
          <a:noFill/>
        </p:spPr>
        <p:txBody>
          <a:bodyPr wrap="square" anchor="t">
            <a:spAutoFit/>
          </a:bodyPr>
          <a:lstStyle/>
          <a:p>
            <a:pPr algn="l">
              <a:lnSpc>
                <a:spcPct val="100000"/>
              </a:lnSpc>
            </a:pPr>
            <a:r>
              <a:rPr sz="1400" b="1" i="0">
                <a:solidFill>
                  <a:srgbClr val="0F172A"/>
                </a:solidFill>
                <a:latin typeface="Calibri"/>
              </a:rPr>
              <a:t>All value-added, no waiting</a:t>
            </a:r>
          </a:p>
        </p:txBody>
      </p:sp>
      <p:sp>
        <p:nvSpPr>
          <p:cNvPr id="13" name="TextBox 12"/>
          <p:cNvSpPr txBox="1"/>
          <p:nvPr/>
        </p:nvSpPr>
        <p:spPr>
          <a:xfrm>
            <a:off x="5029200" y="3611879"/>
            <a:ext cx="6172200" cy="365760"/>
          </a:xfrm>
          <a:prstGeom prst="rect">
            <a:avLst/>
          </a:prstGeom>
          <a:noFill/>
        </p:spPr>
        <p:txBody>
          <a:bodyPr wrap="square" anchor="t">
            <a:spAutoFit/>
          </a:bodyPr>
          <a:lstStyle/>
          <a:p>
            <a:pPr algn="l">
              <a:lnSpc>
                <a:spcPct val="100000"/>
              </a:lnSpc>
            </a:pPr>
            <a:r>
              <a:rPr sz="1300" b="0" i="0">
                <a:solidFill>
                  <a:srgbClr val="475569"/>
                </a:solidFill>
                <a:latin typeface="Calibri"/>
              </a:rPr>
              <a:t>That almost never survives real watching. Did you reconstruct this?</a:t>
            </a:r>
          </a:p>
        </p:txBody>
      </p:sp>
      <p:sp>
        <p:nvSpPr>
          <p:cNvPr id="14" name="Rectangle 13"/>
          <p:cNvSpPr/>
          <p:nvPr/>
        </p:nvSpPr>
        <p:spPr>
          <a:xfrm>
            <a:off x="777240" y="4187952"/>
            <a:ext cx="50292" cy="51206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4206240"/>
            <a:ext cx="3931920" cy="320040"/>
          </a:xfrm>
          <a:prstGeom prst="rect">
            <a:avLst/>
          </a:prstGeom>
          <a:noFill/>
        </p:spPr>
        <p:txBody>
          <a:bodyPr wrap="square" anchor="t">
            <a:spAutoFit/>
          </a:bodyPr>
          <a:lstStyle/>
          <a:p>
            <a:pPr algn="l">
              <a:lnSpc>
                <a:spcPct val="100000"/>
              </a:lnSpc>
            </a:pPr>
            <a:r>
              <a:rPr sz="1400" b="1" i="0">
                <a:solidFill>
                  <a:srgbClr val="0F172A"/>
                </a:solidFill>
                <a:latin typeface="Calibri"/>
              </a:rPr>
              <a:t>A ratio over 50%</a:t>
            </a:r>
          </a:p>
        </p:txBody>
      </p:sp>
      <p:sp>
        <p:nvSpPr>
          <p:cNvPr id="16" name="TextBox 15"/>
          <p:cNvSpPr txBox="1"/>
          <p:nvPr/>
        </p:nvSpPr>
        <p:spPr>
          <a:xfrm>
            <a:off x="5029200" y="4215384"/>
            <a:ext cx="6172200" cy="365760"/>
          </a:xfrm>
          <a:prstGeom prst="rect">
            <a:avLst/>
          </a:prstGeom>
          <a:noFill/>
        </p:spPr>
        <p:txBody>
          <a:bodyPr wrap="square" anchor="t">
            <a:spAutoFit/>
          </a:bodyPr>
          <a:lstStyle/>
          <a:p>
            <a:pPr algn="l">
              <a:lnSpc>
                <a:spcPct val="100000"/>
              </a:lnSpc>
            </a:pPr>
            <a:r>
              <a:rPr sz="1300" b="0" i="0">
                <a:solidFill>
                  <a:srgbClr val="475569"/>
                </a:solidFill>
                <a:latin typeface="Calibri"/>
              </a:rPr>
              <a:t>Check the units — times are minutes.</a:t>
            </a:r>
          </a:p>
        </p:txBody>
      </p:sp>
      <p:sp>
        <p:nvSpPr>
          <p:cNvPr id="17" name="Rectangle 16"/>
          <p:cNvSpPr/>
          <p:nvPr/>
        </p:nvSpPr>
        <p:spPr>
          <a:xfrm>
            <a:off x="777240" y="4791456"/>
            <a:ext cx="50292" cy="51206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4809744"/>
            <a:ext cx="3931920" cy="320040"/>
          </a:xfrm>
          <a:prstGeom prst="rect">
            <a:avLst/>
          </a:prstGeom>
          <a:noFill/>
        </p:spPr>
        <p:txBody>
          <a:bodyPr wrap="square" anchor="t">
            <a:spAutoFit/>
          </a:bodyPr>
          <a:lstStyle/>
          <a:p>
            <a:pPr algn="l">
              <a:lnSpc>
                <a:spcPct val="100000"/>
              </a:lnSpc>
            </a:pPr>
            <a:r>
              <a:rPr sz="1400" b="1" i="0">
                <a:solidFill>
                  <a:srgbClr val="0F172A"/>
                </a:solidFill>
                <a:latin typeface="Calibri"/>
              </a:rPr>
              <a:t>An unnamed storm burst</a:t>
            </a:r>
          </a:p>
        </p:txBody>
      </p:sp>
      <p:sp>
        <p:nvSpPr>
          <p:cNvPr id="19" name="TextBox 18"/>
          <p:cNvSpPr txBox="1"/>
          <p:nvPr/>
        </p:nvSpPr>
        <p:spPr>
          <a:xfrm>
            <a:off x="5029200" y="4818888"/>
            <a:ext cx="6172200" cy="365760"/>
          </a:xfrm>
          <a:prstGeom prst="rect">
            <a:avLst/>
          </a:prstGeom>
          <a:noFill/>
        </p:spPr>
        <p:txBody>
          <a:bodyPr wrap="square" anchor="t">
            <a:spAutoFit/>
          </a:bodyPr>
          <a:lstStyle/>
          <a:p>
            <a:pPr algn="l">
              <a:lnSpc>
                <a:spcPct val="100000"/>
              </a:lnSpc>
            </a:pPr>
            <a:r>
              <a:rPr sz="1300" b="0" i="0">
                <a:solidFill>
                  <a:srgbClr val="475569"/>
                </a:solidFill>
                <a:latin typeface="Calibri"/>
              </a:rPr>
              <a:t>Say what went wrong, or it is not a finding.</a:t>
            </a:r>
          </a:p>
        </p:txBody>
      </p:sp>
      <p:sp>
        <p:nvSpPr>
          <p:cNvPr id="20" name="Rectangle 19"/>
          <p:cNvSpPr/>
          <p:nvPr/>
        </p:nvSpPr>
        <p:spPr>
          <a:xfrm>
            <a:off x="777240" y="5394960"/>
            <a:ext cx="50292" cy="51206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5413248"/>
            <a:ext cx="3931920" cy="320040"/>
          </a:xfrm>
          <a:prstGeom prst="rect">
            <a:avLst/>
          </a:prstGeom>
          <a:noFill/>
        </p:spPr>
        <p:txBody>
          <a:bodyPr wrap="square" anchor="t">
            <a:spAutoFit/>
          </a:bodyPr>
          <a:lstStyle/>
          <a:p>
            <a:pPr algn="l">
              <a:lnSpc>
                <a:spcPct val="100000"/>
              </a:lnSpc>
            </a:pPr>
            <a:r>
              <a:rPr sz="1400" b="1" i="0">
                <a:solidFill>
                  <a:srgbClr val="0F172A"/>
                </a:solidFill>
                <a:latin typeface="Calibri"/>
              </a:rPr>
              <a:t>No information flow at all</a:t>
            </a:r>
          </a:p>
        </p:txBody>
      </p:sp>
      <p:sp>
        <p:nvSpPr>
          <p:cNvPr id="22" name="TextBox 21"/>
          <p:cNvSpPr txBox="1"/>
          <p:nvPr/>
        </p:nvSpPr>
        <p:spPr>
          <a:xfrm>
            <a:off x="5029200" y="5422392"/>
            <a:ext cx="6172200" cy="365760"/>
          </a:xfrm>
          <a:prstGeom prst="rect">
            <a:avLst/>
          </a:prstGeom>
          <a:noFill/>
        </p:spPr>
        <p:txBody>
          <a:bodyPr wrap="square" anchor="t">
            <a:spAutoFit/>
          </a:bodyPr>
          <a:lstStyle/>
          <a:p>
            <a:pPr algn="l">
              <a:lnSpc>
                <a:spcPct val="100000"/>
              </a:lnSpc>
            </a:pPr>
            <a:r>
              <a:rPr sz="1300" b="0" i="0">
                <a:solidFill>
                  <a:srgbClr val="475569"/>
                </a:solidFill>
                <a:latin typeface="Calibri"/>
              </a:rPr>
              <a:t>One of the four flows is missing, and it is usually this one.</a:t>
            </a:r>
          </a:p>
        </p:txBody>
      </p:sp>
      <p:sp>
        <p:nvSpPr>
          <p:cNvPr id="23" name="TextBox 22"/>
          <p:cNvSpPr txBox="1"/>
          <p:nvPr/>
        </p:nvSpPr>
        <p:spPr>
          <a:xfrm>
            <a:off x="777240" y="6355080"/>
            <a:ext cx="5486400" cy="274320"/>
          </a:xfrm>
          <a:prstGeom prst="rect">
            <a:avLst/>
          </a:prstGeom>
          <a:noFill/>
        </p:spPr>
        <p:txBody>
          <a:bodyPr wrap="square" anchor="t">
            <a:spAutoFit/>
          </a:bodyPr>
          <a:lstStyle/>
          <a:p>
            <a:pPr algn="l">
              <a:lnSpc>
                <a:spcPct val="100000"/>
              </a:lnSpc>
            </a:pPr>
            <a:r>
              <a:rPr sz="900" b="0" i="0">
                <a:solidFill>
                  <a:srgbClr val="94A3B8"/>
                </a:solidFill>
                <a:latin typeface="Calibri"/>
              </a:rPr>
              <a:t>RCN · Lean in Healthcare — VSM + A3</a:t>
            </a:r>
          </a:p>
        </p:txBody>
      </p:sp>
      <p:sp>
        <p:nvSpPr>
          <p:cNvPr id="24" name="TextBox 23"/>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4A3B8"/>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4A044E"/>
        </a:solidFill>
        <a:effectLst/>
      </p:bgPr>
    </p:bg>
    <p:spTree>
      <p:nvGrpSpPr>
        <p:cNvPr id="1" name=""/>
        <p:cNvGrpSpPr/>
        <p:nvPr/>
      </p:nvGrpSpPr>
      <p:grpSpPr/>
      <p:sp>
        <p:nvSpPr>
          <p:cNvPr id="2" name="TextBox 1"/>
          <p:cNvSpPr txBox="1"/>
          <p:nvPr/>
        </p:nvSpPr>
        <p:spPr>
          <a:xfrm>
            <a:off x="777240" y="685800"/>
            <a:ext cx="10058400" cy="292608"/>
          </a:xfrm>
          <a:prstGeom prst="rect">
            <a:avLst/>
          </a:prstGeom>
          <a:noFill/>
        </p:spPr>
        <p:txBody>
          <a:bodyPr wrap="square" anchor="t">
            <a:spAutoFit/>
          </a:bodyPr>
          <a:lstStyle/>
          <a:p>
            <a:pPr algn="l">
              <a:lnSpc>
                <a:spcPct val="100000"/>
              </a:lnSpc>
            </a:pPr>
            <a:r>
              <a:rPr sz="1100" b="1" i="0">
                <a:solidFill>
                  <a:srgbClr val="D98FE0"/>
                </a:solidFill>
                <a:latin typeface="Calibri"/>
              </a:rPr>
              <a:t>THE PART THAT MAKES IT A METHOD</a:t>
            </a:r>
          </a:p>
        </p:txBody>
      </p:sp>
      <p:sp>
        <p:nvSpPr>
          <p:cNvPr id="3" name="TextBox 2"/>
          <p:cNvSpPr txBox="1"/>
          <p:nvPr/>
        </p:nvSpPr>
        <p:spPr>
          <a:xfrm>
            <a:off x="777240" y="1097280"/>
            <a:ext cx="10424160" cy="731520"/>
          </a:xfrm>
          <a:prstGeom prst="rect">
            <a:avLst/>
          </a:prstGeom>
          <a:noFill/>
        </p:spPr>
        <p:txBody>
          <a:bodyPr wrap="square" anchor="t">
            <a:spAutoFit/>
          </a:bodyPr>
          <a:lstStyle/>
          <a:p>
            <a:pPr algn="l">
              <a:lnSpc>
                <a:spcPct val="100000"/>
              </a:lnSpc>
            </a:pPr>
            <a:r>
              <a:rPr sz="3400" b="1" i="0">
                <a:solidFill>
                  <a:srgbClr val="FFFFFF"/>
                </a:solidFill>
                <a:latin typeface="Calibri"/>
              </a:rPr>
              <a:t>A storm burst becomes an A3</a:t>
            </a:r>
          </a:p>
        </p:txBody>
      </p:sp>
      <p:sp>
        <p:nvSpPr>
          <p:cNvPr id="4" name="Oval 3"/>
          <p:cNvSpPr/>
          <p:nvPr/>
        </p:nvSpPr>
        <p:spPr>
          <a:xfrm>
            <a:off x="777239" y="2130552"/>
            <a:ext cx="585216" cy="585216"/>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8" y="2231136"/>
            <a:ext cx="548640" cy="365760"/>
          </a:xfrm>
          <a:prstGeom prst="rect">
            <a:avLst/>
          </a:prstGeom>
          <a:noFill/>
        </p:spPr>
        <p:txBody>
          <a:bodyPr wrap="square" anchor="t">
            <a:spAutoFit/>
          </a:bodyPr>
          <a:lstStyle/>
          <a:p>
            <a:pPr algn="ctr">
              <a:lnSpc>
                <a:spcPct val="100000"/>
              </a:lnSpc>
            </a:pPr>
            <a:r>
              <a:rPr sz="1700" b="1" i="0">
                <a:solidFill>
                  <a:srgbClr val="FFFFFF"/>
                </a:solidFill>
                <a:latin typeface="Calibri"/>
              </a:rPr>
              <a:t>1</a:t>
            </a:r>
          </a:p>
        </p:txBody>
      </p:sp>
      <p:sp>
        <p:nvSpPr>
          <p:cNvPr id="6" name="TextBox 5"/>
          <p:cNvSpPr txBox="1"/>
          <p:nvPr/>
        </p:nvSpPr>
        <p:spPr>
          <a:xfrm>
            <a:off x="777240" y="2880360"/>
            <a:ext cx="2468880" cy="365760"/>
          </a:xfrm>
          <a:prstGeom prst="rect">
            <a:avLst/>
          </a:prstGeom>
          <a:noFill/>
        </p:spPr>
        <p:txBody>
          <a:bodyPr wrap="square" anchor="t">
            <a:spAutoFit/>
          </a:bodyPr>
          <a:lstStyle/>
          <a:p>
            <a:pPr algn="l">
              <a:lnSpc>
                <a:spcPct val="100000"/>
              </a:lnSpc>
            </a:pPr>
            <a:r>
              <a:rPr sz="1600" b="1" i="0">
                <a:solidFill>
                  <a:srgbClr val="FFFFFF"/>
                </a:solidFill>
                <a:latin typeface="Calibri"/>
              </a:rPr>
              <a:t>Map the stream</a:t>
            </a:r>
          </a:p>
        </p:txBody>
      </p:sp>
      <p:sp>
        <p:nvSpPr>
          <p:cNvPr id="7" name="TextBox 6"/>
          <p:cNvSpPr txBox="1"/>
          <p:nvPr/>
        </p:nvSpPr>
        <p:spPr>
          <a:xfrm>
            <a:off x="777240" y="3310128"/>
            <a:ext cx="2468880" cy="1188720"/>
          </a:xfrm>
          <a:prstGeom prst="rect">
            <a:avLst/>
          </a:prstGeom>
          <a:noFill/>
        </p:spPr>
        <p:txBody>
          <a:bodyPr wrap="square" anchor="t">
            <a:spAutoFit/>
          </a:bodyPr>
          <a:lstStyle/>
          <a:p>
            <a:pPr algn="l">
              <a:lnSpc>
                <a:spcPct val="120000"/>
              </a:lnSpc>
            </a:pPr>
            <a:r>
              <a:rPr sz="1250" b="0" i="0">
                <a:solidFill>
                  <a:srgbClr val="C9A5D5"/>
                </a:solidFill>
                <a:latin typeface="Calibri"/>
              </a:rPr>
              <a:t>One patient, one pass, times as you saw them.</a:t>
            </a:r>
          </a:p>
        </p:txBody>
      </p:sp>
      <p:cxnSp>
        <p:nvCxnSpPr>
          <p:cNvPr id="8" name="Connector 7"/>
          <p:cNvCxnSpPr/>
          <p:nvPr/>
        </p:nvCxnSpPr>
        <p:spPr>
          <a:xfrm>
            <a:off x="3154680" y="2423160"/>
            <a:ext cx="320040" cy="0"/>
          </a:xfrm>
          <a:prstGeom prst="line">
            <a:avLst/>
          </a:prstGeom>
          <a:ln w="19050">
            <a:solidFill>
              <a:srgbClr val="7A4F82"/>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3474720" y="2130552"/>
            <a:ext cx="585216" cy="585216"/>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93008" y="2231136"/>
            <a:ext cx="548640" cy="365760"/>
          </a:xfrm>
          <a:prstGeom prst="rect">
            <a:avLst/>
          </a:prstGeom>
          <a:noFill/>
        </p:spPr>
        <p:txBody>
          <a:bodyPr wrap="square" anchor="t">
            <a:spAutoFit/>
          </a:bodyPr>
          <a:lstStyle/>
          <a:p>
            <a:pPr algn="ctr">
              <a:lnSpc>
                <a:spcPct val="100000"/>
              </a:lnSpc>
            </a:pPr>
            <a:r>
              <a:rPr sz="1700" b="1" i="0">
                <a:solidFill>
                  <a:srgbClr val="FFFFFF"/>
                </a:solidFill>
                <a:latin typeface="Calibri"/>
              </a:rPr>
              <a:t>2</a:t>
            </a:r>
          </a:p>
        </p:txBody>
      </p:sp>
      <p:sp>
        <p:nvSpPr>
          <p:cNvPr id="11" name="TextBox 10"/>
          <p:cNvSpPr txBox="1"/>
          <p:nvPr/>
        </p:nvSpPr>
        <p:spPr>
          <a:xfrm>
            <a:off x="3474720" y="2880360"/>
            <a:ext cx="2468880" cy="365760"/>
          </a:xfrm>
          <a:prstGeom prst="rect">
            <a:avLst/>
          </a:prstGeom>
          <a:noFill/>
        </p:spPr>
        <p:txBody>
          <a:bodyPr wrap="square" anchor="t">
            <a:spAutoFit/>
          </a:bodyPr>
          <a:lstStyle/>
          <a:p>
            <a:pPr algn="l">
              <a:lnSpc>
                <a:spcPct val="100000"/>
              </a:lnSpc>
            </a:pPr>
            <a:r>
              <a:rPr sz="1600" b="1" i="0">
                <a:solidFill>
                  <a:srgbClr val="FFFFFF"/>
                </a:solidFill>
                <a:latin typeface="Calibri"/>
              </a:rPr>
              <a:t>Mark the bursts</a:t>
            </a:r>
          </a:p>
        </p:txBody>
      </p:sp>
      <p:sp>
        <p:nvSpPr>
          <p:cNvPr id="12" name="TextBox 11"/>
          <p:cNvSpPr txBox="1"/>
          <p:nvPr/>
        </p:nvSpPr>
        <p:spPr>
          <a:xfrm>
            <a:off x="3474720" y="3310128"/>
            <a:ext cx="2468880" cy="1188720"/>
          </a:xfrm>
          <a:prstGeom prst="rect">
            <a:avLst/>
          </a:prstGeom>
          <a:noFill/>
        </p:spPr>
        <p:txBody>
          <a:bodyPr wrap="square" anchor="t">
            <a:spAutoFit/>
          </a:bodyPr>
          <a:lstStyle/>
          <a:p>
            <a:pPr algn="l">
              <a:lnSpc>
                <a:spcPct val="120000"/>
              </a:lnSpc>
            </a:pPr>
            <a:r>
              <a:rPr sz="1250" b="0" i="0">
                <a:solidFill>
                  <a:srgbClr val="C9A5D5"/>
                </a:solidFill>
                <a:latin typeface="Calibri"/>
              </a:rPr>
              <a:t>Every problem witnessed. Name each one.</a:t>
            </a:r>
          </a:p>
        </p:txBody>
      </p:sp>
      <p:cxnSp>
        <p:nvCxnSpPr>
          <p:cNvPr id="13" name="Connector 12"/>
          <p:cNvCxnSpPr/>
          <p:nvPr/>
        </p:nvCxnSpPr>
        <p:spPr>
          <a:xfrm>
            <a:off x="5852160" y="2423160"/>
            <a:ext cx="320040" cy="0"/>
          </a:xfrm>
          <a:prstGeom prst="line">
            <a:avLst/>
          </a:prstGeom>
          <a:ln w="19050">
            <a:solidFill>
              <a:srgbClr val="7A4F82"/>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6172200" y="2130552"/>
            <a:ext cx="585216" cy="585216"/>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90488" y="2231136"/>
            <a:ext cx="548640" cy="365760"/>
          </a:xfrm>
          <a:prstGeom prst="rect">
            <a:avLst/>
          </a:prstGeom>
          <a:noFill/>
        </p:spPr>
        <p:txBody>
          <a:bodyPr wrap="square" anchor="t">
            <a:spAutoFit/>
          </a:bodyPr>
          <a:lstStyle/>
          <a:p>
            <a:pPr algn="ctr">
              <a:lnSpc>
                <a:spcPct val="100000"/>
              </a:lnSpc>
            </a:pPr>
            <a:r>
              <a:rPr sz="1700" b="1" i="0">
                <a:solidFill>
                  <a:srgbClr val="FFFFFF"/>
                </a:solidFill>
                <a:latin typeface="Calibri"/>
              </a:rPr>
              <a:t>3</a:t>
            </a:r>
          </a:p>
        </p:txBody>
      </p:sp>
      <p:sp>
        <p:nvSpPr>
          <p:cNvPr id="16" name="TextBox 15"/>
          <p:cNvSpPr txBox="1"/>
          <p:nvPr/>
        </p:nvSpPr>
        <p:spPr>
          <a:xfrm>
            <a:off x="6172200" y="2880360"/>
            <a:ext cx="2468880" cy="365760"/>
          </a:xfrm>
          <a:prstGeom prst="rect">
            <a:avLst/>
          </a:prstGeom>
          <a:noFill/>
        </p:spPr>
        <p:txBody>
          <a:bodyPr wrap="square" anchor="t">
            <a:spAutoFit/>
          </a:bodyPr>
          <a:lstStyle/>
          <a:p>
            <a:pPr algn="l">
              <a:lnSpc>
                <a:spcPct val="100000"/>
              </a:lnSpc>
            </a:pPr>
            <a:r>
              <a:rPr sz="1600" b="1" i="0">
                <a:solidFill>
                  <a:srgbClr val="FFFFFF"/>
                </a:solidFill>
                <a:latin typeface="Calibri"/>
              </a:rPr>
              <a:t>Choose one</a:t>
            </a:r>
          </a:p>
        </p:txBody>
      </p:sp>
      <p:sp>
        <p:nvSpPr>
          <p:cNvPr id="17" name="TextBox 16"/>
          <p:cNvSpPr txBox="1"/>
          <p:nvPr/>
        </p:nvSpPr>
        <p:spPr>
          <a:xfrm>
            <a:off x="6172200" y="3310128"/>
            <a:ext cx="2468880" cy="1188720"/>
          </a:xfrm>
          <a:prstGeom prst="rect">
            <a:avLst/>
          </a:prstGeom>
          <a:noFill/>
        </p:spPr>
        <p:txBody>
          <a:bodyPr wrap="square" anchor="t">
            <a:spAutoFit/>
          </a:bodyPr>
          <a:lstStyle/>
          <a:p>
            <a:pPr algn="l">
              <a:lnSpc>
                <a:spcPct val="120000"/>
              </a:lnSpc>
            </a:pPr>
            <a:r>
              <a:rPr sz="1250" b="0" i="0">
                <a:solidFill>
                  <a:srgbClr val="C9A5D5"/>
                </a:solidFill>
                <a:latin typeface="Calibri"/>
              </a:rPr>
              <a:t>Exactly one burst gets the A3. The rest stay as candidates.</a:t>
            </a:r>
          </a:p>
        </p:txBody>
      </p:sp>
      <p:cxnSp>
        <p:nvCxnSpPr>
          <p:cNvPr id="18" name="Connector 17"/>
          <p:cNvCxnSpPr/>
          <p:nvPr/>
        </p:nvCxnSpPr>
        <p:spPr>
          <a:xfrm>
            <a:off x="8549640" y="2423160"/>
            <a:ext cx="320040" cy="0"/>
          </a:xfrm>
          <a:prstGeom prst="line">
            <a:avLst/>
          </a:prstGeom>
          <a:ln w="19050">
            <a:solidFill>
              <a:srgbClr val="7A4F82"/>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8869680" y="2130552"/>
            <a:ext cx="585216" cy="585216"/>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87968" y="2231136"/>
            <a:ext cx="548640" cy="365760"/>
          </a:xfrm>
          <a:prstGeom prst="rect">
            <a:avLst/>
          </a:prstGeom>
          <a:noFill/>
        </p:spPr>
        <p:txBody>
          <a:bodyPr wrap="square" anchor="t">
            <a:spAutoFit/>
          </a:bodyPr>
          <a:lstStyle/>
          <a:p>
            <a:pPr algn="ctr">
              <a:lnSpc>
                <a:spcPct val="100000"/>
              </a:lnSpc>
            </a:pPr>
            <a:r>
              <a:rPr sz="1700" b="1" i="0">
                <a:solidFill>
                  <a:srgbClr val="FFFFFF"/>
                </a:solidFill>
                <a:latin typeface="Calibri"/>
              </a:rPr>
              <a:t>4</a:t>
            </a:r>
          </a:p>
        </p:txBody>
      </p:sp>
      <p:sp>
        <p:nvSpPr>
          <p:cNvPr id="21" name="TextBox 20"/>
          <p:cNvSpPr txBox="1"/>
          <p:nvPr/>
        </p:nvSpPr>
        <p:spPr>
          <a:xfrm>
            <a:off x="8869680" y="2880360"/>
            <a:ext cx="2468880" cy="365760"/>
          </a:xfrm>
          <a:prstGeom prst="rect">
            <a:avLst/>
          </a:prstGeom>
          <a:noFill/>
        </p:spPr>
        <p:txBody>
          <a:bodyPr wrap="square" anchor="t">
            <a:spAutoFit/>
          </a:bodyPr>
          <a:lstStyle/>
          <a:p>
            <a:pPr algn="l">
              <a:lnSpc>
                <a:spcPct val="100000"/>
              </a:lnSpc>
            </a:pPr>
            <a:r>
              <a:rPr sz="1600" b="1" i="0">
                <a:solidFill>
                  <a:srgbClr val="FFFFFF"/>
                </a:solidFill>
                <a:latin typeface="Calibri"/>
              </a:rPr>
              <a:t>VSM→A3</a:t>
            </a:r>
          </a:p>
        </p:txBody>
      </p:sp>
      <p:sp>
        <p:nvSpPr>
          <p:cNvPr id="22" name="TextBox 21"/>
          <p:cNvSpPr txBox="1"/>
          <p:nvPr/>
        </p:nvSpPr>
        <p:spPr>
          <a:xfrm>
            <a:off x="8869680" y="3310128"/>
            <a:ext cx="2468880" cy="1188720"/>
          </a:xfrm>
          <a:prstGeom prst="rect">
            <a:avLst/>
          </a:prstGeom>
          <a:noFill/>
        </p:spPr>
        <p:txBody>
          <a:bodyPr wrap="square" anchor="t">
            <a:spAutoFit/>
          </a:bodyPr>
          <a:lstStyle/>
          <a:p>
            <a:pPr algn="l">
              <a:lnSpc>
                <a:spcPct val="120000"/>
              </a:lnSpc>
            </a:pPr>
            <a:r>
              <a:rPr sz="1250" b="0" i="0">
                <a:solidFill>
                  <a:srgbClr val="C9A5D5"/>
                </a:solidFill>
                <a:latin typeface="Calibri"/>
              </a:rPr>
              <a:t>The A3 opens already holding the bursts, the times, and the baseline.</a:t>
            </a:r>
          </a:p>
        </p:txBody>
      </p:sp>
      <p:sp>
        <p:nvSpPr>
          <p:cNvPr id="23" name="Rectangle 22"/>
          <p:cNvSpPr/>
          <p:nvPr/>
        </p:nvSpPr>
        <p:spPr>
          <a:xfrm>
            <a:off x="777240" y="4709160"/>
            <a:ext cx="10424160" cy="1234440"/>
          </a:xfrm>
          <a:prstGeom prst="rect">
            <a:avLst/>
          </a:prstGeom>
          <a:solidFill>
            <a:srgbClr val="360A3A"/>
          </a:solidFill>
          <a:ln w="15875">
            <a:solidFill>
              <a:srgbClr val="6B21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1560" y="4846320"/>
            <a:ext cx="9875520" cy="320040"/>
          </a:xfrm>
          <a:prstGeom prst="rect">
            <a:avLst/>
          </a:prstGeom>
          <a:noFill/>
        </p:spPr>
        <p:txBody>
          <a:bodyPr wrap="square" anchor="t">
            <a:spAutoFit/>
          </a:bodyPr>
          <a:lstStyle/>
          <a:p>
            <a:pPr algn="l">
              <a:lnSpc>
                <a:spcPct val="100000"/>
              </a:lnSpc>
            </a:pPr>
            <a:r>
              <a:rPr sz="1400" b="1" i="0">
                <a:solidFill>
                  <a:srgbClr val="F0ABFC"/>
                </a:solidFill>
                <a:latin typeface="Calibri"/>
              </a:rPr>
              <a:t>What the A3 does NOT arrive with</a:t>
            </a:r>
          </a:p>
        </p:txBody>
      </p:sp>
      <p:sp>
        <p:nvSpPr>
          <p:cNvPr id="25" name="TextBox 24"/>
          <p:cNvSpPr txBox="1"/>
          <p:nvPr/>
        </p:nvSpPr>
        <p:spPr>
          <a:xfrm>
            <a:off x="1051560" y="5230368"/>
            <a:ext cx="9875520" cy="640080"/>
          </a:xfrm>
          <a:prstGeom prst="rect">
            <a:avLst/>
          </a:prstGeom>
          <a:noFill/>
        </p:spPr>
        <p:txBody>
          <a:bodyPr wrap="square" anchor="t">
            <a:spAutoFit/>
          </a:bodyPr>
          <a:lstStyle/>
          <a:p>
            <a:pPr algn="l">
              <a:lnSpc>
                <a:spcPct val="120000"/>
              </a:lnSpc>
            </a:pPr>
            <a:r>
              <a:rPr sz="1300" b="0" i="0">
                <a:solidFill>
                  <a:srgbClr val="C9A5D5"/>
                </a:solidFill>
                <a:latin typeface="Calibri"/>
              </a:rPr>
              <a:t>What was supposed to happen, the gap, and the five whys are left deliberately empty. Those are the parts only a person who watched the work can supply — and handing them to a machine is how an A3 stops being an investigation.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A21CAF"/>
                </a:solidFill>
                <a:latin typeface="Calibri"/>
              </a:rPr>
              <a:t>PART TWO · THE A3</a:t>
            </a:r>
          </a:p>
        </p:txBody>
      </p:sp>
      <p:sp>
        <p:nvSpPr>
          <p:cNvPr id="3" name="TextBox 2"/>
          <p:cNvSpPr txBox="1"/>
          <p:nvPr/>
        </p:nvSpPr>
        <p:spPr>
          <a:xfrm>
            <a:off x="777240" y="868680"/>
            <a:ext cx="10607040" cy="1188720"/>
          </a:xfrm>
          <a:prstGeom prst="rect">
            <a:avLst/>
          </a:prstGeom>
          <a:noFill/>
        </p:spPr>
        <p:txBody>
          <a:bodyPr wrap="square" anchor="t">
            <a:spAutoFit/>
          </a:bodyPr>
          <a:lstStyle/>
          <a:p>
            <a:pPr algn="l">
              <a:lnSpc>
                <a:spcPct val="95000"/>
              </a:lnSpc>
            </a:pPr>
            <a:r>
              <a:rPr sz="3400" b="1" i="0">
                <a:solidFill>
                  <a:srgbClr val="0F172A"/>
                </a:solidFill>
                <a:latin typeface="Calibri"/>
              </a:rPr>
              <a:t>One page. Left is what is, right is what should be.</a:t>
            </a:r>
          </a:p>
        </p:txBody>
      </p:sp>
      <p:sp>
        <p:nvSpPr>
          <p:cNvPr id="4" name="Rectangle 3"/>
          <p:cNvSpPr/>
          <p:nvPr/>
        </p:nvSpPr>
        <p:spPr>
          <a:xfrm>
            <a:off x="777240" y="1920240"/>
            <a:ext cx="5074920" cy="310896"/>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947672"/>
            <a:ext cx="4754880" cy="274320"/>
          </a:xfrm>
          <a:prstGeom prst="rect">
            <a:avLst/>
          </a:prstGeom>
          <a:noFill/>
        </p:spPr>
        <p:txBody>
          <a:bodyPr wrap="square" anchor="t">
            <a:spAutoFit/>
          </a:bodyPr>
          <a:lstStyle/>
          <a:p>
            <a:pPr algn="l">
              <a:lnSpc>
                <a:spcPct val="100000"/>
              </a:lnSpc>
            </a:pPr>
            <a:r>
              <a:rPr sz="1050" b="1" i="0">
                <a:solidFill>
                  <a:srgbClr val="475569"/>
                </a:solidFill>
                <a:latin typeface="Calibri"/>
              </a:rPr>
              <a:t>LEFT — WHAT IS HAPPENING</a:t>
            </a:r>
          </a:p>
        </p:txBody>
      </p:sp>
      <p:sp>
        <p:nvSpPr>
          <p:cNvPr id="6" name="Rectangle 5"/>
          <p:cNvSpPr/>
          <p:nvPr/>
        </p:nvSpPr>
        <p:spPr>
          <a:xfrm>
            <a:off x="6126480" y="1920240"/>
            <a:ext cx="5074920" cy="310896"/>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63640" y="1947672"/>
            <a:ext cx="4754880" cy="274320"/>
          </a:xfrm>
          <a:prstGeom prst="rect">
            <a:avLst/>
          </a:prstGeom>
          <a:noFill/>
        </p:spPr>
        <p:txBody>
          <a:bodyPr wrap="square" anchor="t">
            <a:spAutoFit/>
          </a:bodyPr>
          <a:lstStyle/>
          <a:p>
            <a:pPr algn="l">
              <a:lnSpc>
                <a:spcPct val="100000"/>
              </a:lnSpc>
            </a:pPr>
            <a:r>
              <a:rPr sz="1050" b="1" i="0">
                <a:solidFill>
                  <a:srgbClr val="475569"/>
                </a:solidFill>
                <a:latin typeface="Calibri"/>
              </a:rPr>
              <a:t>RIGHT — WHAT SHOULD BE HAPPENING</a:t>
            </a:r>
          </a:p>
        </p:txBody>
      </p:sp>
      <p:sp>
        <p:nvSpPr>
          <p:cNvPr id="8" name="Rectangle 7"/>
          <p:cNvSpPr/>
          <p:nvPr/>
        </p:nvSpPr>
        <p:spPr>
          <a:xfrm>
            <a:off x="777240" y="2377440"/>
            <a:ext cx="5074920" cy="566928"/>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2496312"/>
            <a:ext cx="329184" cy="329184"/>
          </a:xfrm>
          <a:prstGeom prst="ellipse">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5256" y="2532888"/>
            <a:ext cx="329184" cy="274320"/>
          </a:xfrm>
          <a:prstGeom prst="rect">
            <a:avLst/>
          </a:prstGeom>
          <a:noFill/>
        </p:spPr>
        <p:txBody>
          <a:bodyPr wrap="square" anchor="t">
            <a:spAutoFit/>
          </a:bodyPr>
          <a:lstStyle/>
          <a:p>
            <a:pPr algn="ctr">
              <a:lnSpc>
                <a:spcPct val="100000"/>
              </a:lnSpc>
            </a:pPr>
            <a:r>
              <a:rPr sz="1100" b="1" i="0">
                <a:solidFill>
                  <a:srgbClr val="FFFFFF"/>
                </a:solidFill>
                <a:latin typeface="Calibri"/>
              </a:rPr>
              <a:t>1</a:t>
            </a:r>
          </a:p>
        </p:txBody>
      </p:sp>
      <p:sp>
        <p:nvSpPr>
          <p:cNvPr id="11" name="TextBox 10"/>
          <p:cNvSpPr txBox="1"/>
          <p:nvPr/>
        </p:nvSpPr>
        <p:spPr>
          <a:xfrm>
            <a:off x="1371600" y="2514600"/>
            <a:ext cx="4297680" cy="320040"/>
          </a:xfrm>
          <a:prstGeom prst="rect">
            <a:avLst/>
          </a:prstGeom>
          <a:noFill/>
        </p:spPr>
        <p:txBody>
          <a:bodyPr wrap="square" anchor="t">
            <a:spAutoFit/>
          </a:bodyPr>
          <a:lstStyle/>
          <a:p>
            <a:pPr algn="l">
              <a:lnSpc>
                <a:spcPct val="100000"/>
              </a:lnSpc>
            </a:pPr>
            <a:r>
              <a:rPr sz="1450" b="1" i="0">
                <a:solidFill>
                  <a:srgbClr val="0F172A"/>
                </a:solidFill>
                <a:latin typeface="Calibri"/>
              </a:rPr>
              <a:t>Background</a:t>
            </a:r>
          </a:p>
        </p:txBody>
      </p:sp>
      <p:sp>
        <p:nvSpPr>
          <p:cNvPr id="12" name="Rectangle 11"/>
          <p:cNvSpPr/>
          <p:nvPr/>
        </p:nvSpPr>
        <p:spPr>
          <a:xfrm>
            <a:off x="777240" y="3035808"/>
            <a:ext cx="5074920" cy="566928"/>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05256" y="3154680"/>
            <a:ext cx="329184" cy="329184"/>
          </a:xfrm>
          <a:prstGeom prst="ellipse">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3191256"/>
            <a:ext cx="329184" cy="274320"/>
          </a:xfrm>
          <a:prstGeom prst="rect">
            <a:avLst/>
          </a:prstGeom>
          <a:noFill/>
        </p:spPr>
        <p:txBody>
          <a:bodyPr wrap="square" anchor="t">
            <a:spAutoFit/>
          </a:bodyPr>
          <a:lstStyle/>
          <a:p>
            <a:pPr algn="ctr">
              <a:lnSpc>
                <a:spcPct val="100000"/>
              </a:lnSpc>
            </a:pPr>
            <a:r>
              <a:rPr sz="1100" b="1" i="0">
                <a:solidFill>
                  <a:srgbClr val="FFFFFF"/>
                </a:solidFill>
                <a:latin typeface="Calibri"/>
              </a:rPr>
              <a:t>2</a:t>
            </a:r>
          </a:p>
        </p:txBody>
      </p:sp>
      <p:sp>
        <p:nvSpPr>
          <p:cNvPr id="15" name="TextBox 14"/>
          <p:cNvSpPr txBox="1"/>
          <p:nvPr/>
        </p:nvSpPr>
        <p:spPr>
          <a:xfrm>
            <a:off x="1371600" y="3172968"/>
            <a:ext cx="4297680" cy="320040"/>
          </a:xfrm>
          <a:prstGeom prst="rect">
            <a:avLst/>
          </a:prstGeom>
          <a:noFill/>
        </p:spPr>
        <p:txBody>
          <a:bodyPr wrap="square" anchor="t">
            <a:spAutoFit/>
          </a:bodyPr>
          <a:lstStyle/>
          <a:p>
            <a:pPr algn="l">
              <a:lnSpc>
                <a:spcPct val="100000"/>
              </a:lnSpc>
            </a:pPr>
            <a:r>
              <a:rPr sz="1450" b="1" i="0">
                <a:solidFill>
                  <a:srgbClr val="0F172A"/>
                </a:solidFill>
                <a:latin typeface="Calibri"/>
              </a:rPr>
              <a:t>Current Condition</a:t>
            </a:r>
          </a:p>
        </p:txBody>
      </p:sp>
      <p:sp>
        <p:nvSpPr>
          <p:cNvPr id="16" name="Rectangle 15"/>
          <p:cNvSpPr/>
          <p:nvPr/>
        </p:nvSpPr>
        <p:spPr>
          <a:xfrm>
            <a:off x="777240" y="3694176"/>
            <a:ext cx="5074920" cy="566928"/>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05256" y="3813048"/>
            <a:ext cx="329184" cy="329184"/>
          </a:xfrm>
          <a:prstGeom prst="ellipse">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5256" y="3849624"/>
            <a:ext cx="329184" cy="274320"/>
          </a:xfrm>
          <a:prstGeom prst="rect">
            <a:avLst/>
          </a:prstGeom>
          <a:noFill/>
        </p:spPr>
        <p:txBody>
          <a:bodyPr wrap="square" anchor="t">
            <a:spAutoFit/>
          </a:bodyPr>
          <a:lstStyle/>
          <a:p>
            <a:pPr algn="ctr">
              <a:lnSpc>
                <a:spcPct val="100000"/>
              </a:lnSpc>
            </a:pPr>
            <a:r>
              <a:rPr sz="1100" b="1" i="0">
                <a:solidFill>
                  <a:srgbClr val="FFFFFF"/>
                </a:solidFill>
                <a:latin typeface="Calibri"/>
              </a:rPr>
              <a:t>3</a:t>
            </a:r>
          </a:p>
        </p:txBody>
      </p:sp>
      <p:sp>
        <p:nvSpPr>
          <p:cNvPr id="19" name="TextBox 18"/>
          <p:cNvSpPr txBox="1"/>
          <p:nvPr/>
        </p:nvSpPr>
        <p:spPr>
          <a:xfrm>
            <a:off x="1371600" y="3831336"/>
            <a:ext cx="4297680" cy="320040"/>
          </a:xfrm>
          <a:prstGeom prst="rect">
            <a:avLst/>
          </a:prstGeom>
          <a:noFill/>
        </p:spPr>
        <p:txBody>
          <a:bodyPr wrap="square" anchor="t">
            <a:spAutoFit/>
          </a:bodyPr>
          <a:lstStyle/>
          <a:p>
            <a:pPr algn="l">
              <a:lnSpc>
                <a:spcPct val="100000"/>
              </a:lnSpc>
            </a:pPr>
            <a:r>
              <a:rPr sz="1450" b="1" i="0">
                <a:solidFill>
                  <a:srgbClr val="0F172A"/>
                </a:solidFill>
                <a:latin typeface="Calibri"/>
              </a:rPr>
              <a:t>Problem Statement</a:t>
            </a:r>
          </a:p>
        </p:txBody>
      </p:sp>
      <p:sp>
        <p:nvSpPr>
          <p:cNvPr id="20" name="Rectangle 19"/>
          <p:cNvSpPr/>
          <p:nvPr/>
        </p:nvSpPr>
        <p:spPr>
          <a:xfrm>
            <a:off x="777240" y="4352544"/>
            <a:ext cx="5074920" cy="566928"/>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05256" y="4471416"/>
            <a:ext cx="329184" cy="329184"/>
          </a:xfrm>
          <a:prstGeom prst="ellipse">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5256" y="4507992"/>
            <a:ext cx="329184" cy="274320"/>
          </a:xfrm>
          <a:prstGeom prst="rect">
            <a:avLst/>
          </a:prstGeom>
          <a:noFill/>
        </p:spPr>
        <p:txBody>
          <a:bodyPr wrap="square" anchor="t">
            <a:spAutoFit/>
          </a:bodyPr>
          <a:lstStyle/>
          <a:p>
            <a:pPr algn="ctr">
              <a:lnSpc>
                <a:spcPct val="100000"/>
              </a:lnSpc>
            </a:pPr>
            <a:r>
              <a:rPr sz="1100" b="1" i="0">
                <a:solidFill>
                  <a:srgbClr val="FFFFFF"/>
                </a:solidFill>
                <a:latin typeface="Calibri"/>
              </a:rPr>
              <a:t>4</a:t>
            </a:r>
          </a:p>
        </p:txBody>
      </p:sp>
      <p:sp>
        <p:nvSpPr>
          <p:cNvPr id="23" name="TextBox 22"/>
          <p:cNvSpPr txBox="1"/>
          <p:nvPr/>
        </p:nvSpPr>
        <p:spPr>
          <a:xfrm>
            <a:off x="1371600" y="4489704"/>
            <a:ext cx="4297680" cy="320040"/>
          </a:xfrm>
          <a:prstGeom prst="rect">
            <a:avLst/>
          </a:prstGeom>
          <a:noFill/>
        </p:spPr>
        <p:txBody>
          <a:bodyPr wrap="square" anchor="t">
            <a:spAutoFit/>
          </a:bodyPr>
          <a:lstStyle/>
          <a:p>
            <a:pPr algn="l">
              <a:lnSpc>
                <a:spcPct val="100000"/>
              </a:lnSpc>
            </a:pPr>
            <a:r>
              <a:rPr sz="1450" b="1" i="0">
                <a:solidFill>
                  <a:srgbClr val="0F172A"/>
                </a:solidFill>
                <a:latin typeface="Calibri"/>
              </a:rPr>
              <a:t>Root Cause</a:t>
            </a:r>
          </a:p>
        </p:txBody>
      </p:sp>
      <p:sp>
        <p:nvSpPr>
          <p:cNvPr id="24" name="Rectangle 23"/>
          <p:cNvSpPr/>
          <p:nvPr/>
        </p:nvSpPr>
        <p:spPr>
          <a:xfrm>
            <a:off x="6126480" y="2377440"/>
            <a:ext cx="5074920" cy="566928"/>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254496" y="2496312"/>
            <a:ext cx="329184" cy="329184"/>
          </a:xfrm>
          <a:prstGeom prst="ellipse">
            <a:avLst/>
          </a:prstGeom>
          <a:solidFill>
            <a:srgbClr val="A21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4496" y="2532888"/>
            <a:ext cx="329184" cy="274320"/>
          </a:xfrm>
          <a:prstGeom prst="rect">
            <a:avLst/>
          </a:prstGeom>
          <a:noFill/>
        </p:spPr>
        <p:txBody>
          <a:bodyPr wrap="square" anchor="t">
            <a:spAutoFit/>
          </a:bodyPr>
          <a:lstStyle/>
          <a:p>
            <a:pPr algn="ctr">
              <a:lnSpc>
                <a:spcPct val="100000"/>
              </a:lnSpc>
            </a:pPr>
            <a:r>
              <a:rPr sz="1100" b="1" i="0">
                <a:solidFill>
                  <a:srgbClr val="FFFFFF"/>
                </a:solidFill>
                <a:latin typeface="Calibri"/>
              </a:rPr>
              <a:t>5</a:t>
            </a:r>
          </a:p>
        </p:txBody>
      </p:sp>
      <p:sp>
        <p:nvSpPr>
          <p:cNvPr id="27" name="TextBox 26"/>
          <p:cNvSpPr txBox="1"/>
          <p:nvPr/>
        </p:nvSpPr>
        <p:spPr>
          <a:xfrm>
            <a:off x="6720840" y="2514600"/>
            <a:ext cx="4297680" cy="320040"/>
          </a:xfrm>
          <a:prstGeom prst="rect">
            <a:avLst/>
          </a:prstGeom>
          <a:noFill/>
        </p:spPr>
        <p:txBody>
          <a:bodyPr wrap="square" anchor="t">
            <a:spAutoFit/>
          </a:bodyPr>
          <a:lstStyle/>
          <a:p>
            <a:pPr algn="l">
              <a:lnSpc>
                <a:spcPct val="100000"/>
              </a:lnSpc>
            </a:pPr>
            <a:r>
              <a:rPr sz="1450" b="1" i="0">
                <a:solidFill>
                  <a:srgbClr val="0F172A"/>
                </a:solidFill>
                <a:latin typeface="Calibri"/>
              </a:rPr>
              <a:t>Target Condition</a:t>
            </a:r>
          </a:p>
        </p:txBody>
      </p:sp>
      <p:sp>
        <p:nvSpPr>
          <p:cNvPr id="28" name="Rectangle 27"/>
          <p:cNvSpPr/>
          <p:nvPr/>
        </p:nvSpPr>
        <p:spPr>
          <a:xfrm>
            <a:off x="6126480" y="3035808"/>
            <a:ext cx="5074920" cy="566928"/>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254496" y="3154680"/>
            <a:ext cx="329184" cy="329184"/>
          </a:xfrm>
          <a:prstGeom prst="ellipse">
            <a:avLst/>
          </a:prstGeom>
          <a:solidFill>
            <a:srgbClr val="A21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54496" y="3191256"/>
            <a:ext cx="329184" cy="274320"/>
          </a:xfrm>
          <a:prstGeom prst="rect">
            <a:avLst/>
          </a:prstGeom>
          <a:noFill/>
        </p:spPr>
        <p:txBody>
          <a:bodyPr wrap="square" anchor="t">
            <a:spAutoFit/>
          </a:bodyPr>
          <a:lstStyle/>
          <a:p>
            <a:pPr algn="ctr">
              <a:lnSpc>
                <a:spcPct val="100000"/>
              </a:lnSpc>
            </a:pPr>
            <a:r>
              <a:rPr sz="1100" b="1" i="0">
                <a:solidFill>
                  <a:srgbClr val="FFFFFF"/>
                </a:solidFill>
                <a:latin typeface="Calibri"/>
              </a:rPr>
              <a:t>6</a:t>
            </a:r>
          </a:p>
        </p:txBody>
      </p:sp>
      <p:sp>
        <p:nvSpPr>
          <p:cNvPr id="31" name="TextBox 30"/>
          <p:cNvSpPr txBox="1"/>
          <p:nvPr/>
        </p:nvSpPr>
        <p:spPr>
          <a:xfrm>
            <a:off x="6720840" y="3172968"/>
            <a:ext cx="4297680" cy="320040"/>
          </a:xfrm>
          <a:prstGeom prst="rect">
            <a:avLst/>
          </a:prstGeom>
          <a:noFill/>
        </p:spPr>
        <p:txBody>
          <a:bodyPr wrap="square" anchor="t">
            <a:spAutoFit/>
          </a:bodyPr>
          <a:lstStyle/>
          <a:p>
            <a:pPr algn="l">
              <a:lnSpc>
                <a:spcPct val="100000"/>
              </a:lnSpc>
            </a:pPr>
            <a:r>
              <a:rPr sz="1450" b="1" i="0">
                <a:solidFill>
                  <a:srgbClr val="0F172A"/>
                </a:solidFill>
                <a:latin typeface="Calibri"/>
              </a:rPr>
              <a:t>Countermeasures</a:t>
            </a:r>
          </a:p>
        </p:txBody>
      </p:sp>
      <p:sp>
        <p:nvSpPr>
          <p:cNvPr id="32" name="Rectangle 31"/>
          <p:cNvSpPr/>
          <p:nvPr/>
        </p:nvSpPr>
        <p:spPr>
          <a:xfrm>
            <a:off x="6126480" y="3694176"/>
            <a:ext cx="5074920" cy="566928"/>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254496" y="3813048"/>
            <a:ext cx="329184" cy="329184"/>
          </a:xfrm>
          <a:prstGeom prst="ellipse">
            <a:avLst/>
          </a:prstGeom>
          <a:solidFill>
            <a:srgbClr val="A21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54496" y="3849624"/>
            <a:ext cx="329184" cy="274320"/>
          </a:xfrm>
          <a:prstGeom prst="rect">
            <a:avLst/>
          </a:prstGeom>
          <a:noFill/>
        </p:spPr>
        <p:txBody>
          <a:bodyPr wrap="square" anchor="t">
            <a:spAutoFit/>
          </a:bodyPr>
          <a:lstStyle/>
          <a:p>
            <a:pPr algn="ctr">
              <a:lnSpc>
                <a:spcPct val="100000"/>
              </a:lnSpc>
            </a:pPr>
            <a:r>
              <a:rPr sz="1100" b="1" i="0">
                <a:solidFill>
                  <a:srgbClr val="FFFFFF"/>
                </a:solidFill>
                <a:latin typeface="Calibri"/>
              </a:rPr>
              <a:t>7</a:t>
            </a:r>
          </a:p>
        </p:txBody>
      </p:sp>
      <p:sp>
        <p:nvSpPr>
          <p:cNvPr id="35" name="TextBox 34"/>
          <p:cNvSpPr txBox="1"/>
          <p:nvPr/>
        </p:nvSpPr>
        <p:spPr>
          <a:xfrm>
            <a:off x="6720840" y="3831336"/>
            <a:ext cx="4297680" cy="320040"/>
          </a:xfrm>
          <a:prstGeom prst="rect">
            <a:avLst/>
          </a:prstGeom>
          <a:noFill/>
        </p:spPr>
        <p:txBody>
          <a:bodyPr wrap="square" anchor="t">
            <a:spAutoFit/>
          </a:bodyPr>
          <a:lstStyle/>
          <a:p>
            <a:pPr algn="l">
              <a:lnSpc>
                <a:spcPct val="100000"/>
              </a:lnSpc>
            </a:pPr>
            <a:r>
              <a:rPr sz="1450" b="1" i="0">
                <a:solidFill>
                  <a:srgbClr val="0F172A"/>
                </a:solidFill>
                <a:latin typeface="Calibri"/>
              </a:rPr>
              <a:t>Implementation Plan</a:t>
            </a:r>
          </a:p>
        </p:txBody>
      </p:sp>
      <p:sp>
        <p:nvSpPr>
          <p:cNvPr id="36" name="Rectangle 35"/>
          <p:cNvSpPr/>
          <p:nvPr/>
        </p:nvSpPr>
        <p:spPr>
          <a:xfrm>
            <a:off x="6126480" y="4352544"/>
            <a:ext cx="5074920" cy="566928"/>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254496" y="4471416"/>
            <a:ext cx="329184" cy="329184"/>
          </a:xfrm>
          <a:prstGeom prst="ellipse">
            <a:avLst/>
          </a:prstGeom>
          <a:solidFill>
            <a:srgbClr val="A21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54496" y="4507992"/>
            <a:ext cx="329184" cy="274320"/>
          </a:xfrm>
          <a:prstGeom prst="rect">
            <a:avLst/>
          </a:prstGeom>
          <a:noFill/>
        </p:spPr>
        <p:txBody>
          <a:bodyPr wrap="square" anchor="t">
            <a:spAutoFit/>
          </a:bodyPr>
          <a:lstStyle/>
          <a:p>
            <a:pPr algn="ctr">
              <a:lnSpc>
                <a:spcPct val="100000"/>
              </a:lnSpc>
            </a:pPr>
            <a:r>
              <a:rPr sz="1100" b="1" i="0">
                <a:solidFill>
                  <a:srgbClr val="FFFFFF"/>
                </a:solidFill>
                <a:latin typeface="Calibri"/>
              </a:rPr>
              <a:t>8</a:t>
            </a:r>
          </a:p>
        </p:txBody>
      </p:sp>
      <p:sp>
        <p:nvSpPr>
          <p:cNvPr id="39" name="TextBox 38"/>
          <p:cNvSpPr txBox="1"/>
          <p:nvPr/>
        </p:nvSpPr>
        <p:spPr>
          <a:xfrm>
            <a:off x="6720840" y="4489704"/>
            <a:ext cx="4297680" cy="320040"/>
          </a:xfrm>
          <a:prstGeom prst="rect">
            <a:avLst/>
          </a:prstGeom>
          <a:noFill/>
        </p:spPr>
        <p:txBody>
          <a:bodyPr wrap="square" anchor="t">
            <a:spAutoFit/>
          </a:bodyPr>
          <a:lstStyle/>
          <a:p>
            <a:pPr algn="l">
              <a:lnSpc>
                <a:spcPct val="100000"/>
              </a:lnSpc>
            </a:pPr>
            <a:r>
              <a:rPr sz="1450" b="1" i="0">
                <a:solidFill>
                  <a:srgbClr val="0F172A"/>
                </a:solidFill>
                <a:latin typeface="Calibri"/>
              </a:rPr>
              <a:t>Test &amp; Follow-up</a:t>
            </a:r>
          </a:p>
        </p:txBody>
      </p:sp>
      <p:sp>
        <p:nvSpPr>
          <p:cNvPr id="40" name="Rectangle 39"/>
          <p:cNvSpPr/>
          <p:nvPr/>
        </p:nvSpPr>
        <p:spPr>
          <a:xfrm>
            <a:off x="777240" y="5138928"/>
            <a:ext cx="10424160" cy="1031808"/>
          </a:xfrm>
          <a:prstGeom prst="rect">
            <a:avLst/>
          </a:prstGeom>
          <a:solidFill>
            <a:srgbClr val="FEF9C3"/>
          </a:solidFill>
          <a:ln w="15875">
            <a:solidFill>
              <a:srgbClr val="FDE6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51560" y="5276088"/>
            <a:ext cx="9875520" cy="329184"/>
          </a:xfrm>
          <a:prstGeom prst="rect">
            <a:avLst/>
          </a:prstGeom>
          <a:noFill/>
        </p:spPr>
        <p:txBody>
          <a:bodyPr wrap="square" anchor="t">
            <a:spAutoFit/>
          </a:bodyPr>
          <a:lstStyle/>
          <a:p>
            <a:pPr algn="l">
              <a:lnSpc>
                <a:spcPct val="100000"/>
              </a:lnSpc>
            </a:pPr>
            <a:r>
              <a:rPr sz="1500" b="1" i="0">
                <a:solidFill>
                  <a:srgbClr val="713F12"/>
                </a:solidFill>
                <a:latin typeface="Calibri"/>
              </a:rPr>
              <a:t>It has to fit — and the sheet holds you to it</a:t>
            </a:r>
          </a:p>
        </p:txBody>
      </p:sp>
      <p:sp>
        <p:nvSpPr>
          <p:cNvPr id="42" name="TextBox 41"/>
          <p:cNvSpPr txBox="1"/>
          <p:nvPr/>
        </p:nvSpPr>
        <p:spPr>
          <a:xfrm>
            <a:off x="1051560" y="5669280"/>
            <a:ext cx="9875520" cy="373440"/>
          </a:xfrm>
          <a:prstGeom prst="rect">
            <a:avLst/>
          </a:prstGeom>
          <a:noFill/>
        </p:spPr>
        <p:txBody>
          <a:bodyPr wrap="square" anchor="t">
            <a:spAutoFit/>
          </a:bodyPr>
          <a:lstStyle/>
          <a:p>
            <a:pPr algn="l">
              <a:lnSpc>
                <a:spcPct val="112000"/>
              </a:lnSpc>
            </a:pPr>
            <a:r>
              <a:rPr sz="1350" b="0" i="0">
                <a:solidFill>
                  <a:srgbClr val="475569"/>
                </a:solidFill>
                <a:latin typeface="Calibri"/>
              </a:rPr>
              <a:t>Paper clips silently, so every field measures itself as you type and flags text that would be lost on the page. Saying it shorter is most of what the A3 format is for.</a:t>
            </a:r>
          </a:p>
        </p:txBody>
      </p:sp>
      <p:sp>
        <p:nvSpPr>
          <p:cNvPr id="43" name="TextBox 42"/>
          <p:cNvSpPr txBox="1"/>
          <p:nvPr/>
        </p:nvSpPr>
        <p:spPr>
          <a:xfrm>
            <a:off x="777240" y="6355080"/>
            <a:ext cx="5486400" cy="274320"/>
          </a:xfrm>
          <a:prstGeom prst="rect">
            <a:avLst/>
          </a:prstGeom>
          <a:noFill/>
        </p:spPr>
        <p:txBody>
          <a:bodyPr wrap="square" anchor="t">
            <a:spAutoFit/>
          </a:bodyPr>
          <a:lstStyle/>
          <a:p>
            <a:pPr algn="l">
              <a:lnSpc>
                <a:spcPct val="100000"/>
              </a:lnSpc>
            </a:pPr>
            <a:r>
              <a:rPr sz="900" b="0" i="0">
                <a:solidFill>
                  <a:srgbClr val="94A3B8"/>
                </a:solidFill>
                <a:latin typeface="Calibri"/>
              </a:rPr>
              <a:t>RCN · Lean in Healthcare — VSM + A3</a:t>
            </a:r>
          </a:p>
        </p:txBody>
      </p:sp>
      <p:sp>
        <p:nvSpPr>
          <p:cNvPr id="44" name="TextBox 43"/>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4A3B8"/>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A21CAF"/>
                </a:solidFill>
                <a:latin typeface="Calibri"/>
              </a:rPr>
              <a:t>WHAT MAKES IT HERS</a:t>
            </a:r>
          </a:p>
        </p:txBody>
      </p:sp>
      <p:sp>
        <p:nvSpPr>
          <p:cNvPr id="3" name="TextBox 2"/>
          <p:cNvSpPr txBox="1"/>
          <p:nvPr/>
        </p:nvSpPr>
        <p:spPr>
          <a:xfrm>
            <a:off x="777240" y="868680"/>
            <a:ext cx="10607040" cy="1188720"/>
          </a:xfrm>
          <a:prstGeom prst="rect">
            <a:avLst/>
          </a:prstGeom>
          <a:noFill/>
        </p:spPr>
        <p:txBody>
          <a:bodyPr wrap="square" anchor="t">
            <a:spAutoFit/>
          </a:bodyPr>
          <a:lstStyle/>
          <a:p>
            <a:pPr algn="l">
              <a:lnSpc>
                <a:spcPct val="95000"/>
              </a:lnSpc>
            </a:pPr>
            <a:r>
              <a:rPr sz="3400" b="1" i="0">
                <a:solidFill>
                  <a:srgbClr val="0F172A"/>
                </a:solidFill>
                <a:latin typeface="Calibri"/>
              </a:rPr>
              <a:t>Three rules, built into the page</a:t>
            </a:r>
          </a:p>
        </p:txBody>
      </p:sp>
      <p:sp>
        <p:nvSpPr>
          <p:cNvPr id="4" name="Rectangle 3"/>
          <p:cNvSpPr/>
          <p:nvPr/>
        </p:nvSpPr>
        <p:spPr>
          <a:xfrm>
            <a:off x="777240" y="2103120"/>
            <a:ext cx="10424160" cy="114300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2240279"/>
            <a:ext cx="9875520" cy="329184"/>
          </a:xfrm>
          <a:prstGeom prst="rect">
            <a:avLst/>
          </a:prstGeom>
          <a:noFill/>
        </p:spPr>
        <p:txBody>
          <a:bodyPr wrap="square" anchor="t">
            <a:spAutoFit/>
          </a:bodyPr>
          <a:lstStyle/>
          <a:p>
            <a:pPr algn="l">
              <a:lnSpc>
                <a:spcPct val="100000"/>
              </a:lnSpc>
            </a:pPr>
            <a:r>
              <a:rPr sz="1500" b="1" i="0">
                <a:solidFill>
                  <a:srgbClr val="A21CAF"/>
                </a:solidFill>
                <a:latin typeface="Calibri"/>
              </a:rPr>
              <a:t>A problem is a gap</a:t>
            </a:r>
          </a:p>
        </p:txBody>
      </p:sp>
      <p:sp>
        <p:nvSpPr>
          <p:cNvPr id="6" name="TextBox 5"/>
          <p:cNvSpPr txBox="1"/>
          <p:nvPr/>
        </p:nvSpPr>
        <p:spPr>
          <a:xfrm>
            <a:off x="1051560" y="2633472"/>
            <a:ext cx="9875520" cy="484632"/>
          </a:xfrm>
          <a:prstGeom prst="rect">
            <a:avLst/>
          </a:prstGeom>
          <a:noFill/>
        </p:spPr>
        <p:txBody>
          <a:bodyPr wrap="square" anchor="t">
            <a:spAutoFit/>
          </a:bodyPr>
          <a:lstStyle/>
          <a:p>
            <a:pPr algn="l">
              <a:lnSpc>
                <a:spcPct val="112000"/>
              </a:lnSpc>
            </a:pPr>
            <a:r>
              <a:rPr sz="1350" b="0" i="0">
                <a:solidFill>
                  <a:srgbClr val="475569"/>
                </a:solidFill>
                <a:latin typeface="Calibri"/>
              </a:rPr>
              <a:t>The difference between what is supposed to happen and what actually happens. So the box is three fields, not one. If you cannot fill the first two, you have a complaint, not a problem.</a:t>
            </a:r>
          </a:p>
        </p:txBody>
      </p:sp>
      <p:sp>
        <p:nvSpPr>
          <p:cNvPr id="7" name="Rectangle 6"/>
          <p:cNvSpPr/>
          <p:nvPr/>
        </p:nvSpPr>
        <p:spPr>
          <a:xfrm>
            <a:off x="777240" y="2103120"/>
            <a:ext cx="50292" cy="1143000"/>
          </a:xfrm>
          <a:prstGeom prst="rect">
            <a:avLst/>
          </a:prstGeom>
          <a:solidFill>
            <a:srgbClr val="A21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3447287"/>
            <a:ext cx="10424160" cy="114300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584447"/>
            <a:ext cx="9875520" cy="329184"/>
          </a:xfrm>
          <a:prstGeom prst="rect">
            <a:avLst/>
          </a:prstGeom>
          <a:noFill/>
        </p:spPr>
        <p:txBody>
          <a:bodyPr wrap="square" anchor="t">
            <a:spAutoFit/>
          </a:bodyPr>
          <a:lstStyle/>
          <a:p>
            <a:pPr algn="l">
              <a:lnSpc>
                <a:spcPct val="100000"/>
              </a:lnSpc>
            </a:pPr>
            <a:r>
              <a:rPr sz="1500" b="1" i="0">
                <a:solidFill>
                  <a:srgbClr val="B91C1C"/>
                </a:solidFill>
                <a:latin typeface="Calibri"/>
              </a:rPr>
              <a:t>Root cause is a process, never a person</a:t>
            </a:r>
          </a:p>
        </p:txBody>
      </p:sp>
      <p:sp>
        <p:nvSpPr>
          <p:cNvPr id="10" name="TextBox 9"/>
          <p:cNvSpPr txBox="1"/>
          <p:nvPr/>
        </p:nvSpPr>
        <p:spPr>
          <a:xfrm>
            <a:off x="1051560" y="3977639"/>
            <a:ext cx="9875520" cy="484632"/>
          </a:xfrm>
          <a:prstGeom prst="rect">
            <a:avLst/>
          </a:prstGeom>
          <a:noFill/>
        </p:spPr>
        <p:txBody>
          <a:bodyPr wrap="square" anchor="t">
            <a:spAutoFit/>
          </a:bodyPr>
          <a:lstStyle/>
          <a:p>
            <a:pPr algn="l">
              <a:lnSpc>
                <a:spcPct val="112000"/>
              </a:lnSpc>
            </a:pPr>
            <a:r>
              <a:rPr sz="1350" b="0" i="0">
                <a:solidFill>
                  <a:srgbClr val="475569"/>
                </a:solidFill>
                <a:latin typeface="Calibri"/>
              </a:rPr>
              <a:t>Type "the nurse forgot" and the row turns red: what about the work made that the easy thing to do? That moment is where most healthcare A3s stop improving and start blaming.</a:t>
            </a:r>
          </a:p>
        </p:txBody>
      </p:sp>
      <p:sp>
        <p:nvSpPr>
          <p:cNvPr id="11" name="Rectangle 10"/>
          <p:cNvSpPr/>
          <p:nvPr/>
        </p:nvSpPr>
        <p:spPr>
          <a:xfrm>
            <a:off x="777240" y="3447287"/>
            <a:ext cx="50292" cy="114300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4791455"/>
            <a:ext cx="10424160" cy="114300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4928616"/>
            <a:ext cx="9875520" cy="329184"/>
          </a:xfrm>
          <a:prstGeom prst="rect">
            <a:avLst/>
          </a:prstGeom>
          <a:noFill/>
        </p:spPr>
        <p:txBody>
          <a:bodyPr wrap="square" anchor="t">
            <a:spAutoFit/>
          </a:bodyPr>
          <a:lstStyle/>
          <a:p>
            <a:pPr algn="l">
              <a:lnSpc>
                <a:spcPct val="100000"/>
              </a:lnSpc>
            </a:pPr>
            <a:r>
              <a:rPr sz="1500" b="1" i="0">
                <a:solidFill>
                  <a:srgbClr val="15803D"/>
                </a:solidFill>
                <a:latin typeface="Calibri"/>
              </a:rPr>
              <a:t>Countermeasures, not solutions</a:t>
            </a:r>
          </a:p>
        </p:txBody>
      </p:sp>
      <p:sp>
        <p:nvSpPr>
          <p:cNvPr id="14" name="TextBox 13"/>
          <p:cNvSpPr txBox="1"/>
          <p:nvPr/>
        </p:nvSpPr>
        <p:spPr>
          <a:xfrm>
            <a:off x="1051560" y="5321807"/>
            <a:ext cx="9875520" cy="484632"/>
          </a:xfrm>
          <a:prstGeom prst="rect">
            <a:avLst/>
          </a:prstGeom>
          <a:noFill/>
        </p:spPr>
        <p:txBody>
          <a:bodyPr wrap="square" anchor="t">
            <a:spAutoFit/>
          </a:bodyPr>
          <a:lstStyle/>
          <a:p>
            <a:pPr algn="l">
              <a:lnSpc>
                <a:spcPct val="112000"/>
              </a:lnSpc>
            </a:pPr>
            <a:r>
              <a:rPr sz="1350" b="0" i="0">
                <a:solidFill>
                  <a:srgbClr val="475569"/>
                </a:solidFill>
                <a:latin typeface="Calibri"/>
              </a:rPr>
              <a:t>A change to the work, tried and measured, kept or dropped. Each one names the why it answers, so the right side of the page cannot drift free of the left.</a:t>
            </a:r>
          </a:p>
        </p:txBody>
      </p:sp>
      <p:sp>
        <p:nvSpPr>
          <p:cNvPr id="15" name="Rectangle 14"/>
          <p:cNvSpPr/>
          <p:nvPr/>
        </p:nvSpPr>
        <p:spPr>
          <a:xfrm>
            <a:off x="777240" y="4791455"/>
            <a:ext cx="50292" cy="1143000"/>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6355080"/>
            <a:ext cx="5486400" cy="274320"/>
          </a:xfrm>
          <a:prstGeom prst="rect">
            <a:avLst/>
          </a:prstGeom>
          <a:noFill/>
        </p:spPr>
        <p:txBody>
          <a:bodyPr wrap="square" anchor="t">
            <a:spAutoFit/>
          </a:bodyPr>
          <a:lstStyle/>
          <a:p>
            <a:pPr algn="l">
              <a:lnSpc>
                <a:spcPct val="100000"/>
              </a:lnSpc>
            </a:pPr>
            <a:r>
              <a:rPr sz="900" b="0" i="0">
                <a:solidFill>
                  <a:srgbClr val="94A3B8"/>
                </a:solidFill>
                <a:latin typeface="Calibri"/>
              </a:rPr>
              <a:t>RCN · Lean in Healthcare — VSM + A3</a:t>
            </a:r>
          </a:p>
        </p:txBody>
      </p:sp>
      <p:sp>
        <p:nvSpPr>
          <p:cNvPr id="17" name="TextBox 16"/>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4A3B8"/>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A21CAF"/>
                </a:solidFill>
                <a:latin typeface="Calibri"/>
              </a:rPr>
              <a:t>AND THEN</a:t>
            </a:r>
          </a:p>
        </p:txBody>
      </p:sp>
      <p:sp>
        <p:nvSpPr>
          <p:cNvPr id="3" name="TextBox 2"/>
          <p:cNvSpPr txBox="1"/>
          <p:nvPr/>
        </p:nvSpPr>
        <p:spPr>
          <a:xfrm>
            <a:off x="777240" y="868680"/>
            <a:ext cx="10607040" cy="1188720"/>
          </a:xfrm>
          <a:prstGeom prst="rect">
            <a:avLst/>
          </a:prstGeom>
          <a:noFill/>
        </p:spPr>
        <p:txBody>
          <a:bodyPr wrap="square" anchor="t">
            <a:spAutoFit/>
          </a:bodyPr>
          <a:lstStyle/>
          <a:p>
            <a:pPr algn="l">
              <a:lnSpc>
                <a:spcPct val="95000"/>
              </a:lnSpc>
            </a:pPr>
            <a:r>
              <a:rPr sz="3400" b="1" i="0">
                <a:solidFill>
                  <a:srgbClr val="0F172A"/>
                </a:solidFill>
                <a:latin typeface="Calibri"/>
              </a:rPr>
              <a:t>How you know it worked</a:t>
            </a:r>
          </a:p>
        </p:txBody>
      </p:sp>
      <p:sp>
        <p:nvSpPr>
          <p:cNvPr id="4" name="TextBox 3"/>
          <p:cNvSpPr txBox="1"/>
          <p:nvPr/>
        </p:nvSpPr>
        <p:spPr>
          <a:xfrm>
            <a:off x="777240" y="1874519"/>
            <a:ext cx="10424160" cy="731520"/>
          </a:xfrm>
          <a:prstGeom prst="rect">
            <a:avLst/>
          </a:prstGeom>
          <a:noFill/>
        </p:spPr>
        <p:txBody>
          <a:bodyPr wrap="square" anchor="t">
            <a:spAutoFit/>
          </a:bodyPr>
          <a:lstStyle/>
          <a:p>
            <a:pPr algn="l">
              <a:lnSpc>
                <a:spcPct val="125000"/>
              </a:lnSpc>
            </a:pPr>
            <a:r>
              <a:rPr sz="1550" b="0" i="0">
                <a:solidFill>
                  <a:srgbClr val="475569"/>
                </a:solidFill>
                <a:latin typeface="Calibri"/>
              </a:rPr>
              <a:t>The last box of the A3 asks for one measure, a baseline, a target and a date. That is where the method hands off again — this time to a run chart.</a:t>
            </a:r>
          </a:p>
        </p:txBody>
      </p:sp>
      <p:sp>
        <p:nvSpPr>
          <p:cNvPr id="5" name="Rectangle 4"/>
          <p:cNvSpPr/>
          <p:nvPr/>
        </p:nvSpPr>
        <p:spPr>
          <a:xfrm>
            <a:off x="777240" y="2880360"/>
            <a:ext cx="3291840" cy="155448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2880360"/>
            <a:ext cx="50292" cy="155448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3063240"/>
            <a:ext cx="2834640" cy="365760"/>
          </a:xfrm>
          <a:prstGeom prst="rect">
            <a:avLst/>
          </a:prstGeom>
          <a:noFill/>
        </p:spPr>
        <p:txBody>
          <a:bodyPr wrap="square" anchor="t">
            <a:spAutoFit/>
          </a:bodyPr>
          <a:lstStyle/>
          <a:p>
            <a:pPr algn="l">
              <a:lnSpc>
                <a:spcPct val="100000"/>
              </a:lnSpc>
            </a:pPr>
            <a:r>
              <a:rPr sz="1500" b="1" i="0">
                <a:solidFill>
                  <a:srgbClr val="0F172A"/>
                </a:solidFill>
                <a:latin typeface="Calibri"/>
              </a:rPr>
              <a:t>The trap</a:t>
            </a:r>
          </a:p>
        </p:txBody>
      </p:sp>
      <p:sp>
        <p:nvSpPr>
          <p:cNvPr id="8" name="TextBox 7"/>
          <p:cNvSpPr txBox="1"/>
          <p:nvPr/>
        </p:nvSpPr>
        <p:spPr>
          <a:xfrm>
            <a:off x="1033271" y="3538728"/>
            <a:ext cx="2834640" cy="731519"/>
          </a:xfrm>
          <a:prstGeom prst="rect">
            <a:avLst/>
          </a:prstGeom>
          <a:noFill/>
        </p:spPr>
        <p:txBody>
          <a:bodyPr wrap="square" anchor="t">
            <a:spAutoFit/>
          </a:bodyPr>
          <a:lstStyle/>
          <a:p>
            <a:pPr algn="l">
              <a:lnSpc>
                <a:spcPct val="110000"/>
              </a:lnSpc>
            </a:pPr>
            <a:r>
              <a:rPr sz="1250" b="0" i="0">
                <a:solidFill>
                  <a:srgbClr val="475569"/>
                </a:solidFill>
                <a:latin typeface="Calibri"/>
              </a:rPr>
              <a:t>Two numbers before and after. Almost any change looks like an improvement if you pick the two numbers.</a:t>
            </a:r>
          </a:p>
        </p:txBody>
      </p:sp>
      <p:sp>
        <p:nvSpPr>
          <p:cNvPr id="9" name="Rectangle 8"/>
          <p:cNvSpPr/>
          <p:nvPr/>
        </p:nvSpPr>
        <p:spPr>
          <a:xfrm>
            <a:off x="4343400" y="2880360"/>
            <a:ext cx="3291840" cy="155448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43400" y="2880360"/>
            <a:ext cx="50292" cy="155448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9432" y="3063240"/>
            <a:ext cx="2834640" cy="365760"/>
          </a:xfrm>
          <a:prstGeom prst="rect">
            <a:avLst/>
          </a:prstGeom>
          <a:noFill/>
        </p:spPr>
        <p:txBody>
          <a:bodyPr wrap="square" anchor="t">
            <a:spAutoFit/>
          </a:bodyPr>
          <a:lstStyle/>
          <a:p>
            <a:pPr algn="l">
              <a:lnSpc>
                <a:spcPct val="100000"/>
              </a:lnSpc>
            </a:pPr>
            <a:r>
              <a:rPr sz="1500" b="1" i="0">
                <a:solidFill>
                  <a:srgbClr val="0F172A"/>
                </a:solidFill>
                <a:latin typeface="Calibri"/>
              </a:rPr>
              <a:t>The fix</a:t>
            </a:r>
          </a:p>
        </p:txBody>
      </p:sp>
      <p:sp>
        <p:nvSpPr>
          <p:cNvPr id="12" name="TextBox 11"/>
          <p:cNvSpPr txBox="1"/>
          <p:nvPr/>
        </p:nvSpPr>
        <p:spPr>
          <a:xfrm>
            <a:off x="4599432" y="3538728"/>
            <a:ext cx="2834640" cy="731519"/>
          </a:xfrm>
          <a:prstGeom prst="rect">
            <a:avLst/>
          </a:prstGeom>
          <a:noFill/>
        </p:spPr>
        <p:txBody>
          <a:bodyPr wrap="square" anchor="t">
            <a:spAutoFit/>
          </a:bodyPr>
          <a:lstStyle/>
          <a:p>
            <a:pPr algn="l">
              <a:lnSpc>
                <a:spcPct val="110000"/>
              </a:lnSpc>
            </a:pPr>
            <a:r>
              <a:rPr sz="1250" b="0" i="0">
                <a:solidFill>
                  <a:srgbClr val="475569"/>
                </a:solidFill>
                <a:latin typeface="Calibri"/>
              </a:rPr>
              <a:t>Chart the measure over time and look for a signal. Days-to-contact on a run chart tells you whether the shift held.</a:t>
            </a:r>
          </a:p>
        </p:txBody>
      </p:sp>
      <p:sp>
        <p:nvSpPr>
          <p:cNvPr id="13" name="Rectangle 12"/>
          <p:cNvSpPr/>
          <p:nvPr/>
        </p:nvSpPr>
        <p:spPr>
          <a:xfrm>
            <a:off x="7909560" y="2880360"/>
            <a:ext cx="3291840" cy="155448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09560" y="2880360"/>
            <a:ext cx="50292" cy="155448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65592" y="3063240"/>
            <a:ext cx="2834640" cy="365760"/>
          </a:xfrm>
          <a:prstGeom prst="rect">
            <a:avLst/>
          </a:prstGeom>
          <a:noFill/>
        </p:spPr>
        <p:txBody>
          <a:bodyPr wrap="square" anchor="t">
            <a:spAutoFit/>
          </a:bodyPr>
          <a:lstStyle/>
          <a:p>
            <a:pPr algn="l">
              <a:lnSpc>
                <a:spcPct val="100000"/>
              </a:lnSpc>
            </a:pPr>
            <a:r>
              <a:rPr sz="1500" b="1" i="0">
                <a:solidFill>
                  <a:srgbClr val="0F172A"/>
                </a:solidFill>
                <a:latin typeface="Calibri"/>
              </a:rPr>
              <a:t>The tool</a:t>
            </a:r>
          </a:p>
        </p:txBody>
      </p:sp>
      <p:sp>
        <p:nvSpPr>
          <p:cNvPr id="16" name="TextBox 15"/>
          <p:cNvSpPr txBox="1"/>
          <p:nvPr/>
        </p:nvSpPr>
        <p:spPr>
          <a:xfrm>
            <a:off x="8165592" y="3538728"/>
            <a:ext cx="2834640" cy="731519"/>
          </a:xfrm>
          <a:prstGeom prst="rect">
            <a:avLst/>
          </a:prstGeom>
          <a:noFill/>
        </p:spPr>
        <p:txBody>
          <a:bodyPr wrap="square" anchor="t">
            <a:spAutoFit/>
          </a:bodyPr>
          <a:lstStyle/>
          <a:p>
            <a:pPr algn="l">
              <a:lnSpc>
                <a:spcPct val="110000"/>
              </a:lnSpc>
            </a:pPr>
            <a:r>
              <a:rPr sz="1250" b="0" i="0">
                <a:solidFill>
                  <a:srgbClr val="475569"/>
                </a:solidFill>
                <a:latin typeface="Calibri"/>
              </a:rPr>
              <a:t>The A3 sheet says so on its face, and points at the SPC tool. The measure travels; you do not retype it.</a:t>
            </a:r>
          </a:p>
        </p:txBody>
      </p:sp>
      <p:sp>
        <p:nvSpPr>
          <p:cNvPr id="17" name="Rectangle 16"/>
          <p:cNvSpPr/>
          <p:nvPr/>
        </p:nvSpPr>
        <p:spPr>
          <a:xfrm>
            <a:off x="777240" y="4800600"/>
            <a:ext cx="10424160" cy="1051560"/>
          </a:xfrm>
          <a:prstGeom prst="rect">
            <a:avLst/>
          </a:prstGeom>
          <a:solidFill>
            <a:srgbClr val="F0FDF4"/>
          </a:solidFill>
          <a:ln w="1587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4937760"/>
            <a:ext cx="9875520" cy="329184"/>
          </a:xfrm>
          <a:prstGeom prst="rect">
            <a:avLst/>
          </a:prstGeom>
          <a:noFill/>
        </p:spPr>
        <p:txBody>
          <a:bodyPr wrap="square" anchor="t">
            <a:spAutoFit/>
          </a:bodyPr>
          <a:lstStyle/>
          <a:p>
            <a:pPr algn="l">
              <a:lnSpc>
                <a:spcPct val="100000"/>
              </a:lnSpc>
            </a:pPr>
            <a:r>
              <a:rPr sz="1500" b="1" i="0">
                <a:solidFill>
                  <a:srgbClr val="14532D"/>
                </a:solidFill>
                <a:latin typeface="Calibri"/>
              </a:rPr>
              <a:t>Then the loop starts again</a:t>
            </a:r>
          </a:p>
        </p:txBody>
      </p:sp>
      <p:sp>
        <p:nvSpPr>
          <p:cNvPr id="19" name="TextBox 18"/>
          <p:cNvSpPr txBox="1"/>
          <p:nvPr/>
        </p:nvSpPr>
        <p:spPr>
          <a:xfrm>
            <a:off x="1051560" y="5330952"/>
            <a:ext cx="9875520" cy="393191"/>
          </a:xfrm>
          <a:prstGeom prst="rect">
            <a:avLst/>
          </a:prstGeom>
          <a:noFill/>
        </p:spPr>
        <p:txBody>
          <a:bodyPr wrap="square" anchor="t">
            <a:spAutoFit/>
          </a:bodyPr>
          <a:lstStyle/>
          <a:p>
            <a:pPr algn="l">
              <a:lnSpc>
                <a:spcPct val="112000"/>
              </a:lnSpc>
            </a:pPr>
            <a:r>
              <a:rPr sz="1350" b="0" i="0">
                <a:solidFill>
                  <a:srgbClr val="475569"/>
                </a:solidFill>
                <a:latin typeface="Calibri"/>
              </a:rPr>
              <a:t>When the A3 closes, the next problem is already named — it is one of the storm bursts you did not choose, still sitting on the map. That is why the bursts get written down even when they are not the one you are working on.</a:t>
            </a:r>
          </a:p>
        </p:txBody>
      </p:sp>
      <p:sp>
        <p:nvSpPr>
          <p:cNvPr id="20" name="TextBox 19"/>
          <p:cNvSpPr txBox="1"/>
          <p:nvPr/>
        </p:nvSpPr>
        <p:spPr>
          <a:xfrm>
            <a:off x="777240" y="6355080"/>
            <a:ext cx="5486400" cy="274320"/>
          </a:xfrm>
          <a:prstGeom prst="rect">
            <a:avLst/>
          </a:prstGeom>
          <a:noFill/>
        </p:spPr>
        <p:txBody>
          <a:bodyPr wrap="square" anchor="t">
            <a:spAutoFit/>
          </a:bodyPr>
          <a:lstStyle/>
          <a:p>
            <a:pPr algn="l">
              <a:lnSpc>
                <a:spcPct val="100000"/>
              </a:lnSpc>
            </a:pPr>
            <a:r>
              <a:rPr sz="900" b="0" i="0">
                <a:solidFill>
                  <a:srgbClr val="94A3B8"/>
                </a:solidFill>
                <a:latin typeface="Calibri"/>
              </a:rPr>
              <a:t>RCN · Lean in Healthcare — VSM + A3</a:t>
            </a:r>
          </a:p>
        </p:txBody>
      </p:sp>
      <p:sp>
        <p:nvSpPr>
          <p:cNvPr id="21" name="TextBox 20"/>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4A3B8"/>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4A044E"/>
        </a:solidFill>
        <a:effectLst/>
      </p:bgPr>
    </p:bg>
    <p:spTree>
      <p:nvGrpSpPr>
        <p:cNvPr id="1" name=""/>
        <p:cNvGrpSpPr/>
        <p:nvPr/>
      </p:nvGrpSpPr>
      <p:grpSpPr/>
      <p:sp>
        <p:nvSpPr>
          <p:cNvPr id="2" name="TextBox 1"/>
          <p:cNvSpPr txBox="1"/>
          <p:nvPr/>
        </p:nvSpPr>
        <p:spPr>
          <a:xfrm>
            <a:off x="777240" y="822960"/>
            <a:ext cx="10058400" cy="292608"/>
          </a:xfrm>
          <a:prstGeom prst="rect">
            <a:avLst/>
          </a:prstGeom>
          <a:noFill/>
        </p:spPr>
        <p:txBody>
          <a:bodyPr wrap="square" anchor="t">
            <a:spAutoFit/>
          </a:bodyPr>
          <a:lstStyle/>
          <a:p>
            <a:pPr algn="l">
              <a:lnSpc>
                <a:spcPct val="100000"/>
              </a:lnSpc>
            </a:pPr>
            <a:r>
              <a:rPr sz="1100" b="1" i="0">
                <a:solidFill>
                  <a:srgbClr val="D98FE0"/>
                </a:solidFill>
                <a:latin typeface="Calibri"/>
              </a:rPr>
              <a:t>READY TO TRY</a:t>
            </a:r>
          </a:p>
        </p:txBody>
      </p:sp>
      <p:sp>
        <p:nvSpPr>
          <p:cNvPr id="3" name="TextBox 2"/>
          <p:cNvSpPr txBox="1"/>
          <p:nvPr/>
        </p:nvSpPr>
        <p:spPr>
          <a:xfrm>
            <a:off x="777240" y="1234440"/>
            <a:ext cx="10424160" cy="822960"/>
          </a:xfrm>
          <a:prstGeom prst="rect">
            <a:avLst/>
          </a:prstGeom>
          <a:noFill/>
        </p:spPr>
        <p:txBody>
          <a:bodyPr wrap="square" anchor="t">
            <a:spAutoFit/>
          </a:bodyPr>
          <a:lstStyle/>
          <a:p>
            <a:pPr algn="l">
              <a:lnSpc>
                <a:spcPct val="100000"/>
              </a:lnSpc>
            </a:pPr>
            <a:r>
              <a:rPr sz="3200" b="1" i="0">
                <a:solidFill>
                  <a:srgbClr val="FFFFFF"/>
                </a:solidFill>
                <a:latin typeface="Calibri"/>
              </a:rPr>
              <a:t>Both tools are built, documented, and open</a:t>
            </a:r>
          </a:p>
        </p:txBody>
      </p:sp>
      <p:sp>
        <p:nvSpPr>
          <p:cNvPr id="4" name="Rectangle 3"/>
          <p:cNvSpPr/>
          <p:nvPr/>
        </p:nvSpPr>
        <p:spPr>
          <a:xfrm>
            <a:off x="777240" y="2377440"/>
            <a:ext cx="50292" cy="82296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2395728"/>
            <a:ext cx="3749039" cy="411480"/>
          </a:xfrm>
          <a:prstGeom prst="rect">
            <a:avLst/>
          </a:prstGeom>
          <a:noFill/>
        </p:spPr>
        <p:txBody>
          <a:bodyPr wrap="square" anchor="t">
            <a:spAutoFit/>
          </a:bodyPr>
          <a:lstStyle/>
          <a:p>
            <a:pPr algn="l">
              <a:lnSpc>
                <a:spcPct val="100000"/>
              </a:lnSpc>
            </a:pPr>
            <a:r>
              <a:rPr sz="1600" b="1" i="0">
                <a:solidFill>
                  <a:srgbClr val="FFFFFF"/>
                </a:solidFill>
                <a:latin typeface="Calibri"/>
              </a:rPr>
              <a:t>Value Stream Mapping</a:t>
            </a:r>
          </a:p>
        </p:txBody>
      </p:sp>
      <p:sp>
        <p:nvSpPr>
          <p:cNvPr id="6" name="TextBox 5"/>
          <p:cNvSpPr txBox="1"/>
          <p:nvPr/>
        </p:nvSpPr>
        <p:spPr>
          <a:xfrm>
            <a:off x="4937760" y="2377440"/>
            <a:ext cx="6309360" cy="822960"/>
          </a:xfrm>
          <a:prstGeom prst="rect">
            <a:avLst/>
          </a:prstGeom>
          <a:noFill/>
        </p:spPr>
        <p:txBody>
          <a:bodyPr wrap="square" anchor="t">
            <a:spAutoFit/>
          </a:bodyPr>
          <a:lstStyle/>
          <a:p>
            <a:pPr algn="l">
              <a:lnSpc>
                <a:spcPct val="115000"/>
              </a:lnSpc>
            </a:pPr>
            <a:r>
              <a:rPr sz="1300" b="0" i="0">
                <a:solidFill>
                  <a:srgbClr val="C9A5D5"/>
                </a:solidFill>
                <a:latin typeface="Calibri"/>
              </a:rPr>
              <a:t>VSM mode in the RCN Graph Tool — lanes, storm bursts, computed sawtooth, CSV / Markdown / A3 export.</a:t>
            </a:r>
          </a:p>
        </p:txBody>
      </p:sp>
      <p:sp>
        <p:nvSpPr>
          <p:cNvPr id="7" name="Rectangle 6"/>
          <p:cNvSpPr/>
          <p:nvPr/>
        </p:nvSpPr>
        <p:spPr>
          <a:xfrm>
            <a:off x="777240" y="3291840"/>
            <a:ext cx="50292" cy="82296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3310128"/>
            <a:ext cx="3749039" cy="411480"/>
          </a:xfrm>
          <a:prstGeom prst="rect">
            <a:avLst/>
          </a:prstGeom>
          <a:noFill/>
        </p:spPr>
        <p:txBody>
          <a:bodyPr wrap="square" anchor="t">
            <a:spAutoFit/>
          </a:bodyPr>
          <a:lstStyle/>
          <a:p>
            <a:pPr algn="l">
              <a:lnSpc>
                <a:spcPct val="100000"/>
              </a:lnSpc>
            </a:pPr>
            <a:r>
              <a:rPr sz="1600" b="1" i="0">
                <a:solidFill>
                  <a:srgbClr val="FFFFFF"/>
                </a:solidFill>
                <a:latin typeface="Calibri"/>
              </a:rPr>
              <a:t>A3 Problem Solving</a:t>
            </a:r>
          </a:p>
        </p:txBody>
      </p:sp>
      <p:sp>
        <p:nvSpPr>
          <p:cNvPr id="9" name="TextBox 8"/>
          <p:cNvSpPr txBox="1"/>
          <p:nvPr/>
        </p:nvSpPr>
        <p:spPr>
          <a:xfrm>
            <a:off x="4937760" y="3291840"/>
            <a:ext cx="6309360" cy="822960"/>
          </a:xfrm>
          <a:prstGeom prst="rect">
            <a:avLst/>
          </a:prstGeom>
          <a:noFill/>
        </p:spPr>
        <p:txBody>
          <a:bodyPr wrap="square" anchor="t">
            <a:spAutoFit/>
          </a:bodyPr>
          <a:lstStyle/>
          <a:p>
            <a:pPr algn="l">
              <a:lnSpc>
                <a:spcPct val="115000"/>
              </a:lnSpc>
            </a:pPr>
            <a:r>
              <a:rPr sz="1300" b="0" i="0">
                <a:solidFill>
                  <a:srgbClr val="C9A5D5"/>
                </a:solidFill>
                <a:latin typeface="Calibri"/>
              </a:rPr>
              <a:t>A single-page tool that prints to 11x17, carries its drawings, and enforces the three rules.</a:t>
            </a:r>
          </a:p>
        </p:txBody>
      </p:sp>
      <p:sp>
        <p:nvSpPr>
          <p:cNvPr id="10" name="Rectangle 9"/>
          <p:cNvSpPr/>
          <p:nvPr/>
        </p:nvSpPr>
        <p:spPr>
          <a:xfrm>
            <a:off x="777240" y="4206240"/>
            <a:ext cx="50292" cy="82296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224527"/>
            <a:ext cx="3749039" cy="411480"/>
          </a:xfrm>
          <a:prstGeom prst="rect">
            <a:avLst/>
          </a:prstGeom>
          <a:noFill/>
        </p:spPr>
        <p:txBody>
          <a:bodyPr wrap="square" anchor="t">
            <a:spAutoFit/>
          </a:bodyPr>
          <a:lstStyle/>
          <a:p>
            <a:pPr algn="l">
              <a:lnSpc>
                <a:spcPct val="100000"/>
              </a:lnSpc>
            </a:pPr>
            <a:r>
              <a:rPr sz="1600" b="1" i="0">
                <a:solidFill>
                  <a:srgbClr val="FFFFFF"/>
                </a:solidFill>
                <a:latin typeface="Calibri"/>
              </a:rPr>
              <a:t>The handoff</a:t>
            </a:r>
          </a:p>
        </p:txBody>
      </p:sp>
      <p:sp>
        <p:nvSpPr>
          <p:cNvPr id="12" name="TextBox 11"/>
          <p:cNvSpPr txBox="1"/>
          <p:nvPr/>
        </p:nvSpPr>
        <p:spPr>
          <a:xfrm>
            <a:off x="4937760" y="4206240"/>
            <a:ext cx="6309360" cy="822960"/>
          </a:xfrm>
          <a:prstGeom prst="rect">
            <a:avLst/>
          </a:prstGeom>
          <a:noFill/>
        </p:spPr>
        <p:txBody>
          <a:bodyPr wrap="square" anchor="t">
            <a:spAutoFit/>
          </a:bodyPr>
          <a:lstStyle/>
          <a:p>
            <a:pPr algn="l">
              <a:lnSpc>
                <a:spcPct val="115000"/>
              </a:lnSpc>
            </a:pPr>
            <a:r>
              <a:rPr sz="1300" b="0" i="0">
                <a:solidFill>
                  <a:srgbClr val="C9A5D5"/>
                </a:solidFill>
                <a:latin typeface="Calibri"/>
              </a:rPr>
              <a:t>VSM to A3 in one click, pre-seeded with the bursts and the observed times.</a:t>
            </a:r>
          </a:p>
        </p:txBody>
      </p:sp>
      <p:sp>
        <p:nvSpPr>
          <p:cNvPr id="13" name="Rectangle 12"/>
          <p:cNvSpPr/>
          <p:nvPr/>
        </p:nvSpPr>
        <p:spPr>
          <a:xfrm>
            <a:off x="777240" y="5120640"/>
            <a:ext cx="50292" cy="82296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5138927"/>
            <a:ext cx="3749039" cy="411480"/>
          </a:xfrm>
          <a:prstGeom prst="rect">
            <a:avLst/>
          </a:prstGeom>
          <a:noFill/>
        </p:spPr>
        <p:txBody>
          <a:bodyPr wrap="square" anchor="t">
            <a:spAutoFit/>
          </a:bodyPr>
          <a:lstStyle/>
          <a:p>
            <a:pPr algn="l">
              <a:lnSpc>
                <a:spcPct val="100000"/>
              </a:lnSpc>
            </a:pPr>
            <a:r>
              <a:rPr sz="1600" b="1" i="0">
                <a:solidFill>
                  <a:srgbClr val="FFFFFF"/>
                </a:solidFill>
                <a:latin typeface="Calibri"/>
              </a:rPr>
              <a:t>The measure</a:t>
            </a:r>
          </a:p>
        </p:txBody>
      </p:sp>
      <p:sp>
        <p:nvSpPr>
          <p:cNvPr id="15" name="TextBox 14"/>
          <p:cNvSpPr txBox="1"/>
          <p:nvPr/>
        </p:nvSpPr>
        <p:spPr>
          <a:xfrm>
            <a:off x="4937760" y="5120640"/>
            <a:ext cx="6309360" cy="822960"/>
          </a:xfrm>
          <a:prstGeom prst="rect">
            <a:avLst/>
          </a:prstGeom>
          <a:noFill/>
        </p:spPr>
        <p:txBody>
          <a:bodyPr wrap="square" anchor="t">
            <a:spAutoFit/>
          </a:bodyPr>
          <a:lstStyle/>
          <a:p>
            <a:pPr algn="l">
              <a:lnSpc>
                <a:spcPct val="115000"/>
              </a:lnSpc>
            </a:pPr>
            <a:r>
              <a:rPr sz="1300" b="0" i="0">
                <a:solidFill>
                  <a:srgbClr val="C9A5D5"/>
                </a:solidFill>
                <a:latin typeface="Calibri"/>
              </a:rPr>
              <a:t>Hand it to the SPC tool and watch whether the change actually held.</a:t>
            </a:r>
          </a:p>
        </p:txBody>
      </p:sp>
      <p:sp>
        <p:nvSpPr>
          <p:cNvPr id="16" name="TextBox 15"/>
          <p:cNvSpPr txBox="1"/>
          <p:nvPr/>
        </p:nvSpPr>
        <p:spPr>
          <a:xfrm>
            <a:off x="777240" y="6263640"/>
            <a:ext cx="10058400" cy="320040"/>
          </a:xfrm>
          <a:prstGeom prst="rect">
            <a:avLst/>
          </a:prstGeom>
          <a:noFill/>
        </p:spPr>
        <p:txBody>
          <a:bodyPr wrap="square" anchor="t">
            <a:spAutoFit/>
          </a:bodyPr>
          <a:lstStyle/>
          <a:p>
            <a:pPr algn="l">
              <a:lnSpc>
                <a:spcPct val="100000"/>
              </a:lnSpc>
            </a:pPr>
            <a:r>
              <a:rPr sz="1300" b="0" i="1">
                <a:solidFill>
                  <a:srgbClr val="9A6FA8"/>
                </a:solidFill>
                <a:latin typeface="Calibri"/>
              </a:rPr>
              <a:t>Single HTML files. No install, no account, no data leaving the machine.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