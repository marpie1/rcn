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Agreement Checker turns Ostrom's Institutional Grammar into seven plain questions. Marc Pierson and Claude Opus 5.5,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failures, all from one real-looking garden bylaw. They are invisible to a group reading the paragraph together; they become visible only sentence by sentence.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keeps all of Ostrom's logic and shows none of her symbols unless asked. The quote is the design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in blue, answers in green, the same colours as the checker and the drawing. Exactly one MUST, MAY, or MUST NOT per sentence.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does this split automatically and says so. Sentence 4 is drawn in red because it is a loose consequence: nobody is named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question comes with a "Leave as is" button. The checker asks; the group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bylaw as written: one note (the split) and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Sentence 1 of the fixed bylaw. OR ELSE says "carried by sentence 4" because the keeper's duty backs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Ostrom calls this vertical nesting: the Or else of one statement is itself a statement. In plain words, "backed by".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permission is always a shared expectation: it cannot be broken, so it needs no OR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 garden bylaw as the Graph Tool draws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asks; the people decide.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Pierson and Claude Opus 5.5, September 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B"/>
        </a:solidFill>
        <a:effectLst/>
      </p:bgPr>
    </p:bg>
    <p:spTree>
      <p:nvGrpSpPr>
        <p:cNvPr id="1" name=""/>
        <p:cNvGrpSpPr/>
        <p:nvPr/>
      </p:nvGrpSpPr>
      <p:grpSpPr/>
      <p:sp>
        <p:nvSpPr>
          <p:cNvPr id="2" name="TextBox 1"/>
          <p:cNvSpPr txBox="1"/>
          <p:nvPr/>
        </p:nvSpPr>
        <p:spPr>
          <a:xfrm>
            <a:off x="822960" y="1234440"/>
            <a:ext cx="7315200" cy="365760"/>
          </a:xfrm>
          <a:prstGeom prst="rect">
            <a:avLst/>
          </a:prstGeom>
          <a:noFill/>
        </p:spPr>
        <p:txBody>
          <a:bodyPr wrap="square" anchor="t">
            <a:spAutoFit/>
          </a:bodyPr>
          <a:lstStyle/>
          <a:p>
            <a:pPr algn="l">
              <a:lnSpc>
                <a:spcPct val="105000"/>
              </a:lnSpc>
            </a:pPr>
            <a:r>
              <a:rPr sz="1400" b="1" i="0">
                <a:solidFill>
                  <a:srgbClr val="1D4ED8"/>
                </a:solidFill>
                <a:latin typeface="Calibri"/>
              </a:rPr>
              <a:t>RCN TOOLS</a:t>
            </a:r>
          </a:p>
        </p:txBody>
      </p:sp>
      <p:sp>
        <p:nvSpPr>
          <p:cNvPr id="3" name="TextBox 2"/>
          <p:cNvSpPr txBox="1"/>
          <p:nvPr/>
        </p:nvSpPr>
        <p:spPr>
          <a:xfrm>
            <a:off x="822960" y="1645920"/>
            <a:ext cx="10058400" cy="1097280"/>
          </a:xfrm>
          <a:prstGeom prst="rect">
            <a:avLst/>
          </a:prstGeom>
          <a:noFill/>
        </p:spPr>
        <p:txBody>
          <a:bodyPr wrap="square" anchor="t">
            <a:spAutoFit/>
          </a:bodyPr>
          <a:lstStyle/>
          <a:p>
            <a:pPr algn="l">
              <a:lnSpc>
                <a:spcPct val="105000"/>
              </a:lnSpc>
            </a:pPr>
            <a:r>
              <a:rPr sz="5600" b="1" i="0">
                <a:solidFill>
                  <a:srgbClr val="000000"/>
                </a:solidFill>
                <a:latin typeface="Calibri"/>
              </a:rPr>
              <a:t>Agreement Checker</a:t>
            </a:r>
          </a:p>
        </p:txBody>
      </p:sp>
      <p:sp>
        <p:nvSpPr>
          <p:cNvPr id="4" name="TextBox 3"/>
          <p:cNvSpPr txBox="1"/>
          <p:nvPr/>
        </p:nvSpPr>
        <p:spPr>
          <a:xfrm>
            <a:off x="822960" y="2788920"/>
            <a:ext cx="10058400" cy="1097280"/>
          </a:xfrm>
          <a:prstGeom prst="rect">
            <a:avLst/>
          </a:prstGeom>
          <a:noFill/>
        </p:spPr>
        <p:txBody>
          <a:bodyPr wrap="square" anchor="t">
            <a:spAutoFit/>
          </a:bodyPr>
          <a:lstStyle/>
          <a:p>
            <a:pPr algn="l">
              <a:lnSpc>
                <a:spcPct val="105000"/>
              </a:lnSpc>
            </a:pPr>
            <a:r>
              <a:rPr sz="2400" b="0" i="0">
                <a:solidFill>
                  <a:srgbClr val="000000"/>
                </a:solidFill>
                <a:latin typeface="Calibri"/>
              </a:rPr>
              <a:t>Elinor Ostrom's grammar of rules, as plain questions</a:t>
            </a:r>
          </a:p>
          <a:p>
            <a:pPr algn="l">
              <a:lnSpc>
                <a:spcPct val="105000"/>
              </a:lnSpc>
            </a:pPr>
            <a:r>
              <a:rPr sz="2400" b="0" i="0">
                <a:solidFill>
                  <a:srgbClr val="000000"/>
                </a:solidFill>
                <a:latin typeface="Calibri"/>
              </a:rPr>
              <a:t>a group can ask of any agreement it writes.</a:t>
            </a:r>
          </a:p>
        </p:txBody>
      </p:sp>
      <p:sp>
        <p:nvSpPr>
          <p:cNvPr id="5" name="Rounded Rectangle 4"/>
          <p:cNvSpPr/>
          <p:nvPr/>
        </p:nvSpPr>
        <p:spPr>
          <a:xfrm>
            <a:off x="822960"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WHEN?</a:t>
            </a:r>
          </a:p>
        </p:txBody>
      </p:sp>
      <p:sp>
        <p:nvSpPr>
          <p:cNvPr id="7" name="Rounded Rectangle 6"/>
          <p:cNvSpPr/>
          <p:nvPr/>
        </p:nvSpPr>
        <p:spPr>
          <a:xfrm>
            <a:off x="2340864"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40864"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WHO?</a:t>
            </a:r>
          </a:p>
        </p:txBody>
      </p:sp>
      <p:sp>
        <p:nvSpPr>
          <p:cNvPr id="9" name="Rounded Rectangle 8"/>
          <p:cNvSpPr/>
          <p:nvPr/>
        </p:nvSpPr>
        <p:spPr>
          <a:xfrm>
            <a:off x="3858768"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58768"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MUST, MAY,</a:t>
            </a:r>
          </a:p>
          <a:p>
            <a:pPr algn="ctr">
              <a:lnSpc>
                <a:spcPct val="105000"/>
              </a:lnSpc>
            </a:pPr>
            <a:r>
              <a:rPr sz="1300" b="1" i="0">
                <a:solidFill>
                  <a:srgbClr val="1D4ED8"/>
                </a:solidFill>
                <a:latin typeface="Calibri"/>
              </a:rPr>
              <a:t>OR MUST NOT?</a:t>
            </a:r>
          </a:p>
        </p:txBody>
      </p:sp>
      <p:sp>
        <p:nvSpPr>
          <p:cNvPr id="11" name="Rounded Rectangle 10"/>
          <p:cNvSpPr/>
          <p:nvPr/>
        </p:nvSpPr>
        <p:spPr>
          <a:xfrm>
            <a:off x="5376672"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DO WHAT?</a:t>
            </a:r>
          </a:p>
        </p:txBody>
      </p:sp>
      <p:sp>
        <p:nvSpPr>
          <p:cNvPr id="13" name="Rounded Rectangle 12"/>
          <p:cNvSpPr/>
          <p:nvPr/>
        </p:nvSpPr>
        <p:spPr>
          <a:xfrm>
            <a:off x="6894576"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TO WHAT?</a:t>
            </a:r>
          </a:p>
        </p:txBody>
      </p:sp>
      <p:sp>
        <p:nvSpPr>
          <p:cNvPr id="15" name="Rounded Rectangle 14"/>
          <p:cNvSpPr/>
          <p:nvPr/>
        </p:nvSpPr>
        <p:spPr>
          <a:xfrm>
            <a:off x="8412480"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HOW?</a:t>
            </a:r>
          </a:p>
        </p:txBody>
      </p:sp>
      <p:sp>
        <p:nvSpPr>
          <p:cNvPr id="17" name="Rounded Rectangle 16"/>
          <p:cNvSpPr/>
          <p:nvPr/>
        </p:nvSpPr>
        <p:spPr>
          <a:xfrm>
            <a:off x="9930384"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30384"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OR ELSE?</a:t>
            </a:r>
          </a:p>
        </p:txBody>
      </p:sp>
      <p:sp>
        <p:nvSpPr>
          <p:cNvPr id="19" name="TextBox 18"/>
          <p:cNvSpPr txBox="1"/>
          <p:nvPr/>
        </p:nvSpPr>
        <p:spPr>
          <a:xfrm>
            <a:off x="822960" y="5806440"/>
            <a:ext cx="10058400" cy="365760"/>
          </a:xfrm>
          <a:prstGeom prst="rect">
            <a:avLst/>
          </a:prstGeom>
          <a:noFill/>
        </p:spPr>
        <p:txBody>
          <a:bodyPr wrap="square" anchor="t">
            <a:spAutoFit/>
          </a:bodyPr>
          <a:lstStyle/>
          <a:p>
            <a:pPr algn="l">
              <a:lnSpc>
                <a:spcPct val="105000"/>
              </a:lnSpc>
            </a:pPr>
            <a:r>
              <a:rPr sz="1600" b="1" i="0">
                <a:solidFill>
                  <a:srgbClr val="000000"/>
                </a:solidFill>
                <a:latin typeface="Calibri"/>
              </a:rPr>
              <a:t>Marc Pierson and Claude Opus 5.5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PROBLEM</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Agreements fail in the same few ways</a:t>
            </a:r>
          </a:p>
        </p:txBody>
      </p:sp>
      <p:sp>
        <p:nvSpPr>
          <p:cNvPr id="4" name="Rounded Rectangle 3"/>
          <p:cNvSpPr/>
          <p:nvPr/>
        </p:nvSpPr>
        <p:spPr>
          <a:xfrm>
            <a:off x="640080"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84248"/>
            <a:ext cx="3108960" cy="322516"/>
          </a:xfrm>
          <a:prstGeom prst="rect">
            <a:avLst/>
          </a:prstGeom>
          <a:noFill/>
        </p:spPr>
        <p:txBody>
          <a:bodyPr wrap="square" anchor="t">
            <a:spAutoFit/>
          </a:bodyPr>
          <a:lstStyle/>
          <a:p>
            <a:pPr algn="l">
              <a:lnSpc>
                <a:spcPct val="105000"/>
              </a:lnSpc>
            </a:pPr>
            <a:r>
              <a:rPr sz="1700" b="1" i="0">
                <a:solidFill>
                  <a:srgbClr val="000000"/>
                </a:solidFill>
                <a:latin typeface="Calibri"/>
              </a:rPr>
              <a:t>Two rules in one sentence</a:t>
            </a:r>
          </a:p>
        </p:txBody>
      </p:sp>
      <p:sp>
        <p:nvSpPr>
          <p:cNvPr id="6" name="TextBox 5"/>
          <p:cNvSpPr txBox="1"/>
          <p:nvPr/>
        </p:nvSpPr>
        <p:spPr>
          <a:xfrm>
            <a:off x="822959" y="2361628"/>
            <a:ext cx="3108960" cy="2301811"/>
          </a:xfrm>
          <a:prstGeom prst="rect">
            <a:avLst/>
          </a:prstGeom>
          <a:noFill/>
        </p:spPr>
        <p:txBody>
          <a:bodyPr wrap="square" anchor="t">
            <a:spAutoFit/>
          </a:bodyPr>
          <a:lstStyle/>
          <a:p>
            <a:pPr algn="l">
              <a:lnSpc>
                <a:spcPct val="108000"/>
              </a:lnSpc>
            </a:pPr>
            <a:r>
              <a:rPr sz="1400" b="0" i="0">
                <a:solidFill>
                  <a:srgbClr val="000000"/>
                </a:solidFill>
                <a:latin typeface="Calibri"/>
              </a:rPr>
              <a:t>"Gardeners must water only on assigned days and must not use sprinklers, but may hand-water seedlings any day."</a:t>
            </a:r>
          </a:p>
          <a:p>
            <a:pPr algn="l">
              <a:lnSpc>
                <a:spcPct val="108000"/>
              </a:lnSpc>
            </a:pPr>
            <a:r>
              <a:rPr sz="1400" b="0" i="0">
                <a:solidFill>
                  <a:srgbClr val="000000"/>
                </a:solidFill>
                <a:latin typeface="Calibri"/>
              </a:rPr>
              <a:t/>
            </a:r>
          </a:p>
          <a:p>
            <a:pPr algn="l">
              <a:lnSpc>
                <a:spcPct val="108000"/>
              </a:lnSpc>
            </a:pPr>
            <a:r>
              <a:rPr sz="1400" b="0" i="0">
                <a:solidFill>
                  <a:srgbClr val="000000"/>
                </a:solidFill>
                <a:latin typeface="Calibri"/>
              </a:rPr>
              <a:t>Three rules, tangled. You can't change one without touching the others.</a:t>
            </a:r>
          </a:p>
        </p:txBody>
      </p:sp>
      <p:sp>
        <p:nvSpPr>
          <p:cNvPr id="7" name="Rounded Rectangle 6"/>
          <p:cNvSpPr/>
          <p:nvPr/>
        </p:nvSpPr>
        <p:spPr>
          <a:xfrm>
            <a:off x="4361688"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4568" y="1984248"/>
            <a:ext cx="3108960" cy="322516"/>
          </a:xfrm>
          <a:prstGeom prst="rect">
            <a:avLst/>
          </a:prstGeom>
          <a:noFill/>
        </p:spPr>
        <p:txBody>
          <a:bodyPr wrap="square" anchor="t">
            <a:spAutoFit/>
          </a:bodyPr>
          <a:lstStyle/>
          <a:p>
            <a:pPr algn="l">
              <a:lnSpc>
                <a:spcPct val="105000"/>
              </a:lnSpc>
            </a:pPr>
            <a:r>
              <a:rPr sz="1700" b="1" i="0">
                <a:solidFill>
                  <a:srgbClr val="000000"/>
                </a:solidFill>
                <a:latin typeface="Calibri"/>
              </a:rPr>
              <a:t>A permission that clashes</a:t>
            </a:r>
          </a:p>
        </p:txBody>
      </p:sp>
      <p:sp>
        <p:nvSpPr>
          <p:cNvPr id="9" name="TextBox 8"/>
          <p:cNvSpPr txBox="1"/>
          <p:nvPr/>
        </p:nvSpPr>
        <p:spPr>
          <a:xfrm>
            <a:off x="4544568" y="2361628"/>
            <a:ext cx="3108960" cy="2301811"/>
          </a:xfrm>
          <a:prstGeom prst="rect">
            <a:avLst/>
          </a:prstGeom>
          <a:noFill/>
        </p:spPr>
        <p:txBody>
          <a:bodyPr wrap="square" anchor="t">
            <a:spAutoFit/>
          </a:bodyPr>
          <a:lstStyle/>
          <a:p>
            <a:pPr algn="l">
              <a:lnSpc>
                <a:spcPct val="108000"/>
              </a:lnSpc>
            </a:pPr>
            <a:r>
              <a:rPr sz="1400" b="0" i="0">
                <a:solidFill>
                  <a:srgbClr val="000000"/>
                </a:solidFill>
                <a:latin typeface="Calibri"/>
              </a:rPr>
              <a:t>"Water only on assigned days" and "hand-water seedlings any day" pull against each other. Which one wins?</a:t>
            </a:r>
          </a:p>
        </p:txBody>
      </p:sp>
      <p:sp>
        <p:nvSpPr>
          <p:cNvPr id="10" name="Rounded Rectangle 9"/>
          <p:cNvSpPr/>
          <p:nvPr/>
        </p:nvSpPr>
        <p:spPr>
          <a:xfrm>
            <a:off x="8083296"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6175" y="1984248"/>
            <a:ext cx="3108960" cy="571881"/>
          </a:xfrm>
          <a:prstGeom prst="rect">
            <a:avLst/>
          </a:prstGeom>
          <a:noFill/>
        </p:spPr>
        <p:txBody>
          <a:bodyPr wrap="square" anchor="t">
            <a:spAutoFit/>
          </a:bodyPr>
          <a:lstStyle/>
          <a:p>
            <a:pPr algn="l">
              <a:lnSpc>
                <a:spcPct val="105000"/>
              </a:lnSpc>
            </a:pPr>
            <a:r>
              <a:rPr sz="1700" b="1" i="0">
                <a:solidFill>
                  <a:srgbClr val="000000"/>
                </a:solidFill>
                <a:latin typeface="Calibri"/>
              </a:rPr>
              <a:t>A penalty nobody carries out</a:t>
            </a:r>
          </a:p>
        </p:txBody>
      </p:sp>
      <p:sp>
        <p:nvSpPr>
          <p:cNvPr id="12" name="TextBox 11"/>
          <p:cNvSpPr txBox="1"/>
          <p:nvPr/>
        </p:nvSpPr>
        <p:spPr>
          <a:xfrm>
            <a:off x="8266175" y="2610993"/>
            <a:ext cx="3108960" cy="2052447"/>
          </a:xfrm>
          <a:prstGeom prst="rect">
            <a:avLst/>
          </a:prstGeom>
          <a:noFill/>
        </p:spPr>
        <p:txBody>
          <a:bodyPr wrap="square" anchor="t">
            <a:spAutoFit/>
          </a:bodyPr>
          <a:lstStyle/>
          <a:p>
            <a:pPr algn="l">
              <a:lnSpc>
                <a:spcPct val="108000"/>
              </a:lnSpc>
            </a:pPr>
            <a:r>
              <a:rPr sz="1400" b="0" i="0">
                <a:solidFill>
                  <a:srgbClr val="000000"/>
                </a:solidFill>
                <a:latin typeface="Calibri"/>
              </a:rPr>
              <a:t>"Violators lose watering privileges for a week."</a:t>
            </a:r>
          </a:p>
          <a:p>
            <a:pPr algn="l">
              <a:lnSpc>
                <a:spcPct val="108000"/>
              </a:lnSpc>
            </a:pPr>
            <a:r>
              <a:rPr sz="1400" b="0" i="0">
                <a:solidFill>
                  <a:srgbClr val="000000"/>
                </a:solidFill>
                <a:latin typeface="Calibri"/>
              </a:rPr>
              <a:t/>
            </a:r>
          </a:p>
          <a:p>
            <a:pPr algn="l">
              <a:lnSpc>
                <a:spcPct val="108000"/>
              </a:lnSpc>
            </a:pPr>
            <a:r>
              <a:rPr sz="1400" b="0" i="0">
                <a:solidFill>
                  <a:srgbClr val="000000"/>
                </a:solidFill>
                <a:latin typeface="Calibri"/>
              </a:rPr>
              <a:t>Who takes them away? If nobody is named, nobody does.</a:t>
            </a:r>
          </a:p>
        </p:txBody>
      </p:sp>
      <p:sp>
        <p:nvSpPr>
          <p:cNvPr id="13" name="TextBox 12"/>
          <p:cNvSpPr txBox="1"/>
          <p:nvPr/>
        </p:nvSpPr>
        <p:spPr>
          <a:xfrm>
            <a:off x="640080" y="5074920"/>
            <a:ext cx="10881360" cy="914400"/>
          </a:xfrm>
          <a:prstGeom prst="rect">
            <a:avLst/>
          </a:prstGeom>
          <a:noFill/>
        </p:spPr>
        <p:txBody>
          <a:bodyPr wrap="square" anchor="t">
            <a:spAutoFit/>
          </a:bodyPr>
          <a:lstStyle/>
          <a:p>
            <a:pPr algn="l">
              <a:lnSpc>
                <a:spcPct val="105000"/>
              </a:lnSpc>
            </a:pPr>
            <a:r>
              <a:rPr sz="1800" b="0" i="0">
                <a:solidFill>
                  <a:srgbClr val="000000"/>
                </a:solidFill>
                <a:latin typeface="Calibri"/>
              </a:rPr>
              <a:t>None of these shows up when a group reads a paragraph and nods. Each one shows up when you ask the same few questions of every sentence.</a:t>
            </a:r>
          </a:p>
        </p:txBody>
      </p:sp>
      <p:sp>
        <p:nvSpPr>
          <p:cNvPr id="14" name="TextBox 1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5" name="TextBox 1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WHY IT EXISTS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Ostrom found the questions. The symbols hid them.</a:t>
            </a:r>
          </a:p>
        </p:txBody>
      </p:sp>
      <p:sp>
        <p:nvSpPr>
          <p:cNvPr id="4" name="TextBox 3"/>
          <p:cNvSpPr txBox="1"/>
          <p:nvPr/>
        </p:nvSpPr>
        <p:spPr>
          <a:xfrm>
            <a:off x="640080" y="1691640"/>
            <a:ext cx="5577840" cy="2011680"/>
          </a:xfrm>
          <a:prstGeom prst="rect">
            <a:avLst/>
          </a:prstGeom>
          <a:noFill/>
        </p:spPr>
        <p:txBody>
          <a:bodyPr wrap="square" anchor="t">
            <a:spAutoFit/>
          </a:bodyPr>
          <a:lstStyle/>
          <a:p>
            <a:pPr algn="l">
              <a:lnSpc>
                <a:spcPct val="105000"/>
              </a:lnSpc>
            </a:pPr>
            <a:r>
              <a:rPr sz="1700" b="0" i="0">
                <a:solidFill>
                  <a:srgbClr val="000000"/>
                </a:solidFill>
                <a:latin typeface="Calibri"/>
              </a:rPr>
              <a:t>Elinor Ostrom showed how communities govern shared resources without a boss or a market. With Sue Crawford she wrote a grammar for the rules those communities make. It is powerful, and almost nobody outside a university uses it.</a:t>
            </a:r>
          </a:p>
        </p:txBody>
      </p:sp>
      <p:sp>
        <p:nvSpPr>
          <p:cNvPr id="5" name="TextBox 4"/>
          <p:cNvSpPr txBox="1"/>
          <p:nvPr/>
        </p:nvSpPr>
        <p:spPr>
          <a:xfrm>
            <a:off x="6675120" y="1737360"/>
            <a:ext cx="2377440" cy="365760"/>
          </a:xfrm>
          <a:prstGeom prst="rect">
            <a:avLst/>
          </a:prstGeom>
          <a:noFill/>
        </p:spPr>
        <p:txBody>
          <a:bodyPr wrap="square" anchor="ctr">
            <a:spAutoFit/>
          </a:bodyPr>
          <a:lstStyle/>
          <a:p>
            <a:pPr algn="l">
              <a:lnSpc>
                <a:spcPct val="105000"/>
              </a:lnSpc>
            </a:pPr>
            <a:r>
              <a:rPr sz="1300" b="1" i="0">
                <a:solidFill>
                  <a:srgbClr val="000000"/>
                </a:solidFill>
                <a:latin typeface="Calibri"/>
              </a:rPr>
              <a:t>Ostrom's words</a:t>
            </a:r>
          </a:p>
        </p:txBody>
      </p:sp>
      <p:sp>
        <p:nvSpPr>
          <p:cNvPr id="6" name="TextBox 5"/>
          <p:cNvSpPr txBox="1"/>
          <p:nvPr/>
        </p:nvSpPr>
        <p:spPr>
          <a:xfrm>
            <a:off x="9052560" y="1737360"/>
            <a:ext cx="2743200" cy="365760"/>
          </a:xfrm>
          <a:prstGeom prst="rect">
            <a:avLst/>
          </a:prstGeom>
          <a:noFill/>
        </p:spPr>
        <p:txBody>
          <a:bodyPr wrap="square" anchor="ctr">
            <a:spAutoFit/>
          </a:bodyPr>
          <a:lstStyle/>
          <a:p>
            <a:pPr algn="l">
              <a:lnSpc>
                <a:spcPct val="105000"/>
              </a:lnSpc>
            </a:pPr>
            <a:r>
              <a:rPr sz="1300" b="1" i="0">
                <a:solidFill>
                  <a:srgbClr val="000000"/>
                </a:solidFill>
                <a:latin typeface="Calibri"/>
              </a:rPr>
              <a:t>Plain question</a:t>
            </a:r>
          </a:p>
        </p:txBody>
      </p:sp>
      <p:cxnSp>
        <p:nvCxnSpPr>
          <p:cNvPr id="7" name="Connector 6"/>
          <p:cNvCxnSpPr/>
          <p:nvPr/>
        </p:nvCxnSpPr>
        <p:spPr>
          <a:xfrm>
            <a:off x="6675120" y="2139696"/>
            <a:ext cx="4846320"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675120" y="2139696"/>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Attributes</a:t>
            </a:r>
          </a:p>
        </p:txBody>
      </p:sp>
      <p:sp>
        <p:nvSpPr>
          <p:cNvPr id="9" name="TextBox 8"/>
          <p:cNvSpPr txBox="1"/>
          <p:nvPr/>
        </p:nvSpPr>
        <p:spPr>
          <a:xfrm>
            <a:off x="9052560" y="2139696"/>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WHO?</a:t>
            </a:r>
          </a:p>
        </p:txBody>
      </p:sp>
      <p:cxnSp>
        <p:nvCxnSpPr>
          <p:cNvPr id="10" name="Connector 9"/>
          <p:cNvCxnSpPr/>
          <p:nvPr/>
        </p:nvCxnSpPr>
        <p:spPr>
          <a:xfrm>
            <a:off x="6675120" y="2542032"/>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675120" y="2542032"/>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Deontic</a:t>
            </a:r>
          </a:p>
        </p:txBody>
      </p:sp>
      <p:sp>
        <p:nvSpPr>
          <p:cNvPr id="12" name="TextBox 11"/>
          <p:cNvSpPr txBox="1"/>
          <p:nvPr/>
        </p:nvSpPr>
        <p:spPr>
          <a:xfrm>
            <a:off x="9052560" y="2542032"/>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MUST, MAY, OR MUST NOT?</a:t>
            </a:r>
          </a:p>
        </p:txBody>
      </p:sp>
      <p:cxnSp>
        <p:nvCxnSpPr>
          <p:cNvPr id="13" name="Connector 12"/>
          <p:cNvCxnSpPr/>
          <p:nvPr/>
        </p:nvCxnSpPr>
        <p:spPr>
          <a:xfrm>
            <a:off x="6675120" y="2944368"/>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75120" y="2944368"/>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Aim</a:t>
            </a:r>
          </a:p>
        </p:txBody>
      </p:sp>
      <p:sp>
        <p:nvSpPr>
          <p:cNvPr id="15" name="TextBox 14"/>
          <p:cNvSpPr txBox="1"/>
          <p:nvPr/>
        </p:nvSpPr>
        <p:spPr>
          <a:xfrm>
            <a:off x="9052560" y="2944368"/>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DO WHAT?</a:t>
            </a:r>
          </a:p>
        </p:txBody>
      </p:sp>
      <p:cxnSp>
        <p:nvCxnSpPr>
          <p:cNvPr id="16" name="Connector 15"/>
          <p:cNvCxnSpPr/>
          <p:nvPr/>
        </p:nvCxnSpPr>
        <p:spPr>
          <a:xfrm>
            <a:off x="6675120" y="3346703"/>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75120" y="3346703"/>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Object</a:t>
            </a:r>
          </a:p>
        </p:txBody>
      </p:sp>
      <p:sp>
        <p:nvSpPr>
          <p:cNvPr id="18" name="TextBox 17"/>
          <p:cNvSpPr txBox="1"/>
          <p:nvPr/>
        </p:nvSpPr>
        <p:spPr>
          <a:xfrm>
            <a:off x="9052560" y="3346703"/>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TO WHAT?</a:t>
            </a:r>
          </a:p>
        </p:txBody>
      </p:sp>
      <p:cxnSp>
        <p:nvCxnSpPr>
          <p:cNvPr id="19" name="Connector 18"/>
          <p:cNvCxnSpPr/>
          <p:nvPr/>
        </p:nvCxnSpPr>
        <p:spPr>
          <a:xfrm>
            <a:off x="6675120" y="3749039"/>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675120" y="3749039"/>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Activation Condition</a:t>
            </a:r>
          </a:p>
        </p:txBody>
      </p:sp>
      <p:sp>
        <p:nvSpPr>
          <p:cNvPr id="21" name="TextBox 20"/>
          <p:cNvSpPr txBox="1"/>
          <p:nvPr/>
        </p:nvSpPr>
        <p:spPr>
          <a:xfrm>
            <a:off x="9052560" y="3749039"/>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WHEN?</a:t>
            </a:r>
          </a:p>
        </p:txBody>
      </p:sp>
      <p:cxnSp>
        <p:nvCxnSpPr>
          <p:cNvPr id="22" name="Connector 21"/>
          <p:cNvCxnSpPr/>
          <p:nvPr/>
        </p:nvCxnSpPr>
        <p:spPr>
          <a:xfrm>
            <a:off x="6675120" y="4151376"/>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75120" y="4151376"/>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Execution Constraint</a:t>
            </a:r>
          </a:p>
        </p:txBody>
      </p:sp>
      <p:sp>
        <p:nvSpPr>
          <p:cNvPr id="24" name="TextBox 23"/>
          <p:cNvSpPr txBox="1"/>
          <p:nvPr/>
        </p:nvSpPr>
        <p:spPr>
          <a:xfrm>
            <a:off x="9052560" y="4151376"/>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HOW?</a:t>
            </a:r>
          </a:p>
        </p:txBody>
      </p:sp>
      <p:cxnSp>
        <p:nvCxnSpPr>
          <p:cNvPr id="25" name="Connector 24"/>
          <p:cNvCxnSpPr/>
          <p:nvPr/>
        </p:nvCxnSpPr>
        <p:spPr>
          <a:xfrm>
            <a:off x="6675120" y="4553712"/>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75120" y="4553712"/>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Or else</a:t>
            </a:r>
          </a:p>
        </p:txBody>
      </p:sp>
      <p:sp>
        <p:nvSpPr>
          <p:cNvPr id="27" name="TextBox 26"/>
          <p:cNvSpPr txBox="1"/>
          <p:nvPr/>
        </p:nvSpPr>
        <p:spPr>
          <a:xfrm>
            <a:off x="9052560" y="4553712"/>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OR ELSE?</a:t>
            </a:r>
          </a:p>
        </p:txBody>
      </p:sp>
      <p:cxnSp>
        <p:nvCxnSpPr>
          <p:cNvPr id="28" name="Connector 27"/>
          <p:cNvCxnSpPr/>
          <p:nvPr/>
        </p:nvCxnSpPr>
        <p:spPr>
          <a:xfrm>
            <a:off x="6675120" y="4956048"/>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40080" y="3977639"/>
            <a:ext cx="5577840" cy="178308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114800"/>
            <a:ext cx="5120640" cy="1234440"/>
          </a:xfrm>
          <a:prstGeom prst="rect">
            <a:avLst/>
          </a:prstGeom>
          <a:noFill/>
        </p:spPr>
        <p:txBody>
          <a:bodyPr wrap="square" anchor="t">
            <a:spAutoFit/>
          </a:bodyPr>
          <a:lstStyle/>
          <a:p>
            <a:pPr algn="l">
              <a:lnSpc>
                <a:spcPct val="105000"/>
              </a:lnSpc>
            </a:pPr>
            <a:r>
              <a:rPr sz="1600" b="0" i="1">
                <a:solidFill>
                  <a:srgbClr val="000000"/>
                </a:solidFill>
                <a:latin typeface="Calibri"/>
              </a:rPr>
              <a:t>"I have never thought that math, logic, or programming has to be for the initiated only. It would just be much more verbose and illustrated, but then democratic."</a:t>
            </a:r>
          </a:p>
        </p:txBody>
      </p:sp>
      <p:sp>
        <p:nvSpPr>
          <p:cNvPr id="31" name="TextBox 30"/>
          <p:cNvSpPr txBox="1"/>
          <p:nvPr/>
        </p:nvSpPr>
        <p:spPr>
          <a:xfrm>
            <a:off x="868680" y="5349240"/>
            <a:ext cx="5120640" cy="320040"/>
          </a:xfrm>
          <a:prstGeom prst="rect">
            <a:avLst/>
          </a:prstGeom>
          <a:noFill/>
        </p:spPr>
        <p:txBody>
          <a:bodyPr wrap="square" anchor="t">
            <a:spAutoFit/>
          </a:bodyPr>
          <a:lstStyle/>
          <a:p>
            <a:pPr algn="l">
              <a:lnSpc>
                <a:spcPct val="105000"/>
              </a:lnSpc>
            </a:pPr>
            <a:r>
              <a:rPr sz="1400" b="1" i="0">
                <a:solidFill>
                  <a:srgbClr val="000000"/>
                </a:solidFill>
                <a:latin typeface="Calibri"/>
              </a:rPr>
              <a:t>— Marc Pierson</a:t>
            </a:r>
          </a:p>
        </p:txBody>
      </p:sp>
      <p:sp>
        <p:nvSpPr>
          <p:cNvPr id="32" name="TextBox 3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33" name="TextBox 3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GRAMMAR IN PLAIN WORDS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Every rule answers seven questions</a:t>
            </a:r>
          </a:p>
        </p:txBody>
      </p:sp>
      <p:sp>
        <p:nvSpPr>
          <p:cNvPr id="4" name="Rounded Rectangle 3"/>
          <p:cNvSpPr/>
          <p:nvPr/>
        </p:nvSpPr>
        <p:spPr>
          <a:xfrm>
            <a:off x="640080"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WHEN?</a:t>
            </a:r>
          </a:p>
        </p:txBody>
      </p:sp>
      <p:cxnSp>
        <p:nvCxnSpPr>
          <p:cNvPr id="6" name="Connector 5"/>
          <p:cNvCxnSpPr/>
          <p:nvPr/>
        </p:nvCxnSpPr>
        <p:spPr>
          <a:xfrm>
            <a:off x="1348740"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when the tank</a:t>
            </a:r>
          </a:p>
          <a:p>
            <a:pPr algn="ctr">
              <a:lnSpc>
                <a:spcPct val="105000"/>
              </a:lnSpc>
            </a:pPr>
            <a:r>
              <a:rPr sz="1300" b="0" i="0">
                <a:solidFill>
                  <a:srgbClr val="000000"/>
                </a:solidFill>
                <a:latin typeface="Calibri"/>
              </a:rPr>
              <a:t>is below half</a:t>
            </a:r>
          </a:p>
        </p:txBody>
      </p:sp>
      <p:sp>
        <p:nvSpPr>
          <p:cNvPr id="9" name="Rounded Rectangle 8"/>
          <p:cNvSpPr/>
          <p:nvPr/>
        </p:nvSpPr>
        <p:spPr>
          <a:xfrm>
            <a:off x="2212848"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12848"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WHO?</a:t>
            </a:r>
          </a:p>
        </p:txBody>
      </p:sp>
      <p:cxnSp>
        <p:nvCxnSpPr>
          <p:cNvPr id="11" name="Connector 10"/>
          <p:cNvCxnSpPr/>
          <p:nvPr/>
        </p:nvCxnSpPr>
        <p:spPr>
          <a:xfrm>
            <a:off x="2921508"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212848"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12848"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gardeners</a:t>
            </a:r>
          </a:p>
        </p:txBody>
      </p:sp>
      <p:sp>
        <p:nvSpPr>
          <p:cNvPr id="14" name="Rounded Rectangle 13"/>
          <p:cNvSpPr/>
          <p:nvPr/>
        </p:nvSpPr>
        <p:spPr>
          <a:xfrm>
            <a:off x="3785615"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85615"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MUST, MAY,</a:t>
            </a:r>
          </a:p>
          <a:p>
            <a:pPr algn="ctr">
              <a:lnSpc>
                <a:spcPct val="105000"/>
              </a:lnSpc>
            </a:pPr>
            <a:r>
              <a:rPr sz="1300" b="1" i="0">
                <a:solidFill>
                  <a:srgbClr val="1D4ED8"/>
                </a:solidFill>
                <a:latin typeface="Calibri"/>
              </a:rPr>
              <a:t>OR MUST NOT?</a:t>
            </a:r>
          </a:p>
        </p:txBody>
      </p:sp>
      <p:cxnSp>
        <p:nvCxnSpPr>
          <p:cNvPr id="16" name="Connector 15"/>
          <p:cNvCxnSpPr/>
          <p:nvPr/>
        </p:nvCxnSpPr>
        <p:spPr>
          <a:xfrm>
            <a:off x="4494276"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785615"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85615"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must not</a:t>
            </a:r>
          </a:p>
        </p:txBody>
      </p:sp>
      <p:sp>
        <p:nvSpPr>
          <p:cNvPr id="19" name="Rounded Rectangle 18"/>
          <p:cNvSpPr/>
          <p:nvPr/>
        </p:nvSpPr>
        <p:spPr>
          <a:xfrm>
            <a:off x="5358384"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58384"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DO WHAT?</a:t>
            </a:r>
          </a:p>
        </p:txBody>
      </p:sp>
      <p:cxnSp>
        <p:nvCxnSpPr>
          <p:cNvPr id="21" name="Connector 20"/>
          <p:cNvCxnSpPr/>
          <p:nvPr/>
        </p:nvCxnSpPr>
        <p:spPr>
          <a:xfrm>
            <a:off x="6067044"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58384"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58384"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water</a:t>
            </a:r>
          </a:p>
        </p:txBody>
      </p:sp>
      <p:sp>
        <p:nvSpPr>
          <p:cNvPr id="24" name="Rounded Rectangle 23"/>
          <p:cNvSpPr/>
          <p:nvPr/>
        </p:nvSpPr>
        <p:spPr>
          <a:xfrm>
            <a:off x="6931152"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1152"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TO WHAT?</a:t>
            </a:r>
          </a:p>
        </p:txBody>
      </p:sp>
      <p:cxnSp>
        <p:nvCxnSpPr>
          <p:cNvPr id="26" name="Connector 25"/>
          <p:cNvCxnSpPr/>
          <p:nvPr/>
        </p:nvCxnSpPr>
        <p:spPr>
          <a:xfrm>
            <a:off x="7639812"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931152"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1152"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their plots</a:t>
            </a:r>
          </a:p>
        </p:txBody>
      </p:sp>
      <p:sp>
        <p:nvSpPr>
          <p:cNvPr id="29" name="Rounded Rectangle 28"/>
          <p:cNvSpPr/>
          <p:nvPr/>
        </p:nvSpPr>
        <p:spPr>
          <a:xfrm>
            <a:off x="8503919"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19"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HOW?</a:t>
            </a:r>
          </a:p>
        </p:txBody>
      </p:sp>
      <p:cxnSp>
        <p:nvCxnSpPr>
          <p:cNvPr id="31" name="Connector 30"/>
          <p:cNvCxnSpPr/>
          <p:nvPr/>
        </p:nvCxnSpPr>
        <p:spPr>
          <a:xfrm>
            <a:off x="9212580"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03919"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19"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with</a:t>
            </a:r>
          </a:p>
          <a:p>
            <a:pPr algn="ctr">
              <a:lnSpc>
                <a:spcPct val="105000"/>
              </a:lnSpc>
            </a:pPr>
            <a:r>
              <a:rPr sz="1300" b="0" i="0">
                <a:solidFill>
                  <a:srgbClr val="000000"/>
                </a:solidFill>
                <a:latin typeface="Calibri"/>
              </a:rPr>
              <a:t>sprinklers</a:t>
            </a:r>
          </a:p>
        </p:txBody>
      </p:sp>
      <p:sp>
        <p:nvSpPr>
          <p:cNvPr id="34" name="Rounded Rectangle 33"/>
          <p:cNvSpPr/>
          <p:nvPr/>
        </p:nvSpPr>
        <p:spPr>
          <a:xfrm>
            <a:off x="10076688"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76688"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OR ELSE?</a:t>
            </a:r>
          </a:p>
        </p:txBody>
      </p:sp>
      <p:cxnSp>
        <p:nvCxnSpPr>
          <p:cNvPr id="36" name="Connector 35"/>
          <p:cNvCxnSpPr/>
          <p:nvPr/>
        </p:nvCxnSpPr>
        <p:spPr>
          <a:xfrm>
            <a:off x="10785348"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076688"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76688"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the keeper</a:t>
            </a:r>
          </a:p>
          <a:p>
            <a:pPr algn="ctr">
              <a:lnSpc>
                <a:spcPct val="105000"/>
              </a:lnSpc>
            </a:pPr>
            <a:r>
              <a:rPr sz="1300" b="0" i="0">
                <a:solidFill>
                  <a:srgbClr val="000000"/>
                </a:solidFill>
                <a:latin typeface="Calibri"/>
              </a:rPr>
              <a:t>suspends watering</a:t>
            </a:r>
          </a:p>
        </p:txBody>
      </p:sp>
      <p:sp>
        <p:nvSpPr>
          <p:cNvPr id="39" name="TextBox 38"/>
          <p:cNvSpPr txBox="1"/>
          <p:nvPr/>
        </p:nvSpPr>
        <p:spPr>
          <a:xfrm>
            <a:off x="640080" y="4343400"/>
            <a:ext cx="10972800" cy="365760"/>
          </a:xfrm>
          <a:prstGeom prst="rect">
            <a:avLst/>
          </a:prstGeom>
          <a:noFill/>
        </p:spPr>
        <p:txBody>
          <a:bodyPr wrap="square" anchor="t">
            <a:spAutoFit/>
          </a:bodyPr>
          <a:lstStyle/>
          <a:p>
            <a:pPr algn="l">
              <a:lnSpc>
                <a:spcPct val="105000"/>
              </a:lnSpc>
            </a:pPr>
            <a:r>
              <a:rPr sz="1600" b="0" i="0">
                <a:solidFill>
                  <a:srgbClr val="000000"/>
                </a:solidFill>
                <a:latin typeface="Calibri"/>
              </a:rPr>
              <a:t>Read the green row left to right and you hear the rule:</a:t>
            </a:r>
          </a:p>
        </p:txBody>
      </p:sp>
      <p:sp>
        <p:nvSpPr>
          <p:cNvPr id="40" name="TextBox 39"/>
          <p:cNvSpPr txBox="1"/>
          <p:nvPr/>
        </p:nvSpPr>
        <p:spPr>
          <a:xfrm>
            <a:off x="640080" y="4709160"/>
            <a:ext cx="10972800" cy="822960"/>
          </a:xfrm>
          <a:prstGeom prst="rect">
            <a:avLst/>
          </a:prstGeom>
          <a:noFill/>
        </p:spPr>
        <p:txBody>
          <a:bodyPr wrap="square" anchor="t">
            <a:spAutoFit/>
          </a:bodyPr>
          <a:lstStyle/>
          <a:p>
            <a:pPr algn="l">
              <a:lnSpc>
                <a:spcPct val="105000"/>
              </a:lnSpc>
            </a:pPr>
            <a:r>
              <a:rPr sz="1900" b="1" i="0">
                <a:solidFill>
                  <a:srgbClr val="000000"/>
                </a:solidFill>
                <a:latin typeface="Calibri"/>
              </a:rPr>
              <a:t>"When the tank is below half, gardeners must not water their plots with sprinklers, or else the water keeper suspends their watering for a week."</a:t>
            </a:r>
          </a:p>
        </p:txBody>
      </p:sp>
      <p:sp>
        <p:nvSpPr>
          <p:cNvPr id="41" name="TextBox 40"/>
          <p:cNvSpPr txBox="1"/>
          <p:nvPr/>
        </p:nvSpPr>
        <p:spPr>
          <a:xfrm>
            <a:off x="640080" y="5623560"/>
            <a:ext cx="10972800" cy="548640"/>
          </a:xfrm>
          <a:prstGeom prst="rect">
            <a:avLst/>
          </a:prstGeom>
          <a:noFill/>
        </p:spPr>
        <p:txBody>
          <a:bodyPr wrap="square" anchor="t">
            <a:spAutoFit/>
          </a:bodyPr>
          <a:lstStyle/>
          <a:p>
            <a:pPr algn="l">
              <a:lnSpc>
                <a:spcPct val="105000"/>
              </a:lnSpc>
            </a:pPr>
            <a:r>
              <a:rPr sz="1500" b="0" i="0">
                <a:solidFill>
                  <a:srgbClr val="6B7280"/>
                </a:solidFill>
                <a:latin typeface="Calibri"/>
              </a:rPr>
              <a:t>WHO?, MUST / MAY / MUST NOT, and DO WHAT? always need an answer. WHEN?, TO WHAT?, and HOW? are often blank, and that is fine.</a:t>
            </a:r>
          </a:p>
        </p:txBody>
      </p:sp>
      <p:sp>
        <p:nvSpPr>
          <p:cNvPr id="42" name="TextBox 4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43" name="TextBox 4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FIRST MOVE</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One MUST, MAY, or MUST NOT per sentence</a:t>
            </a:r>
          </a:p>
        </p:txBody>
      </p:sp>
      <p:sp>
        <p:nvSpPr>
          <p:cNvPr id="4" name="Rounded Rectangle 3"/>
          <p:cNvSpPr/>
          <p:nvPr/>
        </p:nvSpPr>
        <p:spPr>
          <a:xfrm>
            <a:off x="640080" y="1828800"/>
            <a:ext cx="4023360" cy="329184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65960"/>
            <a:ext cx="3657600" cy="320040"/>
          </a:xfrm>
          <a:prstGeom prst="rect">
            <a:avLst/>
          </a:prstGeom>
          <a:noFill/>
        </p:spPr>
        <p:txBody>
          <a:bodyPr wrap="square" anchor="t">
            <a:spAutoFit/>
          </a:bodyPr>
          <a:lstStyle/>
          <a:p>
            <a:pPr algn="l">
              <a:lnSpc>
                <a:spcPct val="105000"/>
              </a:lnSpc>
            </a:pPr>
            <a:r>
              <a:rPr sz="1200" b="1" i="0">
                <a:solidFill>
                  <a:srgbClr val="6B7280"/>
                </a:solidFill>
                <a:latin typeface="Calibri"/>
              </a:rPr>
              <a:t>AS WRITTEN</a:t>
            </a:r>
          </a:p>
        </p:txBody>
      </p:sp>
      <p:sp>
        <p:nvSpPr>
          <p:cNvPr id="6" name="TextBox 5"/>
          <p:cNvSpPr txBox="1"/>
          <p:nvPr/>
        </p:nvSpPr>
        <p:spPr>
          <a:xfrm>
            <a:off x="868680" y="2331720"/>
            <a:ext cx="3611880" cy="2651760"/>
          </a:xfrm>
          <a:prstGeom prst="rect">
            <a:avLst/>
          </a:prstGeom>
          <a:noFill/>
        </p:spPr>
        <p:txBody>
          <a:bodyPr wrap="square" anchor="t">
            <a:spAutoFit/>
          </a:bodyPr>
          <a:lstStyle/>
          <a:p>
            <a:pPr algn="l">
              <a:lnSpc>
                <a:spcPct val="105000"/>
              </a:lnSpc>
            </a:pPr>
            <a:r>
              <a:rPr sz="1700" b="0" i="0">
                <a:solidFill>
                  <a:srgbClr val="000000"/>
                </a:solidFill>
                <a:latin typeface="Calibri"/>
              </a:rPr>
              <a:t>"Gardeners must water only on assigned days and must not use sprinklers, but may hand-water seedlings any day. Violators lose watering privileges for a week."</a:t>
            </a:r>
          </a:p>
        </p:txBody>
      </p:sp>
      <p:cxnSp>
        <p:nvCxnSpPr>
          <p:cNvPr id="7" name="Connector 6"/>
          <p:cNvCxnSpPr/>
          <p:nvPr/>
        </p:nvCxnSpPr>
        <p:spPr>
          <a:xfrm flipV="1">
            <a:off x="4709160" y="2157984"/>
            <a:ext cx="731520" cy="1316736"/>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0" y="1828800"/>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0" y="1828800"/>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1</a:t>
            </a:r>
          </a:p>
        </p:txBody>
      </p:sp>
      <p:sp>
        <p:nvSpPr>
          <p:cNvPr id="10" name="TextBox 9"/>
          <p:cNvSpPr txBox="1"/>
          <p:nvPr/>
        </p:nvSpPr>
        <p:spPr>
          <a:xfrm>
            <a:off x="6035040" y="1828800"/>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must water only on assigned days.</a:t>
            </a:r>
          </a:p>
        </p:txBody>
      </p:sp>
      <p:cxnSp>
        <p:nvCxnSpPr>
          <p:cNvPr id="11" name="Connector 10"/>
          <p:cNvCxnSpPr/>
          <p:nvPr/>
        </p:nvCxnSpPr>
        <p:spPr>
          <a:xfrm flipV="1">
            <a:off x="4709160" y="2999232"/>
            <a:ext cx="731520" cy="475488"/>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0" y="2670048"/>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2670048"/>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2</a:t>
            </a:r>
          </a:p>
        </p:txBody>
      </p:sp>
      <p:sp>
        <p:nvSpPr>
          <p:cNvPr id="14" name="TextBox 13"/>
          <p:cNvSpPr txBox="1"/>
          <p:nvPr/>
        </p:nvSpPr>
        <p:spPr>
          <a:xfrm>
            <a:off x="6035040" y="2670048"/>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must not use sprinklers.</a:t>
            </a:r>
          </a:p>
        </p:txBody>
      </p:sp>
      <p:cxnSp>
        <p:nvCxnSpPr>
          <p:cNvPr id="15" name="Connector 14"/>
          <p:cNvCxnSpPr/>
          <p:nvPr/>
        </p:nvCxnSpPr>
        <p:spPr>
          <a:xfrm>
            <a:off x="4709160" y="3474720"/>
            <a:ext cx="731520" cy="365760"/>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86400" y="3511296"/>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3511296"/>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3</a:t>
            </a:r>
          </a:p>
        </p:txBody>
      </p:sp>
      <p:sp>
        <p:nvSpPr>
          <p:cNvPr id="18" name="TextBox 17"/>
          <p:cNvSpPr txBox="1"/>
          <p:nvPr/>
        </p:nvSpPr>
        <p:spPr>
          <a:xfrm>
            <a:off x="6035040" y="3511296"/>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may hand-water seedlings any day.</a:t>
            </a:r>
          </a:p>
        </p:txBody>
      </p:sp>
      <p:cxnSp>
        <p:nvCxnSpPr>
          <p:cNvPr id="19" name="Connector 18"/>
          <p:cNvCxnSpPr/>
          <p:nvPr/>
        </p:nvCxnSpPr>
        <p:spPr>
          <a:xfrm>
            <a:off x="4709160" y="3474720"/>
            <a:ext cx="731520" cy="1207008"/>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4352544"/>
            <a:ext cx="6035040" cy="658368"/>
          </a:xfrm>
          <a:prstGeom prst="roundRect">
            <a:avLst/>
          </a:prstGeom>
          <a:solidFill>
            <a:srgbClr val="FFFFFF"/>
          </a:solidFill>
          <a:ln w="254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4352544"/>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4</a:t>
            </a:r>
          </a:p>
        </p:txBody>
      </p:sp>
      <p:sp>
        <p:nvSpPr>
          <p:cNvPr id="22" name="TextBox 21"/>
          <p:cNvSpPr txBox="1"/>
          <p:nvPr/>
        </p:nvSpPr>
        <p:spPr>
          <a:xfrm>
            <a:off x="6035040" y="4352544"/>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Violators lose watering privileges for a week.</a:t>
            </a:r>
          </a:p>
        </p:txBody>
      </p:sp>
      <p:sp>
        <p:nvSpPr>
          <p:cNvPr id="23" name="TextBox 22"/>
          <p:cNvSpPr txBox="1"/>
          <p:nvPr/>
        </p:nvSpPr>
        <p:spPr>
          <a:xfrm>
            <a:off x="640080" y="5440680"/>
            <a:ext cx="10972800" cy="822960"/>
          </a:xfrm>
          <a:prstGeom prst="rect">
            <a:avLst/>
          </a:prstGeom>
          <a:noFill/>
        </p:spPr>
        <p:txBody>
          <a:bodyPr wrap="square" anchor="t">
            <a:spAutoFit/>
          </a:bodyPr>
          <a:lstStyle/>
          <a:p>
            <a:pPr algn="l">
              <a:lnSpc>
                <a:spcPct val="105000"/>
              </a:lnSpc>
            </a:pPr>
            <a:r>
              <a:rPr sz="1600" b="0" i="0">
                <a:solidFill>
                  <a:srgbClr val="000000"/>
                </a:solidFill>
                <a:latin typeface="Calibri"/>
              </a:rPr>
              <a:t>Split apart, each sentence can be read, argued about, and changed by itself. Now the questions have something to hold on to: is 1 really a MUST NOT? Is 3 an exception to 1? Who carries out 4?</a:t>
            </a:r>
          </a:p>
        </p:txBody>
      </p:sp>
      <p:sp>
        <p:nvSpPr>
          <p:cNvPr id="24" name="TextBox 2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5" name="TextBox 2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WHAT IT CATCHES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The checker asks, in plain words</a:t>
            </a:r>
          </a:p>
        </p:txBody>
      </p:sp>
      <p:sp>
        <p:nvSpPr>
          <p:cNvPr id="4" name="Rounded Rectangle 3"/>
          <p:cNvSpPr/>
          <p:nvPr/>
        </p:nvSpPr>
        <p:spPr>
          <a:xfrm>
            <a:off x="640080"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92807"/>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A MUST NOT in disguise</a:t>
            </a:r>
          </a:p>
        </p:txBody>
      </p:sp>
      <p:sp>
        <p:nvSpPr>
          <p:cNvPr id="6" name="TextBox 5"/>
          <p:cNvSpPr txBox="1"/>
          <p:nvPr/>
        </p:nvSpPr>
        <p:spPr>
          <a:xfrm>
            <a:off x="822959" y="246087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"Must water only on assigned days" means "must not water on other days". Which do you mean?</a:t>
            </a:r>
          </a:p>
        </p:txBody>
      </p:sp>
      <p:sp>
        <p:nvSpPr>
          <p:cNvPr id="7" name="Rounded Rectangle 6"/>
          <p:cNvSpPr/>
          <p:nvPr/>
        </p:nvSpPr>
        <p:spPr>
          <a:xfrm>
            <a:off x="3410711"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1" y="1892807"/>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A clash</a:t>
            </a:r>
          </a:p>
        </p:txBody>
      </p:sp>
      <p:sp>
        <p:nvSpPr>
          <p:cNvPr id="9" name="TextBox 8"/>
          <p:cNvSpPr txBox="1"/>
          <p:nvPr/>
        </p:nvSpPr>
        <p:spPr>
          <a:xfrm>
            <a:off x="3593591" y="224085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One sentence limits watering, another allows hand-watering. Is it an exception? Add "unless …".</a:t>
            </a:r>
          </a:p>
        </p:txBody>
      </p:sp>
      <p:sp>
        <p:nvSpPr>
          <p:cNvPr id="10" name="Rounded Rectangle 9"/>
          <p:cNvSpPr/>
          <p:nvPr/>
        </p:nvSpPr>
        <p:spPr>
          <a:xfrm>
            <a:off x="6181344"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64224" y="1892807"/>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A penalty nobody carries out</a:t>
            </a:r>
          </a:p>
        </p:txBody>
      </p:sp>
      <p:sp>
        <p:nvSpPr>
          <p:cNvPr id="12" name="TextBox 11"/>
          <p:cNvSpPr txBox="1"/>
          <p:nvPr/>
        </p:nvSpPr>
        <p:spPr>
          <a:xfrm>
            <a:off x="6364224" y="246087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Name who does it: "The ___ must see that rule breakers lose watering."</a:t>
            </a:r>
          </a:p>
        </p:txBody>
      </p:sp>
      <p:sp>
        <p:nvSpPr>
          <p:cNvPr id="13" name="Rounded Rectangle 12"/>
          <p:cNvSpPr/>
          <p:nvPr/>
        </p:nvSpPr>
        <p:spPr>
          <a:xfrm>
            <a:off x="8951976"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34855" y="1892807"/>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No OR ELSE</a:t>
            </a:r>
          </a:p>
        </p:txBody>
      </p:sp>
      <p:sp>
        <p:nvSpPr>
          <p:cNvPr id="15" name="TextBox 14"/>
          <p:cNvSpPr txBox="1"/>
          <p:nvPr/>
        </p:nvSpPr>
        <p:spPr>
          <a:xfrm>
            <a:off x="9134855" y="224085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It holds only as long as goodwill holds. Is there an agreed consequence?</a:t>
            </a:r>
          </a:p>
        </p:txBody>
      </p:sp>
      <p:sp>
        <p:nvSpPr>
          <p:cNvPr id="16" name="Rounded Rectangle 15"/>
          <p:cNvSpPr/>
          <p:nvPr/>
        </p:nvSpPr>
        <p:spPr>
          <a:xfrm>
            <a:off x="640080"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041648"/>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A role nobody created</a:t>
            </a:r>
          </a:p>
        </p:txBody>
      </p:sp>
      <p:sp>
        <p:nvSpPr>
          <p:cNvPr id="18" name="TextBox 17"/>
          <p:cNvSpPr txBox="1"/>
          <p:nvPr/>
        </p:nvSpPr>
        <p:spPr>
          <a:xfrm>
            <a:off x="822959" y="438969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The keeper enforces the rules, but nothing says how the keeper is chosen.</a:t>
            </a:r>
          </a:p>
        </p:txBody>
      </p:sp>
      <p:sp>
        <p:nvSpPr>
          <p:cNvPr id="19" name="Rounded Rectangle 18"/>
          <p:cNvSpPr/>
          <p:nvPr/>
        </p:nvSpPr>
        <p:spPr>
          <a:xfrm>
            <a:off x="3410711"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93591"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Words people read differently</a:t>
            </a:r>
          </a:p>
        </p:txBody>
      </p:sp>
      <p:sp>
        <p:nvSpPr>
          <p:cNvPr id="21" name="TextBox 20"/>
          <p:cNvSpPr txBox="1"/>
          <p:nvPr/>
        </p:nvSpPr>
        <p:spPr>
          <a:xfrm>
            <a:off x="3593591"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"Promptly", "reasonable", "as needed". How much, how often, by when?</a:t>
            </a:r>
          </a:p>
        </p:txBody>
      </p:sp>
      <p:sp>
        <p:nvSpPr>
          <p:cNvPr id="22" name="Rounded Rectangle 21"/>
          <p:cNvSpPr/>
          <p:nvPr/>
        </p:nvSpPr>
        <p:spPr>
          <a:xfrm>
            <a:off x="6181344"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4041648"/>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Soft words</a:t>
            </a:r>
          </a:p>
        </p:txBody>
      </p:sp>
      <p:sp>
        <p:nvSpPr>
          <p:cNvPr id="24" name="TextBox 23"/>
          <p:cNvSpPr txBox="1"/>
          <p:nvPr/>
        </p:nvSpPr>
        <p:spPr>
          <a:xfrm>
            <a:off x="6364224" y="438969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"Should" is softer than MUST. Which do you mean?</a:t>
            </a:r>
          </a:p>
        </p:txBody>
      </p:sp>
      <p:sp>
        <p:nvSpPr>
          <p:cNvPr id="25" name="Rounded Rectangle 24"/>
          <p:cNvSpPr/>
          <p:nvPr/>
        </p:nvSpPr>
        <p:spPr>
          <a:xfrm>
            <a:off x="8951976"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4855" y="4041648"/>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Missing people</a:t>
            </a:r>
          </a:p>
        </p:txBody>
      </p:sp>
      <p:sp>
        <p:nvSpPr>
          <p:cNvPr id="27" name="TextBox 26"/>
          <p:cNvSpPr txBox="1"/>
          <p:nvPr/>
        </p:nvSpPr>
        <p:spPr>
          <a:xfrm>
            <a:off x="9134855" y="438969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"Fees must be paid": who pays? "They": who are they?</a:t>
            </a:r>
          </a:p>
        </p:txBody>
      </p:sp>
      <p:sp>
        <p:nvSpPr>
          <p:cNvPr id="28" name="TextBox 27"/>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9" name="TextBox 28"/>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ON SCREEN</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Questions to settle, one sentence at a time</a:t>
            </a:r>
          </a:p>
        </p:txBody>
      </p:sp>
      <p:sp>
        <p:nvSpPr>
          <p:cNvPr id="4" name="Rectangle 3"/>
          <p:cNvSpPr/>
          <p:nvPr/>
        </p:nvSpPr>
        <p:spPr>
          <a:xfrm>
            <a:off x="1150851" y="1664208"/>
            <a:ext cx="5562137" cy="4535424"/>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check-and-questions.png"/>
          <p:cNvPicPr>
            <a:picLocks noChangeAspect="1"/>
          </p:cNvPicPr>
          <p:nvPr/>
        </p:nvPicPr>
        <p:blipFill>
          <a:blip r:embed="rId2"/>
          <a:stretch>
            <a:fillRect/>
          </a:stretch>
        </p:blipFill>
        <p:spPr>
          <a:xfrm>
            <a:off x="1178283" y="1691640"/>
            <a:ext cx="5507273" cy="4480560"/>
          </a:xfrm>
          <a:prstGeom prst="rect">
            <a:avLst/>
          </a:prstGeom>
        </p:spPr>
      </p:pic>
      <p:sp>
        <p:nvSpPr>
          <p:cNvPr id="6" name="Oval 5"/>
          <p:cNvSpPr/>
          <p:nvPr/>
        </p:nvSpPr>
        <p:spPr>
          <a:xfrm>
            <a:off x="7635240" y="178308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78308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1</a:t>
            </a:r>
          </a:p>
        </p:txBody>
      </p:sp>
      <p:sp>
        <p:nvSpPr>
          <p:cNvPr id="8" name="TextBox 7"/>
          <p:cNvSpPr txBox="1"/>
          <p:nvPr/>
        </p:nvSpPr>
        <p:spPr>
          <a:xfrm>
            <a:off x="8321040" y="173736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Paste the agreement</a:t>
            </a:r>
          </a:p>
        </p:txBody>
      </p:sp>
      <p:sp>
        <p:nvSpPr>
          <p:cNvPr id="9" name="TextBox 8"/>
          <p:cNvSpPr txBox="1"/>
          <p:nvPr/>
        </p:nvSpPr>
        <p:spPr>
          <a:xfrm>
            <a:off x="8321040" y="2148840"/>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Write it the way you'd say it. Press Check.</a:t>
            </a:r>
          </a:p>
        </p:txBody>
      </p:sp>
      <p:sp>
        <p:nvSpPr>
          <p:cNvPr id="10" name="Oval 9"/>
          <p:cNvSpPr/>
          <p:nvPr/>
        </p:nvSpPr>
        <p:spPr>
          <a:xfrm>
            <a:off x="7635240" y="324612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324612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2</a:t>
            </a:r>
          </a:p>
        </p:txBody>
      </p:sp>
      <p:sp>
        <p:nvSpPr>
          <p:cNvPr id="12" name="TextBox 11"/>
          <p:cNvSpPr txBox="1"/>
          <p:nvPr/>
        </p:nvSpPr>
        <p:spPr>
          <a:xfrm>
            <a:off x="8321040" y="320040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Read each question aloud</a:t>
            </a:r>
          </a:p>
        </p:txBody>
      </p:sp>
      <p:sp>
        <p:nvSpPr>
          <p:cNvPr id="13" name="TextBox 12"/>
          <p:cNvSpPr txBox="1"/>
          <p:nvPr/>
        </p:nvSpPr>
        <p:spPr>
          <a:xfrm>
            <a:off x="8321040" y="3611879"/>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Orange items need settling. Blue items are notes.</a:t>
            </a:r>
          </a:p>
        </p:txBody>
      </p:sp>
      <p:sp>
        <p:nvSpPr>
          <p:cNvPr id="14" name="Oval 13"/>
          <p:cNvSpPr/>
          <p:nvPr/>
        </p:nvSpPr>
        <p:spPr>
          <a:xfrm>
            <a:off x="7635240" y="470916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0" y="470916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3</a:t>
            </a:r>
          </a:p>
        </p:txBody>
      </p:sp>
      <p:sp>
        <p:nvSpPr>
          <p:cNvPr id="16" name="TextBox 15"/>
          <p:cNvSpPr txBox="1"/>
          <p:nvPr/>
        </p:nvSpPr>
        <p:spPr>
          <a:xfrm>
            <a:off x="8321040" y="466344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Settle it or leave it</a:t>
            </a:r>
          </a:p>
        </p:txBody>
      </p:sp>
      <p:sp>
        <p:nvSpPr>
          <p:cNvPr id="17" name="TextBox 16"/>
          <p:cNvSpPr txBox="1"/>
          <p:nvPr/>
        </p:nvSpPr>
        <p:spPr>
          <a:xfrm>
            <a:off x="8321040" y="5074920"/>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"Leave as is" once the group has talked it over.</a:t>
            </a:r>
          </a:p>
        </p:txBody>
      </p:sp>
      <p:sp>
        <p:nvSpPr>
          <p:cNvPr id="18" name="TextBox 17"/>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9" name="TextBox 18"/>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ON SCREEN</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Every guess is a box you can change</a:t>
            </a:r>
          </a:p>
        </p:txBody>
      </p:sp>
      <p:sp>
        <p:nvSpPr>
          <p:cNvPr id="4" name="Rectangle 3"/>
          <p:cNvSpPr/>
          <p:nvPr/>
        </p:nvSpPr>
        <p:spPr>
          <a:xfrm>
            <a:off x="612647" y="1664208"/>
            <a:ext cx="7004303" cy="3306209"/>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agreed-rule-card.png"/>
          <p:cNvPicPr>
            <a:picLocks noChangeAspect="1"/>
          </p:cNvPicPr>
          <p:nvPr/>
        </p:nvPicPr>
        <p:blipFill>
          <a:blip r:embed="rId2"/>
          <a:stretch>
            <a:fillRect/>
          </a:stretch>
        </p:blipFill>
        <p:spPr>
          <a:xfrm>
            <a:off x="640080" y="1691640"/>
            <a:ext cx="6949440" cy="3251345"/>
          </a:xfrm>
          <a:prstGeom prst="rect">
            <a:avLst/>
          </a:prstGeom>
        </p:spPr>
      </p:pic>
      <p:sp>
        <p:nvSpPr>
          <p:cNvPr id="6" name="Rounded Rectangle 5"/>
          <p:cNvSpPr/>
          <p:nvPr/>
        </p:nvSpPr>
        <p:spPr>
          <a:xfrm>
            <a:off x="8001000" y="1828800"/>
            <a:ext cx="914400" cy="411480"/>
          </a:xfrm>
          <a:prstGeom prst="roundRect">
            <a:avLst/>
          </a:prstGeom>
          <a:solidFill>
            <a:srgbClr val="FFFFFF"/>
          </a:solidFill>
          <a:ln w="285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18105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Answered</a:t>
            </a:r>
          </a:p>
        </p:txBody>
      </p:sp>
      <p:sp>
        <p:nvSpPr>
          <p:cNvPr id="8" name="Rounded Rectangle 7"/>
          <p:cNvSpPr/>
          <p:nvPr/>
        </p:nvSpPr>
        <p:spPr>
          <a:xfrm>
            <a:off x="8001000" y="2514600"/>
            <a:ext cx="914400" cy="411480"/>
          </a:xfrm>
          <a:prstGeom prst="roundRect">
            <a:avLst/>
          </a:prstGeom>
          <a:solidFill>
            <a:srgbClr val="FFFBEB"/>
          </a:solidFill>
          <a:ln w="28575">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24963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Needs an answer</a:t>
            </a:r>
          </a:p>
        </p:txBody>
      </p:sp>
      <p:sp>
        <p:nvSpPr>
          <p:cNvPr id="10" name="Rounded Rectangle 9"/>
          <p:cNvSpPr/>
          <p:nvPr/>
        </p:nvSpPr>
        <p:spPr>
          <a:xfrm>
            <a:off x="8001000" y="3200400"/>
            <a:ext cx="914400" cy="411480"/>
          </a:xfrm>
          <a:prstGeom prst="roundRect">
            <a:avLst/>
          </a:prstGeom>
          <a:solidFill>
            <a:srgbClr val="FFFFFF"/>
          </a:solidFill>
          <a:ln w="285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98280" y="31821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Optional: fine blank</a:t>
            </a:r>
          </a:p>
        </p:txBody>
      </p:sp>
      <p:sp>
        <p:nvSpPr>
          <p:cNvPr id="12" name="TextBox 11"/>
          <p:cNvSpPr txBox="1"/>
          <p:nvPr/>
        </p:nvSpPr>
        <p:spPr>
          <a:xfrm>
            <a:off x="8001000" y="4023360"/>
            <a:ext cx="3611880" cy="2011680"/>
          </a:xfrm>
          <a:prstGeom prst="rect">
            <a:avLst/>
          </a:prstGeom>
          <a:noFill/>
        </p:spPr>
        <p:txBody>
          <a:bodyPr wrap="square" anchor="t">
            <a:spAutoFit/>
          </a:bodyPr>
          <a:lstStyle/>
          <a:p>
            <a:pPr algn="l">
              <a:lnSpc>
                <a:spcPct val="105000"/>
              </a:lnSpc>
            </a:pPr>
            <a:r>
              <a:rPr sz="1500" b="0" i="0">
                <a:solidFill>
                  <a:srgbClr val="000000"/>
                </a:solidFill>
                <a:latin typeface="Calibri"/>
              </a:rPr>
              <a:t>The checker guesses from word patterns, and it will sometimes be wrong. Type over any guess. The questions, the label, and the rewritten agreement update as you type.</a:t>
            </a:r>
          </a:p>
        </p:txBody>
      </p:sp>
      <p:sp>
        <p:nvSpPr>
          <p:cNvPr id="13" name="TextBox 12"/>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4" name="TextBox 13"/>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B91C1C"/>
                </a:solidFill>
                <a:latin typeface="Calibri"/>
              </a:rPr>
              <a:t>WHAT MAKES A CONSEQUENCE AGREED</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An OR ELSE needs someone to carry it out</a:t>
            </a:r>
          </a:p>
        </p:txBody>
      </p:sp>
      <p:sp>
        <p:nvSpPr>
          <p:cNvPr id="4" name="Rounded Rectangle 3"/>
          <p:cNvSpPr/>
          <p:nvPr/>
        </p:nvSpPr>
        <p:spPr>
          <a:xfrm>
            <a:off x="64008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NO SPRINKLERS</a:t>
            </a:r>
          </a:p>
        </p:txBody>
      </p:sp>
      <p:sp>
        <p:nvSpPr>
          <p:cNvPr id="6" name="TextBox 5"/>
          <p:cNvSpPr txBox="1"/>
          <p:nvPr/>
        </p:nvSpPr>
        <p:spPr>
          <a:xfrm>
            <a:off x="822959"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Gardeners must not water their plots with sprinklers when the tank is below half.</a:t>
            </a:r>
          </a:p>
        </p:txBody>
      </p:sp>
      <p:sp>
        <p:nvSpPr>
          <p:cNvPr id="7" name="Rounded Rectangle 6"/>
          <p:cNvSpPr/>
          <p:nvPr/>
        </p:nvSpPr>
        <p:spPr>
          <a:xfrm>
            <a:off x="822959" y="3767328"/>
            <a:ext cx="2560320" cy="36576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AGREED RULE</a:t>
            </a:r>
          </a:p>
        </p:txBody>
      </p:sp>
      <p:cxnSp>
        <p:nvCxnSpPr>
          <p:cNvPr id="9" name="Connector 8"/>
          <p:cNvCxnSpPr/>
          <p:nvPr/>
        </p:nvCxnSpPr>
        <p:spPr>
          <a:xfrm>
            <a:off x="3657600" y="3108960"/>
            <a:ext cx="731520" cy="0"/>
          </a:xfrm>
          <a:prstGeom prst="line">
            <a:avLst/>
          </a:prstGeom>
          <a:ln w="38100">
            <a:solidFill>
              <a:srgbClr val="B91C1C"/>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584448" y="2697480"/>
            <a:ext cx="877824" cy="320040"/>
          </a:xfrm>
          <a:prstGeom prst="rect">
            <a:avLst/>
          </a:prstGeom>
          <a:noFill/>
        </p:spPr>
        <p:txBody>
          <a:bodyPr wrap="square" anchor="t" lIns="0" rIns="0" tIns="0" bIns="0">
            <a:spAutoFit/>
          </a:bodyPr>
          <a:lstStyle/>
          <a:p>
            <a:pPr algn="ctr">
              <a:lnSpc>
                <a:spcPct val="105000"/>
              </a:lnSpc>
            </a:pPr>
            <a:r>
              <a:rPr sz="1150" b="1" i="0">
                <a:solidFill>
                  <a:srgbClr val="B91C1C"/>
                </a:solidFill>
                <a:latin typeface="Calibri"/>
              </a:rPr>
              <a:t>backed by</a:t>
            </a:r>
          </a:p>
        </p:txBody>
      </p:sp>
      <p:sp>
        <p:nvSpPr>
          <p:cNvPr id="11" name="Rounded Rectangle 10"/>
          <p:cNvSpPr/>
          <p:nvPr/>
        </p:nvSpPr>
        <p:spPr>
          <a:xfrm>
            <a:off x="448056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KEEPER'S DUTY</a:t>
            </a:r>
          </a:p>
        </p:txBody>
      </p:sp>
      <p:sp>
        <p:nvSpPr>
          <p:cNvPr id="13" name="TextBox 12"/>
          <p:cNvSpPr txBox="1"/>
          <p:nvPr/>
        </p:nvSpPr>
        <p:spPr>
          <a:xfrm>
            <a:off x="4663440"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The water keeper must suspend watering for one week for any gardener who breaks these rules.</a:t>
            </a:r>
          </a:p>
        </p:txBody>
      </p:sp>
      <p:sp>
        <p:nvSpPr>
          <p:cNvPr id="14" name="Rounded Rectangle 13"/>
          <p:cNvSpPr/>
          <p:nvPr/>
        </p:nvSpPr>
        <p:spPr>
          <a:xfrm>
            <a:off x="4663440" y="3767328"/>
            <a:ext cx="2560320" cy="365760"/>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SHARED EXPECTATION</a:t>
            </a:r>
          </a:p>
        </p:txBody>
      </p:sp>
      <p:cxnSp>
        <p:nvCxnSpPr>
          <p:cNvPr id="16" name="Connector 15"/>
          <p:cNvCxnSpPr/>
          <p:nvPr/>
        </p:nvCxnSpPr>
        <p:spPr>
          <a:xfrm>
            <a:off x="7498079" y="3108960"/>
            <a:ext cx="731521" cy="0"/>
          </a:xfrm>
          <a:prstGeom prst="line">
            <a:avLst/>
          </a:prstGeom>
          <a:ln w="38100">
            <a:solidFill>
              <a:srgbClr val="B91C1C"/>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24928" y="2697480"/>
            <a:ext cx="877824" cy="320040"/>
          </a:xfrm>
          <a:prstGeom prst="rect">
            <a:avLst/>
          </a:prstGeom>
          <a:noFill/>
        </p:spPr>
        <p:txBody>
          <a:bodyPr wrap="square" anchor="t" lIns="0" rIns="0" tIns="0" bIns="0">
            <a:spAutoFit/>
          </a:bodyPr>
          <a:lstStyle/>
          <a:p>
            <a:pPr algn="ctr">
              <a:lnSpc>
                <a:spcPct val="105000"/>
              </a:lnSpc>
            </a:pPr>
            <a:r>
              <a:rPr sz="1150" b="1" i="0">
                <a:solidFill>
                  <a:srgbClr val="B91C1C"/>
                </a:solidFill>
                <a:latin typeface="Calibri"/>
              </a:rPr>
              <a:t>backed by</a:t>
            </a:r>
          </a:p>
        </p:txBody>
      </p:sp>
      <p:sp>
        <p:nvSpPr>
          <p:cNvPr id="18" name="Rounded Rectangle 17"/>
          <p:cNvSpPr/>
          <p:nvPr/>
        </p:nvSpPr>
        <p:spPr>
          <a:xfrm>
            <a:off x="832104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19"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CHOOSING THE KEEPER</a:t>
            </a:r>
          </a:p>
        </p:txBody>
      </p:sp>
      <p:sp>
        <p:nvSpPr>
          <p:cNvPr id="20" name="TextBox 19"/>
          <p:cNvSpPr txBox="1"/>
          <p:nvPr/>
        </p:nvSpPr>
        <p:spPr>
          <a:xfrm>
            <a:off x="8503919"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Each spring, a water keeper must be chosen from the garden members.</a:t>
            </a:r>
          </a:p>
        </p:txBody>
      </p:sp>
      <p:sp>
        <p:nvSpPr>
          <p:cNvPr id="21" name="Rounded Rectangle 20"/>
          <p:cNvSpPr/>
          <p:nvPr/>
        </p:nvSpPr>
        <p:spPr>
          <a:xfrm>
            <a:off x="8503919" y="3767328"/>
            <a:ext cx="2560320" cy="365760"/>
          </a:xfrm>
          <a:prstGeom prst="roundRect">
            <a:avLst/>
          </a:prstGeom>
          <a:solidFill>
            <a:srgbClr val="FFFFFF"/>
          </a:solidFill>
          <a:ln w="254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19"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CREATING AGREEMENT</a:t>
            </a:r>
          </a:p>
        </p:txBody>
      </p:sp>
      <p:sp>
        <p:nvSpPr>
          <p:cNvPr id="23" name="TextBox 22"/>
          <p:cNvSpPr txBox="1"/>
          <p:nvPr/>
        </p:nvSpPr>
        <p:spPr>
          <a:xfrm>
            <a:off x="640080" y="4663440"/>
            <a:ext cx="10972800" cy="1280160"/>
          </a:xfrm>
          <a:prstGeom prst="rect">
            <a:avLst/>
          </a:prstGeom>
          <a:noFill/>
        </p:spPr>
        <p:txBody>
          <a:bodyPr wrap="square" anchor="t">
            <a:spAutoFit/>
          </a:bodyPr>
          <a:lstStyle/>
          <a:p>
            <a:pPr algn="l">
              <a:lnSpc>
                <a:spcPct val="105000"/>
              </a:lnSpc>
            </a:pPr>
            <a:r>
              <a:rPr sz="1600" b="0" i="0">
                <a:solidFill>
                  <a:srgbClr val="000000"/>
                </a:solidFill>
                <a:latin typeface="Calibri"/>
              </a:rPr>
              <a:t>A rule is agreed only when another sentence names who applies the consequence, and that role is itself created by the group. The keeper's duty has no OR ELSE of its own: at some point a group trusts someone. The checker points this out once, and lets the group decide.</a:t>
            </a:r>
          </a:p>
        </p:txBody>
      </p:sp>
      <p:sp>
        <p:nvSpPr>
          <p:cNvPr id="24" name="TextBox 2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5" name="TextBox 2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LABELS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200" b="1" i="0">
                <a:solidFill>
                  <a:srgbClr val="000000"/>
                </a:solidFill>
                <a:latin typeface="Calibri"/>
              </a:rPr>
              <a:t>Leave a question blank and the agreement weakens</a:t>
            </a:r>
          </a:p>
        </p:txBody>
      </p:sp>
      <p:sp>
        <p:nvSpPr>
          <p:cNvPr id="4" name="Rounded Rectangle 3"/>
          <p:cNvSpPr/>
          <p:nvPr/>
        </p:nvSpPr>
        <p:spPr>
          <a:xfrm>
            <a:off x="640080" y="1920240"/>
            <a:ext cx="3017520" cy="2468880"/>
          </a:xfrm>
          <a:prstGeom prst="roundRect">
            <a:avLst/>
          </a:prstGeom>
          <a:solidFill>
            <a:srgbClr val="FFFFFF"/>
          </a:solidFill>
          <a:ln w="444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AGREED RULE</a:t>
            </a:r>
          </a:p>
        </p:txBody>
      </p:sp>
      <p:sp>
        <p:nvSpPr>
          <p:cNvPr id="6" name="TextBox 5"/>
          <p:cNvSpPr txBox="1"/>
          <p:nvPr/>
        </p:nvSpPr>
        <p:spPr>
          <a:xfrm>
            <a:off x="86868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MUST or MUST NOT, with an OR ELSE, and someone named to carry it out.</a:t>
            </a:r>
          </a:p>
        </p:txBody>
      </p:sp>
      <p:sp>
        <p:nvSpPr>
          <p:cNvPr id="7" name="TextBox 6"/>
          <p:cNvSpPr txBox="1"/>
          <p:nvPr/>
        </p:nvSpPr>
        <p:spPr>
          <a:xfrm>
            <a:off x="86868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rule</a:t>
            </a:r>
          </a:p>
        </p:txBody>
      </p:sp>
      <p:cxnSp>
        <p:nvCxnSpPr>
          <p:cNvPr id="8" name="Connector 7"/>
          <p:cNvCxnSpPr/>
          <p:nvPr/>
        </p:nvCxnSpPr>
        <p:spPr>
          <a:xfrm>
            <a:off x="3749039" y="3154680"/>
            <a:ext cx="640081" cy="0"/>
          </a:xfrm>
          <a:prstGeom prst="line">
            <a:avLst/>
          </a:prstGeom>
          <a:ln w="31750">
            <a:solidFill>
              <a:srgbClr val="6B7280"/>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57600" y="3246120"/>
            <a:ext cx="822960" cy="457200"/>
          </a:xfrm>
          <a:prstGeom prst="rect">
            <a:avLst/>
          </a:prstGeom>
          <a:noFill/>
        </p:spPr>
        <p:txBody>
          <a:bodyPr wrap="square" anchor="t" lIns="0" rIns="0" tIns="0" bIns="0">
            <a:spAutoFit/>
          </a:bodyPr>
          <a:lstStyle/>
          <a:p>
            <a:pPr algn="ctr">
              <a:lnSpc>
                <a:spcPct val="105000"/>
              </a:lnSpc>
            </a:pPr>
            <a:r>
              <a:rPr sz="1050" b="1" i="0">
                <a:solidFill>
                  <a:srgbClr val="6B7280"/>
                </a:solidFill>
                <a:latin typeface="Calibri"/>
              </a:rPr>
              <a:t>no OR ELSE</a:t>
            </a:r>
          </a:p>
        </p:txBody>
      </p:sp>
      <p:sp>
        <p:nvSpPr>
          <p:cNvPr id="10" name="Rounded Rectangle 9"/>
          <p:cNvSpPr/>
          <p:nvPr/>
        </p:nvSpPr>
        <p:spPr>
          <a:xfrm>
            <a:off x="4480560" y="1920240"/>
            <a:ext cx="3017520" cy="2468880"/>
          </a:xfrm>
          <a:prstGeom prst="roundRect">
            <a:avLst/>
          </a:prstGeom>
          <a:solidFill>
            <a:srgbClr val="FFFFFF"/>
          </a:solidFill>
          <a:ln w="444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SHARED EXPECTATION</a:t>
            </a:r>
          </a:p>
        </p:txBody>
      </p:sp>
      <p:sp>
        <p:nvSpPr>
          <p:cNvPr id="12" name="TextBox 11"/>
          <p:cNvSpPr txBox="1"/>
          <p:nvPr/>
        </p:nvSpPr>
        <p:spPr>
          <a:xfrm>
            <a:off x="470916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MUST, MAY, or MUST NOT, with nothing backing it. Holds as long as goodwill does.</a:t>
            </a:r>
          </a:p>
        </p:txBody>
      </p:sp>
      <p:sp>
        <p:nvSpPr>
          <p:cNvPr id="13" name="TextBox 12"/>
          <p:cNvSpPr txBox="1"/>
          <p:nvPr/>
        </p:nvSpPr>
        <p:spPr>
          <a:xfrm>
            <a:off x="470916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norm</a:t>
            </a:r>
          </a:p>
        </p:txBody>
      </p:sp>
      <p:cxnSp>
        <p:nvCxnSpPr>
          <p:cNvPr id="14" name="Connector 13"/>
          <p:cNvCxnSpPr/>
          <p:nvPr/>
        </p:nvCxnSpPr>
        <p:spPr>
          <a:xfrm>
            <a:off x="7589520" y="3154680"/>
            <a:ext cx="640080" cy="0"/>
          </a:xfrm>
          <a:prstGeom prst="line">
            <a:avLst/>
          </a:prstGeom>
          <a:ln w="31750">
            <a:solidFill>
              <a:srgbClr val="6B728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79" y="3246120"/>
            <a:ext cx="822960" cy="457200"/>
          </a:xfrm>
          <a:prstGeom prst="rect">
            <a:avLst/>
          </a:prstGeom>
          <a:noFill/>
        </p:spPr>
        <p:txBody>
          <a:bodyPr wrap="square" anchor="t" lIns="0" rIns="0" tIns="0" bIns="0">
            <a:spAutoFit/>
          </a:bodyPr>
          <a:lstStyle/>
          <a:p>
            <a:pPr algn="ctr">
              <a:lnSpc>
                <a:spcPct val="105000"/>
              </a:lnSpc>
            </a:pPr>
            <a:r>
              <a:rPr sz="1050" b="1" i="0">
                <a:solidFill>
                  <a:srgbClr val="6B7280"/>
                </a:solidFill>
                <a:latin typeface="Calibri"/>
              </a:rPr>
              <a:t>no MUST</a:t>
            </a:r>
          </a:p>
        </p:txBody>
      </p:sp>
      <p:sp>
        <p:nvSpPr>
          <p:cNvPr id="16" name="Rounded Rectangle 15"/>
          <p:cNvSpPr/>
          <p:nvPr/>
        </p:nvSpPr>
        <p:spPr>
          <a:xfrm>
            <a:off x="8321040" y="1920240"/>
            <a:ext cx="3017520" cy="2468880"/>
          </a:xfrm>
          <a:prstGeom prst="roundRect">
            <a:avLst/>
          </a:prstGeom>
          <a:solidFill>
            <a:srgbClr val="FFFFFF"/>
          </a:solidFill>
          <a:ln w="444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SHARED HABIT</a:t>
            </a:r>
          </a:p>
        </p:txBody>
      </p:sp>
      <p:sp>
        <p:nvSpPr>
          <p:cNvPr id="18" name="TextBox 17"/>
          <p:cNvSpPr txBox="1"/>
          <p:nvPr/>
        </p:nvSpPr>
        <p:spPr>
          <a:xfrm>
            <a:off x="854964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No MUST, MAY, or MUST NOT. Just who does what, and when.</a:t>
            </a:r>
          </a:p>
        </p:txBody>
      </p:sp>
      <p:sp>
        <p:nvSpPr>
          <p:cNvPr id="19" name="TextBox 18"/>
          <p:cNvSpPr txBox="1"/>
          <p:nvPr/>
        </p:nvSpPr>
        <p:spPr>
          <a:xfrm>
            <a:off x="854964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shared strategy</a:t>
            </a:r>
          </a:p>
        </p:txBody>
      </p:sp>
      <p:sp>
        <p:nvSpPr>
          <p:cNvPr id="20" name="Rounded Rectangle 19"/>
          <p:cNvSpPr/>
          <p:nvPr/>
        </p:nvSpPr>
        <p:spPr>
          <a:xfrm>
            <a:off x="640080" y="4709160"/>
            <a:ext cx="10881360" cy="114300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800600"/>
            <a:ext cx="10424160" cy="960120"/>
          </a:xfrm>
          <a:prstGeom prst="rect">
            <a:avLst/>
          </a:prstGeom>
          <a:noFill/>
        </p:spPr>
        <p:txBody>
          <a:bodyPr wrap="square" anchor="t">
            <a:spAutoFit/>
          </a:bodyPr>
          <a:lstStyle/>
          <a:p>
            <a:pPr algn="l">
              <a:lnSpc>
                <a:spcPct val="105000"/>
              </a:lnSpc>
            </a:pPr>
            <a:r>
              <a:rPr sz="1500" b="0" i="0">
                <a:solidFill>
                  <a:srgbClr val="000000"/>
                </a:solidFill>
                <a:latin typeface="Calibri"/>
              </a:rPr>
              <a:t>None of these is wrong. Plenty of good agreements are shared expectations. The label shows the group what it has actually agreed to, so nobody is surprised later. A fourth label, CREATING AGREEMENT, marks sentences that set up a role, group, or thing.</a:t>
            </a:r>
          </a:p>
        </p:txBody>
      </p:sp>
      <p:sp>
        <p:nvSpPr>
          <p:cNvPr id="22" name="TextBox 2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3" name="TextBox 2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TAKE IT WITH YOU</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Rewritten, drawn, and shared</a:t>
            </a:r>
          </a:p>
        </p:txBody>
      </p:sp>
      <p:sp>
        <p:nvSpPr>
          <p:cNvPr id="4" name="Rectangle 3"/>
          <p:cNvSpPr/>
          <p:nvPr/>
        </p:nvSpPr>
        <p:spPr>
          <a:xfrm>
            <a:off x="612647" y="1664208"/>
            <a:ext cx="7004303" cy="4065683"/>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7-graph-export.png"/>
          <p:cNvPicPr>
            <a:picLocks noChangeAspect="1"/>
          </p:cNvPicPr>
          <p:nvPr/>
        </p:nvPicPr>
        <p:blipFill>
          <a:blip r:embed="rId2"/>
          <a:stretch>
            <a:fillRect/>
          </a:stretch>
        </p:blipFill>
        <p:spPr>
          <a:xfrm>
            <a:off x="640080" y="1691640"/>
            <a:ext cx="6949440" cy="4010819"/>
          </a:xfrm>
          <a:prstGeom prst="rect">
            <a:avLst/>
          </a:prstGeom>
        </p:spPr>
      </p:pic>
      <p:sp>
        <p:nvSpPr>
          <p:cNvPr id="6" name="TextBox 5"/>
          <p:cNvSpPr txBox="1"/>
          <p:nvPr/>
        </p:nvSpPr>
        <p:spPr>
          <a:xfrm>
            <a:off x="8001000" y="178308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Rewritten</a:t>
            </a:r>
          </a:p>
        </p:txBody>
      </p:sp>
      <p:sp>
        <p:nvSpPr>
          <p:cNvPr id="7" name="TextBox 6"/>
          <p:cNvSpPr txBox="1"/>
          <p:nvPr/>
        </p:nvSpPr>
        <p:spPr>
          <a:xfrm>
            <a:off x="8001000" y="213055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The agreement rebuilt from your answers, one MUST per sentence, ready to read aloud.</a:t>
            </a:r>
          </a:p>
        </p:txBody>
      </p:sp>
      <p:sp>
        <p:nvSpPr>
          <p:cNvPr id="8" name="TextBox 7"/>
          <p:cNvSpPr txBox="1"/>
          <p:nvPr/>
        </p:nvSpPr>
        <p:spPr>
          <a:xfrm>
            <a:off x="8001000" y="288036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Drawn</a:t>
            </a:r>
          </a:p>
        </p:txBody>
      </p:sp>
      <p:sp>
        <p:nvSpPr>
          <p:cNvPr id="9" name="TextBox 8"/>
          <p:cNvSpPr txBox="1"/>
          <p:nvPr/>
        </p:nvSpPr>
        <p:spPr>
          <a:xfrm>
            <a:off x="8001000" y="322783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Opens in the RCN Graph Tool: each sentence with its answers, red arrows for what backs what.</a:t>
            </a:r>
          </a:p>
        </p:txBody>
      </p:sp>
      <p:sp>
        <p:nvSpPr>
          <p:cNvPr id="10" name="TextBox 9"/>
          <p:cNvSpPr txBox="1"/>
          <p:nvPr/>
        </p:nvSpPr>
        <p:spPr>
          <a:xfrm>
            <a:off x="8001000" y="3977639"/>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Shared</a:t>
            </a:r>
          </a:p>
        </p:txBody>
      </p:sp>
      <p:sp>
        <p:nvSpPr>
          <p:cNvPr id="11" name="TextBox 10"/>
          <p:cNvSpPr txBox="1"/>
          <p:nvPr/>
        </p:nvSpPr>
        <p:spPr>
          <a:xfrm>
            <a:off x="8001000" y="432511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Copy a link that carries the text, or save the drawing as a file.</a:t>
            </a:r>
          </a:p>
        </p:txBody>
      </p:sp>
      <p:sp>
        <p:nvSpPr>
          <p:cNvPr id="12" name="TextBox 11"/>
          <p:cNvSpPr txBox="1"/>
          <p:nvPr/>
        </p:nvSpPr>
        <p:spPr>
          <a:xfrm>
            <a:off x="8001000" y="507492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Ostrom's coding</a:t>
            </a:r>
          </a:p>
        </p:txBody>
      </p:sp>
      <p:sp>
        <p:nvSpPr>
          <p:cNvPr id="13" name="TextBox 12"/>
          <p:cNvSpPr txBox="1"/>
          <p:nvPr/>
        </p:nvSpPr>
        <p:spPr>
          <a:xfrm>
            <a:off x="8001000" y="542239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One click away on every sentence, for anyone who wants to check the translation.</a:t>
            </a:r>
          </a:p>
        </p:txBody>
      </p:sp>
      <p:sp>
        <p:nvSpPr>
          <p:cNvPr id="14" name="TextBox 1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5" name="TextBox 1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USING IT WELL</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Run it with the group, not for them</a:t>
            </a:r>
          </a:p>
        </p:txBody>
      </p:sp>
      <p:sp>
        <p:nvSpPr>
          <p:cNvPr id="4" name="Oval 3"/>
          <p:cNvSpPr/>
          <p:nvPr/>
        </p:nvSpPr>
        <p:spPr>
          <a:xfrm>
            <a:off x="640080" y="1828800"/>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1</a:t>
            </a:r>
          </a:p>
        </p:txBody>
      </p:sp>
      <p:sp>
        <p:nvSpPr>
          <p:cNvPr id="6" name="TextBox 5"/>
          <p:cNvSpPr txBox="1"/>
          <p:nvPr/>
        </p:nvSpPr>
        <p:spPr>
          <a:xfrm>
            <a:off x="1280160" y="1810512"/>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Put it on a screen everyone can see. One person types.</a:t>
            </a:r>
          </a:p>
        </p:txBody>
      </p:sp>
      <p:sp>
        <p:nvSpPr>
          <p:cNvPr id="7" name="Oval 6"/>
          <p:cNvSpPr/>
          <p:nvPr/>
        </p:nvSpPr>
        <p:spPr>
          <a:xfrm>
            <a:off x="640080" y="2542032"/>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42032"/>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2</a:t>
            </a:r>
          </a:p>
        </p:txBody>
      </p:sp>
      <p:sp>
        <p:nvSpPr>
          <p:cNvPr id="9" name="TextBox 8"/>
          <p:cNvSpPr txBox="1"/>
          <p:nvPr/>
        </p:nvSpPr>
        <p:spPr>
          <a:xfrm>
            <a:off x="1280160" y="2523744"/>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Paste the agreement as it stands, warts and all.</a:t>
            </a:r>
          </a:p>
        </p:txBody>
      </p:sp>
      <p:sp>
        <p:nvSpPr>
          <p:cNvPr id="10" name="Oval 9"/>
          <p:cNvSpPr/>
          <p:nvPr/>
        </p:nvSpPr>
        <p:spPr>
          <a:xfrm>
            <a:off x="640080" y="3255264"/>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255264"/>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3</a:t>
            </a:r>
          </a:p>
        </p:txBody>
      </p:sp>
      <p:sp>
        <p:nvSpPr>
          <p:cNvPr id="12" name="TextBox 11"/>
          <p:cNvSpPr txBox="1"/>
          <p:nvPr/>
        </p:nvSpPr>
        <p:spPr>
          <a:xfrm>
            <a:off x="1280160" y="3236976"/>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Work down the questions one at a time. Read each aloud.</a:t>
            </a:r>
          </a:p>
        </p:txBody>
      </p:sp>
      <p:sp>
        <p:nvSpPr>
          <p:cNvPr id="13" name="Oval 12"/>
          <p:cNvSpPr/>
          <p:nvPr/>
        </p:nvSpPr>
        <p:spPr>
          <a:xfrm>
            <a:off x="640080" y="3968496"/>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968496"/>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4</a:t>
            </a:r>
          </a:p>
        </p:txBody>
      </p:sp>
      <p:sp>
        <p:nvSpPr>
          <p:cNvPr id="15" name="TextBox 14"/>
          <p:cNvSpPr txBox="1"/>
          <p:nvPr/>
        </p:nvSpPr>
        <p:spPr>
          <a:xfrm>
            <a:off x="1280160" y="3950208"/>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When the group disagrees, the question has found something.</a:t>
            </a:r>
          </a:p>
        </p:txBody>
      </p:sp>
      <p:sp>
        <p:nvSpPr>
          <p:cNvPr id="16" name="Oval 15"/>
          <p:cNvSpPr/>
          <p:nvPr/>
        </p:nvSpPr>
        <p:spPr>
          <a:xfrm>
            <a:off x="640080" y="4681728"/>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81728"/>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5</a:t>
            </a:r>
          </a:p>
        </p:txBody>
      </p:sp>
      <p:sp>
        <p:nvSpPr>
          <p:cNvPr id="18" name="TextBox 17"/>
          <p:cNvSpPr txBox="1"/>
          <p:nvPr/>
        </p:nvSpPr>
        <p:spPr>
          <a:xfrm>
            <a:off x="1280160" y="4663440"/>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Read the rewritten agreement aloud before anyone agrees.</a:t>
            </a:r>
          </a:p>
        </p:txBody>
      </p:sp>
      <p:sp>
        <p:nvSpPr>
          <p:cNvPr id="19" name="Rounded Rectangle 18"/>
          <p:cNvSpPr/>
          <p:nvPr/>
        </p:nvSpPr>
        <p:spPr>
          <a:xfrm>
            <a:off x="6858000" y="1828800"/>
            <a:ext cx="4663440" cy="3749039"/>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1965960"/>
            <a:ext cx="4206240" cy="320040"/>
          </a:xfrm>
          <a:prstGeom prst="rect">
            <a:avLst/>
          </a:prstGeom>
          <a:noFill/>
        </p:spPr>
        <p:txBody>
          <a:bodyPr wrap="square" anchor="t">
            <a:spAutoFit/>
          </a:bodyPr>
          <a:lstStyle/>
          <a:p>
            <a:pPr algn="l">
              <a:lnSpc>
                <a:spcPct val="105000"/>
              </a:lnSpc>
            </a:pPr>
            <a:r>
              <a:rPr sz="1200" b="1" i="0">
                <a:solidFill>
                  <a:srgbClr val="6B7280"/>
                </a:solidFill>
                <a:latin typeface="Calibri"/>
              </a:rPr>
              <a:t>WHAT IT DOES NOT DO</a:t>
            </a:r>
          </a:p>
        </p:txBody>
      </p:sp>
      <p:sp>
        <p:nvSpPr>
          <p:cNvPr id="21" name="TextBox 20"/>
          <p:cNvSpPr txBox="1"/>
          <p:nvPr/>
        </p:nvSpPr>
        <p:spPr>
          <a:xfrm>
            <a:off x="7132320" y="237744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reads English word patterns, not meaning. Check every guess.</a:t>
            </a:r>
          </a:p>
        </p:txBody>
      </p:sp>
      <p:sp>
        <p:nvSpPr>
          <p:cNvPr id="22" name="TextBox 21"/>
          <p:cNvSpPr txBox="1"/>
          <p:nvPr/>
        </p:nvSpPr>
        <p:spPr>
          <a:xfrm>
            <a:off x="7132320" y="315468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sees only the text you give it: not older bylaws or state law.</a:t>
            </a:r>
          </a:p>
        </p:txBody>
      </p:sp>
      <p:sp>
        <p:nvSpPr>
          <p:cNvPr id="23" name="TextBox 22"/>
          <p:cNvSpPr txBox="1"/>
          <p:nvPr/>
        </p:nvSpPr>
        <p:spPr>
          <a:xfrm>
            <a:off x="7132320" y="393192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checks whether an agreement is complete and clear, not whether it is fair.</a:t>
            </a:r>
          </a:p>
        </p:txBody>
      </p:sp>
      <p:sp>
        <p:nvSpPr>
          <p:cNvPr id="24" name="TextBox 23"/>
          <p:cNvSpPr txBox="1"/>
          <p:nvPr/>
        </p:nvSpPr>
        <p:spPr>
          <a:xfrm>
            <a:off x="7132320" y="470916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never rewrites your agreement for you. The rewrite is built from your answers.</a:t>
            </a:r>
          </a:p>
        </p:txBody>
      </p:sp>
      <p:sp>
        <p:nvSpPr>
          <p:cNvPr id="25" name="TextBox 24"/>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6" name="TextBox 25"/>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B"/>
        </a:solidFill>
        <a:effectLst/>
      </p:bgPr>
    </p:bg>
    <p:spTree>
      <p:nvGrpSpPr>
        <p:cNvPr id="1" name=""/>
        <p:cNvGrpSpPr/>
        <p:nvPr/>
      </p:nvGrpSpPr>
      <p:grpSpPr/>
      <p:sp>
        <p:nvSpPr>
          <p:cNvPr id="2" name="TextBox 1"/>
          <p:cNvSpPr txBox="1"/>
          <p:nvPr/>
        </p:nvSpPr>
        <p:spPr>
          <a:xfrm>
            <a:off x="822960" y="1554480"/>
            <a:ext cx="10515600" cy="1645920"/>
          </a:xfrm>
          <a:prstGeom prst="rect">
            <a:avLst/>
          </a:prstGeom>
          <a:noFill/>
        </p:spPr>
        <p:txBody>
          <a:bodyPr wrap="square" anchor="t">
            <a:spAutoFit/>
          </a:bodyPr>
          <a:lstStyle/>
          <a:p>
            <a:pPr algn="l">
              <a:lnSpc>
                <a:spcPct val="105000"/>
              </a:lnSpc>
            </a:pPr>
            <a:r>
              <a:rPr sz="3800" b="1" i="0">
                <a:solidFill>
                  <a:srgbClr val="000000"/>
                </a:solidFill>
                <a:latin typeface="Calibri"/>
              </a:rPr>
              <a:t>Open it, paste your agreement,</a:t>
            </a:r>
          </a:p>
          <a:p>
            <a:pPr algn="l">
              <a:lnSpc>
                <a:spcPct val="105000"/>
              </a:lnSpc>
            </a:pPr>
            <a:r>
              <a:rPr sz="3800" b="1" i="0">
                <a:solidFill>
                  <a:srgbClr val="000000"/>
                </a:solidFill>
                <a:latin typeface="Calibri"/>
              </a:rPr>
              <a:t>and read the first question aloud.</a:t>
            </a:r>
          </a:p>
        </p:txBody>
      </p:sp>
      <p:sp>
        <p:nvSpPr>
          <p:cNvPr id="3" name="TextBox 2"/>
          <p:cNvSpPr txBox="1"/>
          <p:nvPr/>
        </p:nvSpPr>
        <p:spPr>
          <a:xfrm>
            <a:off x="822960" y="3429000"/>
            <a:ext cx="10515600" cy="1280160"/>
          </a:xfrm>
          <a:prstGeom prst="rect">
            <a:avLst/>
          </a:prstGeom>
          <a:noFill/>
        </p:spPr>
        <p:txBody>
          <a:bodyPr wrap="square" anchor="t">
            <a:spAutoFit/>
          </a:bodyPr>
          <a:lstStyle/>
          <a:p>
            <a:pPr algn="l">
              <a:lnSpc>
                <a:spcPct val="105000"/>
              </a:lnSpc>
            </a:pPr>
            <a:r>
              <a:rPr sz="1800" b="0" i="0">
                <a:solidFill>
                  <a:srgbClr val="000000"/>
                </a:solidFill>
                <a:latin typeface="Calibri"/>
              </a:rPr>
              <a:t>tools/agreement-checker.html</a:t>
            </a:r>
          </a:p>
          <a:p>
            <a:pPr algn="l">
              <a:lnSpc>
                <a:spcPct val="105000"/>
              </a:lnSpc>
            </a:pPr>
            <a:r>
              <a:rPr sz="1800" b="0" i="0">
                <a:solidFill>
                  <a:srgbClr val="000000"/>
                </a:solidFill>
                <a:latin typeface="Calibri"/>
              </a:rPr>
              <a:t>Introduction: tools/agreement-checker-intro.html</a:t>
            </a:r>
          </a:p>
          <a:p>
            <a:pPr algn="l">
              <a:lnSpc>
                <a:spcPct val="105000"/>
              </a:lnSpc>
            </a:pPr>
            <a:r>
              <a:rPr sz="1800" b="0" i="0">
                <a:solidFill>
                  <a:srgbClr val="000000"/>
                </a:solidFill>
                <a:latin typeface="Calibri"/>
              </a:rPr>
              <a:t>User Manual: tools/agreement-checker-manual.html</a:t>
            </a:r>
          </a:p>
        </p:txBody>
      </p:sp>
      <p:sp>
        <p:nvSpPr>
          <p:cNvPr id="4" name="TextBox 3"/>
          <p:cNvSpPr txBox="1"/>
          <p:nvPr/>
        </p:nvSpPr>
        <p:spPr>
          <a:xfrm>
            <a:off x="822960" y="4892040"/>
            <a:ext cx="10515600" cy="457200"/>
          </a:xfrm>
          <a:prstGeom prst="rect">
            <a:avLst/>
          </a:prstGeom>
          <a:noFill/>
        </p:spPr>
        <p:txBody>
          <a:bodyPr wrap="square" anchor="t">
            <a:spAutoFit/>
          </a:bodyPr>
          <a:lstStyle/>
          <a:p>
            <a:pPr algn="l">
              <a:lnSpc>
                <a:spcPct val="105000"/>
              </a:lnSpc>
            </a:pPr>
            <a:r>
              <a:rPr sz="1400" b="0" i="0">
                <a:solidFill>
                  <a:srgbClr val="6B7280"/>
                </a:solidFill>
                <a:latin typeface="Calibri"/>
              </a:rPr>
              <a:t>Built on Crawford and Ostrom, "A Grammar of Institutions" (1995), and Frantz and Siddiki, Institutional Grammar 2.0 (2021).</a:t>
            </a:r>
          </a:p>
        </p:txBody>
      </p:sp>
      <p:sp>
        <p:nvSpPr>
          <p:cNvPr id="5" name="TextBox 4"/>
          <p:cNvSpPr txBox="1"/>
          <p:nvPr/>
        </p:nvSpPr>
        <p:spPr>
          <a:xfrm>
            <a:off x="822960" y="5760720"/>
            <a:ext cx="10515600" cy="365760"/>
          </a:xfrm>
          <a:prstGeom prst="rect">
            <a:avLst/>
          </a:prstGeom>
          <a:noFill/>
        </p:spPr>
        <p:txBody>
          <a:bodyPr wrap="square" anchor="t">
            <a:spAutoFit/>
          </a:bodyPr>
          <a:lstStyle/>
          <a:p>
            <a:pPr algn="l">
              <a:lnSpc>
                <a:spcPct val="105000"/>
              </a:lnSpc>
            </a:pPr>
            <a:r>
              <a:rPr sz="1600" b="1" i="0">
                <a:solidFill>
                  <a:srgbClr val="000000"/>
                </a:solidFill>
                <a:latin typeface="Calibri"/>
              </a:rPr>
              <a:t>Marc Pierson and Claude Opus 5.5 ·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