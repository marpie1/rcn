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Agreement Checker turns Ostrom's Institutional Grammar into seven plain questions. Marc Pierson and Claude Opus 5.5, September 2026.</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failures, all from one real-looking garden bylaw. They are invisible to a group reading the paragraph together; they become visible only sentence by sentence.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checker keeps all of Ostrom's logic and shows none of her symbols unless asked. The quote is the design brief.</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Questions in blue, answers in green, the same colours as the checker and the drawing. Exactly one MUST, MAY, or MUST NOT per sentence.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checker does this split automatically and says so. Sentence 4 is drawn in red because it is a loose consequence: nobody is named to carry it out.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question comes with a "Leave as is" button. The checker asks; the group decides.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garden bylaw as written: one note (the split) and three questions.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Sentence 1 of the fixed bylaw. OR ELSE says "carried by sentence 4" because the keeper's duty backs 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Ostrom calls this vertical nesting: the Or else of one statement is itself a statement. In plain words, "backed by".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permission is always a shared expectation: it cannot be broken, so it needs no OR ELSE.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fixed garden bylaw as the Graph Tool draws it.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checker asks; the people decide.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Marc Pierson and Claude Opus 5.5, September 2026.</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4F6FB"/>
        </a:solidFill>
        <a:effectLst/>
      </p:bgPr>
    </p:bg>
    <p:spTree>
      <p:nvGrpSpPr>
        <p:cNvPr id="1" name=""/>
        <p:cNvGrpSpPr/>
        <p:nvPr/>
      </p:nvGrpSpPr>
      <p:grpSpPr/>
      <p:sp>
        <p:nvSpPr>
          <p:cNvPr id="2" name="TextBox 1"/>
          <p:cNvSpPr txBox="1"/>
          <p:nvPr/>
        </p:nvSpPr>
        <p:spPr>
          <a:xfrm>
            <a:off x="822960" y="1234440"/>
            <a:ext cx="7315200" cy="365760"/>
          </a:xfrm>
          <a:prstGeom prst="rect">
            <a:avLst/>
          </a:prstGeom>
          <a:noFill/>
        </p:spPr>
        <p:txBody>
          <a:bodyPr wrap="square" anchor="t">
            <a:spAutoFit/>
          </a:bodyPr>
          <a:lstStyle/>
          <a:p>
            <a:pPr algn="l">
              <a:lnSpc>
                <a:spcPct val="105000"/>
              </a:lnSpc>
            </a:pPr>
            <a:r>
              <a:rPr sz="1400" b="1" i="0">
                <a:solidFill>
                  <a:srgbClr val="1D4ED8"/>
                </a:solidFill>
                <a:latin typeface="Calibri"/>
              </a:rPr>
              <a:t>RCN TOOLS</a:t>
            </a:r>
          </a:p>
        </p:txBody>
      </p:sp>
      <p:sp>
        <p:nvSpPr>
          <p:cNvPr id="3" name="TextBox 2"/>
          <p:cNvSpPr txBox="1"/>
          <p:nvPr/>
        </p:nvSpPr>
        <p:spPr>
          <a:xfrm>
            <a:off x="822960" y="1645920"/>
            <a:ext cx="10058400" cy="1097280"/>
          </a:xfrm>
          <a:prstGeom prst="rect">
            <a:avLst/>
          </a:prstGeom>
          <a:noFill/>
        </p:spPr>
        <p:txBody>
          <a:bodyPr wrap="square" anchor="t">
            <a:spAutoFit/>
          </a:bodyPr>
          <a:lstStyle/>
          <a:p>
            <a:pPr algn="l">
              <a:lnSpc>
                <a:spcPct val="105000"/>
              </a:lnSpc>
            </a:pPr>
            <a:r>
              <a:rPr sz="5600" b="1" i="0">
                <a:solidFill>
                  <a:srgbClr val="000000"/>
                </a:solidFill>
                <a:latin typeface="Calibri"/>
              </a:rPr>
              <a:t>Agreement Checker</a:t>
            </a:r>
          </a:p>
        </p:txBody>
      </p:sp>
      <p:sp>
        <p:nvSpPr>
          <p:cNvPr id="4" name="TextBox 3"/>
          <p:cNvSpPr txBox="1"/>
          <p:nvPr/>
        </p:nvSpPr>
        <p:spPr>
          <a:xfrm>
            <a:off x="822960" y="2788920"/>
            <a:ext cx="10058400" cy="1097280"/>
          </a:xfrm>
          <a:prstGeom prst="rect">
            <a:avLst/>
          </a:prstGeom>
          <a:noFill/>
        </p:spPr>
        <p:txBody>
          <a:bodyPr wrap="square" anchor="t">
            <a:spAutoFit/>
          </a:bodyPr>
          <a:lstStyle/>
          <a:p>
            <a:pPr algn="l">
              <a:lnSpc>
                <a:spcPct val="105000"/>
              </a:lnSpc>
            </a:pPr>
            <a:r>
              <a:rPr sz="2400" b="0" i="0">
                <a:solidFill>
                  <a:srgbClr val="000000"/>
                </a:solidFill>
                <a:latin typeface="Calibri"/>
              </a:rPr>
              <a:t>Elinor Ostrom's grammar of rules, as plain questions</a:t>
            </a:r>
          </a:p>
          <a:p>
            <a:pPr algn="l">
              <a:lnSpc>
                <a:spcPct val="105000"/>
              </a:lnSpc>
            </a:pPr>
            <a:r>
              <a:rPr sz="2400" b="0" i="0">
                <a:solidFill>
                  <a:srgbClr val="000000"/>
                </a:solidFill>
                <a:latin typeface="Calibri"/>
              </a:rPr>
              <a:t>a group can ask of any agreement it writes.</a:t>
            </a:r>
          </a:p>
        </p:txBody>
      </p:sp>
      <p:sp>
        <p:nvSpPr>
          <p:cNvPr id="5" name="Rounded Rectangle 4"/>
          <p:cNvSpPr/>
          <p:nvPr/>
        </p:nvSpPr>
        <p:spPr>
          <a:xfrm>
            <a:off x="822960" y="4160520"/>
            <a:ext cx="1371600" cy="777240"/>
          </a:xfrm>
          <a:prstGeom prst="roundRect">
            <a:avLst/>
          </a:prstGeom>
          <a:solidFill>
            <a:srgbClr val="FFFFFF"/>
          </a:solidFill>
          <a:ln w="25400">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160520"/>
            <a:ext cx="1371600" cy="777240"/>
          </a:xfrm>
          <a:prstGeom prst="rect">
            <a:avLst/>
          </a:prstGeom>
          <a:noFill/>
        </p:spPr>
        <p:txBody>
          <a:bodyPr wrap="square" anchor="ctr" lIns="54864" rIns="54864" tIns="54864" bIns="54864">
            <a:spAutoFit/>
          </a:bodyPr>
          <a:lstStyle/>
          <a:p>
            <a:pPr algn="ctr">
              <a:lnSpc>
                <a:spcPct val="105000"/>
              </a:lnSpc>
            </a:pPr>
            <a:r>
              <a:rPr sz="1300" b="1" i="0">
                <a:solidFill>
                  <a:srgbClr val="1D4ED8"/>
                </a:solidFill>
                <a:latin typeface="Calibri"/>
              </a:rPr>
              <a:t>WHEN?</a:t>
            </a:r>
          </a:p>
        </p:txBody>
      </p:sp>
      <p:sp>
        <p:nvSpPr>
          <p:cNvPr id="7" name="Rounded Rectangle 6"/>
          <p:cNvSpPr/>
          <p:nvPr/>
        </p:nvSpPr>
        <p:spPr>
          <a:xfrm>
            <a:off x="2340864" y="4160520"/>
            <a:ext cx="1371600" cy="777240"/>
          </a:xfrm>
          <a:prstGeom prst="roundRect">
            <a:avLst/>
          </a:prstGeom>
          <a:solidFill>
            <a:srgbClr val="FFFFFF"/>
          </a:solidFill>
          <a:ln w="25400">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40864" y="4160520"/>
            <a:ext cx="1371600" cy="777240"/>
          </a:xfrm>
          <a:prstGeom prst="rect">
            <a:avLst/>
          </a:prstGeom>
          <a:noFill/>
        </p:spPr>
        <p:txBody>
          <a:bodyPr wrap="square" anchor="ctr" lIns="54864" rIns="54864" tIns="54864" bIns="54864">
            <a:spAutoFit/>
          </a:bodyPr>
          <a:lstStyle/>
          <a:p>
            <a:pPr algn="ctr">
              <a:lnSpc>
                <a:spcPct val="105000"/>
              </a:lnSpc>
            </a:pPr>
            <a:r>
              <a:rPr sz="1300" b="1" i="0">
                <a:solidFill>
                  <a:srgbClr val="1D4ED8"/>
                </a:solidFill>
                <a:latin typeface="Calibri"/>
              </a:rPr>
              <a:t>WHO?</a:t>
            </a:r>
          </a:p>
        </p:txBody>
      </p:sp>
      <p:sp>
        <p:nvSpPr>
          <p:cNvPr id="9" name="Rounded Rectangle 8"/>
          <p:cNvSpPr/>
          <p:nvPr/>
        </p:nvSpPr>
        <p:spPr>
          <a:xfrm>
            <a:off x="3858768" y="4160520"/>
            <a:ext cx="1371600" cy="777240"/>
          </a:xfrm>
          <a:prstGeom prst="roundRect">
            <a:avLst/>
          </a:prstGeom>
          <a:solidFill>
            <a:srgbClr val="FFFFFF"/>
          </a:solidFill>
          <a:ln w="25400">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858768" y="4160520"/>
            <a:ext cx="1371600" cy="777240"/>
          </a:xfrm>
          <a:prstGeom prst="rect">
            <a:avLst/>
          </a:prstGeom>
          <a:noFill/>
        </p:spPr>
        <p:txBody>
          <a:bodyPr wrap="square" anchor="ctr" lIns="54864" rIns="54864" tIns="54864" bIns="54864">
            <a:spAutoFit/>
          </a:bodyPr>
          <a:lstStyle/>
          <a:p>
            <a:pPr algn="ctr">
              <a:lnSpc>
                <a:spcPct val="105000"/>
              </a:lnSpc>
            </a:pPr>
            <a:r>
              <a:rPr sz="1300" b="1" i="0">
                <a:solidFill>
                  <a:srgbClr val="1D4ED8"/>
                </a:solidFill>
                <a:latin typeface="Calibri"/>
              </a:rPr>
              <a:t>MUST, MAY,</a:t>
            </a:r>
          </a:p>
          <a:p>
            <a:pPr algn="ctr">
              <a:lnSpc>
                <a:spcPct val="105000"/>
              </a:lnSpc>
            </a:pPr>
            <a:r>
              <a:rPr sz="1300" b="1" i="0">
                <a:solidFill>
                  <a:srgbClr val="1D4ED8"/>
                </a:solidFill>
                <a:latin typeface="Calibri"/>
              </a:rPr>
              <a:t>OR MUST NOT?</a:t>
            </a:r>
          </a:p>
        </p:txBody>
      </p:sp>
      <p:sp>
        <p:nvSpPr>
          <p:cNvPr id="11" name="Rounded Rectangle 10"/>
          <p:cNvSpPr/>
          <p:nvPr/>
        </p:nvSpPr>
        <p:spPr>
          <a:xfrm>
            <a:off x="5376672" y="4160520"/>
            <a:ext cx="1371600" cy="777240"/>
          </a:xfrm>
          <a:prstGeom prst="roundRect">
            <a:avLst/>
          </a:prstGeom>
          <a:solidFill>
            <a:srgbClr val="FFFFFF"/>
          </a:solidFill>
          <a:ln w="25400">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76672" y="4160520"/>
            <a:ext cx="1371600" cy="777240"/>
          </a:xfrm>
          <a:prstGeom prst="rect">
            <a:avLst/>
          </a:prstGeom>
          <a:noFill/>
        </p:spPr>
        <p:txBody>
          <a:bodyPr wrap="square" anchor="ctr" lIns="54864" rIns="54864" tIns="54864" bIns="54864">
            <a:spAutoFit/>
          </a:bodyPr>
          <a:lstStyle/>
          <a:p>
            <a:pPr algn="ctr">
              <a:lnSpc>
                <a:spcPct val="105000"/>
              </a:lnSpc>
            </a:pPr>
            <a:r>
              <a:rPr sz="1300" b="1" i="0">
                <a:solidFill>
                  <a:srgbClr val="1D4ED8"/>
                </a:solidFill>
                <a:latin typeface="Calibri"/>
              </a:rPr>
              <a:t>DO WHAT?</a:t>
            </a:r>
          </a:p>
        </p:txBody>
      </p:sp>
      <p:sp>
        <p:nvSpPr>
          <p:cNvPr id="13" name="Rounded Rectangle 12"/>
          <p:cNvSpPr/>
          <p:nvPr/>
        </p:nvSpPr>
        <p:spPr>
          <a:xfrm>
            <a:off x="6894576" y="4160520"/>
            <a:ext cx="1371600" cy="777240"/>
          </a:xfrm>
          <a:prstGeom prst="roundRect">
            <a:avLst/>
          </a:prstGeom>
          <a:solidFill>
            <a:srgbClr val="FFFFFF"/>
          </a:solidFill>
          <a:ln w="25400">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94576" y="4160520"/>
            <a:ext cx="1371600" cy="777240"/>
          </a:xfrm>
          <a:prstGeom prst="rect">
            <a:avLst/>
          </a:prstGeom>
          <a:noFill/>
        </p:spPr>
        <p:txBody>
          <a:bodyPr wrap="square" anchor="ctr" lIns="54864" rIns="54864" tIns="54864" bIns="54864">
            <a:spAutoFit/>
          </a:bodyPr>
          <a:lstStyle/>
          <a:p>
            <a:pPr algn="ctr">
              <a:lnSpc>
                <a:spcPct val="105000"/>
              </a:lnSpc>
            </a:pPr>
            <a:r>
              <a:rPr sz="1300" b="1" i="0">
                <a:solidFill>
                  <a:srgbClr val="1D4ED8"/>
                </a:solidFill>
                <a:latin typeface="Calibri"/>
              </a:rPr>
              <a:t>TO WHAT?</a:t>
            </a:r>
          </a:p>
        </p:txBody>
      </p:sp>
      <p:sp>
        <p:nvSpPr>
          <p:cNvPr id="15" name="Rounded Rectangle 14"/>
          <p:cNvSpPr/>
          <p:nvPr/>
        </p:nvSpPr>
        <p:spPr>
          <a:xfrm>
            <a:off x="8412480" y="4160520"/>
            <a:ext cx="1371600" cy="777240"/>
          </a:xfrm>
          <a:prstGeom prst="roundRect">
            <a:avLst/>
          </a:prstGeom>
          <a:solidFill>
            <a:srgbClr val="FFFFFF"/>
          </a:solidFill>
          <a:ln w="25400">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80" y="4160520"/>
            <a:ext cx="1371600" cy="777240"/>
          </a:xfrm>
          <a:prstGeom prst="rect">
            <a:avLst/>
          </a:prstGeom>
          <a:noFill/>
        </p:spPr>
        <p:txBody>
          <a:bodyPr wrap="square" anchor="ctr" lIns="54864" rIns="54864" tIns="54864" bIns="54864">
            <a:spAutoFit/>
          </a:bodyPr>
          <a:lstStyle/>
          <a:p>
            <a:pPr algn="ctr">
              <a:lnSpc>
                <a:spcPct val="105000"/>
              </a:lnSpc>
            </a:pPr>
            <a:r>
              <a:rPr sz="1300" b="1" i="0">
                <a:solidFill>
                  <a:srgbClr val="1D4ED8"/>
                </a:solidFill>
                <a:latin typeface="Calibri"/>
              </a:rPr>
              <a:t>HOW?</a:t>
            </a:r>
          </a:p>
        </p:txBody>
      </p:sp>
      <p:sp>
        <p:nvSpPr>
          <p:cNvPr id="17" name="Rounded Rectangle 16"/>
          <p:cNvSpPr/>
          <p:nvPr/>
        </p:nvSpPr>
        <p:spPr>
          <a:xfrm>
            <a:off x="9930384" y="4160520"/>
            <a:ext cx="1371600" cy="777240"/>
          </a:xfrm>
          <a:prstGeom prst="roundRect">
            <a:avLst/>
          </a:prstGeom>
          <a:solidFill>
            <a:srgbClr val="FFFFFF"/>
          </a:solidFill>
          <a:ln w="25400">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30384" y="4160520"/>
            <a:ext cx="1371600" cy="777240"/>
          </a:xfrm>
          <a:prstGeom prst="rect">
            <a:avLst/>
          </a:prstGeom>
          <a:noFill/>
        </p:spPr>
        <p:txBody>
          <a:bodyPr wrap="square" anchor="ctr" lIns="54864" rIns="54864" tIns="54864" bIns="54864">
            <a:spAutoFit/>
          </a:bodyPr>
          <a:lstStyle/>
          <a:p>
            <a:pPr algn="ctr">
              <a:lnSpc>
                <a:spcPct val="105000"/>
              </a:lnSpc>
            </a:pPr>
            <a:r>
              <a:rPr sz="1300" b="1" i="0">
                <a:solidFill>
                  <a:srgbClr val="1D4ED8"/>
                </a:solidFill>
                <a:latin typeface="Calibri"/>
              </a:rPr>
              <a:t>OR ELSE?</a:t>
            </a:r>
          </a:p>
        </p:txBody>
      </p:sp>
      <p:sp>
        <p:nvSpPr>
          <p:cNvPr id="19" name="TextBox 18"/>
          <p:cNvSpPr txBox="1"/>
          <p:nvPr/>
        </p:nvSpPr>
        <p:spPr>
          <a:xfrm>
            <a:off x="822960" y="5806440"/>
            <a:ext cx="10058400" cy="365760"/>
          </a:xfrm>
          <a:prstGeom prst="rect">
            <a:avLst/>
          </a:prstGeom>
          <a:noFill/>
        </p:spPr>
        <p:txBody>
          <a:bodyPr wrap="square" anchor="t">
            <a:spAutoFit/>
          </a:bodyPr>
          <a:lstStyle/>
          <a:p>
            <a:pPr algn="l">
              <a:lnSpc>
                <a:spcPct val="105000"/>
              </a:lnSpc>
            </a:pPr>
            <a:r>
              <a:rPr sz="1600" b="1" i="0">
                <a:solidFill>
                  <a:srgbClr val="000000"/>
                </a:solidFill>
                <a:latin typeface="Calibri"/>
              </a:rPr>
              <a:t>Marc Pierson and Claude Opus 5.5 · September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11480"/>
            <a:ext cx="10515600" cy="320040"/>
          </a:xfrm>
          <a:prstGeom prst="rect">
            <a:avLst/>
          </a:prstGeom>
          <a:noFill/>
        </p:spPr>
        <p:txBody>
          <a:bodyPr wrap="square" anchor="t">
            <a:spAutoFit/>
          </a:bodyPr>
          <a:lstStyle/>
          <a:p>
            <a:pPr algn="l">
              <a:lnSpc>
                <a:spcPct val="105000"/>
              </a:lnSpc>
            </a:pPr>
            <a:r>
              <a:rPr sz="1200" b="1" i="0">
                <a:solidFill>
                  <a:srgbClr val="1D4ED8"/>
                </a:solidFill>
                <a:latin typeface="Calibri"/>
              </a:rPr>
              <a:t>THE PROBLEM</a:t>
            </a:r>
          </a:p>
        </p:txBody>
      </p:sp>
      <p:sp>
        <p:nvSpPr>
          <p:cNvPr id="3" name="TextBox 2"/>
          <p:cNvSpPr txBox="1"/>
          <p:nvPr/>
        </p:nvSpPr>
        <p:spPr>
          <a:xfrm>
            <a:off x="640080" y="731520"/>
            <a:ext cx="10972800" cy="914400"/>
          </a:xfrm>
          <a:prstGeom prst="rect">
            <a:avLst/>
          </a:prstGeom>
          <a:noFill/>
        </p:spPr>
        <p:txBody>
          <a:bodyPr wrap="square" anchor="t">
            <a:spAutoFit/>
          </a:bodyPr>
          <a:lstStyle/>
          <a:p>
            <a:pPr algn="l">
              <a:lnSpc>
                <a:spcPct val="105000"/>
              </a:lnSpc>
            </a:pPr>
            <a:r>
              <a:rPr sz="3400" b="1" i="0">
                <a:solidFill>
                  <a:srgbClr val="000000"/>
                </a:solidFill>
                <a:latin typeface="Calibri"/>
              </a:rPr>
              <a:t>Agreements fail in the same few ways</a:t>
            </a:r>
          </a:p>
        </p:txBody>
      </p:sp>
      <p:sp>
        <p:nvSpPr>
          <p:cNvPr id="4" name="Rounded Rectangle 3"/>
          <p:cNvSpPr/>
          <p:nvPr/>
        </p:nvSpPr>
        <p:spPr>
          <a:xfrm>
            <a:off x="640080" y="1874519"/>
            <a:ext cx="3474720" cy="2834640"/>
          </a:xfrm>
          <a:prstGeom prst="roundRect">
            <a:avLst/>
          </a:prstGeom>
          <a:solidFill>
            <a:srgbClr val="FFFFFF"/>
          </a:solidFill>
          <a:ln w="28575">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59" y="1984248"/>
            <a:ext cx="3108960" cy="322516"/>
          </a:xfrm>
          <a:prstGeom prst="rect">
            <a:avLst/>
          </a:prstGeom>
          <a:noFill/>
        </p:spPr>
        <p:txBody>
          <a:bodyPr wrap="square" anchor="t">
            <a:spAutoFit/>
          </a:bodyPr>
          <a:lstStyle/>
          <a:p>
            <a:pPr algn="l">
              <a:lnSpc>
                <a:spcPct val="105000"/>
              </a:lnSpc>
            </a:pPr>
            <a:r>
              <a:rPr sz="1700" b="1" i="0">
                <a:solidFill>
                  <a:srgbClr val="000000"/>
                </a:solidFill>
                <a:latin typeface="Calibri"/>
              </a:rPr>
              <a:t>Two rules in one sentence</a:t>
            </a:r>
          </a:p>
        </p:txBody>
      </p:sp>
      <p:sp>
        <p:nvSpPr>
          <p:cNvPr id="6" name="TextBox 5"/>
          <p:cNvSpPr txBox="1"/>
          <p:nvPr/>
        </p:nvSpPr>
        <p:spPr>
          <a:xfrm>
            <a:off x="822959" y="2361628"/>
            <a:ext cx="3108960" cy="2301811"/>
          </a:xfrm>
          <a:prstGeom prst="rect">
            <a:avLst/>
          </a:prstGeom>
          <a:noFill/>
        </p:spPr>
        <p:txBody>
          <a:bodyPr wrap="square" anchor="t">
            <a:spAutoFit/>
          </a:bodyPr>
          <a:lstStyle/>
          <a:p>
            <a:pPr algn="l">
              <a:lnSpc>
                <a:spcPct val="108000"/>
              </a:lnSpc>
            </a:pPr>
            <a:r>
              <a:rPr sz="1400" b="0" i="0">
                <a:solidFill>
                  <a:srgbClr val="000000"/>
                </a:solidFill>
                <a:latin typeface="Calibri"/>
              </a:rPr>
              <a:t>"Gardeners must water only on assigned days and must not use sprinklers, but may hand-water seedlings any day."</a:t>
            </a:r>
          </a:p>
          <a:p>
            <a:pPr algn="l">
              <a:lnSpc>
                <a:spcPct val="108000"/>
              </a:lnSpc>
            </a:pPr>
            <a:r>
              <a:rPr sz="1400" b="0" i="0">
                <a:solidFill>
                  <a:srgbClr val="000000"/>
                </a:solidFill>
                <a:latin typeface="Calibri"/>
              </a:rPr>
              <a:t/>
            </a:r>
          </a:p>
          <a:p>
            <a:pPr algn="l">
              <a:lnSpc>
                <a:spcPct val="108000"/>
              </a:lnSpc>
            </a:pPr>
            <a:r>
              <a:rPr sz="1400" b="0" i="0">
                <a:solidFill>
                  <a:srgbClr val="000000"/>
                </a:solidFill>
                <a:latin typeface="Calibri"/>
              </a:rPr>
              <a:t>Three rules, tangled. You can't change one without touching the others.</a:t>
            </a:r>
          </a:p>
        </p:txBody>
      </p:sp>
      <p:sp>
        <p:nvSpPr>
          <p:cNvPr id="7" name="Rounded Rectangle 6"/>
          <p:cNvSpPr/>
          <p:nvPr/>
        </p:nvSpPr>
        <p:spPr>
          <a:xfrm>
            <a:off x="4361688" y="1874519"/>
            <a:ext cx="3474720" cy="2834640"/>
          </a:xfrm>
          <a:prstGeom prst="roundRect">
            <a:avLst/>
          </a:prstGeom>
          <a:solidFill>
            <a:srgbClr val="FFFFFF"/>
          </a:solidFill>
          <a:ln w="28575">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44568" y="1984248"/>
            <a:ext cx="3108960" cy="322516"/>
          </a:xfrm>
          <a:prstGeom prst="rect">
            <a:avLst/>
          </a:prstGeom>
          <a:noFill/>
        </p:spPr>
        <p:txBody>
          <a:bodyPr wrap="square" anchor="t">
            <a:spAutoFit/>
          </a:bodyPr>
          <a:lstStyle/>
          <a:p>
            <a:pPr algn="l">
              <a:lnSpc>
                <a:spcPct val="105000"/>
              </a:lnSpc>
            </a:pPr>
            <a:r>
              <a:rPr sz="1700" b="1" i="0">
                <a:solidFill>
                  <a:srgbClr val="000000"/>
                </a:solidFill>
                <a:latin typeface="Calibri"/>
              </a:rPr>
              <a:t>A permission that clashes</a:t>
            </a:r>
          </a:p>
        </p:txBody>
      </p:sp>
      <p:sp>
        <p:nvSpPr>
          <p:cNvPr id="9" name="TextBox 8"/>
          <p:cNvSpPr txBox="1"/>
          <p:nvPr/>
        </p:nvSpPr>
        <p:spPr>
          <a:xfrm>
            <a:off x="4544568" y="2361628"/>
            <a:ext cx="3108960" cy="2301811"/>
          </a:xfrm>
          <a:prstGeom prst="rect">
            <a:avLst/>
          </a:prstGeom>
          <a:noFill/>
        </p:spPr>
        <p:txBody>
          <a:bodyPr wrap="square" anchor="t">
            <a:spAutoFit/>
          </a:bodyPr>
          <a:lstStyle/>
          <a:p>
            <a:pPr algn="l">
              <a:lnSpc>
                <a:spcPct val="108000"/>
              </a:lnSpc>
            </a:pPr>
            <a:r>
              <a:rPr sz="1400" b="0" i="0">
                <a:solidFill>
                  <a:srgbClr val="000000"/>
                </a:solidFill>
                <a:latin typeface="Calibri"/>
              </a:rPr>
              <a:t>"Water only on assigned days" and "hand-water seedlings any day" pull against each other. Which one wins?</a:t>
            </a:r>
          </a:p>
        </p:txBody>
      </p:sp>
      <p:sp>
        <p:nvSpPr>
          <p:cNvPr id="10" name="Rounded Rectangle 9"/>
          <p:cNvSpPr/>
          <p:nvPr/>
        </p:nvSpPr>
        <p:spPr>
          <a:xfrm>
            <a:off x="8083296" y="1874519"/>
            <a:ext cx="3474720" cy="2834640"/>
          </a:xfrm>
          <a:prstGeom prst="roundRect">
            <a:avLst/>
          </a:prstGeom>
          <a:solidFill>
            <a:srgbClr val="FFFFFF"/>
          </a:solidFill>
          <a:ln w="28575">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66175" y="1984248"/>
            <a:ext cx="3108960" cy="571881"/>
          </a:xfrm>
          <a:prstGeom prst="rect">
            <a:avLst/>
          </a:prstGeom>
          <a:noFill/>
        </p:spPr>
        <p:txBody>
          <a:bodyPr wrap="square" anchor="t">
            <a:spAutoFit/>
          </a:bodyPr>
          <a:lstStyle/>
          <a:p>
            <a:pPr algn="l">
              <a:lnSpc>
                <a:spcPct val="105000"/>
              </a:lnSpc>
            </a:pPr>
            <a:r>
              <a:rPr sz="1700" b="1" i="0">
                <a:solidFill>
                  <a:srgbClr val="000000"/>
                </a:solidFill>
                <a:latin typeface="Calibri"/>
              </a:rPr>
              <a:t>A penalty nobody carries out</a:t>
            </a:r>
          </a:p>
        </p:txBody>
      </p:sp>
      <p:sp>
        <p:nvSpPr>
          <p:cNvPr id="12" name="TextBox 11"/>
          <p:cNvSpPr txBox="1"/>
          <p:nvPr/>
        </p:nvSpPr>
        <p:spPr>
          <a:xfrm>
            <a:off x="8266175" y="2610993"/>
            <a:ext cx="3108960" cy="2052447"/>
          </a:xfrm>
          <a:prstGeom prst="rect">
            <a:avLst/>
          </a:prstGeom>
          <a:noFill/>
        </p:spPr>
        <p:txBody>
          <a:bodyPr wrap="square" anchor="t">
            <a:spAutoFit/>
          </a:bodyPr>
          <a:lstStyle/>
          <a:p>
            <a:pPr algn="l">
              <a:lnSpc>
                <a:spcPct val="108000"/>
              </a:lnSpc>
            </a:pPr>
            <a:r>
              <a:rPr sz="1400" b="0" i="0">
                <a:solidFill>
                  <a:srgbClr val="000000"/>
                </a:solidFill>
                <a:latin typeface="Calibri"/>
              </a:rPr>
              <a:t>"Violators lose watering privileges for a week."</a:t>
            </a:r>
          </a:p>
          <a:p>
            <a:pPr algn="l">
              <a:lnSpc>
                <a:spcPct val="108000"/>
              </a:lnSpc>
            </a:pPr>
            <a:r>
              <a:rPr sz="1400" b="0" i="0">
                <a:solidFill>
                  <a:srgbClr val="000000"/>
                </a:solidFill>
                <a:latin typeface="Calibri"/>
              </a:rPr>
              <a:t/>
            </a:r>
          </a:p>
          <a:p>
            <a:pPr algn="l">
              <a:lnSpc>
                <a:spcPct val="108000"/>
              </a:lnSpc>
            </a:pPr>
            <a:r>
              <a:rPr sz="1400" b="0" i="0">
                <a:solidFill>
                  <a:srgbClr val="000000"/>
                </a:solidFill>
                <a:latin typeface="Calibri"/>
              </a:rPr>
              <a:t>Who takes them away? If nobody is named, nobody does.</a:t>
            </a:r>
          </a:p>
        </p:txBody>
      </p:sp>
      <p:sp>
        <p:nvSpPr>
          <p:cNvPr id="13" name="TextBox 12"/>
          <p:cNvSpPr txBox="1"/>
          <p:nvPr/>
        </p:nvSpPr>
        <p:spPr>
          <a:xfrm>
            <a:off x="640080" y="5074920"/>
            <a:ext cx="10881360" cy="914400"/>
          </a:xfrm>
          <a:prstGeom prst="rect">
            <a:avLst/>
          </a:prstGeom>
          <a:noFill/>
        </p:spPr>
        <p:txBody>
          <a:bodyPr wrap="square" anchor="t">
            <a:spAutoFit/>
          </a:bodyPr>
          <a:lstStyle/>
          <a:p>
            <a:pPr algn="l">
              <a:lnSpc>
                <a:spcPct val="105000"/>
              </a:lnSpc>
            </a:pPr>
            <a:r>
              <a:rPr sz="1800" b="0" i="0">
                <a:solidFill>
                  <a:srgbClr val="000000"/>
                </a:solidFill>
                <a:latin typeface="Calibri"/>
              </a:rPr>
              <a:t>None of these shows up when a group reads a paragraph and nods. Each one shows up when you ask the same few questions of every sentence.</a:t>
            </a:r>
          </a:p>
        </p:txBody>
      </p:sp>
      <p:sp>
        <p:nvSpPr>
          <p:cNvPr id="14" name="TextBox 13"/>
          <p:cNvSpPr txBox="1"/>
          <p:nvPr/>
        </p:nvSpPr>
        <p:spPr>
          <a:xfrm>
            <a:off x="640080" y="6400800"/>
            <a:ext cx="5486400" cy="274320"/>
          </a:xfrm>
          <a:prstGeom prst="rect">
            <a:avLst/>
          </a:prstGeom>
          <a:noFill/>
        </p:spPr>
        <p:txBody>
          <a:bodyPr wrap="square" anchor="t">
            <a:spAutoFit/>
          </a:bodyPr>
          <a:lstStyle/>
          <a:p>
            <a:pPr algn="l">
              <a:lnSpc>
                <a:spcPct val="105000"/>
              </a:lnSpc>
            </a:pPr>
            <a:r>
              <a:rPr sz="1000" b="0" i="0">
                <a:solidFill>
                  <a:srgbClr val="6B7280"/>
                </a:solidFill>
                <a:latin typeface="Calibri"/>
              </a:rPr>
              <a:t>RCN · Agreement Checker</a:t>
            </a:r>
          </a:p>
        </p:txBody>
      </p:sp>
      <p:sp>
        <p:nvSpPr>
          <p:cNvPr id="15" name="TextBox 14"/>
          <p:cNvSpPr txBox="1"/>
          <p:nvPr/>
        </p:nvSpPr>
        <p:spPr>
          <a:xfrm>
            <a:off x="10972800" y="6400800"/>
            <a:ext cx="548640" cy="274320"/>
          </a:xfrm>
          <a:prstGeom prst="rect">
            <a:avLst/>
          </a:prstGeom>
          <a:noFill/>
        </p:spPr>
        <p:txBody>
          <a:bodyPr wrap="square" anchor="t">
            <a:spAutoFit/>
          </a:bodyPr>
          <a:lstStyle/>
          <a:p>
            <a:pPr algn="r">
              <a:lnSpc>
                <a:spcPct val="105000"/>
              </a:lnSpc>
            </a:pPr>
            <a:r>
              <a:rPr sz="1000" b="0" i="0">
                <a:solidFill>
                  <a:srgbClr val="6B7280"/>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11480"/>
            <a:ext cx="10515600" cy="320040"/>
          </a:xfrm>
          <a:prstGeom prst="rect">
            <a:avLst/>
          </a:prstGeom>
          <a:noFill/>
        </p:spPr>
        <p:txBody>
          <a:bodyPr wrap="square" anchor="t">
            <a:spAutoFit/>
          </a:bodyPr>
          <a:lstStyle/>
          <a:p>
            <a:pPr algn="l">
              <a:lnSpc>
                <a:spcPct val="105000"/>
              </a:lnSpc>
            </a:pPr>
            <a:r>
              <a:rPr sz="1200" b="1" i="0">
                <a:solidFill>
                  <a:srgbClr val="1D4ED8"/>
                </a:solidFill>
                <a:latin typeface="Calibri"/>
              </a:rPr>
              <a:t>WHY IT EXISTS</a:t>
            </a:r>
          </a:p>
        </p:txBody>
      </p:sp>
      <p:sp>
        <p:nvSpPr>
          <p:cNvPr id="3" name="TextBox 2"/>
          <p:cNvSpPr txBox="1"/>
          <p:nvPr/>
        </p:nvSpPr>
        <p:spPr>
          <a:xfrm>
            <a:off x="640080" y="731520"/>
            <a:ext cx="10972800" cy="914400"/>
          </a:xfrm>
          <a:prstGeom prst="rect">
            <a:avLst/>
          </a:prstGeom>
          <a:noFill/>
        </p:spPr>
        <p:txBody>
          <a:bodyPr wrap="square" anchor="t">
            <a:spAutoFit/>
          </a:bodyPr>
          <a:lstStyle/>
          <a:p>
            <a:pPr algn="l">
              <a:lnSpc>
                <a:spcPct val="105000"/>
              </a:lnSpc>
            </a:pPr>
            <a:r>
              <a:rPr sz="3400" b="1" i="0">
                <a:solidFill>
                  <a:srgbClr val="000000"/>
                </a:solidFill>
                <a:latin typeface="Calibri"/>
              </a:rPr>
              <a:t>Ostrom found the questions. The symbols hid them.</a:t>
            </a:r>
          </a:p>
        </p:txBody>
      </p:sp>
      <p:sp>
        <p:nvSpPr>
          <p:cNvPr id="4" name="TextBox 3"/>
          <p:cNvSpPr txBox="1"/>
          <p:nvPr/>
        </p:nvSpPr>
        <p:spPr>
          <a:xfrm>
            <a:off x="640080" y="1691640"/>
            <a:ext cx="5577840" cy="2011680"/>
          </a:xfrm>
          <a:prstGeom prst="rect">
            <a:avLst/>
          </a:prstGeom>
          <a:noFill/>
        </p:spPr>
        <p:txBody>
          <a:bodyPr wrap="square" anchor="t">
            <a:spAutoFit/>
          </a:bodyPr>
          <a:lstStyle/>
          <a:p>
            <a:pPr algn="l">
              <a:lnSpc>
                <a:spcPct val="105000"/>
              </a:lnSpc>
            </a:pPr>
            <a:r>
              <a:rPr sz="1700" b="0" i="0">
                <a:solidFill>
                  <a:srgbClr val="000000"/>
                </a:solidFill>
                <a:latin typeface="Calibri"/>
              </a:rPr>
              <a:t>Elinor Ostrom showed how communities govern shared resources without a boss or a market. With Sue Crawford she wrote a grammar for the rules those communities make. It is powerful, and almost nobody outside a university uses it.</a:t>
            </a:r>
          </a:p>
        </p:txBody>
      </p:sp>
      <p:sp>
        <p:nvSpPr>
          <p:cNvPr id="5" name="TextBox 4"/>
          <p:cNvSpPr txBox="1"/>
          <p:nvPr/>
        </p:nvSpPr>
        <p:spPr>
          <a:xfrm>
            <a:off x="6675120" y="1737360"/>
            <a:ext cx="2377440" cy="365760"/>
          </a:xfrm>
          <a:prstGeom prst="rect">
            <a:avLst/>
          </a:prstGeom>
          <a:noFill/>
        </p:spPr>
        <p:txBody>
          <a:bodyPr wrap="square" anchor="ctr">
            <a:spAutoFit/>
          </a:bodyPr>
          <a:lstStyle/>
          <a:p>
            <a:pPr algn="l">
              <a:lnSpc>
                <a:spcPct val="105000"/>
              </a:lnSpc>
            </a:pPr>
            <a:r>
              <a:rPr sz="1300" b="1" i="0">
                <a:solidFill>
                  <a:srgbClr val="000000"/>
                </a:solidFill>
                <a:latin typeface="Calibri"/>
              </a:rPr>
              <a:t>Ostrom's words</a:t>
            </a:r>
          </a:p>
        </p:txBody>
      </p:sp>
      <p:sp>
        <p:nvSpPr>
          <p:cNvPr id="6" name="TextBox 5"/>
          <p:cNvSpPr txBox="1"/>
          <p:nvPr/>
        </p:nvSpPr>
        <p:spPr>
          <a:xfrm>
            <a:off x="9052560" y="1737360"/>
            <a:ext cx="2743200" cy="365760"/>
          </a:xfrm>
          <a:prstGeom prst="rect">
            <a:avLst/>
          </a:prstGeom>
          <a:noFill/>
        </p:spPr>
        <p:txBody>
          <a:bodyPr wrap="square" anchor="ctr">
            <a:spAutoFit/>
          </a:bodyPr>
          <a:lstStyle/>
          <a:p>
            <a:pPr algn="l">
              <a:lnSpc>
                <a:spcPct val="105000"/>
              </a:lnSpc>
            </a:pPr>
            <a:r>
              <a:rPr sz="1300" b="1" i="0">
                <a:solidFill>
                  <a:srgbClr val="000000"/>
                </a:solidFill>
                <a:latin typeface="Calibri"/>
              </a:rPr>
              <a:t>Plain question</a:t>
            </a:r>
          </a:p>
        </p:txBody>
      </p:sp>
      <p:cxnSp>
        <p:nvCxnSpPr>
          <p:cNvPr id="7" name="Connector 6"/>
          <p:cNvCxnSpPr/>
          <p:nvPr/>
        </p:nvCxnSpPr>
        <p:spPr>
          <a:xfrm>
            <a:off x="6675120" y="2139696"/>
            <a:ext cx="4846320" cy="0"/>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675120" y="2139696"/>
            <a:ext cx="2377440" cy="365760"/>
          </a:xfrm>
          <a:prstGeom prst="rect">
            <a:avLst/>
          </a:prstGeom>
          <a:noFill/>
        </p:spPr>
        <p:txBody>
          <a:bodyPr wrap="square" anchor="ctr">
            <a:spAutoFit/>
          </a:bodyPr>
          <a:lstStyle/>
          <a:p>
            <a:pPr algn="l">
              <a:lnSpc>
                <a:spcPct val="105000"/>
              </a:lnSpc>
            </a:pPr>
            <a:r>
              <a:rPr sz="1500" b="0" i="0">
                <a:solidFill>
                  <a:srgbClr val="6B7280"/>
                </a:solidFill>
                <a:latin typeface="Calibri"/>
              </a:rPr>
              <a:t>Attributes</a:t>
            </a:r>
          </a:p>
        </p:txBody>
      </p:sp>
      <p:sp>
        <p:nvSpPr>
          <p:cNvPr id="9" name="TextBox 8"/>
          <p:cNvSpPr txBox="1"/>
          <p:nvPr/>
        </p:nvSpPr>
        <p:spPr>
          <a:xfrm>
            <a:off x="9052560" y="2139696"/>
            <a:ext cx="2743200" cy="365760"/>
          </a:xfrm>
          <a:prstGeom prst="rect">
            <a:avLst/>
          </a:prstGeom>
          <a:noFill/>
        </p:spPr>
        <p:txBody>
          <a:bodyPr wrap="square" anchor="ctr">
            <a:spAutoFit/>
          </a:bodyPr>
          <a:lstStyle/>
          <a:p>
            <a:pPr algn="l">
              <a:lnSpc>
                <a:spcPct val="105000"/>
              </a:lnSpc>
            </a:pPr>
            <a:r>
              <a:rPr sz="1500" b="1" i="0">
                <a:solidFill>
                  <a:srgbClr val="1D4ED8"/>
                </a:solidFill>
                <a:latin typeface="Calibri"/>
              </a:rPr>
              <a:t>WHO?</a:t>
            </a:r>
          </a:p>
        </p:txBody>
      </p:sp>
      <p:cxnSp>
        <p:nvCxnSpPr>
          <p:cNvPr id="10" name="Connector 9"/>
          <p:cNvCxnSpPr/>
          <p:nvPr/>
        </p:nvCxnSpPr>
        <p:spPr>
          <a:xfrm>
            <a:off x="6675120" y="2542032"/>
            <a:ext cx="4846320" cy="0"/>
          </a:xfrm>
          <a:prstGeom prst="line">
            <a:avLst/>
          </a:prstGeom>
          <a:ln w="9525">
            <a:solidFill>
              <a:srgbClr val="D4D4D4"/>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675120" y="2542032"/>
            <a:ext cx="2377440" cy="365760"/>
          </a:xfrm>
          <a:prstGeom prst="rect">
            <a:avLst/>
          </a:prstGeom>
          <a:noFill/>
        </p:spPr>
        <p:txBody>
          <a:bodyPr wrap="square" anchor="ctr">
            <a:spAutoFit/>
          </a:bodyPr>
          <a:lstStyle/>
          <a:p>
            <a:pPr algn="l">
              <a:lnSpc>
                <a:spcPct val="105000"/>
              </a:lnSpc>
            </a:pPr>
            <a:r>
              <a:rPr sz="1500" b="0" i="0">
                <a:solidFill>
                  <a:srgbClr val="6B7280"/>
                </a:solidFill>
                <a:latin typeface="Calibri"/>
              </a:rPr>
              <a:t>Deontic</a:t>
            </a:r>
          </a:p>
        </p:txBody>
      </p:sp>
      <p:sp>
        <p:nvSpPr>
          <p:cNvPr id="12" name="TextBox 11"/>
          <p:cNvSpPr txBox="1"/>
          <p:nvPr/>
        </p:nvSpPr>
        <p:spPr>
          <a:xfrm>
            <a:off x="9052560" y="2542032"/>
            <a:ext cx="2743200" cy="365760"/>
          </a:xfrm>
          <a:prstGeom prst="rect">
            <a:avLst/>
          </a:prstGeom>
          <a:noFill/>
        </p:spPr>
        <p:txBody>
          <a:bodyPr wrap="square" anchor="ctr">
            <a:spAutoFit/>
          </a:bodyPr>
          <a:lstStyle/>
          <a:p>
            <a:pPr algn="l">
              <a:lnSpc>
                <a:spcPct val="105000"/>
              </a:lnSpc>
            </a:pPr>
            <a:r>
              <a:rPr sz="1500" b="1" i="0">
                <a:solidFill>
                  <a:srgbClr val="1D4ED8"/>
                </a:solidFill>
                <a:latin typeface="Calibri"/>
              </a:rPr>
              <a:t>MUST, MAY, OR MUST NOT?</a:t>
            </a:r>
          </a:p>
        </p:txBody>
      </p:sp>
      <p:cxnSp>
        <p:nvCxnSpPr>
          <p:cNvPr id="13" name="Connector 12"/>
          <p:cNvCxnSpPr/>
          <p:nvPr/>
        </p:nvCxnSpPr>
        <p:spPr>
          <a:xfrm>
            <a:off x="6675120" y="2944368"/>
            <a:ext cx="4846320" cy="0"/>
          </a:xfrm>
          <a:prstGeom prst="line">
            <a:avLst/>
          </a:prstGeom>
          <a:ln w="9525">
            <a:solidFill>
              <a:srgbClr val="D4D4D4"/>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675120" y="2944368"/>
            <a:ext cx="2377440" cy="365760"/>
          </a:xfrm>
          <a:prstGeom prst="rect">
            <a:avLst/>
          </a:prstGeom>
          <a:noFill/>
        </p:spPr>
        <p:txBody>
          <a:bodyPr wrap="square" anchor="ctr">
            <a:spAutoFit/>
          </a:bodyPr>
          <a:lstStyle/>
          <a:p>
            <a:pPr algn="l">
              <a:lnSpc>
                <a:spcPct val="105000"/>
              </a:lnSpc>
            </a:pPr>
            <a:r>
              <a:rPr sz="1500" b="0" i="0">
                <a:solidFill>
                  <a:srgbClr val="6B7280"/>
                </a:solidFill>
                <a:latin typeface="Calibri"/>
              </a:rPr>
              <a:t>Aim</a:t>
            </a:r>
          </a:p>
        </p:txBody>
      </p:sp>
      <p:sp>
        <p:nvSpPr>
          <p:cNvPr id="15" name="TextBox 14"/>
          <p:cNvSpPr txBox="1"/>
          <p:nvPr/>
        </p:nvSpPr>
        <p:spPr>
          <a:xfrm>
            <a:off x="9052560" y="2944368"/>
            <a:ext cx="2743200" cy="365760"/>
          </a:xfrm>
          <a:prstGeom prst="rect">
            <a:avLst/>
          </a:prstGeom>
          <a:noFill/>
        </p:spPr>
        <p:txBody>
          <a:bodyPr wrap="square" anchor="ctr">
            <a:spAutoFit/>
          </a:bodyPr>
          <a:lstStyle/>
          <a:p>
            <a:pPr algn="l">
              <a:lnSpc>
                <a:spcPct val="105000"/>
              </a:lnSpc>
            </a:pPr>
            <a:r>
              <a:rPr sz="1500" b="1" i="0">
                <a:solidFill>
                  <a:srgbClr val="1D4ED8"/>
                </a:solidFill>
                <a:latin typeface="Calibri"/>
              </a:rPr>
              <a:t>DO WHAT?</a:t>
            </a:r>
          </a:p>
        </p:txBody>
      </p:sp>
      <p:cxnSp>
        <p:nvCxnSpPr>
          <p:cNvPr id="16" name="Connector 15"/>
          <p:cNvCxnSpPr/>
          <p:nvPr/>
        </p:nvCxnSpPr>
        <p:spPr>
          <a:xfrm>
            <a:off x="6675120" y="3346703"/>
            <a:ext cx="4846320" cy="0"/>
          </a:xfrm>
          <a:prstGeom prst="line">
            <a:avLst/>
          </a:prstGeom>
          <a:ln w="9525">
            <a:solidFill>
              <a:srgbClr val="D4D4D4"/>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675120" y="3346703"/>
            <a:ext cx="2377440" cy="365760"/>
          </a:xfrm>
          <a:prstGeom prst="rect">
            <a:avLst/>
          </a:prstGeom>
          <a:noFill/>
        </p:spPr>
        <p:txBody>
          <a:bodyPr wrap="square" anchor="ctr">
            <a:spAutoFit/>
          </a:bodyPr>
          <a:lstStyle/>
          <a:p>
            <a:pPr algn="l">
              <a:lnSpc>
                <a:spcPct val="105000"/>
              </a:lnSpc>
            </a:pPr>
            <a:r>
              <a:rPr sz="1500" b="0" i="0">
                <a:solidFill>
                  <a:srgbClr val="6B7280"/>
                </a:solidFill>
                <a:latin typeface="Calibri"/>
              </a:rPr>
              <a:t>Object</a:t>
            </a:r>
          </a:p>
        </p:txBody>
      </p:sp>
      <p:sp>
        <p:nvSpPr>
          <p:cNvPr id="18" name="TextBox 17"/>
          <p:cNvSpPr txBox="1"/>
          <p:nvPr/>
        </p:nvSpPr>
        <p:spPr>
          <a:xfrm>
            <a:off x="9052560" y="3346703"/>
            <a:ext cx="2743200" cy="365760"/>
          </a:xfrm>
          <a:prstGeom prst="rect">
            <a:avLst/>
          </a:prstGeom>
          <a:noFill/>
        </p:spPr>
        <p:txBody>
          <a:bodyPr wrap="square" anchor="ctr">
            <a:spAutoFit/>
          </a:bodyPr>
          <a:lstStyle/>
          <a:p>
            <a:pPr algn="l">
              <a:lnSpc>
                <a:spcPct val="105000"/>
              </a:lnSpc>
            </a:pPr>
            <a:r>
              <a:rPr sz="1500" b="1" i="0">
                <a:solidFill>
                  <a:srgbClr val="1D4ED8"/>
                </a:solidFill>
                <a:latin typeface="Calibri"/>
              </a:rPr>
              <a:t>TO WHAT?</a:t>
            </a:r>
          </a:p>
        </p:txBody>
      </p:sp>
      <p:cxnSp>
        <p:nvCxnSpPr>
          <p:cNvPr id="19" name="Connector 18"/>
          <p:cNvCxnSpPr/>
          <p:nvPr/>
        </p:nvCxnSpPr>
        <p:spPr>
          <a:xfrm>
            <a:off x="6675120" y="3749039"/>
            <a:ext cx="4846320" cy="0"/>
          </a:xfrm>
          <a:prstGeom prst="line">
            <a:avLst/>
          </a:prstGeom>
          <a:ln w="9525">
            <a:solidFill>
              <a:srgbClr val="D4D4D4"/>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675120" y="3749039"/>
            <a:ext cx="2377440" cy="365760"/>
          </a:xfrm>
          <a:prstGeom prst="rect">
            <a:avLst/>
          </a:prstGeom>
          <a:noFill/>
        </p:spPr>
        <p:txBody>
          <a:bodyPr wrap="square" anchor="ctr">
            <a:spAutoFit/>
          </a:bodyPr>
          <a:lstStyle/>
          <a:p>
            <a:pPr algn="l">
              <a:lnSpc>
                <a:spcPct val="105000"/>
              </a:lnSpc>
            </a:pPr>
            <a:r>
              <a:rPr sz="1500" b="0" i="0">
                <a:solidFill>
                  <a:srgbClr val="6B7280"/>
                </a:solidFill>
                <a:latin typeface="Calibri"/>
              </a:rPr>
              <a:t>Activation Condition</a:t>
            </a:r>
          </a:p>
        </p:txBody>
      </p:sp>
      <p:sp>
        <p:nvSpPr>
          <p:cNvPr id="21" name="TextBox 20"/>
          <p:cNvSpPr txBox="1"/>
          <p:nvPr/>
        </p:nvSpPr>
        <p:spPr>
          <a:xfrm>
            <a:off x="9052560" y="3749039"/>
            <a:ext cx="2743200" cy="365760"/>
          </a:xfrm>
          <a:prstGeom prst="rect">
            <a:avLst/>
          </a:prstGeom>
          <a:noFill/>
        </p:spPr>
        <p:txBody>
          <a:bodyPr wrap="square" anchor="ctr">
            <a:spAutoFit/>
          </a:bodyPr>
          <a:lstStyle/>
          <a:p>
            <a:pPr algn="l">
              <a:lnSpc>
                <a:spcPct val="105000"/>
              </a:lnSpc>
            </a:pPr>
            <a:r>
              <a:rPr sz="1500" b="1" i="0">
                <a:solidFill>
                  <a:srgbClr val="1D4ED8"/>
                </a:solidFill>
                <a:latin typeface="Calibri"/>
              </a:rPr>
              <a:t>WHEN?</a:t>
            </a:r>
          </a:p>
        </p:txBody>
      </p:sp>
      <p:cxnSp>
        <p:nvCxnSpPr>
          <p:cNvPr id="22" name="Connector 21"/>
          <p:cNvCxnSpPr/>
          <p:nvPr/>
        </p:nvCxnSpPr>
        <p:spPr>
          <a:xfrm>
            <a:off x="6675120" y="4151376"/>
            <a:ext cx="4846320" cy="0"/>
          </a:xfrm>
          <a:prstGeom prst="line">
            <a:avLst/>
          </a:prstGeom>
          <a:ln w="9525">
            <a:solidFill>
              <a:srgbClr val="D4D4D4"/>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675120" y="4151376"/>
            <a:ext cx="2377440" cy="365760"/>
          </a:xfrm>
          <a:prstGeom prst="rect">
            <a:avLst/>
          </a:prstGeom>
          <a:noFill/>
        </p:spPr>
        <p:txBody>
          <a:bodyPr wrap="square" anchor="ctr">
            <a:spAutoFit/>
          </a:bodyPr>
          <a:lstStyle/>
          <a:p>
            <a:pPr algn="l">
              <a:lnSpc>
                <a:spcPct val="105000"/>
              </a:lnSpc>
            </a:pPr>
            <a:r>
              <a:rPr sz="1500" b="0" i="0">
                <a:solidFill>
                  <a:srgbClr val="6B7280"/>
                </a:solidFill>
                <a:latin typeface="Calibri"/>
              </a:rPr>
              <a:t>Execution Constraint</a:t>
            </a:r>
          </a:p>
        </p:txBody>
      </p:sp>
      <p:sp>
        <p:nvSpPr>
          <p:cNvPr id="24" name="TextBox 23"/>
          <p:cNvSpPr txBox="1"/>
          <p:nvPr/>
        </p:nvSpPr>
        <p:spPr>
          <a:xfrm>
            <a:off x="9052560" y="4151376"/>
            <a:ext cx="2743200" cy="365760"/>
          </a:xfrm>
          <a:prstGeom prst="rect">
            <a:avLst/>
          </a:prstGeom>
          <a:noFill/>
        </p:spPr>
        <p:txBody>
          <a:bodyPr wrap="square" anchor="ctr">
            <a:spAutoFit/>
          </a:bodyPr>
          <a:lstStyle/>
          <a:p>
            <a:pPr algn="l">
              <a:lnSpc>
                <a:spcPct val="105000"/>
              </a:lnSpc>
            </a:pPr>
            <a:r>
              <a:rPr sz="1500" b="1" i="0">
                <a:solidFill>
                  <a:srgbClr val="1D4ED8"/>
                </a:solidFill>
                <a:latin typeface="Calibri"/>
              </a:rPr>
              <a:t>HOW?</a:t>
            </a:r>
          </a:p>
        </p:txBody>
      </p:sp>
      <p:cxnSp>
        <p:nvCxnSpPr>
          <p:cNvPr id="25" name="Connector 24"/>
          <p:cNvCxnSpPr/>
          <p:nvPr/>
        </p:nvCxnSpPr>
        <p:spPr>
          <a:xfrm>
            <a:off x="6675120" y="4553712"/>
            <a:ext cx="4846320" cy="0"/>
          </a:xfrm>
          <a:prstGeom prst="line">
            <a:avLst/>
          </a:prstGeom>
          <a:ln w="9525">
            <a:solidFill>
              <a:srgbClr val="D4D4D4"/>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6675120" y="4553712"/>
            <a:ext cx="2377440" cy="365760"/>
          </a:xfrm>
          <a:prstGeom prst="rect">
            <a:avLst/>
          </a:prstGeom>
          <a:noFill/>
        </p:spPr>
        <p:txBody>
          <a:bodyPr wrap="square" anchor="ctr">
            <a:spAutoFit/>
          </a:bodyPr>
          <a:lstStyle/>
          <a:p>
            <a:pPr algn="l">
              <a:lnSpc>
                <a:spcPct val="105000"/>
              </a:lnSpc>
            </a:pPr>
            <a:r>
              <a:rPr sz="1500" b="0" i="0">
                <a:solidFill>
                  <a:srgbClr val="6B7280"/>
                </a:solidFill>
                <a:latin typeface="Calibri"/>
              </a:rPr>
              <a:t>Or else</a:t>
            </a:r>
          </a:p>
        </p:txBody>
      </p:sp>
      <p:sp>
        <p:nvSpPr>
          <p:cNvPr id="27" name="TextBox 26"/>
          <p:cNvSpPr txBox="1"/>
          <p:nvPr/>
        </p:nvSpPr>
        <p:spPr>
          <a:xfrm>
            <a:off x="9052560" y="4553712"/>
            <a:ext cx="2743200" cy="365760"/>
          </a:xfrm>
          <a:prstGeom prst="rect">
            <a:avLst/>
          </a:prstGeom>
          <a:noFill/>
        </p:spPr>
        <p:txBody>
          <a:bodyPr wrap="square" anchor="ctr">
            <a:spAutoFit/>
          </a:bodyPr>
          <a:lstStyle/>
          <a:p>
            <a:pPr algn="l">
              <a:lnSpc>
                <a:spcPct val="105000"/>
              </a:lnSpc>
            </a:pPr>
            <a:r>
              <a:rPr sz="1500" b="1" i="0">
                <a:solidFill>
                  <a:srgbClr val="1D4ED8"/>
                </a:solidFill>
                <a:latin typeface="Calibri"/>
              </a:rPr>
              <a:t>OR ELSE?</a:t>
            </a:r>
          </a:p>
        </p:txBody>
      </p:sp>
      <p:cxnSp>
        <p:nvCxnSpPr>
          <p:cNvPr id="28" name="Connector 27"/>
          <p:cNvCxnSpPr/>
          <p:nvPr/>
        </p:nvCxnSpPr>
        <p:spPr>
          <a:xfrm>
            <a:off x="6675120" y="4956048"/>
            <a:ext cx="4846320" cy="0"/>
          </a:xfrm>
          <a:prstGeom prst="line">
            <a:avLst/>
          </a:prstGeom>
          <a:ln w="9525">
            <a:solidFill>
              <a:srgbClr val="D4D4D4"/>
            </a:solidFill>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640080" y="3977639"/>
            <a:ext cx="5577840" cy="1783080"/>
          </a:xfrm>
          <a:prstGeom prst="round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68680" y="4114800"/>
            <a:ext cx="5120640" cy="1234440"/>
          </a:xfrm>
          <a:prstGeom prst="rect">
            <a:avLst/>
          </a:prstGeom>
          <a:noFill/>
        </p:spPr>
        <p:txBody>
          <a:bodyPr wrap="square" anchor="t">
            <a:spAutoFit/>
          </a:bodyPr>
          <a:lstStyle/>
          <a:p>
            <a:pPr algn="l">
              <a:lnSpc>
                <a:spcPct val="105000"/>
              </a:lnSpc>
            </a:pPr>
            <a:r>
              <a:rPr sz="1600" b="0" i="1">
                <a:solidFill>
                  <a:srgbClr val="000000"/>
                </a:solidFill>
                <a:latin typeface="Calibri"/>
              </a:rPr>
              <a:t>"I have never thought that math, logic, or programming has to be for the initiated only. It would just be much more verbose and illustrated, but then democratic."</a:t>
            </a:r>
          </a:p>
        </p:txBody>
      </p:sp>
      <p:sp>
        <p:nvSpPr>
          <p:cNvPr id="31" name="TextBox 30"/>
          <p:cNvSpPr txBox="1"/>
          <p:nvPr/>
        </p:nvSpPr>
        <p:spPr>
          <a:xfrm>
            <a:off x="868680" y="5349240"/>
            <a:ext cx="5120640" cy="320040"/>
          </a:xfrm>
          <a:prstGeom prst="rect">
            <a:avLst/>
          </a:prstGeom>
          <a:noFill/>
        </p:spPr>
        <p:txBody>
          <a:bodyPr wrap="square" anchor="t">
            <a:spAutoFit/>
          </a:bodyPr>
          <a:lstStyle/>
          <a:p>
            <a:pPr algn="l">
              <a:lnSpc>
                <a:spcPct val="105000"/>
              </a:lnSpc>
            </a:pPr>
            <a:r>
              <a:rPr sz="1400" b="1" i="0">
                <a:solidFill>
                  <a:srgbClr val="000000"/>
                </a:solidFill>
                <a:latin typeface="Calibri"/>
              </a:rPr>
              <a:t>— Marc Pierson</a:t>
            </a:r>
          </a:p>
        </p:txBody>
      </p:sp>
      <p:sp>
        <p:nvSpPr>
          <p:cNvPr id="32" name="TextBox 31"/>
          <p:cNvSpPr txBox="1"/>
          <p:nvPr/>
        </p:nvSpPr>
        <p:spPr>
          <a:xfrm>
            <a:off x="640080" y="6400800"/>
            <a:ext cx="5486400" cy="274320"/>
          </a:xfrm>
          <a:prstGeom prst="rect">
            <a:avLst/>
          </a:prstGeom>
          <a:noFill/>
        </p:spPr>
        <p:txBody>
          <a:bodyPr wrap="square" anchor="t">
            <a:spAutoFit/>
          </a:bodyPr>
          <a:lstStyle/>
          <a:p>
            <a:pPr algn="l">
              <a:lnSpc>
                <a:spcPct val="105000"/>
              </a:lnSpc>
            </a:pPr>
            <a:r>
              <a:rPr sz="1000" b="0" i="0">
                <a:solidFill>
                  <a:srgbClr val="6B7280"/>
                </a:solidFill>
                <a:latin typeface="Calibri"/>
              </a:rPr>
              <a:t>RCN · Agreement Checker</a:t>
            </a:r>
          </a:p>
        </p:txBody>
      </p:sp>
      <p:sp>
        <p:nvSpPr>
          <p:cNvPr id="33" name="TextBox 32"/>
          <p:cNvSpPr txBox="1"/>
          <p:nvPr/>
        </p:nvSpPr>
        <p:spPr>
          <a:xfrm>
            <a:off x="10972800" y="6400800"/>
            <a:ext cx="548640" cy="274320"/>
          </a:xfrm>
          <a:prstGeom prst="rect">
            <a:avLst/>
          </a:prstGeom>
          <a:noFill/>
        </p:spPr>
        <p:txBody>
          <a:bodyPr wrap="square" anchor="t">
            <a:spAutoFit/>
          </a:bodyPr>
          <a:lstStyle/>
          <a:p>
            <a:pPr algn="r">
              <a:lnSpc>
                <a:spcPct val="105000"/>
              </a:lnSpc>
            </a:pPr>
            <a:r>
              <a:rPr sz="1000" b="0" i="0">
                <a:solidFill>
                  <a:srgbClr val="6B7280"/>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11480"/>
            <a:ext cx="10515600" cy="320040"/>
          </a:xfrm>
          <a:prstGeom prst="rect">
            <a:avLst/>
          </a:prstGeom>
          <a:noFill/>
        </p:spPr>
        <p:txBody>
          <a:bodyPr wrap="square" anchor="t">
            <a:spAutoFit/>
          </a:bodyPr>
          <a:lstStyle/>
          <a:p>
            <a:pPr algn="l">
              <a:lnSpc>
                <a:spcPct val="105000"/>
              </a:lnSpc>
            </a:pPr>
            <a:r>
              <a:rPr sz="1200" b="1" i="0">
                <a:solidFill>
                  <a:srgbClr val="1D4ED8"/>
                </a:solidFill>
                <a:latin typeface="Calibri"/>
              </a:rPr>
              <a:t>THE GRAMMAR IN PLAIN WORDS</a:t>
            </a:r>
          </a:p>
        </p:txBody>
      </p:sp>
      <p:sp>
        <p:nvSpPr>
          <p:cNvPr id="3" name="TextBox 2"/>
          <p:cNvSpPr txBox="1"/>
          <p:nvPr/>
        </p:nvSpPr>
        <p:spPr>
          <a:xfrm>
            <a:off x="640080" y="731520"/>
            <a:ext cx="10972800" cy="914400"/>
          </a:xfrm>
          <a:prstGeom prst="rect">
            <a:avLst/>
          </a:prstGeom>
          <a:noFill/>
        </p:spPr>
        <p:txBody>
          <a:bodyPr wrap="square" anchor="t">
            <a:spAutoFit/>
          </a:bodyPr>
          <a:lstStyle/>
          <a:p>
            <a:pPr algn="l">
              <a:lnSpc>
                <a:spcPct val="105000"/>
              </a:lnSpc>
            </a:pPr>
            <a:r>
              <a:rPr sz="3400" b="1" i="0">
                <a:solidFill>
                  <a:srgbClr val="000000"/>
                </a:solidFill>
                <a:latin typeface="Calibri"/>
              </a:rPr>
              <a:t>Every rule answers seven questions</a:t>
            </a:r>
          </a:p>
        </p:txBody>
      </p:sp>
      <p:sp>
        <p:nvSpPr>
          <p:cNvPr id="4" name="Rounded Rectangle 3"/>
          <p:cNvSpPr/>
          <p:nvPr/>
        </p:nvSpPr>
        <p:spPr>
          <a:xfrm>
            <a:off x="640080" y="1874519"/>
            <a:ext cx="1417320" cy="868680"/>
          </a:xfrm>
          <a:prstGeom prst="roundRect">
            <a:avLst/>
          </a:prstGeom>
          <a:solidFill>
            <a:srgbClr val="FFFFFF"/>
          </a:solidFill>
          <a:ln w="28575">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874519"/>
            <a:ext cx="1417320" cy="868680"/>
          </a:xfrm>
          <a:prstGeom prst="rect">
            <a:avLst/>
          </a:prstGeom>
          <a:noFill/>
        </p:spPr>
        <p:txBody>
          <a:bodyPr wrap="square" anchor="ctr" lIns="54864" rIns="54864" tIns="54864" bIns="54864">
            <a:spAutoFit/>
          </a:bodyPr>
          <a:lstStyle/>
          <a:p>
            <a:pPr algn="ctr">
              <a:lnSpc>
                <a:spcPct val="105000"/>
              </a:lnSpc>
            </a:pPr>
            <a:r>
              <a:rPr sz="1300" b="1" i="0">
                <a:solidFill>
                  <a:srgbClr val="1D4ED8"/>
                </a:solidFill>
                <a:latin typeface="Calibri"/>
              </a:rPr>
              <a:t>WHEN?</a:t>
            </a:r>
          </a:p>
        </p:txBody>
      </p:sp>
      <p:cxnSp>
        <p:nvCxnSpPr>
          <p:cNvPr id="6" name="Connector 5"/>
          <p:cNvCxnSpPr/>
          <p:nvPr/>
        </p:nvCxnSpPr>
        <p:spPr>
          <a:xfrm>
            <a:off x="1348740" y="2743200"/>
            <a:ext cx="0" cy="320040"/>
          </a:xfrm>
          <a:prstGeom prst="line">
            <a:avLst/>
          </a:prstGeom>
          <a:ln w="15875">
            <a:solidFill>
              <a:srgbClr val="15803D"/>
            </a:solidFill>
            <a:prstDash val="sysDot"/>
            <a:tailEnd type="triangle" w="med" h="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640080" y="3108960"/>
            <a:ext cx="1417320" cy="868680"/>
          </a:xfrm>
          <a:prstGeom prst="roundRect">
            <a:avLst/>
          </a:prstGeom>
          <a:solidFill>
            <a:srgbClr val="FFFFFF"/>
          </a:solidFill>
          <a:ln w="25400">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3108960"/>
            <a:ext cx="1417320" cy="868680"/>
          </a:xfrm>
          <a:prstGeom prst="rect">
            <a:avLst/>
          </a:prstGeom>
          <a:noFill/>
        </p:spPr>
        <p:txBody>
          <a:bodyPr wrap="square" anchor="ctr" lIns="54864" rIns="54864" tIns="54864" bIns="54864">
            <a:spAutoFit/>
          </a:bodyPr>
          <a:lstStyle/>
          <a:p>
            <a:pPr algn="ctr">
              <a:lnSpc>
                <a:spcPct val="105000"/>
              </a:lnSpc>
            </a:pPr>
            <a:r>
              <a:rPr sz="1300" b="0" i="0">
                <a:solidFill>
                  <a:srgbClr val="000000"/>
                </a:solidFill>
                <a:latin typeface="Calibri"/>
              </a:rPr>
              <a:t>when the tank</a:t>
            </a:r>
          </a:p>
          <a:p>
            <a:pPr algn="ctr">
              <a:lnSpc>
                <a:spcPct val="105000"/>
              </a:lnSpc>
            </a:pPr>
            <a:r>
              <a:rPr sz="1300" b="0" i="0">
                <a:solidFill>
                  <a:srgbClr val="000000"/>
                </a:solidFill>
                <a:latin typeface="Calibri"/>
              </a:rPr>
              <a:t>is below half</a:t>
            </a:r>
          </a:p>
        </p:txBody>
      </p:sp>
      <p:sp>
        <p:nvSpPr>
          <p:cNvPr id="9" name="Rounded Rectangle 8"/>
          <p:cNvSpPr/>
          <p:nvPr/>
        </p:nvSpPr>
        <p:spPr>
          <a:xfrm>
            <a:off x="2212848" y="1874519"/>
            <a:ext cx="1417320" cy="868680"/>
          </a:xfrm>
          <a:prstGeom prst="roundRect">
            <a:avLst/>
          </a:prstGeom>
          <a:solidFill>
            <a:srgbClr val="FFFFFF"/>
          </a:solidFill>
          <a:ln w="28575">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212848" y="1874519"/>
            <a:ext cx="1417320" cy="868680"/>
          </a:xfrm>
          <a:prstGeom prst="rect">
            <a:avLst/>
          </a:prstGeom>
          <a:noFill/>
        </p:spPr>
        <p:txBody>
          <a:bodyPr wrap="square" anchor="ctr" lIns="54864" rIns="54864" tIns="54864" bIns="54864">
            <a:spAutoFit/>
          </a:bodyPr>
          <a:lstStyle/>
          <a:p>
            <a:pPr algn="ctr">
              <a:lnSpc>
                <a:spcPct val="105000"/>
              </a:lnSpc>
            </a:pPr>
            <a:r>
              <a:rPr sz="1300" b="1" i="0">
                <a:solidFill>
                  <a:srgbClr val="1D4ED8"/>
                </a:solidFill>
                <a:latin typeface="Calibri"/>
              </a:rPr>
              <a:t>WHO?</a:t>
            </a:r>
          </a:p>
        </p:txBody>
      </p:sp>
      <p:cxnSp>
        <p:nvCxnSpPr>
          <p:cNvPr id="11" name="Connector 10"/>
          <p:cNvCxnSpPr/>
          <p:nvPr/>
        </p:nvCxnSpPr>
        <p:spPr>
          <a:xfrm>
            <a:off x="2921508" y="2743200"/>
            <a:ext cx="0" cy="320040"/>
          </a:xfrm>
          <a:prstGeom prst="line">
            <a:avLst/>
          </a:prstGeom>
          <a:ln w="15875">
            <a:solidFill>
              <a:srgbClr val="15803D"/>
            </a:solidFill>
            <a:prstDash val="sysDot"/>
            <a:tailEnd type="triangle" w="med" h="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212848" y="3108960"/>
            <a:ext cx="1417320" cy="868680"/>
          </a:xfrm>
          <a:prstGeom prst="roundRect">
            <a:avLst/>
          </a:prstGeom>
          <a:solidFill>
            <a:srgbClr val="FFFFFF"/>
          </a:solidFill>
          <a:ln w="25400">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212848" y="3108960"/>
            <a:ext cx="1417320" cy="868680"/>
          </a:xfrm>
          <a:prstGeom prst="rect">
            <a:avLst/>
          </a:prstGeom>
          <a:noFill/>
        </p:spPr>
        <p:txBody>
          <a:bodyPr wrap="square" anchor="ctr" lIns="54864" rIns="54864" tIns="54864" bIns="54864">
            <a:spAutoFit/>
          </a:bodyPr>
          <a:lstStyle/>
          <a:p>
            <a:pPr algn="ctr">
              <a:lnSpc>
                <a:spcPct val="105000"/>
              </a:lnSpc>
            </a:pPr>
            <a:r>
              <a:rPr sz="1300" b="0" i="0">
                <a:solidFill>
                  <a:srgbClr val="000000"/>
                </a:solidFill>
                <a:latin typeface="Calibri"/>
              </a:rPr>
              <a:t>gardeners</a:t>
            </a:r>
          </a:p>
        </p:txBody>
      </p:sp>
      <p:sp>
        <p:nvSpPr>
          <p:cNvPr id="14" name="Rounded Rectangle 13"/>
          <p:cNvSpPr/>
          <p:nvPr/>
        </p:nvSpPr>
        <p:spPr>
          <a:xfrm>
            <a:off x="3785615" y="1874519"/>
            <a:ext cx="1417320" cy="868680"/>
          </a:xfrm>
          <a:prstGeom prst="roundRect">
            <a:avLst/>
          </a:prstGeom>
          <a:solidFill>
            <a:srgbClr val="FFFFFF"/>
          </a:solidFill>
          <a:ln w="28575">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785615" y="1874519"/>
            <a:ext cx="1417320" cy="868680"/>
          </a:xfrm>
          <a:prstGeom prst="rect">
            <a:avLst/>
          </a:prstGeom>
          <a:noFill/>
        </p:spPr>
        <p:txBody>
          <a:bodyPr wrap="square" anchor="ctr" lIns="54864" rIns="54864" tIns="54864" bIns="54864">
            <a:spAutoFit/>
          </a:bodyPr>
          <a:lstStyle/>
          <a:p>
            <a:pPr algn="ctr">
              <a:lnSpc>
                <a:spcPct val="105000"/>
              </a:lnSpc>
            </a:pPr>
            <a:r>
              <a:rPr sz="1300" b="1" i="0">
                <a:solidFill>
                  <a:srgbClr val="1D4ED8"/>
                </a:solidFill>
                <a:latin typeface="Calibri"/>
              </a:rPr>
              <a:t>MUST, MAY,</a:t>
            </a:r>
          </a:p>
          <a:p>
            <a:pPr algn="ctr">
              <a:lnSpc>
                <a:spcPct val="105000"/>
              </a:lnSpc>
            </a:pPr>
            <a:r>
              <a:rPr sz="1300" b="1" i="0">
                <a:solidFill>
                  <a:srgbClr val="1D4ED8"/>
                </a:solidFill>
                <a:latin typeface="Calibri"/>
              </a:rPr>
              <a:t>OR MUST NOT?</a:t>
            </a:r>
          </a:p>
        </p:txBody>
      </p:sp>
      <p:cxnSp>
        <p:nvCxnSpPr>
          <p:cNvPr id="16" name="Connector 15"/>
          <p:cNvCxnSpPr/>
          <p:nvPr/>
        </p:nvCxnSpPr>
        <p:spPr>
          <a:xfrm>
            <a:off x="4494276" y="2743200"/>
            <a:ext cx="0" cy="320040"/>
          </a:xfrm>
          <a:prstGeom prst="line">
            <a:avLst/>
          </a:prstGeom>
          <a:ln w="15875">
            <a:solidFill>
              <a:srgbClr val="15803D"/>
            </a:solidFill>
            <a:prstDash val="sysDot"/>
            <a:tailEnd type="triangle" w="med" h="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3785615" y="3108960"/>
            <a:ext cx="1417320" cy="868680"/>
          </a:xfrm>
          <a:prstGeom prst="roundRect">
            <a:avLst/>
          </a:prstGeom>
          <a:solidFill>
            <a:srgbClr val="FFFFFF"/>
          </a:solidFill>
          <a:ln w="25400">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785615" y="3108960"/>
            <a:ext cx="1417320" cy="868680"/>
          </a:xfrm>
          <a:prstGeom prst="rect">
            <a:avLst/>
          </a:prstGeom>
          <a:noFill/>
        </p:spPr>
        <p:txBody>
          <a:bodyPr wrap="square" anchor="ctr" lIns="54864" rIns="54864" tIns="54864" bIns="54864">
            <a:spAutoFit/>
          </a:bodyPr>
          <a:lstStyle/>
          <a:p>
            <a:pPr algn="ctr">
              <a:lnSpc>
                <a:spcPct val="105000"/>
              </a:lnSpc>
            </a:pPr>
            <a:r>
              <a:rPr sz="1300" b="0" i="0">
                <a:solidFill>
                  <a:srgbClr val="000000"/>
                </a:solidFill>
                <a:latin typeface="Calibri"/>
              </a:rPr>
              <a:t>must not</a:t>
            </a:r>
          </a:p>
        </p:txBody>
      </p:sp>
      <p:sp>
        <p:nvSpPr>
          <p:cNvPr id="19" name="Rounded Rectangle 18"/>
          <p:cNvSpPr/>
          <p:nvPr/>
        </p:nvSpPr>
        <p:spPr>
          <a:xfrm>
            <a:off x="5358384" y="1874519"/>
            <a:ext cx="1417320" cy="868680"/>
          </a:xfrm>
          <a:prstGeom prst="roundRect">
            <a:avLst/>
          </a:prstGeom>
          <a:solidFill>
            <a:srgbClr val="FFFFFF"/>
          </a:solidFill>
          <a:ln w="28575">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58384" y="1874519"/>
            <a:ext cx="1417320" cy="868680"/>
          </a:xfrm>
          <a:prstGeom prst="rect">
            <a:avLst/>
          </a:prstGeom>
          <a:noFill/>
        </p:spPr>
        <p:txBody>
          <a:bodyPr wrap="square" anchor="ctr" lIns="54864" rIns="54864" tIns="54864" bIns="54864">
            <a:spAutoFit/>
          </a:bodyPr>
          <a:lstStyle/>
          <a:p>
            <a:pPr algn="ctr">
              <a:lnSpc>
                <a:spcPct val="105000"/>
              </a:lnSpc>
            </a:pPr>
            <a:r>
              <a:rPr sz="1300" b="1" i="0">
                <a:solidFill>
                  <a:srgbClr val="1D4ED8"/>
                </a:solidFill>
                <a:latin typeface="Calibri"/>
              </a:rPr>
              <a:t>DO WHAT?</a:t>
            </a:r>
          </a:p>
        </p:txBody>
      </p:sp>
      <p:cxnSp>
        <p:nvCxnSpPr>
          <p:cNvPr id="21" name="Connector 20"/>
          <p:cNvCxnSpPr/>
          <p:nvPr/>
        </p:nvCxnSpPr>
        <p:spPr>
          <a:xfrm>
            <a:off x="6067044" y="2743200"/>
            <a:ext cx="0" cy="320040"/>
          </a:xfrm>
          <a:prstGeom prst="line">
            <a:avLst/>
          </a:prstGeom>
          <a:ln w="15875">
            <a:solidFill>
              <a:srgbClr val="15803D"/>
            </a:solidFill>
            <a:prstDash val="sysDot"/>
            <a:tailEnd type="triangle" w="med" h="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5358384" y="3108960"/>
            <a:ext cx="1417320" cy="868680"/>
          </a:xfrm>
          <a:prstGeom prst="roundRect">
            <a:avLst/>
          </a:prstGeom>
          <a:solidFill>
            <a:srgbClr val="FFFFFF"/>
          </a:solidFill>
          <a:ln w="25400">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358384" y="3108960"/>
            <a:ext cx="1417320" cy="868680"/>
          </a:xfrm>
          <a:prstGeom prst="rect">
            <a:avLst/>
          </a:prstGeom>
          <a:noFill/>
        </p:spPr>
        <p:txBody>
          <a:bodyPr wrap="square" anchor="ctr" lIns="54864" rIns="54864" tIns="54864" bIns="54864">
            <a:spAutoFit/>
          </a:bodyPr>
          <a:lstStyle/>
          <a:p>
            <a:pPr algn="ctr">
              <a:lnSpc>
                <a:spcPct val="105000"/>
              </a:lnSpc>
            </a:pPr>
            <a:r>
              <a:rPr sz="1300" b="0" i="0">
                <a:solidFill>
                  <a:srgbClr val="000000"/>
                </a:solidFill>
                <a:latin typeface="Calibri"/>
              </a:rPr>
              <a:t>water</a:t>
            </a:r>
          </a:p>
        </p:txBody>
      </p:sp>
      <p:sp>
        <p:nvSpPr>
          <p:cNvPr id="24" name="Rounded Rectangle 23"/>
          <p:cNvSpPr/>
          <p:nvPr/>
        </p:nvSpPr>
        <p:spPr>
          <a:xfrm>
            <a:off x="6931152" y="1874519"/>
            <a:ext cx="1417320" cy="868680"/>
          </a:xfrm>
          <a:prstGeom prst="roundRect">
            <a:avLst/>
          </a:prstGeom>
          <a:solidFill>
            <a:srgbClr val="FFFFFF"/>
          </a:solidFill>
          <a:ln w="28575">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931152" y="1874519"/>
            <a:ext cx="1417320" cy="868680"/>
          </a:xfrm>
          <a:prstGeom prst="rect">
            <a:avLst/>
          </a:prstGeom>
          <a:noFill/>
        </p:spPr>
        <p:txBody>
          <a:bodyPr wrap="square" anchor="ctr" lIns="54864" rIns="54864" tIns="54864" bIns="54864">
            <a:spAutoFit/>
          </a:bodyPr>
          <a:lstStyle/>
          <a:p>
            <a:pPr algn="ctr">
              <a:lnSpc>
                <a:spcPct val="105000"/>
              </a:lnSpc>
            </a:pPr>
            <a:r>
              <a:rPr sz="1300" b="1" i="0">
                <a:solidFill>
                  <a:srgbClr val="1D4ED8"/>
                </a:solidFill>
                <a:latin typeface="Calibri"/>
              </a:rPr>
              <a:t>TO WHAT?</a:t>
            </a:r>
          </a:p>
        </p:txBody>
      </p:sp>
      <p:cxnSp>
        <p:nvCxnSpPr>
          <p:cNvPr id="26" name="Connector 25"/>
          <p:cNvCxnSpPr/>
          <p:nvPr/>
        </p:nvCxnSpPr>
        <p:spPr>
          <a:xfrm>
            <a:off x="7639812" y="2743200"/>
            <a:ext cx="0" cy="320040"/>
          </a:xfrm>
          <a:prstGeom prst="line">
            <a:avLst/>
          </a:prstGeom>
          <a:ln w="15875">
            <a:solidFill>
              <a:srgbClr val="15803D"/>
            </a:solidFill>
            <a:prstDash val="sysDot"/>
            <a:tailEnd type="triangle" w="med" h="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6931152" y="3108960"/>
            <a:ext cx="1417320" cy="868680"/>
          </a:xfrm>
          <a:prstGeom prst="roundRect">
            <a:avLst/>
          </a:prstGeom>
          <a:solidFill>
            <a:srgbClr val="FFFFFF"/>
          </a:solidFill>
          <a:ln w="25400">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931152" y="3108960"/>
            <a:ext cx="1417320" cy="868680"/>
          </a:xfrm>
          <a:prstGeom prst="rect">
            <a:avLst/>
          </a:prstGeom>
          <a:noFill/>
        </p:spPr>
        <p:txBody>
          <a:bodyPr wrap="square" anchor="ctr" lIns="54864" rIns="54864" tIns="54864" bIns="54864">
            <a:spAutoFit/>
          </a:bodyPr>
          <a:lstStyle/>
          <a:p>
            <a:pPr algn="ctr">
              <a:lnSpc>
                <a:spcPct val="105000"/>
              </a:lnSpc>
            </a:pPr>
            <a:r>
              <a:rPr sz="1300" b="0" i="0">
                <a:solidFill>
                  <a:srgbClr val="000000"/>
                </a:solidFill>
                <a:latin typeface="Calibri"/>
              </a:rPr>
              <a:t>their plots</a:t>
            </a:r>
          </a:p>
        </p:txBody>
      </p:sp>
      <p:sp>
        <p:nvSpPr>
          <p:cNvPr id="29" name="Rounded Rectangle 28"/>
          <p:cNvSpPr/>
          <p:nvPr/>
        </p:nvSpPr>
        <p:spPr>
          <a:xfrm>
            <a:off x="8503919" y="1874519"/>
            <a:ext cx="1417320" cy="868680"/>
          </a:xfrm>
          <a:prstGeom prst="roundRect">
            <a:avLst/>
          </a:prstGeom>
          <a:solidFill>
            <a:srgbClr val="FFFFFF"/>
          </a:solidFill>
          <a:ln w="28575">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503919" y="1874519"/>
            <a:ext cx="1417320" cy="868680"/>
          </a:xfrm>
          <a:prstGeom prst="rect">
            <a:avLst/>
          </a:prstGeom>
          <a:noFill/>
        </p:spPr>
        <p:txBody>
          <a:bodyPr wrap="square" anchor="ctr" lIns="54864" rIns="54864" tIns="54864" bIns="54864">
            <a:spAutoFit/>
          </a:bodyPr>
          <a:lstStyle/>
          <a:p>
            <a:pPr algn="ctr">
              <a:lnSpc>
                <a:spcPct val="105000"/>
              </a:lnSpc>
            </a:pPr>
            <a:r>
              <a:rPr sz="1300" b="1" i="0">
                <a:solidFill>
                  <a:srgbClr val="1D4ED8"/>
                </a:solidFill>
                <a:latin typeface="Calibri"/>
              </a:rPr>
              <a:t>HOW?</a:t>
            </a:r>
          </a:p>
        </p:txBody>
      </p:sp>
      <p:cxnSp>
        <p:nvCxnSpPr>
          <p:cNvPr id="31" name="Connector 30"/>
          <p:cNvCxnSpPr/>
          <p:nvPr/>
        </p:nvCxnSpPr>
        <p:spPr>
          <a:xfrm>
            <a:off x="9212580" y="2743200"/>
            <a:ext cx="0" cy="320040"/>
          </a:xfrm>
          <a:prstGeom prst="line">
            <a:avLst/>
          </a:prstGeom>
          <a:ln w="15875">
            <a:solidFill>
              <a:srgbClr val="15803D"/>
            </a:solidFill>
            <a:prstDash val="sysDot"/>
            <a:tailEnd type="triangle" w="med" h="med"/>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8503919" y="3108960"/>
            <a:ext cx="1417320" cy="868680"/>
          </a:xfrm>
          <a:prstGeom prst="roundRect">
            <a:avLst/>
          </a:prstGeom>
          <a:solidFill>
            <a:srgbClr val="FFFFFF"/>
          </a:solidFill>
          <a:ln w="25400">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503919" y="3108960"/>
            <a:ext cx="1417320" cy="868680"/>
          </a:xfrm>
          <a:prstGeom prst="rect">
            <a:avLst/>
          </a:prstGeom>
          <a:noFill/>
        </p:spPr>
        <p:txBody>
          <a:bodyPr wrap="square" anchor="ctr" lIns="54864" rIns="54864" tIns="54864" bIns="54864">
            <a:spAutoFit/>
          </a:bodyPr>
          <a:lstStyle/>
          <a:p>
            <a:pPr algn="ctr">
              <a:lnSpc>
                <a:spcPct val="105000"/>
              </a:lnSpc>
            </a:pPr>
            <a:r>
              <a:rPr sz="1300" b="0" i="0">
                <a:solidFill>
                  <a:srgbClr val="000000"/>
                </a:solidFill>
                <a:latin typeface="Calibri"/>
              </a:rPr>
              <a:t>with</a:t>
            </a:r>
          </a:p>
          <a:p>
            <a:pPr algn="ctr">
              <a:lnSpc>
                <a:spcPct val="105000"/>
              </a:lnSpc>
            </a:pPr>
            <a:r>
              <a:rPr sz="1300" b="0" i="0">
                <a:solidFill>
                  <a:srgbClr val="000000"/>
                </a:solidFill>
                <a:latin typeface="Calibri"/>
              </a:rPr>
              <a:t>sprinklers</a:t>
            </a:r>
          </a:p>
        </p:txBody>
      </p:sp>
      <p:sp>
        <p:nvSpPr>
          <p:cNvPr id="34" name="Rounded Rectangle 33"/>
          <p:cNvSpPr/>
          <p:nvPr/>
        </p:nvSpPr>
        <p:spPr>
          <a:xfrm>
            <a:off x="10076688" y="1874519"/>
            <a:ext cx="1417320" cy="868680"/>
          </a:xfrm>
          <a:prstGeom prst="roundRect">
            <a:avLst/>
          </a:prstGeom>
          <a:solidFill>
            <a:srgbClr val="FFFFFF"/>
          </a:solidFill>
          <a:ln w="28575">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076688" y="1874519"/>
            <a:ext cx="1417320" cy="868680"/>
          </a:xfrm>
          <a:prstGeom prst="rect">
            <a:avLst/>
          </a:prstGeom>
          <a:noFill/>
        </p:spPr>
        <p:txBody>
          <a:bodyPr wrap="square" anchor="ctr" lIns="54864" rIns="54864" tIns="54864" bIns="54864">
            <a:spAutoFit/>
          </a:bodyPr>
          <a:lstStyle/>
          <a:p>
            <a:pPr algn="ctr">
              <a:lnSpc>
                <a:spcPct val="105000"/>
              </a:lnSpc>
            </a:pPr>
            <a:r>
              <a:rPr sz="1300" b="1" i="0">
                <a:solidFill>
                  <a:srgbClr val="1D4ED8"/>
                </a:solidFill>
                <a:latin typeface="Calibri"/>
              </a:rPr>
              <a:t>OR ELSE?</a:t>
            </a:r>
          </a:p>
        </p:txBody>
      </p:sp>
      <p:cxnSp>
        <p:nvCxnSpPr>
          <p:cNvPr id="36" name="Connector 35"/>
          <p:cNvCxnSpPr/>
          <p:nvPr/>
        </p:nvCxnSpPr>
        <p:spPr>
          <a:xfrm>
            <a:off x="10785348" y="2743200"/>
            <a:ext cx="0" cy="320040"/>
          </a:xfrm>
          <a:prstGeom prst="line">
            <a:avLst/>
          </a:prstGeom>
          <a:ln w="15875">
            <a:solidFill>
              <a:srgbClr val="15803D"/>
            </a:solidFill>
            <a:prstDash val="sysDot"/>
            <a:tailEnd type="triangle" w="med" h="med"/>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10076688" y="3108960"/>
            <a:ext cx="1417320" cy="868680"/>
          </a:xfrm>
          <a:prstGeom prst="roundRect">
            <a:avLst/>
          </a:prstGeom>
          <a:solidFill>
            <a:srgbClr val="FFFFFF"/>
          </a:solidFill>
          <a:ln w="25400">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076688" y="3108960"/>
            <a:ext cx="1417320" cy="868680"/>
          </a:xfrm>
          <a:prstGeom prst="rect">
            <a:avLst/>
          </a:prstGeom>
          <a:noFill/>
        </p:spPr>
        <p:txBody>
          <a:bodyPr wrap="square" anchor="ctr" lIns="54864" rIns="54864" tIns="54864" bIns="54864">
            <a:spAutoFit/>
          </a:bodyPr>
          <a:lstStyle/>
          <a:p>
            <a:pPr algn="ctr">
              <a:lnSpc>
                <a:spcPct val="105000"/>
              </a:lnSpc>
            </a:pPr>
            <a:r>
              <a:rPr sz="1300" b="0" i="0">
                <a:solidFill>
                  <a:srgbClr val="000000"/>
                </a:solidFill>
                <a:latin typeface="Calibri"/>
              </a:rPr>
              <a:t>the keeper</a:t>
            </a:r>
          </a:p>
          <a:p>
            <a:pPr algn="ctr">
              <a:lnSpc>
                <a:spcPct val="105000"/>
              </a:lnSpc>
            </a:pPr>
            <a:r>
              <a:rPr sz="1300" b="0" i="0">
                <a:solidFill>
                  <a:srgbClr val="000000"/>
                </a:solidFill>
                <a:latin typeface="Calibri"/>
              </a:rPr>
              <a:t>suspends watering</a:t>
            </a:r>
          </a:p>
        </p:txBody>
      </p:sp>
      <p:sp>
        <p:nvSpPr>
          <p:cNvPr id="39" name="TextBox 38"/>
          <p:cNvSpPr txBox="1"/>
          <p:nvPr/>
        </p:nvSpPr>
        <p:spPr>
          <a:xfrm>
            <a:off x="640080" y="4343400"/>
            <a:ext cx="10972800" cy="365760"/>
          </a:xfrm>
          <a:prstGeom prst="rect">
            <a:avLst/>
          </a:prstGeom>
          <a:noFill/>
        </p:spPr>
        <p:txBody>
          <a:bodyPr wrap="square" anchor="t">
            <a:spAutoFit/>
          </a:bodyPr>
          <a:lstStyle/>
          <a:p>
            <a:pPr algn="l">
              <a:lnSpc>
                <a:spcPct val="105000"/>
              </a:lnSpc>
            </a:pPr>
            <a:r>
              <a:rPr sz="1600" b="0" i="0">
                <a:solidFill>
                  <a:srgbClr val="000000"/>
                </a:solidFill>
                <a:latin typeface="Calibri"/>
              </a:rPr>
              <a:t>Read the green row left to right and you hear the rule:</a:t>
            </a:r>
          </a:p>
        </p:txBody>
      </p:sp>
      <p:sp>
        <p:nvSpPr>
          <p:cNvPr id="40" name="TextBox 39"/>
          <p:cNvSpPr txBox="1"/>
          <p:nvPr/>
        </p:nvSpPr>
        <p:spPr>
          <a:xfrm>
            <a:off x="640080" y="4709160"/>
            <a:ext cx="10972800" cy="822960"/>
          </a:xfrm>
          <a:prstGeom prst="rect">
            <a:avLst/>
          </a:prstGeom>
          <a:noFill/>
        </p:spPr>
        <p:txBody>
          <a:bodyPr wrap="square" anchor="t">
            <a:spAutoFit/>
          </a:bodyPr>
          <a:lstStyle/>
          <a:p>
            <a:pPr algn="l">
              <a:lnSpc>
                <a:spcPct val="105000"/>
              </a:lnSpc>
            </a:pPr>
            <a:r>
              <a:rPr sz="1900" b="1" i="0">
                <a:solidFill>
                  <a:srgbClr val="000000"/>
                </a:solidFill>
                <a:latin typeface="Calibri"/>
              </a:rPr>
              <a:t>"When the tank is below half, gardeners must not water their plots with sprinklers, or else the water keeper suspends their watering for a week."</a:t>
            </a:r>
          </a:p>
        </p:txBody>
      </p:sp>
      <p:sp>
        <p:nvSpPr>
          <p:cNvPr id="41" name="TextBox 40"/>
          <p:cNvSpPr txBox="1"/>
          <p:nvPr/>
        </p:nvSpPr>
        <p:spPr>
          <a:xfrm>
            <a:off x="640080" y="5623560"/>
            <a:ext cx="10972800" cy="548640"/>
          </a:xfrm>
          <a:prstGeom prst="rect">
            <a:avLst/>
          </a:prstGeom>
          <a:noFill/>
        </p:spPr>
        <p:txBody>
          <a:bodyPr wrap="square" anchor="t">
            <a:spAutoFit/>
          </a:bodyPr>
          <a:lstStyle/>
          <a:p>
            <a:pPr algn="l">
              <a:lnSpc>
                <a:spcPct val="105000"/>
              </a:lnSpc>
            </a:pPr>
            <a:r>
              <a:rPr sz="1500" b="0" i="0">
                <a:solidFill>
                  <a:srgbClr val="6B7280"/>
                </a:solidFill>
                <a:latin typeface="Calibri"/>
              </a:rPr>
              <a:t>WHO?, MUST / MAY / MUST NOT, and DO WHAT? always need an answer. WHEN?, TO WHAT?, and HOW? are often blank, and that is fine.</a:t>
            </a:r>
          </a:p>
        </p:txBody>
      </p:sp>
      <p:sp>
        <p:nvSpPr>
          <p:cNvPr id="42" name="TextBox 41"/>
          <p:cNvSpPr txBox="1"/>
          <p:nvPr/>
        </p:nvSpPr>
        <p:spPr>
          <a:xfrm>
            <a:off x="640080" y="6400800"/>
            <a:ext cx="5486400" cy="274320"/>
          </a:xfrm>
          <a:prstGeom prst="rect">
            <a:avLst/>
          </a:prstGeom>
          <a:noFill/>
        </p:spPr>
        <p:txBody>
          <a:bodyPr wrap="square" anchor="t">
            <a:spAutoFit/>
          </a:bodyPr>
          <a:lstStyle/>
          <a:p>
            <a:pPr algn="l">
              <a:lnSpc>
                <a:spcPct val="105000"/>
              </a:lnSpc>
            </a:pPr>
            <a:r>
              <a:rPr sz="1000" b="0" i="0">
                <a:solidFill>
                  <a:srgbClr val="6B7280"/>
                </a:solidFill>
                <a:latin typeface="Calibri"/>
              </a:rPr>
              <a:t>RCN · Agreement Checker</a:t>
            </a:r>
          </a:p>
        </p:txBody>
      </p:sp>
      <p:sp>
        <p:nvSpPr>
          <p:cNvPr id="43" name="TextBox 42"/>
          <p:cNvSpPr txBox="1"/>
          <p:nvPr/>
        </p:nvSpPr>
        <p:spPr>
          <a:xfrm>
            <a:off x="10972800" y="6400800"/>
            <a:ext cx="548640" cy="274320"/>
          </a:xfrm>
          <a:prstGeom prst="rect">
            <a:avLst/>
          </a:prstGeom>
          <a:noFill/>
        </p:spPr>
        <p:txBody>
          <a:bodyPr wrap="square" anchor="t">
            <a:spAutoFit/>
          </a:bodyPr>
          <a:lstStyle/>
          <a:p>
            <a:pPr algn="r">
              <a:lnSpc>
                <a:spcPct val="105000"/>
              </a:lnSpc>
            </a:pPr>
            <a:r>
              <a:rPr sz="1000" b="0" i="0">
                <a:solidFill>
                  <a:srgbClr val="6B7280"/>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11480"/>
            <a:ext cx="10515600" cy="320040"/>
          </a:xfrm>
          <a:prstGeom prst="rect">
            <a:avLst/>
          </a:prstGeom>
          <a:noFill/>
        </p:spPr>
        <p:txBody>
          <a:bodyPr wrap="square" anchor="t">
            <a:spAutoFit/>
          </a:bodyPr>
          <a:lstStyle/>
          <a:p>
            <a:pPr algn="l">
              <a:lnSpc>
                <a:spcPct val="105000"/>
              </a:lnSpc>
            </a:pPr>
            <a:r>
              <a:rPr sz="1200" b="1" i="0">
                <a:solidFill>
                  <a:srgbClr val="1D4ED8"/>
                </a:solidFill>
                <a:latin typeface="Calibri"/>
              </a:rPr>
              <a:t>THE FIRST MOVE</a:t>
            </a:r>
          </a:p>
        </p:txBody>
      </p:sp>
      <p:sp>
        <p:nvSpPr>
          <p:cNvPr id="3" name="TextBox 2"/>
          <p:cNvSpPr txBox="1"/>
          <p:nvPr/>
        </p:nvSpPr>
        <p:spPr>
          <a:xfrm>
            <a:off x="640080" y="731520"/>
            <a:ext cx="10972800" cy="914400"/>
          </a:xfrm>
          <a:prstGeom prst="rect">
            <a:avLst/>
          </a:prstGeom>
          <a:noFill/>
        </p:spPr>
        <p:txBody>
          <a:bodyPr wrap="square" anchor="t">
            <a:spAutoFit/>
          </a:bodyPr>
          <a:lstStyle/>
          <a:p>
            <a:pPr algn="l">
              <a:lnSpc>
                <a:spcPct val="105000"/>
              </a:lnSpc>
            </a:pPr>
            <a:r>
              <a:rPr sz="3400" b="1" i="0">
                <a:solidFill>
                  <a:srgbClr val="000000"/>
                </a:solidFill>
                <a:latin typeface="Calibri"/>
              </a:rPr>
              <a:t>One MUST, MAY, or MUST NOT per sentence</a:t>
            </a:r>
          </a:p>
        </p:txBody>
      </p:sp>
      <p:sp>
        <p:nvSpPr>
          <p:cNvPr id="4" name="Rounded Rectangle 3"/>
          <p:cNvSpPr/>
          <p:nvPr/>
        </p:nvSpPr>
        <p:spPr>
          <a:xfrm>
            <a:off x="640080" y="1828800"/>
            <a:ext cx="4023360" cy="3291840"/>
          </a:xfrm>
          <a:prstGeom prst="round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965960"/>
            <a:ext cx="3657600" cy="320040"/>
          </a:xfrm>
          <a:prstGeom prst="rect">
            <a:avLst/>
          </a:prstGeom>
          <a:noFill/>
        </p:spPr>
        <p:txBody>
          <a:bodyPr wrap="square" anchor="t">
            <a:spAutoFit/>
          </a:bodyPr>
          <a:lstStyle/>
          <a:p>
            <a:pPr algn="l">
              <a:lnSpc>
                <a:spcPct val="105000"/>
              </a:lnSpc>
            </a:pPr>
            <a:r>
              <a:rPr sz="1200" b="1" i="0">
                <a:solidFill>
                  <a:srgbClr val="6B7280"/>
                </a:solidFill>
                <a:latin typeface="Calibri"/>
              </a:rPr>
              <a:t>AS WRITTEN</a:t>
            </a:r>
          </a:p>
        </p:txBody>
      </p:sp>
      <p:sp>
        <p:nvSpPr>
          <p:cNvPr id="6" name="TextBox 5"/>
          <p:cNvSpPr txBox="1"/>
          <p:nvPr/>
        </p:nvSpPr>
        <p:spPr>
          <a:xfrm>
            <a:off x="868680" y="2331720"/>
            <a:ext cx="3611880" cy="2651760"/>
          </a:xfrm>
          <a:prstGeom prst="rect">
            <a:avLst/>
          </a:prstGeom>
          <a:noFill/>
        </p:spPr>
        <p:txBody>
          <a:bodyPr wrap="square" anchor="t">
            <a:spAutoFit/>
          </a:bodyPr>
          <a:lstStyle/>
          <a:p>
            <a:pPr algn="l">
              <a:lnSpc>
                <a:spcPct val="105000"/>
              </a:lnSpc>
            </a:pPr>
            <a:r>
              <a:rPr sz="1700" b="0" i="0">
                <a:solidFill>
                  <a:srgbClr val="000000"/>
                </a:solidFill>
                <a:latin typeface="Calibri"/>
              </a:rPr>
              <a:t>"Gardeners must water only on assigned days and must not use sprinklers, but may hand-water seedlings any day. Violators lose watering privileges for a week."</a:t>
            </a:r>
          </a:p>
        </p:txBody>
      </p:sp>
      <p:cxnSp>
        <p:nvCxnSpPr>
          <p:cNvPr id="7" name="Connector 6"/>
          <p:cNvCxnSpPr/>
          <p:nvPr/>
        </p:nvCxnSpPr>
        <p:spPr>
          <a:xfrm flipV="1">
            <a:off x="4709160" y="2157984"/>
            <a:ext cx="731520" cy="1316736"/>
          </a:xfrm>
          <a:prstGeom prst="line">
            <a:avLst/>
          </a:prstGeom>
          <a:ln w="15875">
            <a:solidFill>
              <a:srgbClr val="000000"/>
            </a:solidFill>
            <a:tailEnd type="triangle" w="med" h="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5486400" y="1828800"/>
            <a:ext cx="6035040" cy="658368"/>
          </a:xfrm>
          <a:prstGeom prst="roundRect">
            <a:avLst/>
          </a:prstGeom>
          <a:solidFill>
            <a:srgbClr val="FFFFFF"/>
          </a:solidFill>
          <a:ln w="25400">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23560" y="1828800"/>
            <a:ext cx="365760" cy="658368"/>
          </a:xfrm>
          <a:prstGeom prst="rect">
            <a:avLst/>
          </a:prstGeom>
          <a:noFill/>
        </p:spPr>
        <p:txBody>
          <a:bodyPr wrap="square" anchor="ctr">
            <a:spAutoFit/>
          </a:bodyPr>
          <a:lstStyle/>
          <a:p>
            <a:pPr algn="l">
              <a:lnSpc>
                <a:spcPct val="105000"/>
              </a:lnSpc>
            </a:pPr>
            <a:r>
              <a:rPr sz="2000" b="1" i="0">
                <a:solidFill>
                  <a:srgbClr val="000000"/>
                </a:solidFill>
                <a:latin typeface="Calibri"/>
              </a:rPr>
              <a:t>1</a:t>
            </a:r>
          </a:p>
        </p:txBody>
      </p:sp>
      <p:sp>
        <p:nvSpPr>
          <p:cNvPr id="10" name="TextBox 9"/>
          <p:cNvSpPr txBox="1"/>
          <p:nvPr/>
        </p:nvSpPr>
        <p:spPr>
          <a:xfrm>
            <a:off x="6035040" y="1828800"/>
            <a:ext cx="5394960" cy="658368"/>
          </a:xfrm>
          <a:prstGeom prst="rect">
            <a:avLst/>
          </a:prstGeom>
          <a:noFill/>
        </p:spPr>
        <p:txBody>
          <a:bodyPr wrap="square" anchor="ctr">
            <a:spAutoFit/>
          </a:bodyPr>
          <a:lstStyle/>
          <a:p>
            <a:pPr algn="l">
              <a:lnSpc>
                <a:spcPct val="105000"/>
              </a:lnSpc>
            </a:pPr>
            <a:r>
              <a:rPr sz="1600" b="0" i="0">
                <a:solidFill>
                  <a:srgbClr val="000000"/>
                </a:solidFill>
                <a:latin typeface="Calibri"/>
              </a:rPr>
              <a:t>Gardeners must water only on assigned days.</a:t>
            </a:r>
          </a:p>
        </p:txBody>
      </p:sp>
      <p:cxnSp>
        <p:nvCxnSpPr>
          <p:cNvPr id="11" name="Connector 10"/>
          <p:cNvCxnSpPr/>
          <p:nvPr/>
        </p:nvCxnSpPr>
        <p:spPr>
          <a:xfrm flipV="1">
            <a:off x="4709160" y="2999232"/>
            <a:ext cx="731520" cy="475488"/>
          </a:xfrm>
          <a:prstGeom prst="line">
            <a:avLst/>
          </a:prstGeom>
          <a:ln w="15875">
            <a:solidFill>
              <a:srgbClr val="000000"/>
            </a:solidFill>
            <a:tailEnd type="triangle" w="med" h="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5486400" y="2670048"/>
            <a:ext cx="6035040" cy="658368"/>
          </a:xfrm>
          <a:prstGeom prst="roundRect">
            <a:avLst/>
          </a:prstGeom>
          <a:solidFill>
            <a:srgbClr val="FFFFFF"/>
          </a:solidFill>
          <a:ln w="25400">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23560" y="2670048"/>
            <a:ext cx="365760" cy="658368"/>
          </a:xfrm>
          <a:prstGeom prst="rect">
            <a:avLst/>
          </a:prstGeom>
          <a:noFill/>
        </p:spPr>
        <p:txBody>
          <a:bodyPr wrap="square" anchor="ctr">
            <a:spAutoFit/>
          </a:bodyPr>
          <a:lstStyle/>
          <a:p>
            <a:pPr algn="l">
              <a:lnSpc>
                <a:spcPct val="105000"/>
              </a:lnSpc>
            </a:pPr>
            <a:r>
              <a:rPr sz="2000" b="1" i="0">
                <a:solidFill>
                  <a:srgbClr val="000000"/>
                </a:solidFill>
                <a:latin typeface="Calibri"/>
              </a:rPr>
              <a:t>2</a:t>
            </a:r>
          </a:p>
        </p:txBody>
      </p:sp>
      <p:sp>
        <p:nvSpPr>
          <p:cNvPr id="14" name="TextBox 13"/>
          <p:cNvSpPr txBox="1"/>
          <p:nvPr/>
        </p:nvSpPr>
        <p:spPr>
          <a:xfrm>
            <a:off x="6035040" y="2670048"/>
            <a:ext cx="5394960" cy="658368"/>
          </a:xfrm>
          <a:prstGeom prst="rect">
            <a:avLst/>
          </a:prstGeom>
          <a:noFill/>
        </p:spPr>
        <p:txBody>
          <a:bodyPr wrap="square" anchor="ctr">
            <a:spAutoFit/>
          </a:bodyPr>
          <a:lstStyle/>
          <a:p>
            <a:pPr algn="l">
              <a:lnSpc>
                <a:spcPct val="105000"/>
              </a:lnSpc>
            </a:pPr>
            <a:r>
              <a:rPr sz="1600" b="0" i="0">
                <a:solidFill>
                  <a:srgbClr val="000000"/>
                </a:solidFill>
                <a:latin typeface="Calibri"/>
              </a:rPr>
              <a:t>Gardeners must not use sprinklers.</a:t>
            </a:r>
          </a:p>
        </p:txBody>
      </p:sp>
      <p:cxnSp>
        <p:nvCxnSpPr>
          <p:cNvPr id="15" name="Connector 14"/>
          <p:cNvCxnSpPr/>
          <p:nvPr/>
        </p:nvCxnSpPr>
        <p:spPr>
          <a:xfrm>
            <a:off x="4709160" y="3474720"/>
            <a:ext cx="731520" cy="365760"/>
          </a:xfrm>
          <a:prstGeom prst="line">
            <a:avLst/>
          </a:prstGeom>
          <a:ln w="15875">
            <a:solidFill>
              <a:srgbClr val="000000"/>
            </a:solidFill>
            <a:tailEnd type="triangle" w="med" h="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5486400" y="3511296"/>
            <a:ext cx="6035040" cy="658368"/>
          </a:xfrm>
          <a:prstGeom prst="roundRect">
            <a:avLst/>
          </a:prstGeom>
          <a:solidFill>
            <a:srgbClr val="FFFFFF"/>
          </a:solidFill>
          <a:ln w="25400">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23560" y="3511296"/>
            <a:ext cx="365760" cy="658368"/>
          </a:xfrm>
          <a:prstGeom prst="rect">
            <a:avLst/>
          </a:prstGeom>
          <a:noFill/>
        </p:spPr>
        <p:txBody>
          <a:bodyPr wrap="square" anchor="ctr">
            <a:spAutoFit/>
          </a:bodyPr>
          <a:lstStyle/>
          <a:p>
            <a:pPr algn="l">
              <a:lnSpc>
                <a:spcPct val="105000"/>
              </a:lnSpc>
            </a:pPr>
            <a:r>
              <a:rPr sz="2000" b="1" i="0">
                <a:solidFill>
                  <a:srgbClr val="000000"/>
                </a:solidFill>
                <a:latin typeface="Calibri"/>
              </a:rPr>
              <a:t>3</a:t>
            </a:r>
          </a:p>
        </p:txBody>
      </p:sp>
      <p:sp>
        <p:nvSpPr>
          <p:cNvPr id="18" name="TextBox 17"/>
          <p:cNvSpPr txBox="1"/>
          <p:nvPr/>
        </p:nvSpPr>
        <p:spPr>
          <a:xfrm>
            <a:off x="6035040" y="3511296"/>
            <a:ext cx="5394960" cy="658368"/>
          </a:xfrm>
          <a:prstGeom prst="rect">
            <a:avLst/>
          </a:prstGeom>
          <a:noFill/>
        </p:spPr>
        <p:txBody>
          <a:bodyPr wrap="square" anchor="ctr">
            <a:spAutoFit/>
          </a:bodyPr>
          <a:lstStyle/>
          <a:p>
            <a:pPr algn="l">
              <a:lnSpc>
                <a:spcPct val="105000"/>
              </a:lnSpc>
            </a:pPr>
            <a:r>
              <a:rPr sz="1600" b="0" i="0">
                <a:solidFill>
                  <a:srgbClr val="000000"/>
                </a:solidFill>
                <a:latin typeface="Calibri"/>
              </a:rPr>
              <a:t>Gardeners may hand-water seedlings any day.</a:t>
            </a:r>
          </a:p>
        </p:txBody>
      </p:sp>
      <p:cxnSp>
        <p:nvCxnSpPr>
          <p:cNvPr id="19" name="Connector 18"/>
          <p:cNvCxnSpPr/>
          <p:nvPr/>
        </p:nvCxnSpPr>
        <p:spPr>
          <a:xfrm>
            <a:off x="4709160" y="3474720"/>
            <a:ext cx="731520" cy="1207008"/>
          </a:xfrm>
          <a:prstGeom prst="line">
            <a:avLst/>
          </a:prstGeom>
          <a:ln w="15875">
            <a:solidFill>
              <a:srgbClr val="000000"/>
            </a:solidFill>
            <a:tailEnd type="triangle" w="med" h="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5486400" y="4352544"/>
            <a:ext cx="6035040" cy="658368"/>
          </a:xfrm>
          <a:prstGeom prst="roundRect">
            <a:avLst/>
          </a:prstGeom>
          <a:solidFill>
            <a:srgbClr val="FFFFFF"/>
          </a:solidFill>
          <a:ln w="25400">
            <a:solidFill>
              <a:srgbClr val="B91C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23560" y="4352544"/>
            <a:ext cx="365760" cy="658368"/>
          </a:xfrm>
          <a:prstGeom prst="rect">
            <a:avLst/>
          </a:prstGeom>
          <a:noFill/>
        </p:spPr>
        <p:txBody>
          <a:bodyPr wrap="square" anchor="ctr">
            <a:spAutoFit/>
          </a:bodyPr>
          <a:lstStyle/>
          <a:p>
            <a:pPr algn="l">
              <a:lnSpc>
                <a:spcPct val="105000"/>
              </a:lnSpc>
            </a:pPr>
            <a:r>
              <a:rPr sz="2000" b="1" i="0">
                <a:solidFill>
                  <a:srgbClr val="000000"/>
                </a:solidFill>
                <a:latin typeface="Calibri"/>
              </a:rPr>
              <a:t>4</a:t>
            </a:r>
          </a:p>
        </p:txBody>
      </p:sp>
      <p:sp>
        <p:nvSpPr>
          <p:cNvPr id="22" name="TextBox 21"/>
          <p:cNvSpPr txBox="1"/>
          <p:nvPr/>
        </p:nvSpPr>
        <p:spPr>
          <a:xfrm>
            <a:off x="6035040" y="4352544"/>
            <a:ext cx="5394960" cy="658368"/>
          </a:xfrm>
          <a:prstGeom prst="rect">
            <a:avLst/>
          </a:prstGeom>
          <a:noFill/>
        </p:spPr>
        <p:txBody>
          <a:bodyPr wrap="square" anchor="ctr">
            <a:spAutoFit/>
          </a:bodyPr>
          <a:lstStyle/>
          <a:p>
            <a:pPr algn="l">
              <a:lnSpc>
                <a:spcPct val="105000"/>
              </a:lnSpc>
            </a:pPr>
            <a:r>
              <a:rPr sz="1600" b="0" i="0">
                <a:solidFill>
                  <a:srgbClr val="000000"/>
                </a:solidFill>
                <a:latin typeface="Calibri"/>
              </a:rPr>
              <a:t>Violators lose watering privileges for a week.</a:t>
            </a:r>
          </a:p>
        </p:txBody>
      </p:sp>
      <p:sp>
        <p:nvSpPr>
          <p:cNvPr id="23" name="TextBox 22"/>
          <p:cNvSpPr txBox="1"/>
          <p:nvPr/>
        </p:nvSpPr>
        <p:spPr>
          <a:xfrm>
            <a:off x="640080" y="5440680"/>
            <a:ext cx="10972800" cy="822960"/>
          </a:xfrm>
          <a:prstGeom prst="rect">
            <a:avLst/>
          </a:prstGeom>
          <a:noFill/>
        </p:spPr>
        <p:txBody>
          <a:bodyPr wrap="square" anchor="t">
            <a:spAutoFit/>
          </a:bodyPr>
          <a:lstStyle/>
          <a:p>
            <a:pPr algn="l">
              <a:lnSpc>
                <a:spcPct val="105000"/>
              </a:lnSpc>
            </a:pPr>
            <a:r>
              <a:rPr sz="1600" b="0" i="0">
                <a:solidFill>
                  <a:srgbClr val="000000"/>
                </a:solidFill>
                <a:latin typeface="Calibri"/>
              </a:rPr>
              <a:t>Split apart, each sentence can be read, argued about, and changed by itself. Now the questions have something to hold on to: is 1 really a MUST NOT? Is 3 an exception to 1? Who carries out 4?</a:t>
            </a:r>
          </a:p>
        </p:txBody>
      </p:sp>
      <p:sp>
        <p:nvSpPr>
          <p:cNvPr id="24" name="TextBox 23"/>
          <p:cNvSpPr txBox="1"/>
          <p:nvPr/>
        </p:nvSpPr>
        <p:spPr>
          <a:xfrm>
            <a:off x="640080" y="6400800"/>
            <a:ext cx="5486400" cy="274320"/>
          </a:xfrm>
          <a:prstGeom prst="rect">
            <a:avLst/>
          </a:prstGeom>
          <a:noFill/>
        </p:spPr>
        <p:txBody>
          <a:bodyPr wrap="square" anchor="t">
            <a:spAutoFit/>
          </a:bodyPr>
          <a:lstStyle/>
          <a:p>
            <a:pPr algn="l">
              <a:lnSpc>
                <a:spcPct val="105000"/>
              </a:lnSpc>
            </a:pPr>
            <a:r>
              <a:rPr sz="1000" b="0" i="0">
                <a:solidFill>
                  <a:srgbClr val="6B7280"/>
                </a:solidFill>
                <a:latin typeface="Calibri"/>
              </a:rPr>
              <a:t>RCN · Agreement Checker</a:t>
            </a:r>
          </a:p>
        </p:txBody>
      </p:sp>
      <p:sp>
        <p:nvSpPr>
          <p:cNvPr id="25" name="TextBox 24"/>
          <p:cNvSpPr txBox="1"/>
          <p:nvPr/>
        </p:nvSpPr>
        <p:spPr>
          <a:xfrm>
            <a:off x="10972800" y="6400800"/>
            <a:ext cx="548640" cy="274320"/>
          </a:xfrm>
          <a:prstGeom prst="rect">
            <a:avLst/>
          </a:prstGeom>
          <a:noFill/>
        </p:spPr>
        <p:txBody>
          <a:bodyPr wrap="square" anchor="t">
            <a:spAutoFit/>
          </a:bodyPr>
          <a:lstStyle/>
          <a:p>
            <a:pPr algn="r">
              <a:lnSpc>
                <a:spcPct val="105000"/>
              </a:lnSpc>
            </a:pPr>
            <a:r>
              <a:rPr sz="1000" b="0" i="0">
                <a:solidFill>
                  <a:srgbClr val="6B7280"/>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11480"/>
            <a:ext cx="10515600" cy="320040"/>
          </a:xfrm>
          <a:prstGeom prst="rect">
            <a:avLst/>
          </a:prstGeom>
          <a:noFill/>
        </p:spPr>
        <p:txBody>
          <a:bodyPr wrap="square" anchor="t">
            <a:spAutoFit/>
          </a:bodyPr>
          <a:lstStyle/>
          <a:p>
            <a:pPr algn="l">
              <a:lnSpc>
                <a:spcPct val="105000"/>
              </a:lnSpc>
            </a:pPr>
            <a:r>
              <a:rPr sz="1200" b="1" i="0">
                <a:solidFill>
                  <a:srgbClr val="1D4ED8"/>
                </a:solidFill>
                <a:latin typeface="Calibri"/>
              </a:rPr>
              <a:t>WHAT IT CATCHES</a:t>
            </a:r>
          </a:p>
        </p:txBody>
      </p:sp>
      <p:sp>
        <p:nvSpPr>
          <p:cNvPr id="3" name="TextBox 2"/>
          <p:cNvSpPr txBox="1"/>
          <p:nvPr/>
        </p:nvSpPr>
        <p:spPr>
          <a:xfrm>
            <a:off x="640080" y="731520"/>
            <a:ext cx="10972800" cy="914400"/>
          </a:xfrm>
          <a:prstGeom prst="rect">
            <a:avLst/>
          </a:prstGeom>
          <a:noFill/>
        </p:spPr>
        <p:txBody>
          <a:bodyPr wrap="square" anchor="t">
            <a:spAutoFit/>
          </a:bodyPr>
          <a:lstStyle/>
          <a:p>
            <a:pPr algn="l">
              <a:lnSpc>
                <a:spcPct val="105000"/>
              </a:lnSpc>
            </a:pPr>
            <a:r>
              <a:rPr sz="3400" b="1" i="0">
                <a:solidFill>
                  <a:srgbClr val="000000"/>
                </a:solidFill>
                <a:latin typeface="Calibri"/>
              </a:rPr>
              <a:t>The checker asks, in plain words</a:t>
            </a:r>
          </a:p>
        </p:txBody>
      </p:sp>
      <p:sp>
        <p:nvSpPr>
          <p:cNvPr id="4" name="Rounded Rectangle 3"/>
          <p:cNvSpPr/>
          <p:nvPr/>
        </p:nvSpPr>
        <p:spPr>
          <a:xfrm>
            <a:off x="640080" y="1783080"/>
            <a:ext cx="2606040" cy="1965960"/>
          </a:xfrm>
          <a:prstGeom prst="roundRect">
            <a:avLst/>
          </a:prstGeom>
          <a:solidFill>
            <a:srgbClr val="FFFFFF"/>
          </a:solidFill>
          <a:ln w="28575">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59" y="1892807"/>
            <a:ext cx="2240280" cy="513206"/>
          </a:xfrm>
          <a:prstGeom prst="rect">
            <a:avLst/>
          </a:prstGeom>
          <a:noFill/>
        </p:spPr>
        <p:txBody>
          <a:bodyPr wrap="square" anchor="t">
            <a:spAutoFit/>
          </a:bodyPr>
          <a:lstStyle/>
          <a:p>
            <a:pPr algn="l">
              <a:lnSpc>
                <a:spcPct val="105000"/>
              </a:lnSpc>
            </a:pPr>
            <a:r>
              <a:rPr sz="1500" b="1" i="0">
                <a:solidFill>
                  <a:srgbClr val="000000"/>
                </a:solidFill>
                <a:latin typeface="Calibri"/>
              </a:rPr>
              <a:t>A MUST NOT in disguise</a:t>
            </a:r>
          </a:p>
        </p:txBody>
      </p:sp>
      <p:sp>
        <p:nvSpPr>
          <p:cNvPr id="6" name="TextBox 5"/>
          <p:cNvSpPr txBox="1"/>
          <p:nvPr/>
        </p:nvSpPr>
        <p:spPr>
          <a:xfrm>
            <a:off x="822959" y="2460879"/>
            <a:ext cx="2240280" cy="1242441"/>
          </a:xfrm>
          <a:prstGeom prst="rect">
            <a:avLst/>
          </a:prstGeom>
          <a:noFill/>
        </p:spPr>
        <p:txBody>
          <a:bodyPr wrap="square" anchor="t">
            <a:spAutoFit/>
          </a:bodyPr>
          <a:lstStyle/>
          <a:p>
            <a:pPr algn="l">
              <a:lnSpc>
                <a:spcPct val="108000"/>
              </a:lnSpc>
            </a:pPr>
            <a:r>
              <a:rPr sz="1350" b="0" i="0">
                <a:solidFill>
                  <a:srgbClr val="000000"/>
                </a:solidFill>
                <a:latin typeface="Calibri"/>
              </a:rPr>
              <a:t>"Must water only on assigned days" means "must not water on other days". Which do you mean?</a:t>
            </a:r>
          </a:p>
        </p:txBody>
      </p:sp>
      <p:sp>
        <p:nvSpPr>
          <p:cNvPr id="7" name="Rounded Rectangle 6"/>
          <p:cNvSpPr/>
          <p:nvPr/>
        </p:nvSpPr>
        <p:spPr>
          <a:xfrm>
            <a:off x="3410711" y="1783080"/>
            <a:ext cx="2606040" cy="1965960"/>
          </a:xfrm>
          <a:prstGeom prst="roundRect">
            <a:avLst/>
          </a:prstGeom>
          <a:solidFill>
            <a:srgbClr val="FFFFFF"/>
          </a:solidFill>
          <a:ln w="28575">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93591" y="1892807"/>
            <a:ext cx="2240280" cy="293179"/>
          </a:xfrm>
          <a:prstGeom prst="rect">
            <a:avLst/>
          </a:prstGeom>
          <a:noFill/>
        </p:spPr>
        <p:txBody>
          <a:bodyPr wrap="square" anchor="t">
            <a:spAutoFit/>
          </a:bodyPr>
          <a:lstStyle/>
          <a:p>
            <a:pPr algn="l">
              <a:lnSpc>
                <a:spcPct val="105000"/>
              </a:lnSpc>
            </a:pPr>
            <a:r>
              <a:rPr sz="1500" b="1" i="0">
                <a:solidFill>
                  <a:srgbClr val="000000"/>
                </a:solidFill>
                <a:latin typeface="Calibri"/>
              </a:rPr>
              <a:t>A clash</a:t>
            </a:r>
          </a:p>
        </p:txBody>
      </p:sp>
      <p:sp>
        <p:nvSpPr>
          <p:cNvPr id="9" name="TextBox 8"/>
          <p:cNvSpPr txBox="1"/>
          <p:nvPr/>
        </p:nvSpPr>
        <p:spPr>
          <a:xfrm>
            <a:off x="3593591" y="2240851"/>
            <a:ext cx="2240280" cy="1462468"/>
          </a:xfrm>
          <a:prstGeom prst="rect">
            <a:avLst/>
          </a:prstGeom>
          <a:noFill/>
        </p:spPr>
        <p:txBody>
          <a:bodyPr wrap="square" anchor="t">
            <a:spAutoFit/>
          </a:bodyPr>
          <a:lstStyle/>
          <a:p>
            <a:pPr algn="l">
              <a:lnSpc>
                <a:spcPct val="108000"/>
              </a:lnSpc>
            </a:pPr>
            <a:r>
              <a:rPr sz="1350" b="0" i="0">
                <a:solidFill>
                  <a:srgbClr val="000000"/>
                </a:solidFill>
                <a:latin typeface="Calibri"/>
              </a:rPr>
              <a:t>One sentence limits watering, another allows hand-watering. Is it an exception? Add "unless …".</a:t>
            </a:r>
          </a:p>
        </p:txBody>
      </p:sp>
      <p:sp>
        <p:nvSpPr>
          <p:cNvPr id="10" name="Rounded Rectangle 9"/>
          <p:cNvSpPr/>
          <p:nvPr/>
        </p:nvSpPr>
        <p:spPr>
          <a:xfrm>
            <a:off x="6181344" y="1783080"/>
            <a:ext cx="2606040" cy="1965960"/>
          </a:xfrm>
          <a:prstGeom prst="roundRect">
            <a:avLst/>
          </a:prstGeom>
          <a:solidFill>
            <a:srgbClr val="FFFFFF"/>
          </a:solidFill>
          <a:ln w="28575">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64224" y="1892807"/>
            <a:ext cx="2240280" cy="513206"/>
          </a:xfrm>
          <a:prstGeom prst="rect">
            <a:avLst/>
          </a:prstGeom>
          <a:noFill/>
        </p:spPr>
        <p:txBody>
          <a:bodyPr wrap="square" anchor="t">
            <a:spAutoFit/>
          </a:bodyPr>
          <a:lstStyle/>
          <a:p>
            <a:pPr algn="l">
              <a:lnSpc>
                <a:spcPct val="105000"/>
              </a:lnSpc>
            </a:pPr>
            <a:r>
              <a:rPr sz="1500" b="1" i="0">
                <a:solidFill>
                  <a:srgbClr val="000000"/>
                </a:solidFill>
                <a:latin typeface="Calibri"/>
              </a:rPr>
              <a:t>A penalty nobody carries out</a:t>
            </a:r>
          </a:p>
        </p:txBody>
      </p:sp>
      <p:sp>
        <p:nvSpPr>
          <p:cNvPr id="12" name="TextBox 11"/>
          <p:cNvSpPr txBox="1"/>
          <p:nvPr/>
        </p:nvSpPr>
        <p:spPr>
          <a:xfrm>
            <a:off x="6364224" y="2460879"/>
            <a:ext cx="2240280" cy="1242441"/>
          </a:xfrm>
          <a:prstGeom prst="rect">
            <a:avLst/>
          </a:prstGeom>
          <a:noFill/>
        </p:spPr>
        <p:txBody>
          <a:bodyPr wrap="square" anchor="t">
            <a:spAutoFit/>
          </a:bodyPr>
          <a:lstStyle/>
          <a:p>
            <a:pPr algn="l">
              <a:lnSpc>
                <a:spcPct val="108000"/>
              </a:lnSpc>
            </a:pPr>
            <a:r>
              <a:rPr sz="1350" b="0" i="0">
                <a:solidFill>
                  <a:srgbClr val="000000"/>
                </a:solidFill>
                <a:latin typeface="Calibri"/>
              </a:rPr>
              <a:t>Name who does it: "The ___ must see that rule breakers lose watering."</a:t>
            </a:r>
          </a:p>
        </p:txBody>
      </p:sp>
      <p:sp>
        <p:nvSpPr>
          <p:cNvPr id="13" name="Rounded Rectangle 12"/>
          <p:cNvSpPr/>
          <p:nvPr/>
        </p:nvSpPr>
        <p:spPr>
          <a:xfrm>
            <a:off x="8951976" y="1783080"/>
            <a:ext cx="2606040" cy="1965960"/>
          </a:xfrm>
          <a:prstGeom prst="roundRect">
            <a:avLst/>
          </a:prstGeom>
          <a:solidFill>
            <a:srgbClr val="FFFFFF"/>
          </a:solidFill>
          <a:ln w="28575">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34855" y="1892807"/>
            <a:ext cx="2240280" cy="293179"/>
          </a:xfrm>
          <a:prstGeom prst="rect">
            <a:avLst/>
          </a:prstGeom>
          <a:noFill/>
        </p:spPr>
        <p:txBody>
          <a:bodyPr wrap="square" anchor="t">
            <a:spAutoFit/>
          </a:bodyPr>
          <a:lstStyle/>
          <a:p>
            <a:pPr algn="l">
              <a:lnSpc>
                <a:spcPct val="105000"/>
              </a:lnSpc>
            </a:pPr>
            <a:r>
              <a:rPr sz="1500" b="1" i="0">
                <a:solidFill>
                  <a:srgbClr val="000000"/>
                </a:solidFill>
                <a:latin typeface="Calibri"/>
              </a:rPr>
              <a:t>No OR ELSE</a:t>
            </a:r>
          </a:p>
        </p:txBody>
      </p:sp>
      <p:sp>
        <p:nvSpPr>
          <p:cNvPr id="15" name="TextBox 14"/>
          <p:cNvSpPr txBox="1"/>
          <p:nvPr/>
        </p:nvSpPr>
        <p:spPr>
          <a:xfrm>
            <a:off x="9134855" y="2240851"/>
            <a:ext cx="2240280" cy="1462468"/>
          </a:xfrm>
          <a:prstGeom prst="rect">
            <a:avLst/>
          </a:prstGeom>
          <a:noFill/>
        </p:spPr>
        <p:txBody>
          <a:bodyPr wrap="square" anchor="t">
            <a:spAutoFit/>
          </a:bodyPr>
          <a:lstStyle/>
          <a:p>
            <a:pPr algn="l">
              <a:lnSpc>
                <a:spcPct val="108000"/>
              </a:lnSpc>
            </a:pPr>
            <a:r>
              <a:rPr sz="1350" b="0" i="0">
                <a:solidFill>
                  <a:srgbClr val="000000"/>
                </a:solidFill>
                <a:latin typeface="Calibri"/>
              </a:rPr>
              <a:t>It holds only as long as goodwill holds. Is there an agreed consequence?</a:t>
            </a:r>
          </a:p>
        </p:txBody>
      </p:sp>
      <p:sp>
        <p:nvSpPr>
          <p:cNvPr id="16" name="Rounded Rectangle 15"/>
          <p:cNvSpPr/>
          <p:nvPr/>
        </p:nvSpPr>
        <p:spPr>
          <a:xfrm>
            <a:off x="640080" y="3931920"/>
            <a:ext cx="2606040" cy="1965960"/>
          </a:xfrm>
          <a:prstGeom prst="roundRect">
            <a:avLst/>
          </a:prstGeom>
          <a:solidFill>
            <a:srgbClr val="FFFFFF"/>
          </a:solidFill>
          <a:ln w="28575">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59" y="4041648"/>
            <a:ext cx="2240280" cy="293179"/>
          </a:xfrm>
          <a:prstGeom prst="rect">
            <a:avLst/>
          </a:prstGeom>
          <a:noFill/>
        </p:spPr>
        <p:txBody>
          <a:bodyPr wrap="square" anchor="t">
            <a:spAutoFit/>
          </a:bodyPr>
          <a:lstStyle/>
          <a:p>
            <a:pPr algn="l">
              <a:lnSpc>
                <a:spcPct val="105000"/>
              </a:lnSpc>
            </a:pPr>
            <a:r>
              <a:rPr sz="1500" b="1" i="0">
                <a:solidFill>
                  <a:srgbClr val="000000"/>
                </a:solidFill>
                <a:latin typeface="Calibri"/>
              </a:rPr>
              <a:t>A role nobody created</a:t>
            </a:r>
          </a:p>
        </p:txBody>
      </p:sp>
      <p:sp>
        <p:nvSpPr>
          <p:cNvPr id="18" name="TextBox 17"/>
          <p:cNvSpPr txBox="1"/>
          <p:nvPr/>
        </p:nvSpPr>
        <p:spPr>
          <a:xfrm>
            <a:off x="822959" y="4389691"/>
            <a:ext cx="2240280" cy="1462468"/>
          </a:xfrm>
          <a:prstGeom prst="rect">
            <a:avLst/>
          </a:prstGeom>
          <a:noFill/>
        </p:spPr>
        <p:txBody>
          <a:bodyPr wrap="square" anchor="t">
            <a:spAutoFit/>
          </a:bodyPr>
          <a:lstStyle/>
          <a:p>
            <a:pPr algn="l">
              <a:lnSpc>
                <a:spcPct val="108000"/>
              </a:lnSpc>
            </a:pPr>
            <a:r>
              <a:rPr sz="1350" b="0" i="0">
                <a:solidFill>
                  <a:srgbClr val="000000"/>
                </a:solidFill>
                <a:latin typeface="Calibri"/>
              </a:rPr>
              <a:t>The keeper enforces the rules, but nothing says how the keeper is chosen.</a:t>
            </a:r>
          </a:p>
        </p:txBody>
      </p:sp>
      <p:sp>
        <p:nvSpPr>
          <p:cNvPr id="19" name="Rounded Rectangle 18"/>
          <p:cNvSpPr/>
          <p:nvPr/>
        </p:nvSpPr>
        <p:spPr>
          <a:xfrm>
            <a:off x="3410711" y="3931920"/>
            <a:ext cx="2606040" cy="1965960"/>
          </a:xfrm>
          <a:prstGeom prst="roundRect">
            <a:avLst/>
          </a:prstGeom>
          <a:solidFill>
            <a:srgbClr val="FFFFFF"/>
          </a:solidFill>
          <a:ln w="28575">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93591" y="4041648"/>
            <a:ext cx="2240280" cy="513206"/>
          </a:xfrm>
          <a:prstGeom prst="rect">
            <a:avLst/>
          </a:prstGeom>
          <a:noFill/>
        </p:spPr>
        <p:txBody>
          <a:bodyPr wrap="square" anchor="t">
            <a:spAutoFit/>
          </a:bodyPr>
          <a:lstStyle/>
          <a:p>
            <a:pPr algn="l">
              <a:lnSpc>
                <a:spcPct val="105000"/>
              </a:lnSpc>
            </a:pPr>
            <a:r>
              <a:rPr sz="1500" b="1" i="0">
                <a:solidFill>
                  <a:srgbClr val="000000"/>
                </a:solidFill>
                <a:latin typeface="Calibri"/>
              </a:rPr>
              <a:t>Words people read differently</a:t>
            </a:r>
          </a:p>
        </p:txBody>
      </p:sp>
      <p:sp>
        <p:nvSpPr>
          <p:cNvPr id="21" name="TextBox 20"/>
          <p:cNvSpPr txBox="1"/>
          <p:nvPr/>
        </p:nvSpPr>
        <p:spPr>
          <a:xfrm>
            <a:off x="3593591" y="4609719"/>
            <a:ext cx="2240280" cy="1242441"/>
          </a:xfrm>
          <a:prstGeom prst="rect">
            <a:avLst/>
          </a:prstGeom>
          <a:noFill/>
        </p:spPr>
        <p:txBody>
          <a:bodyPr wrap="square" anchor="t">
            <a:spAutoFit/>
          </a:bodyPr>
          <a:lstStyle/>
          <a:p>
            <a:pPr algn="l">
              <a:lnSpc>
                <a:spcPct val="108000"/>
              </a:lnSpc>
            </a:pPr>
            <a:r>
              <a:rPr sz="1350" b="0" i="0">
                <a:solidFill>
                  <a:srgbClr val="000000"/>
                </a:solidFill>
                <a:latin typeface="Calibri"/>
              </a:rPr>
              <a:t>"Promptly", "reasonable", "as needed". How much, how often, by when?</a:t>
            </a:r>
          </a:p>
        </p:txBody>
      </p:sp>
      <p:sp>
        <p:nvSpPr>
          <p:cNvPr id="22" name="Rounded Rectangle 21"/>
          <p:cNvSpPr/>
          <p:nvPr/>
        </p:nvSpPr>
        <p:spPr>
          <a:xfrm>
            <a:off x="6181344" y="3931920"/>
            <a:ext cx="2606040" cy="1965960"/>
          </a:xfrm>
          <a:prstGeom prst="roundRect">
            <a:avLst/>
          </a:prstGeom>
          <a:solidFill>
            <a:srgbClr val="FFFFFF"/>
          </a:solidFill>
          <a:ln w="28575">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64224" y="4041648"/>
            <a:ext cx="2240280" cy="293179"/>
          </a:xfrm>
          <a:prstGeom prst="rect">
            <a:avLst/>
          </a:prstGeom>
          <a:noFill/>
        </p:spPr>
        <p:txBody>
          <a:bodyPr wrap="square" anchor="t">
            <a:spAutoFit/>
          </a:bodyPr>
          <a:lstStyle/>
          <a:p>
            <a:pPr algn="l">
              <a:lnSpc>
                <a:spcPct val="105000"/>
              </a:lnSpc>
            </a:pPr>
            <a:r>
              <a:rPr sz="1500" b="1" i="0">
                <a:solidFill>
                  <a:srgbClr val="000000"/>
                </a:solidFill>
                <a:latin typeface="Calibri"/>
              </a:rPr>
              <a:t>Soft words</a:t>
            </a:r>
          </a:p>
        </p:txBody>
      </p:sp>
      <p:sp>
        <p:nvSpPr>
          <p:cNvPr id="24" name="TextBox 23"/>
          <p:cNvSpPr txBox="1"/>
          <p:nvPr/>
        </p:nvSpPr>
        <p:spPr>
          <a:xfrm>
            <a:off x="6364224" y="4389691"/>
            <a:ext cx="2240280" cy="1462468"/>
          </a:xfrm>
          <a:prstGeom prst="rect">
            <a:avLst/>
          </a:prstGeom>
          <a:noFill/>
        </p:spPr>
        <p:txBody>
          <a:bodyPr wrap="square" anchor="t">
            <a:spAutoFit/>
          </a:bodyPr>
          <a:lstStyle/>
          <a:p>
            <a:pPr algn="l">
              <a:lnSpc>
                <a:spcPct val="108000"/>
              </a:lnSpc>
            </a:pPr>
            <a:r>
              <a:rPr sz="1350" b="0" i="0">
                <a:solidFill>
                  <a:srgbClr val="000000"/>
                </a:solidFill>
                <a:latin typeface="Calibri"/>
              </a:rPr>
              <a:t>"Should" is softer than MUST. Which do you mean?</a:t>
            </a:r>
          </a:p>
        </p:txBody>
      </p:sp>
      <p:sp>
        <p:nvSpPr>
          <p:cNvPr id="25" name="Rounded Rectangle 24"/>
          <p:cNvSpPr/>
          <p:nvPr/>
        </p:nvSpPr>
        <p:spPr>
          <a:xfrm>
            <a:off x="8951976" y="3931920"/>
            <a:ext cx="2606040" cy="1965960"/>
          </a:xfrm>
          <a:prstGeom prst="roundRect">
            <a:avLst/>
          </a:prstGeom>
          <a:solidFill>
            <a:srgbClr val="FFFFFF"/>
          </a:solidFill>
          <a:ln w="28575">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34855" y="4041648"/>
            <a:ext cx="2240280" cy="293179"/>
          </a:xfrm>
          <a:prstGeom prst="rect">
            <a:avLst/>
          </a:prstGeom>
          <a:noFill/>
        </p:spPr>
        <p:txBody>
          <a:bodyPr wrap="square" anchor="t">
            <a:spAutoFit/>
          </a:bodyPr>
          <a:lstStyle/>
          <a:p>
            <a:pPr algn="l">
              <a:lnSpc>
                <a:spcPct val="105000"/>
              </a:lnSpc>
            </a:pPr>
            <a:r>
              <a:rPr sz="1500" b="1" i="0">
                <a:solidFill>
                  <a:srgbClr val="000000"/>
                </a:solidFill>
                <a:latin typeface="Calibri"/>
              </a:rPr>
              <a:t>Missing people</a:t>
            </a:r>
          </a:p>
        </p:txBody>
      </p:sp>
      <p:sp>
        <p:nvSpPr>
          <p:cNvPr id="27" name="TextBox 26"/>
          <p:cNvSpPr txBox="1"/>
          <p:nvPr/>
        </p:nvSpPr>
        <p:spPr>
          <a:xfrm>
            <a:off x="9134855" y="4389691"/>
            <a:ext cx="2240280" cy="1462468"/>
          </a:xfrm>
          <a:prstGeom prst="rect">
            <a:avLst/>
          </a:prstGeom>
          <a:noFill/>
        </p:spPr>
        <p:txBody>
          <a:bodyPr wrap="square" anchor="t">
            <a:spAutoFit/>
          </a:bodyPr>
          <a:lstStyle/>
          <a:p>
            <a:pPr algn="l">
              <a:lnSpc>
                <a:spcPct val="108000"/>
              </a:lnSpc>
            </a:pPr>
            <a:r>
              <a:rPr sz="1350" b="0" i="0">
                <a:solidFill>
                  <a:srgbClr val="000000"/>
                </a:solidFill>
                <a:latin typeface="Calibri"/>
              </a:rPr>
              <a:t>"Fees must be paid": who pays? "They": who are they?</a:t>
            </a:r>
          </a:p>
        </p:txBody>
      </p:sp>
      <p:sp>
        <p:nvSpPr>
          <p:cNvPr id="28" name="TextBox 27"/>
          <p:cNvSpPr txBox="1"/>
          <p:nvPr/>
        </p:nvSpPr>
        <p:spPr>
          <a:xfrm>
            <a:off x="640080" y="6400800"/>
            <a:ext cx="5486400" cy="274320"/>
          </a:xfrm>
          <a:prstGeom prst="rect">
            <a:avLst/>
          </a:prstGeom>
          <a:noFill/>
        </p:spPr>
        <p:txBody>
          <a:bodyPr wrap="square" anchor="t">
            <a:spAutoFit/>
          </a:bodyPr>
          <a:lstStyle/>
          <a:p>
            <a:pPr algn="l">
              <a:lnSpc>
                <a:spcPct val="105000"/>
              </a:lnSpc>
            </a:pPr>
            <a:r>
              <a:rPr sz="1000" b="0" i="0">
                <a:solidFill>
                  <a:srgbClr val="6B7280"/>
                </a:solidFill>
                <a:latin typeface="Calibri"/>
              </a:rPr>
              <a:t>RCN · Agreement Checker</a:t>
            </a:r>
          </a:p>
        </p:txBody>
      </p:sp>
      <p:sp>
        <p:nvSpPr>
          <p:cNvPr id="29" name="TextBox 28"/>
          <p:cNvSpPr txBox="1"/>
          <p:nvPr/>
        </p:nvSpPr>
        <p:spPr>
          <a:xfrm>
            <a:off x="10972800" y="6400800"/>
            <a:ext cx="548640" cy="274320"/>
          </a:xfrm>
          <a:prstGeom prst="rect">
            <a:avLst/>
          </a:prstGeom>
          <a:noFill/>
        </p:spPr>
        <p:txBody>
          <a:bodyPr wrap="square" anchor="t">
            <a:spAutoFit/>
          </a:bodyPr>
          <a:lstStyle/>
          <a:p>
            <a:pPr algn="r">
              <a:lnSpc>
                <a:spcPct val="105000"/>
              </a:lnSpc>
            </a:pPr>
            <a:r>
              <a:rPr sz="1000" b="0" i="0">
                <a:solidFill>
                  <a:srgbClr val="6B7280"/>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11480"/>
            <a:ext cx="10515600" cy="320040"/>
          </a:xfrm>
          <a:prstGeom prst="rect">
            <a:avLst/>
          </a:prstGeom>
          <a:noFill/>
        </p:spPr>
        <p:txBody>
          <a:bodyPr wrap="square" anchor="t">
            <a:spAutoFit/>
          </a:bodyPr>
          <a:lstStyle/>
          <a:p>
            <a:pPr algn="l">
              <a:lnSpc>
                <a:spcPct val="105000"/>
              </a:lnSpc>
            </a:pPr>
            <a:r>
              <a:rPr sz="1200" b="1" i="0">
                <a:solidFill>
                  <a:srgbClr val="1D4ED8"/>
                </a:solidFill>
                <a:latin typeface="Calibri"/>
              </a:rPr>
              <a:t>ON SCREEN</a:t>
            </a:r>
          </a:p>
        </p:txBody>
      </p:sp>
      <p:sp>
        <p:nvSpPr>
          <p:cNvPr id="3" name="TextBox 2"/>
          <p:cNvSpPr txBox="1"/>
          <p:nvPr/>
        </p:nvSpPr>
        <p:spPr>
          <a:xfrm>
            <a:off x="640080" y="731520"/>
            <a:ext cx="10972800" cy="914400"/>
          </a:xfrm>
          <a:prstGeom prst="rect">
            <a:avLst/>
          </a:prstGeom>
          <a:noFill/>
        </p:spPr>
        <p:txBody>
          <a:bodyPr wrap="square" anchor="t">
            <a:spAutoFit/>
          </a:bodyPr>
          <a:lstStyle/>
          <a:p>
            <a:pPr algn="l">
              <a:lnSpc>
                <a:spcPct val="105000"/>
              </a:lnSpc>
            </a:pPr>
            <a:r>
              <a:rPr sz="3400" b="1" i="0">
                <a:solidFill>
                  <a:srgbClr val="000000"/>
                </a:solidFill>
                <a:latin typeface="Calibri"/>
              </a:rPr>
              <a:t>Questions to settle, one sentence at a time</a:t>
            </a:r>
          </a:p>
        </p:txBody>
      </p:sp>
      <p:sp>
        <p:nvSpPr>
          <p:cNvPr id="4" name="Rectangle 3"/>
          <p:cNvSpPr/>
          <p:nvPr/>
        </p:nvSpPr>
        <p:spPr>
          <a:xfrm>
            <a:off x="1150851" y="1664208"/>
            <a:ext cx="5562137" cy="4535424"/>
          </a:xfrm>
          <a:prstGeom prst="rect">
            <a:avLst/>
          </a:prstGeom>
          <a:solidFill>
            <a:srgbClr val="FFFFFF"/>
          </a:solidFill>
          <a:ln w="12700">
            <a:solidFill>
              <a:srgbClr val="D4D4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01-check-and-questions.png"/>
          <p:cNvPicPr>
            <a:picLocks noChangeAspect="1"/>
          </p:cNvPicPr>
          <p:nvPr/>
        </p:nvPicPr>
        <p:blipFill>
          <a:blip r:embed="rId2"/>
          <a:stretch>
            <a:fillRect/>
          </a:stretch>
        </p:blipFill>
        <p:spPr>
          <a:xfrm>
            <a:off x="1178283" y="1691640"/>
            <a:ext cx="5507273" cy="4480560"/>
          </a:xfrm>
          <a:prstGeom prst="rect">
            <a:avLst/>
          </a:prstGeom>
        </p:spPr>
      </p:pic>
      <p:sp>
        <p:nvSpPr>
          <p:cNvPr id="6" name="Oval 5"/>
          <p:cNvSpPr/>
          <p:nvPr/>
        </p:nvSpPr>
        <p:spPr>
          <a:xfrm>
            <a:off x="7635240" y="1783080"/>
            <a:ext cx="502920" cy="502920"/>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35240" y="1783080"/>
            <a:ext cx="502920" cy="502920"/>
          </a:xfrm>
          <a:prstGeom prst="rect">
            <a:avLst/>
          </a:prstGeom>
          <a:noFill/>
        </p:spPr>
        <p:txBody>
          <a:bodyPr wrap="square" anchor="ctr" lIns="0" rIns="0" tIns="0" bIns="0">
            <a:spAutoFit/>
          </a:bodyPr>
          <a:lstStyle/>
          <a:p>
            <a:pPr algn="ctr">
              <a:lnSpc>
                <a:spcPct val="105000"/>
              </a:lnSpc>
            </a:pPr>
            <a:r>
              <a:rPr sz="1800" b="1" i="0">
                <a:solidFill>
                  <a:srgbClr val="FFFFFF"/>
                </a:solidFill>
                <a:latin typeface="Calibri"/>
              </a:rPr>
              <a:t>1</a:t>
            </a:r>
          </a:p>
        </p:txBody>
      </p:sp>
      <p:sp>
        <p:nvSpPr>
          <p:cNvPr id="8" name="TextBox 7"/>
          <p:cNvSpPr txBox="1"/>
          <p:nvPr/>
        </p:nvSpPr>
        <p:spPr>
          <a:xfrm>
            <a:off x="8321040" y="1737360"/>
            <a:ext cx="3291840" cy="411480"/>
          </a:xfrm>
          <a:prstGeom prst="rect">
            <a:avLst/>
          </a:prstGeom>
          <a:noFill/>
        </p:spPr>
        <p:txBody>
          <a:bodyPr wrap="square" anchor="t">
            <a:spAutoFit/>
          </a:bodyPr>
          <a:lstStyle/>
          <a:p>
            <a:pPr algn="l">
              <a:lnSpc>
                <a:spcPct val="105000"/>
              </a:lnSpc>
            </a:pPr>
            <a:r>
              <a:rPr sz="1800" b="1" i="0">
                <a:solidFill>
                  <a:srgbClr val="000000"/>
                </a:solidFill>
                <a:latin typeface="Calibri"/>
              </a:rPr>
              <a:t>Paste the agreement</a:t>
            </a:r>
          </a:p>
        </p:txBody>
      </p:sp>
      <p:sp>
        <p:nvSpPr>
          <p:cNvPr id="9" name="TextBox 8"/>
          <p:cNvSpPr txBox="1"/>
          <p:nvPr/>
        </p:nvSpPr>
        <p:spPr>
          <a:xfrm>
            <a:off x="8321040" y="2148840"/>
            <a:ext cx="3291840" cy="822960"/>
          </a:xfrm>
          <a:prstGeom prst="rect">
            <a:avLst/>
          </a:prstGeom>
          <a:noFill/>
        </p:spPr>
        <p:txBody>
          <a:bodyPr wrap="square" anchor="t">
            <a:spAutoFit/>
          </a:bodyPr>
          <a:lstStyle/>
          <a:p>
            <a:pPr algn="l">
              <a:lnSpc>
                <a:spcPct val="105000"/>
              </a:lnSpc>
            </a:pPr>
            <a:r>
              <a:rPr sz="1500" b="0" i="0">
                <a:solidFill>
                  <a:srgbClr val="000000"/>
                </a:solidFill>
                <a:latin typeface="Calibri"/>
              </a:rPr>
              <a:t>Write it the way you'd say it. Press Check.</a:t>
            </a:r>
          </a:p>
        </p:txBody>
      </p:sp>
      <p:sp>
        <p:nvSpPr>
          <p:cNvPr id="10" name="Oval 9"/>
          <p:cNvSpPr/>
          <p:nvPr/>
        </p:nvSpPr>
        <p:spPr>
          <a:xfrm>
            <a:off x="7635240" y="3246120"/>
            <a:ext cx="502920" cy="502920"/>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35240" y="3246120"/>
            <a:ext cx="502920" cy="502920"/>
          </a:xfrm>
          <a:prstGeom prst="rect">
            <a:avLst/>
          </a:prstGeom>
          <a:noFill/>
        </p:spPr>
        <p:txBody>
          <a:bodyPr wrap="square" anchor="ctr" lIns="0" rIns="0" tIns="0" bIns="0">
            <a:spAutoFit/>
          </a:bodyPr>
          <a:lstStyle/>
          <a:p>
            <a:pPr algn="ctr">
              <a:lnSpc>
                <a:spcPct val="105000"/>
              </a:lnSpc>
            </a:pPr>
            <a:r>
              <a:rPr sz="1800" b="1" i="0">
                <a:solidFill>
                  <a:srgbClr val="FFFFFF"/>
                </a:solidFill>
                <a:latin typeface="Calibri"/>
              </a:rPr>
              <a:t>2</a:t>
            </a:r>
          </a:p>
        </p:txBody>
      </p:sp>
      <p:sp>
        <p:nvSpPr>
          <p:cNvPr id="12" name="TextBox 11"/>
          <p:cNvSpPr txBox="1"/>
          <p:nvPr/>
        </p:nvSpPr>
        <p:spPr>
          <a:xfrm>
            <a:off x="8321040" y="3200400"/>
            <a:ext cx="3291840" cy="411480"/>
          </a:xfrm>
          <a:prstGeom prst="rect">
            <a:avLst/>
          </a:prstGeom>
          <a:noFill/>
        </p:spPr>
        <p:txBody>
          <a:bodyPr wrap="square" anchor="t">
            <a:spAutoFit/>
          </a:bodyPr>
          <a:lstStyle/>
          <a:p>
            <a:pPr algn="l">
              <a:lnSpc>
                <a:spcPct val="105000"/>
              </a:lnSpc>
            </a:pPr>
            <a:r>
              <a:rPr sz="1800" b="1" i="0">
                <a:solidFill>
                  <a:srgbClr val="000000"/>
                </a:solidFill>
                <a:latin typeface="Calibri"/>
              </a:rPr>
              <a:t>Read each question aloud</a:t>
            </a:r>
          </a:p>
        </p:txBody>
      </p:sp>
      <p:sp>
        <p:nvSpPr>
          <p:cNvPr id="13" name="TextBox 12"/>
          <p:cNvSpPr txBox="1"/>
          <p:nvPr/>
        </p:nvSpPr>
        <p:spPr>
          <a:xfrm>
            <a:off x="8321040" y="3611879"/>
            <a:ext cx="3291840" cy="822960"/>
          </a:xfrm>
          <a:prstGeom prst="rect">
            <a:avLst/>
          </a:prstGeom>
          <a:noFill/>
        </p:spPr>
        <p:txBody>
          <a:bodyPr wrap="square" anchor="t">
            <a:spAutoFit/>
          </a:bodyPr>
          <a:lstStyle/>
          <a:p>
            <a:pPr algn="l">
              <a:lnSpc>
                <a:spcPct val="105000"/>
              </a:lnSpc>
            </a:pPr>
            <a:r>
              <a:rPr sz="1500" b="0" i="0">
                <a:solidFill>
                  <a:srgbClr val="000000"/>
                </a:solidFill>
                <a:latin typeface="Calibri"/>
              </a:rPr>
              <a:t>Orange items need settling. Blue items are notes.</a:t>
            </a:r>
          </a:p>
        </p:txBody>
      </p:sp>
      <p:sp>
        <p:nvSpPr>
          <p:cNvPr id="14" name="Oval 13"/>
          <p:cNvSpPr/>
          <p:nvPr/>
        </p:nvSpPr>
        <p:spPr>
          <a:xfrm>
            <a:off x="7635240" y="4709160"/>
            <a:ext cx="502920" cy="502920"/>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35240" y="4709160"/>
            <a:ext cx="502920" cy="502920"/>
          </a:xfrm>
          <a:prstGeom prst="rect">
            <a:avLst/>
          </a:prstGeom>
          <a:noFill/>
        </p:spPr>
        <p:txBody>
          <a:bodyPr wrap="square" anchor="ctr" lIns="0" rIns="0" tIns="0" bIns="0">
            <a:spAutoFit/>
          </a:bodyPr>
          <a:lstStyle/>
          <a:p>
            <a:pPr algn="ctr">
              <a:lnSpc>
                <a:spcPct val="105000"/>
              </a:lnSpc>
            </a:pPr>
            <a:r>
              <a:rPr sz="1800" b="1" i="0">
                <a:solidFill>
                  <a:srgbClr val="FFFFFF"/>
                </a:solidFill>
                <a:latin typeface="Calibri"/>
              </a:rPr>
              <a:t>3</a:t>
            </a:r>
          </a:p>
        </p:txBody>
      </p:sp>
      <p:sp>
        <p:nvSpPr>
          <p:cNvPr id="16" name="TextBox 15"/>
          <p:cNvSpPr txBox="1"/>
          <p:nvPr/>
        </p:nvSpPr>
        <p:spPr>
          <a:xfrm>
            <a:off x="8321040" y="4663440"/>
            <a:ext cx="3291840" cy="411480"/>
          </a:xfrm>
          <a:prstGeom prst="rect">
            <a:avLst/>
          </a:prstGeom>
          <a:noFill/>
        </p:spPr>
        <p:txBody>
          <a:bodyPr wrap="square" anchor="t">
            <a:spAutoFit/>
          </a:bodyPr>
          <a:lstStyle/>
          <a:p>
            <a:pPr algn="l">
              <a:lnSpc>
                <a:spcPct val="105000"/>
              </a:lnSpc>
            </a:pPr>
            <a:r>
              <a:rPr sz="1800" b="1" i="0">
                <a:solidFill>
                  <a:srgbClr val="000000"/>
                </a:solidFill>
                <a:latin typeface="Calibri"/>
              </a:rPr>
              <a:t>Settle it or leave it</a:t>
            </a:r>
          </a:p>
        </p:txBody>
      </p:sp>
      <p:sp>
        <p:nvSpPr>
          <p:cNvPr id="17" name="TextBox 16"/>
          <p:cNvSpPr txBox="1"/>
          <p:nvPr/>
        </p:nvSpPr>
        <p:spPr>
          <a:xfrm>
            <a:off x="8321040" y="5074920"/>
            <a:ext cx="3291840" cy="822960"/>
          </a:xfrm>
          <a:prstGeom prst="rect">
            <a:avLst/>
          </a:prstGeom>
          <a:noFill/>
        </p:spPr>
        <p:txBody>
          <a:bodyPr wrap="square" anchor="t">
            <a:spAutoFit/>
          </a:bodyPr>
          <a:lstStyle/>
          <a:p>
            <a:pPr algn="l">
              <a:lnSpc>
                <a:spcPct val="105000"/>
              </a:lnSpc>
            </a:pPr>
            <a:r>
              <a:rPr sz="1500" b="0" i="0">
                <a:solidFill>
                  <a:srgbClr val="000000"/>
                </a:solidFill>
                <a:latin typeface="Calibri"/>
              </a:rPr>
              <a:t>"Leave as is" once the group has talked it over.</a:t>
            </a:r>
          </a:p>
        </p:txBody>
      </p:sp>
      <p:sp>
        <p:nvSpPr>
          <p:cNvPr id="18" name="TextBox 17"/>
          <p:cNvSpPr txBox="1"/>
          <p:nvPr/>
        </p:nvSpPr>
        <p:spPr>
          <a:xfrm>
            <a:off x="640080" y="6400800"/>
            <a:ext cx="5486400" cy="274320"/>
          </a:xfrm>
          <a:prstGeom prst="rect">
            <a:avLst/>
          </a:prstGeom>
          <a:noFill/>
        </p:spPr>
        <p:txBody>
          <a:bodyPr wrap="square" anchor="t">
            <a:spAutoFit/>
          </a:bodyPr>
          <a:lstStyle/>
          <a:p>
            <a:pPr algn="l">
              <a:lnSpc>
                <a:spcPct val="105000"/>
              </a:lnSpc>
            </a:pPr>
            <a:r>
              <a:rPr sz="1000" b="0" i="0">
                <a:solidFill>
                  <a:srgbClr val="6B7280"/>
                </a:solidFill>
                <a:latin typeface="Calibri"/>
              </a:rPr>
              <a:t>RCN · Agreement Checker</a:t>
            </a:r>
          </a:p>
        </p:txBody>
      </p:sp>
      <p:sp>
        <p:nvSpPr>
          <p:cNvPr id="19" name="TextBox 18"/>
          <p:cNvSpPr txBox="1"/>
          <p:nvPr/>
        </p:nvSpPr>
        <p:spPr>
          <a:xfrm>
            <a:off x="10972800" y="6400800"/>
            <a:ext cx="548640" cy="274320"/>
          </a:xfrm>
          <a:prstGeom prst="rect">
            <a:avLst/>
          </a:prstGeom>
          <a:noFill/>
        </p:spPr>
        <p:txBody>
          <a:bodyPr wrap="square" anchor="t">
            <a:spAutoFit/>
          </a:bodyPr>
          <a:lstStyle/>
          <a:p>
            <a:pPr algn="r">
              <a:lnSpc>
                <a:spcPct val="105000"/>
              </a:lnSpc>
            </a:pPr>
            <a:r>
              <a:rPr sz="1000" b="0" i="0">
                <a:solidFill>
                  <a:srgbClr val="6B7280"/>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11480"/>
            <a:ext cx="10515600" cy="320040"/>
          </a:xfrm>
          <a:prstGeom prst="rect">
            <a:avLst/>
          </a:prstGeom>
          <a:noFill/>
        </p:spPr>
        <p:txBody>
          <a:bodyPr wrap="square" anchor="t">
            <a:spAutoFit/>
          </a:bodyPr>
          <a:lstStyle/>
          <a:p>
            <a:pPr algn="l">
              <a:lnSpc>
                <a:spcPct val="105000"/>
              </a:lnSpc>
            </a:pPr>
            <a:r>
              <a:rPr sz="1200" b="1" i="0">
                <a:solidFill>
                  <a:srgbClr val="1D4ED8"/>
                </a:solidFill>
                <a:latin typeface="Calibri"/>
              </a:rPr>
              <a:t>ON SCREEN</a:t>
            </a:r>
          </a:p>
        </p:txBody>
      </p:sp>
      <p:sp>
        <p:nvSpPr>
          <p:cNvPr id="3" name="TextBox 2"/>
          <p:cNvSpPr txBox="1"/>
          <p:nvPr/>
        </p:nvSpPr>
        <p:spPr>
          <a:xfrm>
            <a:off x="640080" y="731520"/>
            <a:ext cx="10972800" cy="914400"/>
          </a:xfrm>
          <a:prstGeom prst="rect">
            <a:avLst/>
          </a:prstGeom>
          <a:noFill/>
        </p:spPr>
        <p:txBody>
          <a:bodyPr wrap="square" anchor="t">
            <a:spAutoFit/>
          </a:bodyPr>
          <a:lstStyle/>
          <a:p>
            <a:pPr algn="l">
              <a:lnSpc>
                <a:spcPct val="105000"/>
              </a:lnSpc>
            </a:pPr>
            <a:r>
              <a:rPr sz="3400" b="1" i="0">
                <a:solidFill>
                  <a:srgbClr val="000000"/>
                </a:solidFill>
                <a:latin typeface="Calibri"/>
              </a:rPr>
              <a:t>Every guess is a box you can change</a:t>
            </a:r>
          </a:p>
        </p:txBody>
      </p:sp>
      <p:sp>
        <p:nvSpPr>
          <p:cNvPr id="4" name="Rectangle 3"/>
          <p:cNvSpPr/>
          <p:nvPr/>
        </p:nvSpPr>
        <p:spPr>
          <a:xfrm>
            <a:off x="612647" y="1664208"/>
            <a:ext cx="7004303" cy="3306209"/>
          </a:xfrm>
          <a:prstGeom prst="rect">
            <a:avLst/>
          </a:prstGeom>
          <a:solidFill>
            <a:srgbClr val="FFFFFF"/>
          </a:solidFill>
          <a:ln w="12700">
            <a:solidFill>
              <a:srgbClr val="D4D4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03-agreed-rule-card.png"/>
          <p:cNvPicPr>
            <a:picLocks noChangeAspect="1"/>
          </p:cNvPicPr>
          <p:nvPr/>
        </p:nvPicPr>
        <p:blipFill>
          <a:blip r:embed="rId2"/>
          <a:stretch>
            <a:fillRect/>
          </a:stretch>
        </p:blipFill>
        <p:spPr>
          <a:xfrm>
            <a:off x="640080" y="1691640"/>
            <a:ext cx="6949440" cy="3251345"/>
          </a:xfrm>
          <a:prstGeom prst="rect">
            <a:avLst/>
          </a:prstGeom>
        </p:spPr>
      </p:pic>
      <p:sp>
        <p:nvSpPr>
          <p:cNvPr id="6" name="Rounded Rectangle 5"/>
          <p:cNvSpPr/>
          <p:nvPr/>
        </p:nvSpPr>
        <p:spPr>
          <a:xfrm>
            <a:off x="8001000" y="1828800"/>
            <a:ext cx="914400" cy="411480"/>
          </a:xfrm>
          <a:prstGeom prst="roundRect">
            <a:avLst/>
          </a:prstGeom>
          <a:solidFill>
            <a:srgbClr val="FFFFFF"/>
          </a:solidFill>
          <a:ln w="28575">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098280" y="1810512"/>
            <a:ext cx="2743200" cy="457200"/>
          </a:xfrm>
          <a:prstGeom prst="rect">
            <a:avLst/>
          </a:prstGeom>
          <a:noFill/>
        </p:spPr>
        <p:txBody>
          <a:bodyPr wrap="square" anchor="ctr">
            <a:spAutoFit/>
          </a:bodyPr>
          <a:lstStyle/>
          <a:p>
            <a:pPr algn="l">
              <a:lnSpc>
                <a:spcPct val="105000"/>
              </a:lnSpc>
            </a:pPr>
            <a:r>
              <a:rPr sz="1700" b="1" i="0">
                <a:solidFill>
                  <a:srgbClr val="000000"/>
                </a:solidFill>
                <a:latin typeface="Calibri"/>
              </a:rPr>
              <a:t>Answered</a:t>
            </a:r>
          </a:p>
        </p:txBody>
      </p:sp>
      <p:sp>
        <p:nvSpPr>
          <p:cNvPr id="8" name="Rounded Rectangle 7"/>
          <p:cNvSpPr/>
          <p:nvPr/>
        </p:nvSpPr>
        <p:spPr>
          <a:xfrm>
            <a:off x="8001000" y="2514600"/>
            <a:ext cx="914400" cy="411480"/>
          </a:xfrm>
          <a:prstGeom prst="roundRect">
            <a:avLst/>
          </a:prstGeom>
          <a:solidFill>
            <a:srgbClr val="FFFBEB"/>
          </a:solidFill>
          <a:ln w="28575">
            <a:solidFill>
              <a:srgbClr val="B4530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98280" y="2496312"/>
            <a:ext cx="2743200" cy="457200"/>
          </a:xfrm>
          <a:prstGeom prst="rect">
            <a:avLst/>
          </a:prstGeom>
          <a:noFill/>
        </p:spPr>
        <p:txBody>
          <a:bodyPr wrap="square" anchor="ctr">
            <a:spAutoFit/>
          </a:bodyPr>
          <a:lstStyle/>
          <a:p>
            <a:pPr algn="l">
              <a:lnSpc>
                <a:spcPct val="105000"/>
              </a:lnSpc>
            </a:pPr>
            <a:r>
              <a:rPr sz="1700" b="1" i="0">
                <a:solidFill>
                  <a:srgbClr val="000000"/>
                </a:solidFill>
                <a:latin typeface="Calibri"/>
              </a:rPr>
              <a:t>Needs an answer</a:t>
            </a:r>
          </a:p>
        </p:txBody>
      </p:sp>
      <p:sp>
        <p:nvSpPr>
          <p:cNvPr id="10" name="Rounded Rectangle 9"/>
          <p:cNvSpPr/>
          <p:nvPr/>
        </p:nvSpPr>
        <p:spPr>
          <a:xfrm>
            <a:off x="8001000" y="3200400"/>
            <a:ext cx="914400" cy="411480"/>
          </a:xfrm>
          <a:prstGeom prst="roundRect">
            <a:avLst/>
          </a:prstGeom>
          <a:solidFill>
            <a:srgbClr val="FFFFFF"/>
          </a:solidFill>
          <a:ln w="28575">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098280" y="3182112"/>
            <a:ext cx="2743200" cy="457200"/>
          </a:xfrm>
          <a:prstGeom prst="rect">
            <a:avLst/>
          </a:prstGeom>
          <a:noFill/>
        </p:spPr>
        <p:txBody>
          <a:bodyPr wrap="square" anchor="ctr">
            <a:spAutoFit/>
          </a:bodyPr>
          <a:lstStyle/>
          <a:p>
            <a:pPr algn="l">
              <a:lnSpc>
                <a:spcPct val="105000"/>
              </a:lnSpc>
            </a:pPr>
            <a:r>
              <a:rPr sz="1700" b="1" i="0">
                <a:solidFill>
                  <a:srgbClr val="000000"/>
                </a:solidFill>
                <a:latin typeface="Calibri"/>
              </a:rPr>
              <a:t>Optional: fine blank</a:t>
            </a:r>
          </a:p>
        </p:txBody>
      </p:sp>
      <p:sp>
        <p:nvSpPr>
          <p:cNvPr id="12" name="TextBox 11"/>
          <p:cNvSpPr txBox="1"/>
          <p:nvPr/>
        </p:nvSpPr>
        <p:spPr>
          <a:xfrm>
            <a:off x="8001000" y="4023360"/>
            <a:ext cx="3611880" cy="2011680"/>
          </a:xfrm>
          <a:prstGeom prst="rect">
            <a:avLst/>
          </a:prstGeom>
          <a:noFill/>
        </p:spPr>
        <p:txBody>
          <a:bodyPr wrap="square" anchor="t">
            <a:spAutoFit/>
          </a:bodyPr>
          <a:lstStyle/>
          <a:p>
            <a:pPr algn="l">
              <a:lnSpc>
                <a:spcPct val="105000"/>
              </a:lnSpc>
            </a:pPr>
            <a:r>
              <a:rPr sz="1500" b="0" i="0">
                <a:solidFill>
                  <a:srgbClr val="000000"/>
                </a:solidFill>
                <a:latin typeface="Calibri"/>
              </a:rPr>
              <a:t>The checker guesses from word patterns, and it will sometimes be wrong. Type over any guess. The questions, the label, and the rewritten agreement update as you type.</a:t>
            </a:r>
          </a:p>
        </p:txBody>
      </p:sp>
      <p:sp>
        <p:nvSpPr>
          <p:cNvPr id="13" name="TextBox 12"/>
          <p:cNvSpPr txBox="1"/>
          <p:nvPr/>
        </p:nvSpPr>
        <p:spPr>
          <a:xfrm>
            <a:off x="640080" y="6400800"/>
            <a:ext cx="5486400" cy="274320"/>
          </a:xfrm>
          <a:prstGeom prst="rect">
            <a:avLst/>
          </a:prstGeom>
          <a:noFill/>
        </p:spPr>
        <p:txBody>
          <a:bodyPr wrap="square" anchor="t">
            <a:spAutoFit/>
          </a:bodyPr>
          <a:lstStyle/>
          <a:p>
            <a:pPr algn="l">
              <a:lnSpc>
                <a:spcPct val="105000"/>
              </a:lnSpc>
            </a:pPr>
            <a:r>
              <a:rPr sz="1000" b="0" i="0">
                <a:solidFill>
                  <a:srgbClr val="6B7280"/>
                </a:solidFill>
                <a:latin typeface="Calibri"/>
              </a:rPr>
              <a:t>RCN · Agreement Checker</a:t>
            </a:r>
          </a:p>
        </p:txBody>
      </p:sp>
      <p:sp>
        <p:nvSpPr>
          <p:cNvPr id="14" name="TextBox 13"/>
          <p:cNvSpPr txBox="1"/>
          <p:nvPr/>
        </p:nvSpPr>
        <p:spPr>
          <a:xfrm>
            <a:off x="10972800" y="6400800"/>
            <a:ext cx="548640" cy="274320"/>
          </a:xfrm>
          <a:prstGeom prst="rect">
            <a:avLst/>
          </a:prstGeom>
          <a:noFill/>
        </p:spPr>
        <p:txBody>
          <a:bodyPr wrap="square" anchor="t">
            <a:spAutoFit/>
          </a:bodyPr>
          <a:lstStyle/>
          <a:p>
            <a:pPr algn="r">
              <a:lnSpc>
                <a:spcPct val="105000"/>
              </a:lnSpc>
            </a:pPr>
            <a:r>
              <a:rPr sz="1000" b="0" i="0">
                <a:solidFill>
                  <a:srgbClr val="6B7280"/>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11480"/>
            <a:ext cx="10515600" cy="320040"/>
          </a:xfrm>
          <a:prstGeom prst="rect">
            <a:avLst/>
          </a:prstGeom>
          <a:noFill/>
        </p:spPr>
        <p:txBody>
          <a:bodyPr wrap="square" anchor="t">
            <a:spAutoFit/>
          </a:bodyPr>
          <a:lstStyle/>
          <a:p>
            <a:pPr algn="l">
              <a:lnSpc>
                <a:spcPct val="105000"/>
              </a:lnSpc>
            </a:pPr>
            <a:r>
              <a:rPr sz="1200" b="1" i="0">
                <a:solidFill>
                  <a:srgbClr val="B91C1C"/>
                </a:solidFill>
                <a:latin typeface="Calibri"/>
              </a:rPr>
              <a:t>WHAT MAKES A CONSEQUENCE AGREED</a:t>
            </a:r>
          </a:p>
        </p:txBody>
      </p:sp>
      <p:sp>
        <p:nvSpPr>
          <p:cNvPr id="3" name="TextBox 2"/>
          <p:cNvSpPr txBox="1"/>
          <p:nvPr/>
        </p:nvSpPr>
        <p:spPr>
          <a:xfrm>
            <a:off x="640080" y="731520"/>
            <a:ext cx="10972800" cy="914400"/>
          </a:xfrm>
          <a:prstGeom prst="rect">
            <a:avLst/>
          </a:prstGeom>
          <a:noFill/>
        </p:spPr>
        <p:txBody>
          <a:bodyPr wrap="square" anchor="t">
            <a:spAutoFit/>
          </a:bodyPr>
          <a:lstStyle/>
          <a:p>
            <a:pPr algn="l">
              <a:lnSpc>
                <a:spcPct val="105000"/>
              </a:lnSpc>
            </a:pPr>
            <a:r>
              <a:rPr sz="3400" b="1" i="0">
                <a:solidFill>
                  <a:srgbClr val="000000"/>
                </a:solidFill>
                <a:latin typeface="Calibri"/>
              </a:rPr>
              <a:t>An OR ELSE needs someone to carry it out</a:t>
            </a:r>
          </a:p>
        </p:txBody>
      </p:sp>
      <p:sp>
        <p:nvSpPr>
          <p:cNvPr id="4" name="Rounded Rectangle 3"/>
          <p:cNvSpPr/>
          <p:nvPr/>
        </p:nvSpPr>
        <p:spPr>
          <a:xfrm>
            <a:off x="640080" y="1920240"/>
            <a:ext cx="2926080" cy="2377440"/>
          </a:xfrm>
          <a:prstGeom prst="roundRect">
            <a:avLst/>
          </a:prstGeom>
          <a:solidFill>
            <a:srgbClr val="FFFFFF"/>
          </a:solidFill>
          <a:ln w="317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59" y="2057400"/>
            <a:ext cx="2560320" cy="411480"/>
          </a:xfrm>
          <a:prstGeom prst="rect">
            <a:avLst/>
          </a:prstGeom>
          <a:noFill/>
        </p:spPr>
        <p:txBody>
          <a:bodyPr wrap="square" anchor="t">
            <a:spAutoFit/>
          </a:bodyPr>
          <a:lstStyle/>
          <a:p>
            <a:pPr algn="l">
              <a:lnSpc>
                <a:spcPct val="105000"/>
              </a:lnSpc>
            </a:pPr>
            <a:r>
              <a:rPr sz="1700" b="1" i="0">
                <a:solidFill>
                  <a:srgbClr val="000000"/>
                </a:solidFill>
                <a:latin typeface="Calibri"/>
              </a:rPr>
              <a:t>NO SPRINKLERS</a:t>
            </a:r>
          </a:p>
        </p:txBody>
      </p:sp>
      <p:sp>
        <p:nvSpPr>
          <p:cNvPr id="6" name="TextBox 5"/>
          <p:cNvSpPr txBox="1"/>
          <p:nvPr/>
        </p:nvSpPr>
        <p:spPr>
          <a:xfrm>
            <a:off x="822959" y="2514600"/>
            <a:ext cx="2560320" cy="1188720"/>
          </a:xfrm>
          <a:prstGeom prst="rect">
            <a:avLst/>
          </a:prstGeom>
          <a:noFill/>
        </p:spPr>
        <p:txBody>
          <a:bodyPr wrap="square" anchor="t">
            <a:spAutoFit/>
          </a:bodyPr>
          <a:lstStyle/>
          <a:p>
            <a:pPr algn="l">
              <a:lnSpc>
                <a:spcPct val="105000"/>
              </a:lnSpc>
            </a:pPr>
            <a:r>
              <a:rPr sz="1400" b="0" i="0">
                <a:solidFill>
                  <a:srgbClr val="000000"/>
                </a:solidFill>
                <a:latin typeface="Calibri"/>
              </a:rPr>
              <a:t>Gardeners must not water their plots with sprinklers when the tank is below half.</a:t>
            </a:r>
          </a:p>
        </p:txBody>
      </p:sp>
      <p:sp>
        <p:nvSpPr>
          <p:cNvPr id="7" name="Rounded Rectangle 6"/>
          <p:cNvSpPr/>
          <p:nvPr/>
        </p:nvSpPr>
        <p:spPr>
          <a:xfrm>
            <a:off x="822959" y="3767328"/>
            <a:ext cx="2560320" cy="365760"/>
          </a:xfrm>
          <a:prstGeom prst="roundRect">
            <a:avLst/>
          </a:prstGeom>
          <a:solidFill>
            <a:srgbClr val="FFFFFF"/>
          </a:solidFill>
          <a:ln w="25400">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3767328"/>
            <a:ext cx="2560320" cy="365760"/>
          </a:xfrm>
          <a:prstGeom prst="rect">
            <a:avLst/>
          </a:prstGeom>
          <a:noFill/>
        </p:spPr>
        <p:txBody>
          <a:bodyPr wrap="square" anchor="ctr" lIns="0" rIns="0" tIns="0" bIns="0">
            <a:spAutoFit/>
          </a:bodyPr>
          <a:lstStyle/>
          <a:p>
            <a:pPr algn="ctr">
              <a:lnSpc>
                <a:spcPct val="105000"/>
              </a:lnSpc>
            </a:pPr>
            <a:r>
              <a:rPr sz="1150" b="1" i="0">
                <a:solidFill>
                  <a:srgbClr val="000000"/>
                </a:solidFill>
                <a:latin typeface="Calibri"/>
              </a:rPr>
              <a:t>AGREED RULE</a:t>
            </a:r>
          </a:p>
        </p:txBody>
      </p:sp>
      <p:cxnSp>
        <p:nvCxnSpPr>
          <p:cNvPr id="9" name="Connector 8"/>
          <p:cNvCxnSpPr/>
          <p:nvPr/>
        </p:nvCxnSpPr>
        <p:spPr>
          <a:xfrm>
            <a:off x="3657600" y="3108960"/>
            <a:ext cx="731520" cy="0"/>
          </a:xfrm>
          <a:prstGeom prst="line">
            <a:avLst/>
          </a:prstGeom>
          <a:ln w="38100">
            <a:solidFill>
              <a:srgbClr val="B91C1C"/>
            </a:solidFill>
            <a:prstDash val="dash"/>
            <a:tailEnd type="triangle" w="med" h="med"/>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3584448" y="2697480"/>
            <a:ext cx="877824" cy="320040"/>
          </a:xfrm>
          <a:prstGeom prst="rect">
            <a:avLst/>
          </a:prstGeom>
          <a:noFill/>
        </p:spPr>
        <p:txBody>
          <a:bodyPr wrap="square" anchor="t" lIns="0" rIns="0" tIns="0" bIns="0">
            <a:spAutoFit/>
          </a:bodyPr>
          <a:lstStyle/>
          <a:p>
            <a:pPr algn="ctr">
              <a:lnSpc>
                <a:spcPct val="105000"/>
              </a:lnSpc>
            </a:pPr>
            <a:r>
              <a:rPr sz="1150" b="1" i="0">
                <a:solidFill>
                  <a:srgbClr val="B91C1C"/>
                </a:solidFill>
                <a:latin typeface="Calibri"/>
              </a:rPr>
              <a:t>backed by</a:t>
            </a:r>
          </a:p>
        </p:txBody>
      </p:sp>
      <p:sp>
        <p:nvSpPr>
          <p:cNvPr id="11" name="Rounded Rectangle 10"/>
          <p:cNvSpPr/>
          <p:nvPr/>
        </p:nvSpPr>
        <p:spPr>
          <a:xfrm>
            <a:off x="4480560" y="1920240"/>
            <a:ext cx="2926080" cy="2377440"/>
          </a:xfrm>
          <a:prstGeom prst="roundRect">
            <a:avLst/>
          </a:prstGeom>
          <a:solidFill>
            <a:srgbClr val="FFFFFF"/>
          </a:solidFill>
          <a:ln w="317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63440" y="2057400"/>
            <a:ext cx="2560320" cy="411480"/>
          </a:xfrm>
          <a:prstGeom prst="rect">
            <a:avLst/>
          </a:prstGeom>
          <a:noFill/>
        </p:spPr>
        <p:txBody>
          <a:bodyPr wrap="square" anchor="t">
            <a:spAutoFit/>
          </a:bodyPr>
          <a:lstStyle/>
          <a:p>
            <a:pPr algn="l">
              <a:lnSpc>
                <a:spcPct val="105000"/>
              </a:lnSpc>
            </a:pPr>
            <a:r>
              <a:rPr sz="1700" b="1" i="0">
                <a:solidFill>
                  <a:srgbClr val="000000"/>
                </a:solidFill>
                <a:latin typeface="Calibri"/>
              </a:rPr>
              <a:t>KEEPER'S DUTY</a:t>
            </a:r>
          </a:p>
        </p:txBody>
      </p:sp>
      <p:sp>
        <p:nvSpPr>
          <p:cNvPr id="13" name="TextBox 12"/>
          <p:cNvSpPr txBox="1"/>
          <p:nvPr/>
        </p:nvSpPr>
        <p:spPr>
          <a:xfrm>
            <a:off x="4663440" y="2514600"/>
            <a:ext cx="2560320" cy="1188720"/>
          </a:xfrm>
          <a:prstGeom prst="rect">
            <a:avLst/>
          </a:prstGeom>
          <a:noFill/>
        </p:spPr>
        <p:txBody>
          <a:bodyPr wrap="square" anchor="t">
            <a:spAutoFit/>
          </a:bodyPr>
          <a:lstStyle/>
          <a:p>
            <a:pPr algn="l">
              <a:lnSpc>
                <a:spcPct val="105000"/>
              </a:lnSpc>
            </a:pPr>
            <a:r>
              <a:rPr sz="1400" b="0" i="0">
                <a:solidFill>
                  <a:srgbClr val="000000"/>
                </a:solidFill>
                <a:latin typeface="Calibri"/>
              </a:rPr>
              <a:t>The water keeper must suspend watering for one week for any gardener who breaks these rules.</a:t>
            </a:r>
          </a:p>
        </p:txBody>
      </p:sp>
      <p:sp>
        <p:nvSpPr>
          <p:cNvPr id="14" name="Rounded Rectangle 13"/>
          <p:cNvSpPr/>
          <p:nvPr/>
        </p:nvSpPr>
        <p:spPr>
          <a:xfrm>
            <a:off x="4663440" y="3767328"/>
            <a:ext cx="2560320" cy="365760"/>
          </a:xfrm>
          <a:prstGeom prst="roundRect">
            <a:avLst/>
          </a:prstGeom>
          <a:solidFill>
            <a:srgbClr val="FFFFFF"/>
          </a:solidFill>
          <a:ln w="25400">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3440" y="3767328"/>
            <a:ext cx="2560320" cy="365760"/>
          </a:xfrm>
          <a:prstGeom prst="rect">
            <a:avLst/>
          </a:prstGeom>
          <a:noFill/>
        </p:spPr>
        <p:txBody>
          <a:bodyPr wrap="square" anchor="ctr" lIns="0" rIns="0" tIns="0" bIns="0">
            <a:spAutoFit/>
          </a:bodyPr>
          <a:lstStyle/>
          <a:p>
            <a:pPr algn="ctr">
              <a:lnSpc>
                <a:spcPct val="105000"/>
              </a:lnSpc>
            </a:pPr>
            <a:r>
              <a:rPr sz="1150" b="1" i="0">
                <a:solidFill>
                  <a:srgbClr val="000000"/>
                </a:solidFill>
                <a:latin typeface="Calibri"/>
              </a:rPr>
              <a:t>SHARED EXPECTATION</a:t>
            </a:r>
          </a:p>
        </p:txBody>
      </p:sp>
      <p:cxnSp>
        <p:nvCxnSpPr>
          <p:cNvPr id="16" name="Connector 15"/>
          <p:cNvCxnSpPr/>
          <p:nvPr/>
        </p:nvCxnSpPr>
        <p:spPr>
          <a:xfrm>
            <a:off x="7498079" y="3108960"/>
            <a:ext cx="731521" cy="0"/>
          </a:xfrm>
          <a:prstGeom prst="line">
            <a:avLst/>
          </a:prstGeom>
          <a:ln w="38100">
            <a:solidFill>
              <a:srgbClr val="B91C1C"/>
            </a:solidFill>
            <a:prstDash val="dash"/>
            <a:tailEnd type="triangle" w="med" h="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7424928" y="2697480"/>
            <a:ext cx="877824" cy="320040"/>
          </a:xfrm>
          <a:prstGeom prst="rect">
            <a:avLst/>
          </a:prstGeom>
          <a:noFill/>
        </p:spPr>
        <p:txBody>
          <a:bodyPr wrap="square" anchor="t" lIns="0" rIns="0" tIns="0" bIns="0">
            <a:spAutoFit/>
          </a:bodyPr>
          <a:lstStyle/>
          <a:p>
            <a:pPr algn="ctr">
              <a:lnSpc>
                <a:spcPct val="105000"/>
              </a:lnSpc>
            </a:pPr>
            <a:r>
              <a:rPr sz="1150" b="1" i="0">
                <a:solidFill>
                  <a:srgbClr val="B91C1C"/>
                </a:solidFill>
                <a:latin typeface="Calibri"/>
              </a:rPr>
              <a:t>backed by</a:t>
            </a:r>
          </a:p>
        </p:txBody>
      </p:sp>
      <p:sp>
        <p:nvSpPr>
          <p:cNvPr id="18" name="Rounded Rectangle 17"/>
          <p:cNvSpPr/>
          <p:nvPr/>
        </p:nvSpPr>
        <p:spPr>
          <a:xfrm>
            <a:off x="8321040" y="1920240"/>
            <a:ext cx="2926080" cy="2377440"/>
          </a:xfrm>
          <a:prstGeom prst="roundRect">
            <a:avLst/>
          </a:prstGeom>
          <a:solidFill>
            <a:srgbClr val="FFFFFF"/>
          </a:solidFill>
          <a:ln w="317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3919" y="2057400"/>
            <a:ext cx="2560320" cy="411480"/>
          </a:xfrm>
          <a:prstGeom prst="rect">
            <a:avLst/>
          </a:prstGeom>
          <a:noFill/>
        </p:spPr>
        <p:txBody>
          <a:bodyPr wrap="square" anchor="t">
            <a:spAutoFit/>
          </a:bodyPr>
          <a:lstStyle/>
          <a:p>
            <a:pPr algn="l">
              <a:lnSpc>
                <a:spcPct val="105000"/>
              </a:lnSpc>
            </a:pPr>
            <a:r>
              <a:rPr sz="1700" b="1" i="0">
                <a:solidFill>
                  <a:srgbClr val="000000"/>
                </a:solidFill>
                <a:latin typeface="Calibri"/>
              </a:rPr>
              <a:t>CHOOSING THE KEEPER</a:t>
            </a:r>
          </a:p>
        </p:txBody>
      </p:sp>
      <p:sp>
        <p:nvSpPr>
          <p:cNvPr id="20" name="TextBox 19"/>
          <p:cNvSpPr txBox="1"/>
          <p:nvPr/>
        </p:nvSpPr>
        <p:spPr>
          <a:xfrm>
            <a:off x="8503919" y="2514600"/>
            <a:ext cx="2560320" cy="1188720"/>
          </a:xfrm>
          <a:prstGeom prst="rect">
            <a:avLst/>
          </a:prstGeom>
          <a:noFill/>
        </p:spPr>
        <p:txBody>
          <a:bodyPr wrap="square" anchor="t">
            <a:spAutoFit/>
          </a:bodyPr>
          <a:lstStyle/>
          <a:p>
            <a:pPr algn="l">
              <a:lnSpc>
                <a:spcPct val="105000"/>
              </a:lnSpc>
            </a:pPr>
            <a:r>
              <a:rPr sz="1400" b="0" i="0">
                <a:solidFill>
                  <a:srgbClr val="000000"/>
                </a:solidFill>
                <a:latin typeface="Calibri"/>
              </a:rPr>
              <a:t>Each spring, a water keeper must be chosen from the garden members.</a:t>
            </a:r>
          </a:p>
        </p:txBody>
      </p:sp>
      <p:sp>
        <p:nvSpPr>
          <p:cNvPr id="21" name="Rounded Rectangle 20"/>
          <p:cNvSpPr/>
          <p:nvPr/>
        </p:nvSpPr>
        <p:spPr>
          <a:xfrm>
            <a:off x="8503919" y="3767328"/>
            <a:ext cx="2560320" cy="365760"/>
          </a:xfrm>
          <a:prstGeom prst="roundRect">
            <a:avLst/>
          </a:prstGeom>
          <a:solidFill>
            <a:srgbClr val="FFFFFF"/>
          </a:solidFill>
          <a:ln w="254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3919" y="3767328"/>
            <a:ext cx="2560320" cy="365760"/>
          </a:xfrm>
          <a:prstGeom prst="rect">
            <a:avLst/>
          </a:prstGeom>
          <a:noFill/>
        </p:spPr>
        <p:txBody>
          <a:bodyPr wrap="square" anchor="ctr" lIns="0" rIns="0" tIns="0" bIns="0">
            <a:spAutoFit/>
          </a:bodyPr>
          <a:lstStyle/>
          <a:p>
            <a:pPr algn="ctr">
              <a:lnSpc>
                <a:spcPct val="105000"/>
              </a:lnSpc>
            </a:pPr>
            <a:r>
              <a:rPr sz="1150" b="1" i="0">
                <a:solidFill>
                  <a:srgbClr val="000000"/>
                </a:solidFill>
                <a:latin typeface="Calibri"/>
              </a:rPr>
              <a:t>CREATING AGREEMENT</a:t>
            </a:r>
          </a:p>
        </p:txBody>
      </p:sp>
      <p:sp>
        <p:nvSpPr>
          <p:cNvPr id="23" name="TextBox 22"/>
          <p:cNvSpPr txBox="1"/>
          <p:nvPr/>
        </p:nvSpPr>
        <p:spPr>
          <a:xfrm>
            <a:off x="640080" y="4663440"/>
            <a:ext cx="10972800" cy="1280160"/>
          </a:xfrm>
          <a:prstGeom prst="rect">
            <a:avLst/>
          </a:prstGeom>
          <a:noFill/>
        </p:spPr>
        <p:txBody>
          <a:bodyPr wrap="square" anchor="t">
            <a:spAutoFit/>
          </a:bodyPr>
          <a:lstStyle/>
          <a:p>
            <a:pPr algn="l">
              <a:lnSpc>
                <a:spcPct val="105000"/>
              </a:lnSpc>
            </a:pPr>
            <a:r>
              <a:rPr sz="1600" b="0" i="0">
                <a:solidFill>
                  <a:srgbClr val="000000"/>
                </a:solidFill>
                <a:latin typeface="Calibri"/>
              </a:rPr>
              <a:t>A rule is agreed only when another sentence names who applies the consequence, and that role is itself created by the group. The keeper's duty has no OR ELSE of its own: at some point a group trusts someone. The checker points this out once, and lets the group decide.</a:t>
            </a:r>
          </a:p>
        </p:txBody>
      </p:sp>
      <p:sp>
        <p:nvSpPr>
          <p:cNvPr id="24" name="TextBox 23"/>
          <p:cNvSpPr txBox="1"/>
          <p:nvPr/>
        </p:nvSpPr>
        <p:spPr>
          <a:xfrm>
            <a:off x="640080" y="6400800"/>
            <a:ext cx="5486400" cy="274320"/>
          </a:xfrm>
          <a:prstGeom prst="rect">
            <a:avLst/>
          </a:prstGeom>
          <a:noFill/>
        </p:spPr>
        <p:txBody>
          <a:bodyPr wrap="square" anchor="t">
            <a:spAutoFit/>
          </a:bodyPr>
          <a:lstStyle/>
          <a:p>
            <a:pPr algn="l">
              <a:lnSpc>
                <a:spcPct val="105000"/>
              </a:lnSpc>
            </a:pPr>
            <a:r>
              <a:rPr sz="1000" b="0" i="0">
                <a:solidFill>
                  <a:srgbClr val="6B7280"/>
                </a:solidFill>
                <a:latin typeface="Calibri"/>
              </a:rPr>
              <a:t>RCN · Agreement Checker</a:t>
            </a:r>
          </a:p>
        </p:txBody>
      </p:sp>
      <p:sp>
        <p:nvSpPr>
          <p:cNvPr id="25" name="TextBox 24"/>
          <p:cNvSpPr txBox="1"/>
          <p:nvPr/>
        </p:nvSpPr>
        <p:spPr>
          <a:xfrm>
            <a:off x="10972800" y="6400800"/>
            <a:ext cx="548640" cy="274320"/>
          </a:xfrm>
          <a:prstGeom prst="rect">
            <a:avLst/>
          </a:prstGeom>
          <a:noFill/>
        </p:spPr>
        <p:txBody>
          <a:bodyPr wrap="square" anchor="t">
            <a:spAutoFit/>
          </a:bodyPr>
          <a:lstStyle/>
          <a:p>
            <a:pPr algn="r">
              <a:lnSpc>
                <a:spcPct val="105000"/>
              </a:lnSpc>
            </a:pPr>
            <a:r>
              <a:rPr sz="1000" b="0" i="0">
                <a:solidFill>
                  <a:srgbClr val="6B7280"/>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11480"/>
            <a:ext cx="10515600" cy="320040"/>
          </a:xfrm>
          <a:prstGeom prst="rect">
            <a:avLst/>
          </a:prstGeom>
          <a:noFill/>
        </p:spPr>
        <p:txBody>
          <a:bodyPr wrap="square" anchor="t">
            <a:spAutoFit/>
          </a:bodyPr>
          <a:lstStyle/>
          <a:p>
            <a:pPr algn="l">
              <a:lnSpc>
                <a:spcPct val="105000"/>
              </a:lnSpc>
            </a:pPr>
            <a:r>
              <a:rPr sz="1200" b="1" i="0">
                <a:solidFill>
                  <a:srgbClr val="1D4ED8"/>
                </a:solidFill>
                <a:latin typeface="Calibri"/>
              </a:rPr>
              <a:t>THE LABELS</a:t>
            </a:r>
          </a:p>
        </p:txBody>
      </p:sp>
      <p:sp>
        <p:nvSpPr>
          <p:cNvPr id="3" name="TextBox 2"/>
          <p:cNvSpPr txBox="1"/>
          <p:nvPr/>
        </p:nvSpPr>
        <p:spPr>
          <a:xfrm>
            <a:off x="640080" y="731520"/>
            <a:ext cx="10972800" cy="914400"/>
          </a:xfrm>
          <a:prstGeom prst="rect">
            <a:avLst/>
          </a:prstGeom>
          <a:noFill/>
        </p:spPr>
        <p:txBody>
          <a:bodyPr wrap="square" anchor="t">
            <a:spAutoFit/>
          </a:bodyPr>
          <a:lstStyle/>
          <a:p>
            <a:pPr algn="l">
              <a:lnSpc>
                <a:spcPct val="105000"/>
              </a:lnSpc>
            </a:pPr>
            <a:r>
              <a:rPr sz="3200" b="1" i="0">
                <a:solidFill>
                  <a:srgbClr val="000000"/>
                </a:solidFill>
                <a:latin typeface="Calibri"/>
              </a:rPr>
              <a:t>Leave a question blank and the agreement weakens</a:t>
            </a:r>
          </a:p>
        </p:txBody>
      </p:sp>
      <p:sp>
        <p:nvSpPr>
          <p:cNvPr id="4" name="Rounded Rectangle 3"/>
          <p:cNvSpPr/>
          <p:nvPr/>
        </p:nvSpPr>
        <p:spPr>
          <a:xfrm>
            <a:off x="640080" y="1920240"/>
            <a:ext cx="3017520" cy="2468880"/>
          </a:xfrm>
          <a:prstGeom prst="roundRect">
            <a:avLst/>
          </a:prstGeom>
          <a:solidFill>
            <a:srgbClr val="FFFFFF"/>
          </a:solidFill>
          <a:ln w="44450">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2103120"/>
            <a:ext cx="2606040" cy="411480"/>
          </a:xfrm>
          <a:prstGeom prst="rect">
            <a:avLst/>
          </a:prstGeom>
          <a:noFill/>
        </p:spPr>
        <p:txBody>
          <a:bodyPr wrap="square" anchor="t">
            <a:spAutoFit/>
          </a:bodyPr>
          <a:lstStyle/>
          <a:p>
            <a:pPr algn="l">
              <a:lnSpc>
                <a:spcPct val="105000"/>
              </a:lnSpc>
            </a:pPr>
            <a:r>
              <a:rPr sz="1900" b="1" i="0">
                <a:solidFill>
                  <a:srgbClr val="000000"/>
                </a:solidFill>
                <a:latin typeface="Calibri"/>
              </a:rPr>
              <a:t>AGREED RULE</a:t>
            </a:r>
          </a:p>
        </p:txBody>
      </p:sp>
      <p:sp>
        <p:nvSpPr>
          <p:cNvPr id="6" name="TextBox 5"/>
          <p:cNvSpPr txBox="1"/>
          <p:nvPr/>
        </p:nvSpPr>
        <p:spPr>
          <a:xfrm>
            <a:off x="868680" y="2606040"/>
            <a:ext cx="2606040" cy="1280160"/>
          </a:xfrm>
          <a:prstGeom prst="rect">
            <a:avLst/>
          </a:prstGeom>
          <a:noFill/>
        </p:spPr>
        <p:txBody>
          <a:bodyPr wrap="square" anchor="t">
            <a:spAutoFit/>
          </a:bodyPr>
          <a:lstStyle/>
          <a:p>
            <a:pPr algn="l">
              <a:lnSpc>
                <a:spcPct val="105000"/>
              </a:lnSpc>
            </a:pPr>
            <a:r>
              <a:rPr sz="1500" b="0" i="0">
                <a:solidFill>
                  <a:srgbClr val="000000"/>
                </a:solidFill>
                <a:latin typeface="Calibri"/>
              </a:rPr>
              <a:t>MUST or MUST NOT, with an OR ELSE, and someone named to carry it out.</a:t>
            </a:r>
          </a:p>
        </p:txBody>
      </p:sp>
      <p:sp>
        <p:nvSpPr>
          <p:cNvPr id="7" name="TextBox 6"/>
          <p:cNvSpPr txBox="1"/>
          <p:nvPr/>
        </p:nvSpPr>
        <p:spPr>
          <a:xfrm>
            <a:off x="868680" y="3886200"/>
            <a:ext cx="2606040" cy="365760"/>
          </a:xfrm>
          <a:prstGeom prst="rect">
            <a:avLst/>
          </a:prstGeom>
          <a:noFill/>
        </p:spPr>
        <p:txBody>
          <a:bodyPr wrap="square" anchor="t">
            <a:spAutoFit/>
          </a:bodyPr>
          <a:lstStyle/>
          <a:p>
            <a:pPr algn="l">
              <a:lnSpc>
                <a:spcPct val="105000"/>
              </a:lnSpc>
            </a:pPr>
            <a:r>
              <a:rPr sz="1300" b="0" i="1">
                <a:solidFill>
                  <a:srgbClr val="6B7280"/>
                </a:solidFill>
                <a:latin typeface="Calibri"/>
              </a:rPr>
              <a:t>Ostrom: rule</a:t>
            </a:r>
          </a:p>
        </p:txBody>
      </p:sp>
      <p:cxnSp>
        <p:nvCxnSpPr>
          <p:cNvPr id="8" name="Connector 7"/>
          <p:cNvCxnSpPr/>
          <p:nvPr/>
        </p:nvCxnSpPr>
        <p:spPr>
          <a:xfrm>
            <a:off x="3749039" y="3154680"/>
            <a:ext cx="640081" cy="0"/>
          </a:xfrm>
          <a:prstGeom prst="line">
            <a:avLst/>
          </a:prstGeom>
          <a:ln w="31750">
            <a:solidFill>
              <a:srgbClr val="6B7280"/>
            </a:solidFill>
            <a:tailEnd type="triangle" w="med" h="med"/>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3657600" y="3246120"/>
            <a:ext cx="822960" cy="457200"/>
          </a:xfrm>
          <a:prstGeom prst="rect">
            <a:avLst/>
          </a:prstGeom>
          <a:noFill/>
        </p:spPr>
        <p:txBody>
          <a:bodyPr wrap="square" anchor="t" lIns="0" rIns="0" tIns="0" bIns="0">
            <a:spAutoFit/>
          </a:bodyPr>
          <a:lstStyle/>
          <a:p>
            <a:pPr algn="ctr">
              <a:lnSpc>
                <a:spcPct val="105000"/>
              </a:lnSpc>
            </a:pPr>
            <a:r>
              <a:rPr sz="1050" b="1" i="0">
                <a:solidFill>
                  <a:srgbClr val="6B7280"/>
                </a:solidFill>
                <a:latin typeface="Calibri"/>
              </a:rPr>
              <a:t>no OR ELSE</a:t>
            </a:r>
          </a:p>
        </p:txBody>
      </p:sp>
      <p:sp>
        <p:nvSpPr>
          <p:cNvPr id="10" name="Rounded Rectangle 9"/>
          <p:cNvSpPr/>
          <p:nvPr/>
        </p:nvSpPr>
        <p:spPr>
          <a:xfrm>
            <a:off x="4480560" y="1920240"/>
            <a:ext cx="3017520" cy="2468880"/>
          </a:xfrm>
          <a:prstGeom prst="roundRect">
            <a:avLst/>
          </a:prstGeom>
          <a:solidFill>
            <a:srgbClr val="FFFFFF"/>
          </a:solidFill>
          <a:ln w="44450">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09160" y="2103120"/>
            <a:ext cx="2606040" cy="411480"/>
          </a:xfrm>
          <a:prstGeom prst="rect">
            <a:avLst/>
          </a:prstGeom>
          <a:noFill/>
        </p:spPr>
        <p:txBody>
          <a:bodyPr wrap="square" anchor="t">
            <a:spAutoFit/>
          </a:bodyPr>
          <a:lstStyle/>
          <a:p>
            <a:pPr algn="l">
              <a:lnSpc>
                <a:spcPct val="105000"/>
              </a:lnSpc>
            </a:pPr>
            <a:r>
              <a:rPr sz="1900" b="1" i="0">
                <a:solidFill>
                  <a:srgbClr val="000000"/>
                </a:solidFill>
                <a:latin typeface="Calibri"/>
              </a:rPr>
              <a:t>SHARED EXPECTATION</a:t>
            </a:r>
          </a:p>
        </p:txBody>
      </p:sp>
      <p:sp>
        <p:nvSpPr>
          <p:cNvPr id="12" name="TextBox 11"/>
          <p:cNvSpPr txBox="1"/>
          <p:nvPr/>
        </p:nvSpPr>
        <p:spPr>
          <a:xfrm>
            <a:off x="4709160" y="2606040"/>
            <a:ext cx="2606040" cy="1280160"/>
          </a:xfrm>
          <a:prstGeom prst="rect">
            <a:avLst/>
          </a:prstGeom>
          <a:noFill/>
        </p:spPr>
        <p:txBody>
          <a:bodyPr wrap="square" anchor="t">
            <a:spAutoFit/>
          </a:bodyPr>
          <a:lstStyle/>
          <a:p>
            <a:pPr algn="l">
              <a:lnSpc>
                <a:spcPct val="105000"/>
              </a:lnSpc>
            </a:pPr>
            <a:r>
              <a:rPr sz="1500" b="0" i="0">
                <a:solidFill>
                  <a:srgbClr val="000000"/>
                </a:solidFill>
                <a:latin typeface="Calibri"/>
              </a:rPr>
              <a:t>MUST, MAY, or MUST NOT, with nothing backing it. Holds as long as goodwill does.</a:t>
            </a:r>
          </a:p>
        </p:txBody>
      </p:sp>
      <p:sp>
        <p:nvSpPr>
          <p:cNvPr id="13" name="TextBox 12"/>
          <p:cNvSpPr txBox="1"/>
          <p:nvPr/>
        </p:nvSpPr>
        <p:spPr>
          <a:xfrm>
            <a:off x="4709160" y="3886200"/>
            <a:ext cx="2606040" cy="365760"/>
          </a:xfrm>
          <a:prstGeom prst="rect">
            <a:avLst/>
          </a:prstGeom>
          <a:noFill/>
        </p:spPr>
        <p:txBody>
          <a:bodyPr wrap="square" anchor="t">
            <a:spAutoFit/>
          </a:bodyPr>
          <a:lstStyle/>
          <a:p>
            <a:pPr algn="l">
              <a:lnSpc>
                <a:spcPct val="105000"/>
              </a:lnSpc>
            </a:pPr>
            <a:r>
              <a:rPr sz="1300" b="0" i="1">
                <a:solidFill>
                  <a:srgbClr val="6B7280"/>
                </a:solidFill>
                <a:latin typeface="Calibri"/>
              </a:rPr>
              <a:t>Ostrom: norm</a:t>
            </a:r>
          </a:p>
        </p:txBody>
      </p:sp>
      <p:cxnSp>
        <p:nvCxnSpPr>
          <p:cNvPr id="14" name="Connector 13"/>
          <p:cNvCxnSpPr/>
          <p:nvPr/>
        </p:nvCxnSpPr>
        <p:spPr>
          <a:xfrm>
            <a:off x="7589520" y="3154680"/>
            <a:ext cx="640080" cy="0"/>
          </a:xfrm>
          <a:prstGeom prst="line">
            <a:avLst/>
          </a:prstGeom>
          <a:ln w="31750">
            <a:solidFill>
              <a:srgbClr val="6B7280"/>
            </a:solidFill>
            <a:tailEnd type="triangle" w="med" h="med"/>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7498079" y="3246120"/>
            <a:ext cx="822960" cy="457200"/>
          </a:xfrm>
          <a:prstGeom prst="rect">
            <a:avLst/>
          </a:prstGeom>
          <a:noFill/>
        </p:spPr>
        <p:txBody>
          <a:bodyPr wrap="square" anchor="t" lIns="0" rIns="0" tIns="0" bIns="0">
            <a:spAutoFit/>
          </a:bodyPr>
          <a:lstStyle/>
          <a:p>
            <a:pPr algn="ctr">
              <a:lnSpc>
                <a:spcPct val="105000"/>
              </a:lnSpc>
            </a:pPr>
            <a:r>
              <a:rPr sz="1050" b="1" i="0">
                <a:solidFill>
                  <a:srgbClr val="6B7280"/>
                </a:solidFill>
                <a:latin typeface="Calibri"/>
              </a:rPr>
              <a:t>no MUST</a:t>
            </a:r>
          </a:p>
        </p:txBody>
      </p:sp>
      <p:sp>
        <p:nvSpPr>
          <p:cNvPr id="16" name="Rounded Rectangle 15"/>
          <p:cNvSpPr/>
          <p:nvPr/>
        </p:nvSpPr>
        <p:spPr>
          <a:xfrm>
            <a:off x="8321040" y="1920240"/>
            <a:ext cx="3017520" cy="2468880"/>
          </a:xfrm>
          <a:prstGeom prst="roundRect">
            <a:avLst/>
          </a:prstGeom>
          <a:solidFill>
            <a:srgbClr val="FFFFFF"/>
          </a:solidFill>
          <a:ln w="44450">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49640" y="2103120"/>
            <a:ext cx="2606040" cy="411480"/>
          </a:xfrm>
          <a:prstGeom prst="rect">
            <a:avLst/>
          </a:prstGeom>
          <a:noFill/>
        </p:spPr>
        <p:txBody>
          <a:bodyPr wrap="square" anchor="t">
            <a:spAutoFit/>
          </a:bodyPr>
          <a:lstStyle/>
          <a:p>
            <a:pPr algn="l">
              <a:lnSpc>
                <a:spcPct val="105000"/>
              </a:lnSpc>
            </a:pPr>
            <a:r>
              <a:rPr sz="1900" b="1" i="0">
                <a:solidFill>
                  <a:srgbClr val="000000"/>
                </a:solidFill>
                <a:latin typeface="Calibri"/>
              </a:rPr>
              <a:t>SHARED HABIT</a:t>
            </a:r>
          </a:p>
        </p:txBody>
      </p:sp>
      <p:sp>
        <p:nvSpPr>
          <p:cNvPr id="18" name="TextBox 17"/>
          <p:cNvSpPr txBox="1"/>
          <p:nvPr/>
        </p:nvSpPr>
        <p:spPr>
          <a:xfrm>
            <a:off x="8549640" y="2606040"/>
            <a:ext cx="2606040" cy="1280160"/>
          </a:xfrm>
          <a:prstGeom prst="rect">
            <a:avLst/>
          </a:prstGeom>
          <a:noFill/>
        </p:spPr>
        <p:txBody>
          <a:bodyPr wrap="square" anchor="t">
            <a:spAutoFit/>
          </a:bodyPr>
          <a:lstStyle/>
          <a:p>
            <a:pPr algn="l">
              <a:lnSpc>
                <a:spcPct val="105000"/>
              </a:lnSpc>
            </a:pPr>
            <a:r>
              <a:rPr sz="1500" b="0" i="0">
                <a:solidFill>
                  <a:srgbClr val="000000"/>
                </a:solidFill>
                <a:latin typeface="Calibri"/>
              </a:rPr>
              <a:t>No MUST, MAY, or MUST NOT. Just who does what, and when.</a:t>
            </a:r>
          </a:p>
        </p:txBody>
      </p:sp>
      <p:sp>
        <p:nvSpPr>
          <p:cNvPr id="19" name="TextBox 18"/>
          <p:cNvSpPr txBox="1"/>
          <p:nvPr/>
        </p:nvSpPr>
        <p:spPr>
          <a:xfrm>
            <a:off x="8549640" y="3886200"/>
            <a:ext cx="2606040" cy="365760"/>
          </a:xfrm>
          <a:prstGeom prst="rect">
            <a:avLst/>
          </a:prstGeom>
          <a:noFill/>
        </p:spPr>
        <p:txBody>
          <a:bodyPr wrap="square" anchor="t">
            <a:spAutoFit/>
          </a:bodyPr>
          <a:lstStyle/>
          <a:p>
            <a:pPr algn="l">
              <a:lnSpc>
                <a:spcPct val="105000"/>
              </a:lnSpc>
            </a:pPr>
            <a:r>
              <a:rPr sz="1300" b="0" i="1">
                <a:solidFill>
                  <a:srgbClr val="6B7280"/>
                </a:solidFill>
                <a:latin typeface="Calibri"/>
              </a:rPr>
              <a:t>Ostrom: shared strategy</a:t>
            </a:r>
          </a:p>
        </p:txBody>
      </p:sp>
      <p:sp>
        <p:nvSpPr>
          <p:cNvPr id="20" name="Rounded Rectangle 19"/>
          <p:cNvSpPr/>
          <p:nvPr/>
        </p:nvSpPr>
        <p:spPr>
          <a:xfrm>
            <a:off x="640080" y="4709160"/>
            <a:ext cx="10881360" cy="1143000"/>
          </a:xfrm>
          <a:prstGeom prst="round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4800600"/>
            <a:ext cx="10424160" cy="960120"/>
          </a:xfrm>
          <a:prstGeom prst="rect">
            <a:avLst/>
          </a:prstGeom>
          <a:noFill/>
        </p:spPr>
        <p:txBody>
          <a:bodyPr wrap="square" anchor="t">
            <a:spAutoFit/>
          </a:bodyPr>
          <a:lstStyle/>
          <a:p>
            <a:pPr algn="l">
              <a:lnSpc>
                <a:spcPct val="105000"/>
              </a:lnSpc>
            </a:pPr>
            <a:r>
              <a:rPr sz="1500" b="0" i="0">
                <a:solidFill>
                  <a:srgbClr val="000000"/>
                </a:solidFill>
                <a:latin typeface="Calibri"/>
              </a:rPr>
              <a:t>None of these is wrong. Plenty of good agreements are shared expectations. The label shows the group what it has actually agreed to, so nobody is surprised later. A fourth label, CREATING AGREEMENT, marks sentences that set up a role, group, or thing.</a:t>
            </a:r>
          </a:p>
        </p:txBody>
      </p:sp>
      <p:sp>
        <p:nvSpPr>
          <p:cNvPr id="22" name="TextBox 21"/>
          <p:cNvSpPr txBox="1"/>
          <p:nvPr/>
        </p:nvSpPr>
        <p:spPr>
          <a:xfrm>
            <a:off x="640080" y="6400800"/>
            <a:ext cx="5486400" cy="274320"/>
          </a:xfrm>
          <a:prstGeom prst="rect">
            <a:avLst/>
          </a:prstGeom>
          <a:noFill/>
        </p:spPr>
        <p:txBody>
          <a:bodyPr wrap="square" anchor="t">
            <a:spAutoFit/>
          </a:bodyPr>
          <a:lstStyle/>
          <a:p>
            <a:pPr algn="l">
              <a:lnSpc>
                <a:spcPct val="105000"/>
              </a:lnSpc>
            </a:pPr>
            <a:r>
              <a:rPr sz="1000" b="0" i="0">
                <a:solidFill>
                  <a:srgbClr val="6B7280"/>
                </a:solidFill>
                <a:latin typeface="Calibri"/>
              </a:rPr>
              <a:t>RCN · Agreement Checker</a:t>
            </a:r>
          </a:p>
        </p:txBody>
      </p:sp>
      <p:sp>
        <p:nvSpPr>
          <p:cNvPr id="23" name="TextBox 22"/>
          <p:cNvSpPr txBox="1"/>
          <p:nvPr/>
        </p:nvSpPr>
        <p:spPr>
          <a:xfrm>
            <a:off x="10972800" y="6400800"/>
            <a:ext cx="548640" cy="274320"/>
          </a:xfrm>
          <a:prstGeom prst="rect">
            <a:avLst/>
          </a:prstGeom>
          <a:noFill/>
        </p:spPr>
        <p:txBody>
          <a:bodyPr wrap="square" anchor="t">
            <a:spAutoFit/>
          </a:bodyPr>
          <a:lstStyle/>
          <a:p>
            <a:pPr algn="r">
              <a:lnSpc>
                <a:spcPct val="105000"/>
              </a:lnSpc>
            </a:pPr>
            <a:r>
              <a:rPr sz="1000" b="0" i="0">
                <a:solidFill>
                  <a:srgbClr val="6B7280"/>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11480"/>
            <a:ext cx="10515600" cy="320040"/>
          </a:xfrm>
          <a:prstGeom prst="rect">
            <a:avLst/>
          </a:prstGeom>
          <a:noFill/>
        </p:spPr>
        <p:txBody>
          <a:bodyPr wrap="square" anchor="t">
            <a:spAutoFit/>
          </a:bodyPr>
          <a:lstStyle/>
          <a:p>
            <a:pPr algn="l">
              <a:lnSpc>
                <a:spcPct val="105000"/>
              </a:lnSpc>
            </a:pPr>
            <a:r>
              <a:rPr sz="1200" b="1" i="0">
                <a:solidFill>
                  <a:srgbClr val="1D4ED8"/>
                </a:solidFill>
                <a:latin typeface="Calibri"/>
              </a:rPr>
              <a:t>TAKE IT WITH YOU</a:t>
            </a:r>
          </a:p>
        </p:txBody>
      </p:sp>
      <p:sp>
        <p:nvSpPr>
          <p:cNvPr id="3" name="TextBox 2"/>
          <p:cNvSpPr txBox="1"/>
          <p:nvPr/>
        </p:nvSpPr>
        <p:spPr>
          <a:xfrm>
            <a:off x="640080" y="731520"/>
            <a:ext cx="10972800" cy="914400"/>
          </a:xfrm>
          <a:prstGeom prst="rect">
            <a:avLst/>
          </a:prstGeom>
          <a:noFill/>
        </p:spPr>
        <p:txBody>
          <a:bodyPr wrap="square" anchor="t">
            <a:spAutoFit/>
          </a:bodyPr>
          <a:lstStyle/>
          <a:p>
            <a:pPr algn="l">
              <a:lnSpc>
                <a:spcPct val="105000"/>
              </a:lnSpc>
            </a:pPr>
            <a:r>
              <a:rPr sz="3400" b="1" i="0">
                <a:solidFill>
                  <a:srgbClr val="000000"/>
                </a:solidFill>
                <a:latin typeface="Calibri"/>
              </a:rPr>
              <a:t>Rewritten, drawn, and shared</a:t>
            </a:r>
          </a:p>
        </p:txBody>
      </p:sp>
      <p:sp>
        <p:nvSpPr>
          <p:cNvPr id="4" name="Rectangle 3"/>
          <p:cNvSpPr/>
          <p:nvPr/>
        </p:nvSpPr>
        <p:spPr>
          <a:xfrm>
            <a:off x="612647" y="1664208"/>
            <a:ext cx="7004303" cy="4065683"/>
          </a:xfrm>
          <a:prstGeom prst="rect">
            <a:avLst/>
          </a:prstGeom>
          <a:solidFill>
            <a:srgbClr val="FFFFFF"/>
          </a:solidFill>
          <a:ln w="12700">
            <a:solidFill>
              <a:srgbClr val="D4D4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07-graph-export.png"/>
          <p:cNvPicPr>
            <a:picLocks noChangeAspect="1"/>
          </p:cNvPicPr>
          <p:nvPr/>
        </p:nvPicPr>
        <p:blipFill>
          <a:blip r:embed="rId2"/>
          <a:stretch>
            <a:fillRect/>
          </a:stretch>
        </p:blipFill>
        <p:spPr>
          <a:xfrm>
            <a:off x="640080" y="1691640"/>
            <a:ext cx="6949440" cy="4010819"/>
          </a:xfrm>
          <a:prstGeom prst="rect">
            <a:avLst/>
          </a:prstGeom>
        </p:spPr>
      </p:pic>
      <p:sp>
        <p:nvSpPr>
          <p:cNvPr id="6" name="TextBox 5"/>
          <p:cNvSpPr txBox="1"/>
          <p:nvPr/>
        </p:nvSpPr>
        <p:spPr>
          <a:xfrm>
            <a:off x="8001000" y="1783080"/>
            <a:ext cx="3566160" cy="365760"/>
          </a:xfrm>
          <a:prstGeom prst="rect">
            <a:avLst/>
          </a:prstGeom>
          <a:noFill/>
        </p:spPr>
        <p:txBody>
          <a:bodyPr wrap="square" anchor="t">
            <a:spAutoFit/>
          </a:bodyPr>
          <a:lstStyle/>
          <a:p>
            <a:pPr algn="l">
              <a:lnSpc>
                <a:spcPct val="105000"/>
              </a:lnSpc>
            </a:pPr>
            <a:r>
              <a:rPr sz="1700" b="1" i="0">
                <a:solidFill>
                  <a:srgbClr val="000000"/>
                </a:solidFill>
                <a:latin typeface="Calibri"/>
              </a:rPr>
              <a:t>Rewritten</a:t>
            </a:r>
          </a:p>
        </p:txBody>
      </p:sp>
      <p:sp>
        <p:nvSpPr>
          <p:cNvPr id="7" name="TextBox 6"/>
          <p:cNvSpPr txBox="1"/>
          <p:nvPr/>
        </p:nvSpPr>
        <p:spPr>
          <a:xfrm>
            <a:off x="8001000" y="2130552"/>
            <a:ext cx="3566160" cy="731520"/>
          </a:xfrm>
          <a:prstGeom prst="rect">
            <a:avLst/>
          </a:prstGeom>
          <a:noFill/>
        </p:spPr>
        <p:txBody>
          <a:bodyPr wrap="square" anchor="t">
            <a:spAutoFit/>
          </a:bodyPr>
          <a:lstStyle/>
          <a:p>
            <a:pPr algn="l">
              <a:lnSpc>
                <a:spcPct val="105000"/>
              </a:lnSpc>
            </a:pPr>
            <a:r>
              <a:rPr sz="1400" b="0" i="0">
                <a:solidFill>
                  <a:srgbClr val="000000"/>
                </a:solidFill>
                <a:latin typeface="Calibri"/>
              </a:rPr>
              <a:t>The agreement rebuilt from your answers, one MUST per sentence, ready to read aloud.</a:t>
            </a:r>
          </a:p>
        </p:txBody>
      </p:sp>
      <p:sp>
        <p:nvSpPr>
          <p:cNvPr id="8" name="TextBox 7"/>
          <p:cNvSpPr txBox="1"/>
          <p:nvPr/>
        </p:nvSpPr>
        <p:spPr>
          <a:xfrm>
            <a:off x="8001000" y="2880360"/>
            <a:ext cx="3566160" cy="365760"/>
          </a:xfrm>
          <a:prstGeom prst="rect">
            <a:avLst/>
          </a:prstGeom>
          <a:noFill/>
        </p:spPr>
        <p:txBody>
          <a:bodyPr wrap="square" anchor="t">
            <a:spAutoFit/>
          </a:bodyPr>
          <a:lstStyle/>
          <a:p>
            <a:pPr algn="l">
              <a:lnSpc>
                <a:spcPct val="105000"/>
              </a:lnSpc>
            </a:pPr>
            <a:r>
              <a:rPr sz="1700" b="1" i="0">
                <a:solidFill>
                  <a:srgbClr val="000000"/>
                </a:solidFill>
                <a:latin typeface="Calibri"/>
              </a:rPr>
              <a:t>Drawn</a:t>
            </a:r>
          </a:p>
        </p:txBody>
      </p:sp>
      <p:sp>
        <p:nvSpPr>
          <p:cNvPr id="9" name="TextBox 8"/>
          <p:cNvSpPr txBox="1"/>
          <p:nvPr/>
        </p:nvSpPr>
        <p:spPr>
          <a:xfrm>
            <a:off x="8001000" y="3227832"/>
            <a:ext cx="3566160" cy="731520"/>
          </a:xfrm>
          <a:prstGeom prst="rect">
            <a:avLst/>
          </a:prstGeom>
          <a:noFill/>
        </p:spPr>
        <p:txBody>
          <a:bodyPr wrap="square" anchor="t">
            <a:spAutoFit/>
          </a:bodyPr>
          <a:lstStyle/>
          <a:p>
            <a:pPr algn="l">
              <a:lnSpc>
                <a:spcPct val="105000"/>
              </a:lnSpc>
            </a:pPr>
            <a:r>
              <a:rPr sz="1400" b="0" i="0">
                <a:solidFill>
                  <a:srgbClr val="000000"/>
                </a:solidFill>
                <a:latin typeface="Calibri"/>
              </a:rPr>
              <a:t>Opens in the RCN Graph Tool: each sentence with its answers, red arrows for what backs what.</a:t>
            </a:r>
          </a:p>
        </p:txBody>
      </p:sp>
      <p:sp>
        <p:nvSpPr>
          <p:cNvPr id="10" name="TextBox 9"/>
          <p:cNvSpPr txBox="1"/>
          <p:nvPr/>
        </p:nvSpPr>
        <p:spPr>
          <a:xfrm>
            <a:off x="8001000" y="3977639"/>
            <a:ext cx="3566160" cy="365760"/>
          </a:xfrm>
          <a:prstGeom prst="rect">
            <a:avLst/>
          </a:prstGeom>
          <a:noFill/>
        </p:spPr>
        <p:txBody>
          <a:bodyPr wrap="square" anchor="t">
            <a:spAutoFit/>
          </a:bodyPr>
          <a:lstStyle/>
          <a:p>
            <a:pPr algn="l">
              <a:lnSpc>
                <a:spcPct val="105000"/>
              </a:lnSpc>
            </a:pPr>
            <a:r>
              <a:rPr sz="1700" b="1" i="0">
                <a:solidFill>
                  <a:srgbClr val="000000"/>
                </a:solidFill>
                <a:latin typeface="Calibri"/>
              </a:rPr>
              <a:t>Shared</a:t>
            </a:r>
          </a:p>
        </p:txBody>
      </p:sp>
      <p:sp>
        <p:nvSpPr>
          <p:cNvPr id="11" name="TextBox 10"/>
          <p:cNvSpPr txBox="1"/>
          <p:nvPr/>
        </p:nvSpPr>
        <p:spPr>
          <a:xfrm>
            <a:off x="8001000" y="4325112"/>
            <a:ext cx="3566160" cy="731520"/>
          </a:xfrm>
          <a:prstGeom prst="rect">
            <a:avLst/>
          </a:prstGeom>
          <a:noFill/>
        </p:spPr>
        <p:txBody>
          <a:bodyPr wrap="square" anchor="t">
            <a:spAutoFit/>
          </a:bodyPr>
          <a:lstStyle/>
          <a:p>
            <a:pPr algn="l">
              <a:lnSpc>
                <a:spcPct val="105000"/>
              </a:lnSpc>
            </a:pPr>
            <a:r>
              <a:rPr sz="1400" b="0" i="0">
                <a:solidFill>
                  <a:srgbClr val="000000"/>
                </a:solidFill>
                <a:latin typeface="Calibri"/>
              </a:rPr>
              <a:t>Copy a link that carries the text, or save the drawing as a file.</a:t>
            </a:r>
          </a:p>
        </p:txBody>
      </p:sp>
      <p:sp>
        <p:nvSpPr>
          <p:cNvPr id="12" name="TextBox 11"/>
          <p:cNvSpPr txBox="1"/>
          <p:nvPr/>
        </p:nvSpPr>
        <p:spPr>
          <a:xfrm>
            <a:off x="8001000" y="5074920"/>
            <a:ext cx="3566160" cy="365760"/>
          </a:xfrm>
          <a:prstGeom prst="rect">
            <a:avLst/>
          </a:prstGeom>
          <a:noFill/>
        </p:spPr>
        <p:txBody>
          <a:bodyPr wrap="square" anchor="t">
            <a:spAutoFit/>
          </a:bodyPr>
          <a:lstStyle/>
          <a:p>
            <a:pPr algn="l">
              <a:lnSpc>
                <a:spcPct val="105000"/>
              </a:lnSpc>
            </a:pPr>
            <a:r>
              <a:rPr sz="1700" b="1" i="0">
                <a:solidFill>
                  <a:srgbClr val="000000"/>
                </a:solidFill>
                <a:latin typeface="Calibri"/>
              </a:rPr>
              <a:t>Ostrom's coding</a:t>
            </a:r>
          </a:p>
        </p:txBody>
      </p:sp>
      <p:sp>
        <p:nvSpPr>
          <p:cNvPr id="13" name="TextBox 12"/>
          <p:cNvSpPr txBox="1"/>
          <p:nvPr/>
        </p:nvSpPr>
        <p:spPr>
          <a:xfrm>
            <a:off x="8001000" y="5422392"/>
            <a:ext cx="3566160" cy="731520"/>
          </a:xfrm>
          <a:prstGeom prst="rect">
            <a:avLst/>
          </a:prstGeom>
          <a:noFill/>
        </p:spPr>
        <p:txBody>
          <a:bodyPr wrap="square" anchor="t">
            <a:spAutoFit/>
          </a:bodyPr>
          <a:lstStyle/>
          <a:p>
            <a:pPr algn="l">
              <a:lnSpc>
                <a:spcPct val="105000"/>
              </a:lnSpc>
            </a:pPr>
            <a:r>
              <a:rPr sz="1400" b="0" i="0">
                <a:solidFill>
                  <a:srgbClr val="000000"/>
                </a:solidFill>
                <a:latin typeface="Calibri"/>
              </a:rPr>
              <a:t>One click away on every sentence, for anyone who wants to check the translation.</a:t>
            </a:r>
          </a:p>
        </p:txBody>
      </p:sp>
      <p:sp>
        <p:nvSpPr>
          <p:cNvPr id="14" name="TextBox 13"/>
          <p:cNvSpPr txBox="1"/>
          <p:nvPr/>
        </p:nvSpPr>
        <p:spPr>
          <a:xfrm>
            <a:off x="640080" y="6400800"/>
            <a:ext cx="5486400" cy="274320"/>
          </a:xfrm>
          <a:prstGeom prst="rect">
            <a:avLst/>
          </a:prstGeom>
          <a:noFill/>
        </p:spPr>
        <p:txBody>
          <a:bodyPr wrap="square" anchor="t">
            <a:spAutoFit/>
          </a:bodyPr>
          <a:lstStyle/>
          <a:p>
            <a:pPr algn="l">
              <a:lnSpc>
                <a:spcPct val="105000"/>
              </a:lnSpc>
            </a:pPr>
            <a:r>
              <a:rPr sz="1000" b="0" i="0">
                <a:solidFill>
                  <a:srgbClr val="6B7280"/>
                </a:solidFill>
                <a:latin typeface="Calibri"/>
              </a:rPr>
              <a:t>RCN · Agreement Checker</a:t>
            </a:r>
          </a:p>
        </p:txBody>
      </p:sp>
      <p:sp>
        <p:nvSpPr>
          <p:cNvPr id="15" name="TextBox 14"/>
          <p:cNvSpPr txBox="1"/>
          <p:nvPr/>
        </p:nvSpPr>
        <p:spPr>
          <a:xfrm>
            <a:off x="10972800" y="6400800"/>
            <a:ext cx="548640" cy="274320"/>
          </a:xfrm>
          <a:prstGeom prst="rect">
            <a:avLst/>
          </a:prstGeom>
          <a:noFill/>
        </p:spPr>
        <p:txBody>
          <a:bodyPr wrap="square" anchor="t">
            <a:spAutoFit/>
          </a:bodyPr>
          <a:lstStyle/>
          <a:p>
            <a:pPr algn="r">
              <a:lnSpc>
                <a:spcPct val="105000"/>
              </a:lnSpc>
            </a:pPr>
            <a:r>
              <a:rPr sz="1000" b="0" i="0">
                <a:solidFill>
                  <a:srgbClr val="6B7280"/>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11480"/>
            <a:ext cx="10515600" cy="320040"/>
          </a:xfrm>
          <a:prstGeom prst="rect">
            <a:avLst/>
          </a:prstGeom>
          <a:noFill/>
        </p:spPr>
        <p:txBody>
          <a:bodyPr wrap="square" anchor="t">
            <a:spAutoFit/>
          </a:bodyPr>
          <a:lstStyle/>
          <a:p>
            <a:pPr algn="l">
              <a:lnSpc>
                <a:spcPct val="105000"/>
              </a:lnSpc>
            </a:pPr>
            <a:r>
              <a:rPr sz="1200" b="1" i="0">
                <a:solidFill>
                  <a:srgbClr val="1D4ED8"/>
                </a:solidFill>
                <a:latin typeface="Calibri"/>
              </a:rPr>
              <a:t>USING IT WELL</a:t>
            </a:r>
          </a:p>
        </p:txBody>
      </p:sp>
      <p:sp>
        <p:nvSpPr>
          <p:cNvPr id="3" name="TextBox 2"/>
          <p:cNvSpPr txBox="1"/>
          <p:nvPr/>
        </p:nvSpPr>
        <p:spPr>
          <a:xfrm>
            <a:off x="640080" y="731520"/>
            <a:ext cx="10972800" cy="914400"/>
          </a:xfrm>
          <a:prstGeom prst="rect">
            <a:avLst/>
          </a:prstGeom>
          <a:noFill/>
        </p:spPr>
        <p:txBody>
          <a:bodyPr wrap="square" anchor="t">
            <a:spAutoFit/>
          </a:bodyPr>
          <a:lstStyle/>
          <a:p>
            <a:pPr algn="l">
              <a:lnSpc>
                <a:spcPct val="105000"/>
              </a:lnSpc>
            </a:pPr>
            <a:r>
              <a:rPr sz="3400" b="1" i="0">
                <a:solidFill>
                  <a:srgbClr val="000000"/>
                </a:solidFill>
                <a:latin typeface="Calibri"/>
              </a:rPr>
              <a:t>Run it with the group, not for them</a:t>
            </a:r>
          </a:p>
        </p:txBody>
      </p:sp>
      <p:sp>
        <p:nvSpPr>
          <p:cNvPr id="4" name="Oval 3"/>
          <p:cNvSpPr/>
          <p:nvPr/>
        </p:nvSpPr>
        <p:spPr>
          <a:xfrm>
            <a:off x="640080" y="1828800"/>
            <a:ext cx="457200" cy="457200"/>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828800"/>
            <a:ext cx="457200" cy="457200"/>
          </a:xfrm>
          <a:prstGeom prst="rect">
            <a:avLst/>
          </a:prstGeom>
          <a:noFill/>
        </p:spPr>
        <p:txBody>
          <a:bodyPr wrap="square" anchor="ctr" lIns="0" rIns="0" tIns="0" bIns="0">
            <a:spAutoFit/>
          </a:bodyPr>
          <a:lstStyle/>
          <a:p>
            <a:pPr algn="ctr">
              <a:lnSpc>
                <a:spcPct val="105000"/>
              </a:lnSpc>
            </a:pPr>
            <a:r>
              <a:rPr sz="1600" b="1" i="0">
                <a:solidFill>
                  <a:srgbClr val="FFFFFF"/>
                </a:solidFill>
                <a:latin typeface="Calibri"/>
              </a:rPr>
              <a:t>1</a:t>
            </a:r>
          </a:p>
        </p:txBody>
      </p:sp>
      <p:sp>
        <p:nvSpPr>
          <p:cNvPr id="6" name="TextBox 5"/>
          <p:cNvSpPr txBox="1"/>
          <p:nvPr/>
        </p:nvSpPr>
        <p:spPr>
          <a:xfrm>
            <a:off x="1280160" y="1810512"/>
            <a:ext cx="5120640" cy="548640"/>
          </a:xfrm>
          <a:prstGeom prst="rect">
            <a:avLst/>
          </a:prstGeom>
          <a:noFill/>
        </p:spPr>
        <p:txBody>
          <a:bodyPr wrap="square" anchor="ctr">
            <a:spAutoFit/>
          </a:bodyPr>
          <a:lstStyle/>
          <a:p>
            <a:pPr algn="l">
              <a:lnSpc>
                <a:spcPct val="105000"/>
              </a:lnSpc>
            </a:pPr>
            <a:r>
              <a:rPr sz="1600" b="0" i="0">
                <a:solidFill>
                  <a:srgbClr val="000000"/>
                </a:solidFill>
                <a:latin typeface="Calibri"/>
              </a:rPr>
              <a:t>Put it on a screen everyone can see. One person types.</a:t>
            </a:r>
          </a:p>
        </p:txBody>
      </p:sp>
      <p:sp>
        <p:nvSpPr>
          <p:cNvPr id="7" name="Oval 6"/>
          <p:cNvSpPr/>
          <p:nvPr/>
        </p:nvSpPr>
        <p:spPr>
          <a:xfrm>
            <a:off x="640080" y="2542032"/>
            <a:ext cx="457200" cy="457200"/>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542032"/>
            <a:ext cx="457200" cy="457200"/>
          </a:xfrm>
          <a:prstGeom prst="rect">
            <a:avLst/>
          </a:prstGeom>
          <a:noFill/>
        </p:spPr>
        <p:txBody>
          <a:bodyPr wrap="square" anchor="ctr" lIns="0" rIns="0" tIns="0" bIns="0">
            <a:spAutoFit/>
          </a:bodyPr>
          <a:lstStyle/>
          <a:p>
            <a:pPr algn="ctr">
              <a:lnSpc>
                <a:spcPct val="105000"/>
              </a:lnSpc>
            </a:pPr>
            <a:r>
              <a:rPr sz="1600" b="1" i="0">
                <a:solidFill>
                  <a:srgbClr val="FFFFFF"/>
                </a:solidFill>
                <a:latin typeface="Calibri"/>
              </a:rPr>
              <a:t>2</a:t>
            </a:r>
          </a:p>
        </p:txBody>
      </p:sp>
      <p:sp>
        <p:nvSpPr>
          <p:cNvPr id="9" name="TextBox 8"/>
          <p:cNvSpPr txBox="1"/>
          <p:nvPr/>
        </p:nvSpPr>
        <p:spPr>
          <a:xfrm>
            <a:off x="1280160" y="2523744"/>
            <a:ext cx="5120640" cy="548640"/>
          </a:xfrm>
          <a:prstGeom prst="rect">
            <a:avLst/>
          </a:prstGeom>
          <a:noFill/>
        </p:spPr>
        <p:txBody>
          <a:bodyPr wrap="square" anchor="ctr">
            <a:spAutoFit/>
          </a:bodyPr>
          <a:lstStyle/>
          <a:p>
            <a:pPr algn="l">
              <a:lnSpc>
                <a:spcPct val="105000"/>
              </a:lnSpc>
            </a:pPr>
            <a:r>
              <a:rPr sz="1600" b="0" i="0">
                <a:solidFill>
                  <a:srgbClr val="000000"/>
                </a:solidFill>
                <a:latin typeface="Calibri"/>
              </a:rPr>
              <a:t>Paste the agreement as it stands, warts and all.</a:t>
            </a:r>
          </a:p>
        </p:txBody>
      </p:sp>
      <p:sp>
        <p:nvSpPr>
          <p:cNvPr id="10" name="Oval 9"/>
          <p:cNvSpPr/>
          <p:nvPr/>
        </p:nvSpPr>
        <p:spPr>
          <a:xfrm>
            <a:off x="640080" y="3255264"/>
            <a:ext cx="457200" cy="457200"/>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3255264"/>
            <a:ext cx="457200" cy="457200"/>
          </a:xfrm>
          <a:prstGeom prst="rect">
            <a:avLst/>
          </a:prstGeom>
          <a:noFill/>
        </p:spPr>
        <p:txBody>
          <a:bodyPr wrap="square" anchor="ctr" lIns="0" rIns="0" tIns="0" bIns="0">
            <a:spAutoFit/>
          </a:bodyPr>
          <a:lstStyle/>
          <a:p>
            <a:pPr algn="ctr">
              <a:lnSpc>
                <a:spcPct val="105000"/>
              </a:lnSpc>
            </a:pPr>
            <a:r>
              <a:rPr sz="1600" b="1" i="0">
                <a:solidFill>
                  <a:srgbClr val="FFFFFF"/>
                </a:solidFill>
                <a:latin typeface="Calibri"/>
              </a:rPr>
              <a:t>3</a:t>
            </a:r>
          </a:p>
        </p:txBody>
      </p:sp>
      <p:sp>
        <p:nvSpPr>
          <p:cNvPr id="12" name="TextBox 11"/>
          <p:cNvSpPr txBox="1"/>
          <p:nvPr/>
        </p:nvSpPr>
        <p:spPr>
          <a:xfrm>
            <a:off x="1280160" y="3236976"/>
            <a:ext cx="5120640" cy="548640"/>
          </a:xfrm>
          <a:prstGeom prst="rect">
            <a:avLst/>
          </a:prstGeom>
          <a:noFill/>
        </p:spPr>
        <p:txBody>
          <a:bodyPr wrap="square" anchor="ctr">
            <a:spAutoFit/>
          </a:bodyPr>
          <a:lstStyle/>
          <a:p>
            <a:pPr algn="l">
              <a:lnSpc>
                <a:spcPct val="105000"/>
              </a:lnSpc>
            </a:pPr>
            <a:r>
              <a:rPr sz="1600" b="0" i="0">
                <a:solidFill>
                  <a:srgbClr val="000000"/>
                </a:solidFill>
                <a:latin typeface="Calibri"/>
              </a:rPr>
              <a:t>Work down the questions one at a time. Read each aloud.</a:t>
            </a:r>
          </a:p>
        </p:txBody>
      </p:sp>
      <p:sp>
        <p:nvSpPr>
          <p:cNvPr id="13" name="Oval 12"/>
          <p:cNvSpPr/>
          <p:nvPr/>
        </p:nvSpPr>
        <p:spPr>
          <a:xfrm>
            <a:off x="640080" y="3968496"/>
            <a:ext cx="457200" cy="457200"/>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3968496"/>
            <a:ext cx="457200" cy="457200"/>
          </a:xfrm>
          <a:prstGeom prst="rect">
            <a:avLst/>
          </a:prstGeom>
          <a:noFill/>
        </p:spPr>
        <p:txBody>
          <a:bodyPr wrap="square" anchor="ctr" lIns="0" rIns="0" tIns="0" bIns="0">
            <a:spAutoFit/>
          </a:bodyPr>
          <a:lstStyle/>
          <a:p>
            <a:pPr algn="ctr">
              <a:lnSpc>
                <a:spcPct val="105000"/>
              </a:lnSpc>
            </a:pPr>
            <a:r>
              <a:rPr sz="1600" b="1" i="0">
                <a:solidFill>
                  <a:srgbClr val="FFFFFF"/>
                </a:solidFill>
                <a:latin typeface="Calibri"/>
              </a:rPr>
              <a:t>4</a:t>
            </a:r>
          </a:p>
        </p:txBody>
      </p:sp>
      <p:sp>
        <p:nvSpPr>
          <p:cNvPr id="15" name="TextBox 14"/>
          <p:cNvSpPr txBox="1"/>
          <p:nvPr/>
        </p:nvSpPr>
        <p:spPr>
          <a:xfrm>
            <a:off x="1280160" y="3950208"/>
            <a:ext cx="5120640" cy="548640"/>
          </a:xfrm>
          <a:prstGeom prst="rect">
            <a:avLst/>
          </a:prstGeom>
          <a:noFill/>
        </p:spPr>
        <p:txBody>
          <a:bodyPr wrap="square" anchor="ctr">
            <a:spAutoFit/>
          </a:bodyPr>
          <a:lstStyle/>
          <a:p>
            <a:pPr algn="l">
              <a:lnSpc>
                <a:spcPct val="105000"/>
              </a:lnSpc>
            </a:pPr>
            <a:r>
              <a:rPr sz="1600" b="0" i="0">
                <a:solidFill>
                  <a:srgbClr val="000000"/>
                </a:solidFill>
                <a:latin typeface="Calibri"/>
              </a:rPr>
              <a:t>When the group disagrees, the question has found something.</a:t>
            </a:r>
          </a:p>
        </p:txBody>
      </p:sp>
      <p:sp>
        <p:nvSpPr>
          <p:cNvPr id="16" name="Oval 15"/>
          <p:cNvSpPr/>
          <p:nvPr/>
        </p:nvSpPr>
        <p:spPr>
          <a:xfrm>
            <a:off x="640080" y="4681728"/>
            <a:ext cx="457200" cy="457200"/>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4681728"/>
            <a:ext cx="457200" cy="457200"/>
          </a:xfrm>
          <a:prstGeom prst="rect">
            <a:avLst/>
          </a:prstGeom>
          <a:noFill/>
        </p:spPr>
        <p:txBody>
          <a:bodyPr wrap="square" anchor="ctr" lIns="0" rIns="0" tIns="0" bIns="0">
            <a:spAutoFit/>
          </a:bodyPr>
          <a:lstStyle/>
          <a:p>
            <a:pPr algn="ctr">
              <a:lnSpc>
                <a:spcPct val="105000"/>
              </a:lnSpc>
            </a:pPr>
            <a:r>
              <a:rPr sz="1600" b="1" i="0">
                <a:solidFill>
                  <a:srgbClr val="FFFFFF"/>
                </a:solidFill>
                <a:latin typeface="Calibri"/>
              </a:rPr>
              <a:t>5</a:t>
            </a:r>
          </a:p>
        </p:txBody>
      </p:sp>
      <p:sp>
        <p:nvSpPr>
          <p:cNvPr id="18" name="TextBox 17"/>
          <p:cNvSpPr txBox="1"/>
          <p:nvPr/>
        </p:nvSpPr>
        <p:spPr>
          <a:xfrm>
            <a:off x="1280160" y="4663440"/>
            <a:ext cx="5120640" cy="548640"/>
          </a:xfrm>
          <a:prstGeom prst="rect">
            <a:avLst/>
          </a:prstGeom>
          <a:noFill/>
        </p:spPr>
        <p:txBody>
          <a:bodyPr wrap="square" anchor="ctr">
            <a:spAutoFit/>
          </a:bodyPr>
          <a:lstStyle/>
          <a:p>
            <a:pPr algn="l">
              <a:lnSpc>
                <a:spcPct val="105000"/>
              </a:lnSpc>
            </a:pPr>
            <a:r>
              <a:rPr sz="1600" b="0" i="0">
                <a:solidFill>
                  <a:srgbClr val="000000"/>
                </a:solidFill>
                <a:latin typeface="Calibri"/>
              </a:rPr>
              <a:t>Read the rewritten agreement aloud before anyone agrees.</a:t>
            </a:r>
          </a:p>
        </p:txBody>
      </p:sp>
      <p:sp>
        <p:nvSpPr>
          <p:cNvPr id="19" name="Rounded Rectangle 18"/>
          <p:cNvSpPr/>
          <p:nvPr/>
        </p:nvSpPr>
        <p:spPr>
          <a:xfrm>
            <a:off x="6858000" y="1828800"/>
            <a:ext cx="4663440" cy="3749039"/>
          </a:xfrm>
          <a:prstGeom prst="round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132320" y="1965960"/>
            <a:ext cx="4206240" cy="320040"/>
          </a:xfrm>
          <a:prstGeom prst="rect">
            <a:avLst/>
          </a:prstGeom>
          <a:noFill/>
        </p:spPr>
        <p:txBody>
          <a:bodyPr wrap="square" anchor="t">
            <a:spAutoFit/>
          </a:bodyPr>
          <a:lstStyle/>
          <a:p>
            <a:pPr algn="l">
              <a:lnSpc>
                <a:spcPct val="105000"/>
              </a:lnSpc>
            </a:pPr>
            <a:r>
              <a:rPr sz="1200" b="1" i="0">
                <a:solidFill>
                  <a:srgbClr val="6B7280"/>
                </a:solidFill>
                <a:latin typeface="Calibri"/>
              </a:rPr>
              <a:t>WHAT IT DOES NOT DO</a:t>
            </a:r>
          </a:p>
        </p:txBody>
      </p:sp>
      <p:sp>
        <p:nvSpPr>
          <p:cNvPr id="21" name="TextBox 20"/>
          <p:cNvSpPr txBox="1"/>
          <p:nvPr/>
        </p:nvSpPr>
        <p:spPr>
          <a:xfrm>
            <a:off x="7132320" y="2377440"/>
            <a:ext cx="4206240" cy="731520"/>
          </a:xfrm>
          <a:prstGeom prst="rect">
            <a:avLst/>
          </a:prstGeom>
          <a:noFill/>
        </p:spPr>
        <p:txBody>
          <a:bodyPr wrap="square" anchor="t">
            <a:spAutoFit/>
          </a:bodyPr>
          <a:lstStyle/>
          <a:p>
            <a:pPr algn="l">
              <a:lnSpc>
                <a:spcPct val="105000"/>
              </a:lnSpc>
            </a:pPr>
            <a:r>
              <a:rPr sz="1450" b="0" i="0">
                <a:solidFill>
                  <a:srgbClr val="000000"/>
                </a:solidFill>
                <a:latin typeface="Calibri"/>
              </a:rPr>
              <a:t>—  It reads English word patterns, not meaning. Check every guess.</a:t>
            </a:r>
          </a:p>
        </p:txBody>
      </p:sp>
      <p:sp>
        <p:nvSpPr>
          <p:cNvPr id="22" name="TextBox 21"/>
          <p:cNvSpPr txBox="1"/>
          <p:nvPr/>
        </p:nvSpPr>
        <p:spPr>
          <a:xfrm>
            <a:off x="7132320" y="3154680"/>
            <a:ext cx="4206240" cy="731520"/>
          </a:xfrm>
          <a:prstGeom prst="rect">
            <a:avLst/>
          </a:prstGeom>
          <a:noFill/>
        </p:spPr>
        <p:txBody>
          <a:bodyPr wrap="square" anchor="t">
            <a:spAutoFit/>
          </a:bodyPr>
          <a:lstStyle/>
          <a:p>
            <a:pPr algn="l">
              <a:lnSpc>
                <a:spcPct val="105000"/>
              </a:lnSpc>
            </a:pPr>
            <a:r>
              <a:rPr sz="1450" b="0" i="0">
                <a:solidFill>
                  <a:srgbClr val="000000"/>
                </a:solidFill>
                <a:latin typeface="Calibri"/>
              </a:rPr>
              <a:t>—  It sees only the text you give it: not older bylaws or state law.</a:t>
            </a:r>
          </a:p>
        </p:txBody>
      </p:sp>
      <p:sp>
        <p:nvSpPr>
          <p:cNvPr id="23" name="TextBox 22"/>
          <p:cNvSpPr txBox="1"/>
          <p:nvPr/>
        </p:nvSpPr>
        <p:spPr>
          <a:xfrm>
            <a:off x="7132320" y="3931920"/>
            <a:ext cx="4206240" cy="731520"/>
          </a:xfrm>
          <a:prstGeom prst="rect">
            <a:avLst/>
          </a:prstGeom>
          <a:noFill/>
        </p:spPr>
        <p:txBody>
          <a:bodyPr wrap="square" anchor="t">
            <a:spAutoFit/>
          </a:bodyPr>
          <a:lstStyle/>
          <a:p>
            <a:pPr algn="l">
              <a:lnSpc>
                <a:spcPct val="105000"/>
              </a:lnSpc>
            </a:pPr>
            <a:r>
              <a:rPr sz="1450" b="0" i="0">
                <a:solidFill>
                  <a:srgbClr val="000000"/>
                </a:solidFill>
                <a:latin typeface="Calibri"/>
              </a:rPr>
              <a:t>—  It checks whether an agreement is complete and clear, not whether it is fair.</a:t>
            </a:r>
          </a:p>
        </p:txBody>
      </p:sp>
      <p:sp>
        <p:nvSpPr>
          <p:cNvPr id="24" name="TextBox 23"/>
          <p:cNvSpPr txBox="1"/>
          <p:nvPr/>
        </p:nvSpPr>
        <p:spPr>
          <a:xfrm>
            <a:off x="7132320" y="4709160"/>
            <a:ext cx="4206240" cy="731520"/>
          </a:xfrm>
          <a:prstGeom prst="rect">
            <a:avLst/>
          </a:prstGeom>
          <a:noFill/>
        </p:spPr>
        <p:txBody>
          <a:bodyPr wrap="square" anchor="t">
            <a:spAutoFit/>
          </a:bodyPr>
          <a:lstStyle/>
          <a:p>
            <a:pPr algn="l">
              <a:lnSpc>
                <a:spcPct val="105000"/>
              </a:lnSpc>
            </a:pPr>
            <a:r>
              <a:rPr sz="1450" b="0" i="0">
                <a:solidFill>
                  <a:srgbClr val="000000"/>
                </a:solidFill>
                <a:latin typeface="Calibri"/>
              </a:rPr>
              <a:t>—  It never rewrites your agreement for you. The rewrite is built from your answers.</a:t>
            </a:r>
          </a:p>
        </p:txBody>
      </p:sp>
      <p:sp>
        <p:nvSpPr>
          <p:cNvPr id="25" name="TextBox 24"/>
          <p:cNvSpPr txBox="1"/>
          <p:nvPr/>
        </p:nvSpPr>
        <p:spPr>
          <a:xfrm>
            <a:off x="640080" y="6400800"/>
            <a:ext cx="5486400" cy="274320"/>
          </a:xfrm>
          <a:prstGeom prst="rect">
            <a:avLst/>
          </a:prstGeom>
          <a:noFill/>
        </p:spPr>
        <p:txBody>
          <a:bodyPr wrap="square" anchor="t">
            <a:spAutoFit/>
          </a:bodyPr>
          <a:lstStyle/>
          <a:p>
            <a:pPr algn="l">
              <a:lnSpc>
                <a:spcPct val="105000"/>
              </a:lnSpc>
            </a:pPr>
            <a:r>
              <a:rPr sz="1000" b="0" i="0">
                <a:solidFill>
                  <a:srgbClr val="6B7280"/>
                </a:solidFill>
                <a:latin typeface="Calibri"/>
              </a:rPr>
              <a:t>RCN · Agreement Checker</a:t>
            </a:r>
          </a:p>
        </p:txBody>
      </p:sp>
      <p:sp>
        <p:nvSpPr>
          <p:cNvPr id="26" name="TextBox 25"/>
          <p:cNvSpPr txBox="1"/>
          <p:nvPr/>
        </p:nvSpPr>
        <p:spPr>
          <a:xfrm>
            <a:off x="10972800" y="6400800"/>
            <a:ext cx="548640" cy="274320"/>
          </a:xfrm>
          <a:prstGeom prst="rect">
            <a:avLst/>
          </a:prstGeom>
          <a:noFill/>
        </p:spPr>
        <p:txBody>
          <a:bodyPr wrap="square" anchor="t">
            <a:spAutoFit/>
          </a:bodyPr>
          <a:lstStyle/>
          <a:p>
            <a:pPr algn="r">
              <a:lnSpc>
                <a:spcPct val="105000"/>
              </a:lnSpc>
            </a:pPr>
            <a:r>
              <a:rPr sz="1000" b="0" i="0">
                <a:solidFill>
                  <a:srgbClr val="6B7280"/>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F6FB"/>
        </a:solidFill>
        <a:effectLst/>
      </p:bgPr>
    </p:bg>
    <p:spTree>
      <p:nvGrpSpPr>
        <p:cNvPr id="1" name=""/>
        <p:cNvGrpSpPr/>
        <p:nvPr/>
      </p:nvGrpSpPr>
      <p:grpSpPr/>
      <p:sp>
        <p:nvSpPr>
          <p:cNvPr id="2" name="TextBox 1"/>
          <p:cNvSpPr txBox="1"/>
          <p:nvPr/>
        </p:nvSpPr>
        <p:spPr>
          <a:xfrm>
            <a:off x="822960" y="1554480"/>
            <a:ext cx="10515600" cy="1645920"/>
          </a:xfrm>
          <a:prstGeom prst="rect">
            <a:avLst/>
          </a:prstGeom>
          <a:noFill/>
        </p:spPr>
        <p:txBody>
          <a:bodyPr wrap="square" anchor="t">
            <a:spAutoFit/>
          </a:bodyPr>
          <a:lstStyle/>
          <a:p>
            <a:pPr algn="l">
              <a:lnSpc>
                <a:spcPct val="105000"/>
              </a:lnSpc>
            </a:pPr>
            <a:r>
              <a:rPr sz="3800" b="1" i="0">
                <a:solidFill>
                  <a:srgbClr val="000000"/>
                </a:solidFill>
                <a:latin typeface="Calibri"/>
              </a:rPr>
              <a:t>Open it, paste your agreement,</a:t>
            </a:r>
          </a:p>
          <a:p>
            <a:pPr algn="l">
              <a:lnSpc>
                <a:spcPct val="105000"/>
              </a:lnSpc>
            </a:pPr>
            <a:r>
              <a:rPr sz="3800" b="1" i="0">
                <a:solidFill>
                  <a:srgbClr val="000000"/>
                </a:solidFill>
                <a:latin typeface="Calibri"/>
              </a:rPr>
              <a:t>and read the first question aloud.</a:t>
            </a:r>
          </a:p>
        </p:txBody>
      </p:sp>
      <p:sp>
        <p:nvSpPr>
          <p:cNvPr id="3" name="TextBox 2"/>
          <p:cNvSpPr txBox="1"/>
          <p:nvPr/>
        </p:nvSpPr>
        <p:spPr>
          <a:xfrm>
            <a:off x="822960" y="3429000"/>
            <a:ext cx="10515600" cy="1280160"/>
          </a:xfrm>
          <a:prstGeom prst="rect">
            <a:avLst/>
          </a:prstGeom>
          <a:noFill/>
        </p:spPr>
        <p:txBody>
          <a:bodyPr wrap="square" anchor="t">
            <a:spAutoFit/>
          </a:bodyPr>
          <a:lstStyle/>
          <a:p>
            <a:pPr algn="l">
              <a:lnSpc>
                <a:spcPct val="105000"/>
              </a:lnSpc>
            </a:pPr>
            <a:r>
              <a:rPr sz="1800" b="0" i="0">
                <a:solidFill>
                  <a:srgbClr val="000000"/>
                </a:solidFill>
                <a:latin typeface="Calibri"/>
              </a:rPr>
              <a:t>tools/agreement-checker.html</a:t>
            </a:r>
          </a:p>
          <a:p>
            <a:pPr algn="l">
              <a:lnSpc>
                <a:spcPct val="105000"/>
              </a:lnSpc>
            </a:pPr>
            <a:r>
              <a:rPr sz="1800" b="0" i="0">
                <a:solidFill>
                  <a:srgbClr val="000000"/>
                </a:solidFill>
                <a:latin typeface="Calibri"/>
              </a:rPr>
              <a:t>Introduction: tools/agreement-checker-intro.html</a:t>
            </a:r>
          </a:p>
          <a:p>
            <a:pPr algn="l">
              <a:lnSpc>
                <a:spcPct val="105000"/>
              </a:lnSpc>
            </a:pPr>
            <a:r>
              <a:rPr sz="1800" b="0" i="0">
                <a:solidFill>
                  <a:srgbClr val="000000"/>
                </a:solidFill>
                <a:latin typeface="Calibri"/>
              </a:rPr>
              <a:t>User Manual: tools/agreement-checker-manual.html</a:t>
            </a:r>
          </a:p>
        </p:txBody>
      </p:sp>
      <p:sp>
        <p:nvSpPr>
          <p:cNvPr id="4" name="TextBox 3"/>
          <p:cNvSpPr txBox="1"/>
          <p:nvPr/>
        </p:nvSpPr>
        <p:spPr>
          <a:xfrm>
            <a:off x="822960" y="4892040"/>
            <a:ext cx="10515600" cy="457200"/>
          </a:xfrm>
          <a:prstGeom prst="rect">
            <a:avLst/>
          </a:prstGeom>
          <a:noFill/>
        </p:spPr>
        <p:txBody>
          <a:bodyPr wrap="square" anchor="t">
            <a:spAutoFit/>
          </a:bodyPr>
          <a:lstStyle/>
          <a:p>
            <a:pPr algn="l">
              <a:lnSpc>
                <a:spcPct val="105000"/>
              </a:lnSpc>
            </a:pPr>
            <a:r>
              <a:rPr sz="1400" b="0" i="0">
                <a:solidFill>
                  <a:srgbClr val="6B7280"/>
                </a:solidFill>
                <a:latin typeface="Calibri"/>
              </a:rPr>
              <a:t>Built on Crawford and Ostrom, "A Grammar of Institutions" (1995), and Frantz and Siddiki, Institutional Grammar 2.0 (2021).</a:t>
            </a:r>
          </a:p>
        </p:txBody>
      </p:sp>
      <p:sp>
        <p:nvSpPr>
          <p:cNvPr id="5" name="TextBox 4"/>
          <p:cNvSpPr txBox="1"/>
          <p:nvPr/>
        </p:nvSpPr>
        <p:spPr>
          <a:xfrm>
            <a:off x="822960" y="5760720"/>
            <a:ext cx="10515600" cy="365760"/>
          </a:xfrm>
          <a:prstGeom prst="rect">
            <a:avLst/>
          </a:prstGeom>
          <a:noFill/>
        </p:spPr>
        <p:txBody>
          <a:bodyPr wrap="square" anchor="t">
            <a:spAutoFit/>
          </a:bodyPr>
          <a:lstStyle/>
          <a:p>
            <a:pPr algn="l">
              <a:lnSpc>
                <a:spcPct val="105000"/>
              </a:lnSpc>
            </a:pPr>
            <a:r>
              <a:rPr sz="1600" b="1" i="0">
                <a:solidFill>
                  <a:srgbClr val="000000"/>
                </a:solidFill>
                <a:latin typeface="Calibri"/>
              </a:rPr>
              <a:t>Marc Pierson and Claude Opus 5.5 · September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