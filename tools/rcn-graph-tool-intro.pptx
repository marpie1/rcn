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88952" cy="731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881360" cy="1097280"/>
          </a:xfrm>
          <a:prstGeom prst="rect">
            <a:avLst/>
          </a:prstGeom>
          <a:noFill/>
        </p:spPr>
        <p:txBody>
          <a:bodyPr wrap="square">
            <a:spAutoFit/>
          </a:bodyPr>
          <a:lstStyle/>
          <a:p>
            <a:pPr algn="ctr"/>
            <a:r>
              <a:rPr sz="4600" b="1" i="0">
                <a:solidFill>
                  <a:srgbClr val="FFFFFF"/>
                </a:solidFill>
              </a:rPr>
              <a:t>RCN Graph Diagramming Tool</a:t>
            </a:r>
          </a:p>
        </p:txBody>
      </p:sp>
      <p:sp>
        <p:nvSpPr>
          <p:cNvPr id="5" name="TextBox 4"/>
          <p:cNvSpPr txBox="1"/>
          <p:nvPr/>
        </p:nvSpPr>
        <p:spPr>
          <a:xfrm>
            <a:off x="640080" y="2514600"/>
            <a:ext cx="10881360" cy="731520"/>
          </a:xfrm>
          <a:prstGeom prst="rect">
            <a:avLst/>
          </a:prstGeom>
          <a:noFill/>
        </p:spPr>
        <p:txBody>
          <a:bodyPr wrap="square">
            <a:spAutoFit/>
          </a:bodyPr>
          <a:lstStyle/>
          <a:p>
            <a:pPr algn="ctr"/>
            <a:r>
              <a:rPr sz="2600" b="0" i="0">
                <a:solidFill>
                  <a:srgbClr val="F0FDFA"/>
                </a:solidFill>
              </a:rPr>
              <a:t>Thinking Clearly About Neighborhoods</a:t>
            </a:r>
          </a:p>
        </p:txBody>
      </p:sp>
      <p:sp>
        <p:nvSpPr>
          <p:cNvPr id="6" name="TextBox 5"/>
          <p:cNvSpPr txBox="1"/>
          <p:nvPr/>
        </p:nvSpPr>
        <p:spPr>
          <a:xfrm>
            <a:off x="640080" y="3246120"/>
            <a:ext cx="10881360" cy="548640"/>
          </a:xfrm>
          <a:prstGeom prst="rect">
            <a:avLst/>
          </a:prstGeom>
          <a:noFill/>
        </p:spPr>
        <p:txBody>
          <a:bodyPr wrap="square">
            <a:spAutoFit/>
          </a:bodyPr>
          <a:lstStyle/>
          <a:p>
            <a:pPr algn="ctr"/>
            <a:r>
              <a:rPr sz="1800" b="0" i="0">
                <a:solidFill>
                  <a:srgbClr val="F0FDFA"/>
                </a:solidFill>
              </a:rPr>
              <a:t>A free, browser-based tool for community systems mapping</a:t>
            </a:r>
          </a:p>
        </p:txBody>
      </p:sp>
      <p:sp>
        <p:nvSpPr>
          <p:cNvPr id="7" name="TextBox 6"/>
          <p:cNvSpPr txBox="1"/>
          <p:nvPr/>
        </p:nvSpPr>
        <p:spPr>
          <a:xfrm>
            <a:off x="640080" y="5577840"/>
            <a:ext cx="10881360" cy="457200"/>
          </a:xfrm>
          <a:prstGeom prst="rect">
            <a:avLst/>
          </a:prstGeom>
          <a:noFill/>
        </p:spPr>
        <p:txBody>
          <a:bodyPr wrap="square">
            <a:spAutoFit/>
          </a:bodyPr>
          <a:lstStyle/>
          <a:p>
            <a:pPr algn="ctr"/>
            <a:r>
              <a:rPr sz="1300" b="0" i="0">
                <a:solidFill>
                  <a:srgbClr val="F0FDFA"/>
                </a:solidFill>
              </a:rPr>
              <a:t>ReLocalize Creativity Network  ·  Open source  ·  Free by design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Most neighborhood diagrams are just decorated boxes</a:t>
            </a:r>
          </a:p>
        </p:txBody>
      </p:sp>
      <p:sp>
        <p:nvSpPr>
          <p:cNvPr id="5" name="TextBox 4"/>
          <p:cNvSpPr txBox="1"/>
          <p:nvPr/>
        </p:nvSpPr>
        <p:spPr>
          <a:xfrm>
            <a:off x="457200" y="1188720"/>
            <a:ext cx="3657600" cy="365760"/>
          </a:xfrm>
          <a:prstGeom prst="rect">
            <a:avLst/>
          </a:prstGeom>
          <a:noFill/>
        </p:spPr>
        <p:txBody>
          <a:bodyPr wrap="square">
            <a:spAutoFit/>
          </a:bodyPr>
          <a:lstStyle/>
          <a:p>
            <a:pPr algn="l"/>
            <a:r>
              <a:rPr sz="1300" b="1" i="0">
                <a:solidFill>
                  <a:srgbClr val="475569"/>
                </a:solidFill>
              </a:rPr>
              <a:t>The Problem</a:t>
            </a:r>
          </a:p>
        </p:txBody>
      </p:sp>
      <p:sp>
        <p:nvSpPr>
          <p:cNvPr id="6" name="TextBox 5"/>
          <p:cNvSpPr txBox="1"/>
          <p:nvPr/>
        </p:nvSpPr>
        <p:spPr>
          <a:xfrm>
            <a:off x="640080" y="1691640"/>
            <a:ext cx="10972800" cy="4572000"/>
          </a:xfrm>
          <a:prstGeom prst="rect">
            <a:avLst/>
          </a:prstGeom>
          <a:noFill/>
        </p:spPr>
        <p:txBody>
          <a:bodyPr wrap="square">
            <a:spAutoFit/>
          </a:bodyPr>
          <a:lstStyle/>
          <a:p>
            <a:pPr>
              <a:spcBef>
                <a:spcPts val="400"/>
              </a:spcBef>
            </a:pPr>
            <a:r>
              <a:rPr sz="1900" b="0">
                <a:solidFill>
                  <a:srgbClr val="0F172A"/>
                </a:solidFill>
              </a:rPr>
              <a:t>A PowerPoint arrow between "Community" and "Health Outcome" has no meaning.
It could mean causes, contains, funds, measures, or a dozen other things.</a:t>
            </a:r>
          </a:p>
          <a:p>
            <a:pPr>
              <a:spcBef>
                <a:spcPts val="400"/>
              </a:spcBef>
            </a:pPr>
            <a:r>
              <a:rPr sz="1900" b="0">
                <a:solidFill>
                  <a:srgbClr val="0F172A"/>
                </a:solidFill>
              </a:rPr>
              <a:t>Two people look at the same diagram and walk away with different understandings.</a:t>
            </a:r>
          </a:p>
          <a:p>
            <a:pPr>
              <a:spcBef>
                <a:spcPts val="400"/>
              </a:spcBef>
            </a:pPr>
            <a:r>
              <a:rPr sz="1900" b="0">
                <a:solidFill>
                  <a:srgbClr val="0F172A"/>
                </a:solidFill>
              </a:rPr>
              <a:t>The diagram looks like analysis but is actually ambiguous decoration.</a:t>
            </a:r>
          </a:p>
          <a:p>
            <a:pPr>
              <a:spcBef>
                <a:spcPts val="400"/>
              </a:spcBef>
            </a:pPr>
            <a:r>
              <a:rPr sz="1900" b="0">
                <a:solidFill>
                  <a:srgbClr val="0F172A"/>
                </a:solidFill>
              </a:rPr>
              <a:t>Moving one node means manually re-routing every connected arrow.</a:t>
            </a:r>
          </a:p>
          <a:p>
            <a:pPr>
              <a:spcBef>
                <a:spcPts val="400"/>
              </a:spcBef>
            </a:pPr>
            <a:r>
              <a:rPr sz="1900" b="0">
                <a:solidFill>
                  <a:srgbClr val="0F172A"/>
                </a:solidFill>
              </a:rPr>
              <a:t>You cannot query it, export it to a database, or detect feedback loops.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What the RCN Graph Tool does differently</a:t>
            </a:r>
          </a:p>
        </p:txBody>
      </p:sp>
      <p:sp>
        <p:nvSpPr>
          <p:cNvPr id="5" name="Rectangle 4"/>
          <p:cNvSpPr/>
          <p:nvPr/>
        </p:nvSpPr>
        <p:spPr>
          <a:xfrm>
            <a:off x="365760" y="1188720"/>
            <a:ext cx="365760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71600"/>
            <a:ext cx="3291840" cy="914400"/>
          </a:xfrm>
          <a:prstGeom prst="rect">
            <a:avLst/>
          </a:prstGeom>
          <a:noFill/>
        </p:spPr>
        <p:txBody>
          <a:bodyPr wrap="square">
            <a:spAutoFit/>
          </a:bodyPr>
          <a:lstStyle/>
          <a:p>
            <a:pPr algn="l"/>
            <a:r>
              <a:rPr sz="1700" b="1" i="0">
                <a:solidFill>
                  <a:srgbClr val="0F766E"/>
                </a:solidFill>
              </a:rPr>
              <a:t>Structured data
from the first click</a:t>
            </a:r>
          </a:p>
        </p:txBody>
      </p:sp>
      <p:sp>
        <p:nvSpPr>
          <p:cNvPr id="7" name="TextBox 6"/>
          <p:cNvSpPr txBox="1"/>
          <p:nvPr/>
        </p:nvSpPr>
        <p:spPr>
          <a:xfrm>
            <a:off x="548640" y="2377440"/>
            <a:ext cx="3291840" cy="3657600"/>
          </a:xfrm>
          <a:prstGeom prst="rect">
            <a:avLst/>
          </a:prstGeom>
          <a:noFill/>
        </p:spPr>
        <p:txBody>
          <a:bodyPr wrap="square">
            <a:spAutoFit/>
          </a:bodyPr>
          <a:lstStyle/>
          <a:p>
            <a:pPr algn="l"/>
            <a:r>
              <a:rPr sz="1500" b="0" i="0">
                <a:solidFill>
                  <a:srgbClr val="334155"/>
                </a:solidFill>
              </a:rPr>
              <a:t>Every node and edge is data. Nodes carry labels, properties, and notes. Edges know their source and target. Nothing is a decoration.</a:t>
            </a:r>
          </a:p>
        </p:txBody>
      </p:sp>
      <p:sp>
        <p:nvSpPr>
          <p:cNvPr id="8" name="Rectangle 7"/>
          <p:cNvSpPr/>
          <p:nvPr/>
        </p:nvSpPr>
        <p:spPr>
          <a:xfrm>
            <a:off x="4297680" y="1188720"/>
            <a:ext cx="365760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371600"/>
            <a:ext cx="3291840" cy="914400"/>
          </a:xfrm>
          <a:prstGeom prst="rect">
            <a:avLst/>
          </a:prstGeom>
          <a:noFill/>
        </p:spPr>
        <p:txBody>
          <a:bodyPr wrap="square">
            <a:spAutoFit/>
          </a:bodyPr>
          <a:lstStyle/>
          <a:p>
            <a:pPr algn="l"/>
            <a:r>
              <a:rPr sz="1700" b="1" i="0">
                <a:solidFill>
                  <a:srgbClr val="0F766E"/>
                </a:solidFill>
              </a:rPr>
              <a:t>Multiple analytical
lenses on one diagram</a:t>
            </a:r>
          </a:p>
        </p:txBody>
      </p:sp>
      <p:sp>
        <p:nvSpPr>
          <p:cNvPr id="10" name="TextBox 9"/>
          <p:cNvSpPr txBox="1"/>
          <p:nvPr/>
        </p:nvSpPr>
        <p:spPr>
          <a:xfrm>
            <a:off x="4480560" y="2377440"/>
            <a:ext cx="3291840" cy="3657600"/>
          </a:xfrm>
          <a:prstGeom prst="rect">
            <a:avLst/>
          </a:prstGeom>
          <a:noFill/>
        </p:spPr>
        <p:txBody>
          <a:bodyPr wrap="square">
            <a:spAutoFit/>
          </a:bodyPr>
          <a:lstStyle/>
          <a:p>
            <a:pPr algn="l"/>
            <a:r>
              <a:rPr sz="1500" b="0" i="0">
                <a:solidFill>
                  <a:srgbClr val="334155"/>
                </a:solidFill>
              </a:rPr>
              <a:t>Causal loops, OPM relationships, risk factors, EIP domains, Wardley evolution — all applied to the same graph without re-drawing it.</a:t>
            </a:r>
          </a:p>
        </p:txBody>
      </p:sp>
      <p:sp>
        <p:nvSpPr>
          <p:cNvPr id="11" name="Rectangle 10"/>
          <p:cNvSpPr/>
          <p:nvPr/>
        </p:nvSpPr>
        <p:spPr>
          <a:xfrm>
            <a:off x="8229600" y="1188720"/>
            <a:ext cx="365760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371600"/>
            <a:ext cx="3291840" cy="914400"/>
          </a:xfrm>
          <a:prstGeom prst="rect">
            <a:avLst/>
          </a:prstGeom>
          <a:noFill/>
        </p:spPr>
        <p:txBody>
          <a:bodyPr wrap="square">
            <a:spAutoFit/>
          </a:bodyPr>
          <a:lstStyle/>
          <a:p>
            <a:pPr algn="l"/>
            <a:r>
              <a:rPr sz="1700" b="1" i="0">
                <a:solidFill>
                  <a:srgbClr val="0F766E"/>
                </a:solidFill>
              </a:rPr>
              <a:t>No install.
No account.
No server.</a:t>
            </a:r>
          </a:p>
        </p:txBody>
      </p:sp>
      <p:sp>
        <p:nvSpPr>
          <p:cNvPr id="13" name="TextBox 12"/>
          <p:cNvSpPr txBox="1"/>
          <p:nvPr/>
        </p:nvSpPr>
        <p:spPr>
          <a:xfrm>
            <a:off x="8412480" y="2377440"/>
            <a:ext cx="3291840" cy="3657600"/>
          </a:xfrm>
          <a:prstGeom prst="rect">
            <a:avLst/>
          </a:prstGeom>
          <a:noFill/>
        </p:spPr>
        <p:txBody>
          <a:bodyPr wrap="square">
            <a:spAutoFit/>
          </a:bodyPr>
          <a:lstStyle/>
          <a:p>
            <a:pPr algn="l"/>
            <a:r>
              <a:rPr sz="1500" b="0" i="0">
                <a:solidFill>
                  <a:srgbClr val="334155"/>
                </a:solidFill>
              </a:rPr>
              <a:t>One HTML file. Open it in any browser. Run it offline, on a USB drive, in a community meeting room with no internet. Use Snapshot export to share a diagram as a single HTML file — the recipient opens it directly, no JSON companion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Analytical modes — one graph</a:t>
            </a:r>
          </a:p>
        </p:txBody>
      </p:sp>
      <p:sp>
        <p:nvSpPr>
          <p:cNvPr id="5" name="Rectangle 4"/>
          <p:cNvSpPr/>
          <p:nvPr/>
        </p:nvSpPr>
        <p:spPr>
          <a:xfrm>
            <a:off x="457200" y="1143000"/>
            <a:ext cx="548640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1179576"/>
            <a:ext cx="1371600" cy="411480"/>
          </a:xfrm>
          <a:prstGeom prst="rect">
            <a:avLst/>
          </a:prstGeom>
          <a:noFill/>
        </p:spPr>
        <p:txBody>
          <a:bodyPr wrap="square">
            <a:spAutoFit/>
          </a:bodyPr>
          <a:lstStyle/>
          <a:p>
            <a:pPr algn="l"/>
            <a:r>
              <a:rPr sz="1400" b="1" i="0">
                <a:solidFill>
                  <a:srgbClr val="475569"/>
                </a:solidFill>
              </a:rPr>
              <a:t>Basic</a:t>
            </a:r>
          </a:p>
        </p:txBody>
      </p:sp>
      <p:sp>
        <p:nvSpPr>
          <p:cNvPr id="7" name="TextBox 6"/>
          <p:cNvSpPr txBox="1"/>
          <p:nvPr/>
        </p:nvSpPr>
        <p:spPr>
          <a:xfrm>
            <a:off x="621792" y="1545336"/>
            <a:ext cx="5120640" cy="548640"/>
          </a:xfrm>
          <a:prstGeom prst="rect">
            <a:avLst/>
          </a:prstGeom>
          <a:noFill/>
        </p:spPr>
        <p:txBody>
          <a:bodyPr wrap="square">
            <a:spAutoFit/>
          </a:bodyPr>
          <a:lstStyle/>
          <a:p>
            <a:pPr algn="l"/>
            <a:r>
              <a:rPr sz="1200" b="0" i="0">
                <a:solidFill>
                  <a:srgbClr val="334155"/>
                </a:solidFill>
              </a:rPr>
              <a:t>General drawing, driver trees, node/edge properties</a:t>
            </a:r>
          </a:p>
        </p:txBody>
      </p:sp>
      <p:sp>
        <p:nvSpPr>
          <p:cNvPr id="8" name="Rectangle 7"/>
          <p:cNvSpPr/>
          <p:nvPr/>
        </p:nvSpPr>
        <p:spPr>
          <a:xfrm>
            <a:off x="6309360" y="1143000"/>
            <a:ext cx="548640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179576"/>
            <a:ext cx="1371600" cy="411480"/>
          </a:xfrm>
          <a:prstGeom prst="rect">
            <a:avLst/>
          </a:prstGeom>
          <a:noFill/>
        </p:spPr>
        <p:txBody>
          <a:bodyPr wrap="square">
            <a:spAutoFit/>
          </a:bodyPr>
          <a:lstStyle/>
          <a:p>
            <a:pPr algn="l"/>
            <a:r>
              <a:rPr sz="1400" b="1" i="0">
                <a:solidFill>
                  <a:srgbClr val="6B21A8"/>
                </a:solidFill>
              </a:rPr>
              <a:t>CLD</a:t>
            </a:r>
          </a:p>
        </p:txBody>
      </p:sp>
      <p:sp>
        <p:nvSpPr>
          <p:cNvPr id="10" name="TextBox 9"/>
          <p:cNvSpPr txBox="1"/>
          <p:nvPr/>
        </p:nvSpPr>
        <p:spPr>
          <a:xfrm>
            <a:off x="6473952" y="1545336"/>
            <a:ext cx="5120640" cy="548640"/>
          </a:xfrm>
          <a:prstGeom prst="rect">
            <a:avLst/>
          </a:prstGeom>
          <a:noFill/>
        </p:spPr>
        <p:txBody>
          <a:bodyPr wrap="square">
            <a:spAutoFit/>
          </a:bodyPr>
          <a:lstStyle/>
          <a:p>
            <a:pPr algn="l"/>
            <a:r>
              <a:rPr sz="1200" b="0" i="0">
                <a:solidFill>
                  <a:srgbClr val="334155"/>
                </a:solidFill>
              </a:rPr>
              <a:t>Causal Loop Diagrams — loop detection, polarity propagation, animated causal chains</a:t>
            </a:r>
          </a:p>
        </p:txBody>
      </p:sp>
      <p:sp>
        <p:nvSpPr>
          <p:cNvPr id="11" name="Rectangle 10"/>
          <p:cNvSpPr/>
          <p:nvPr/>
        </p:nvSpPr>
        <p:spPr>
          <a:xfrm>
            <a:off x="457200" y="2258568"/>
            <a:ext cx="548640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295144"/>
            <a:ext cx="1371600" cy="411480"/>
          </a:xfrm>
          <a:prstGeom prst="rect">
            <a:avLst/>
          </a:prstGeom>
          <a:noFill/>
        </p:spPr>
        <p:txBody>
          <a:bodyPr wrap="square">
            <a:spAutoFit/>
          </a:bodyPr>
          <a:lstStyle/>
          <a:p>
            <a:pPr algn="l"/>
            <a:r>
              <a:rPr sz="1400" b="1" i="0">
                <a:solidFill>
                  <a:srgbClr val="0F766E"/>
                </a:solidFill>
              </a:rPr>
              <a:t>OPM</a:t>
            </a:r>
          </a:p>
        </p:txBody>
      </p:sp>
      <p:sp>
        <p:nvSpPr>
          <p:cNvPr id="13" name="TextBox 12"/>
          <p:cNvSpPr txBox="1"/>
          <p:nvPr/>
        </p:nvSpPr>
        <p:spPr>
          <a:xfrm>
            <a:off x="621792" y="2660903"/>
            <a:ext cx="5120640" cy="548640"/>
          </a:xfrm>
          <a:prstGeom prst="rect">
            <a:avLst/>
          </a:prstGeom>
          <a:noFill/>
        </p:spPr>
        <p:txBody>
          <a:bodyPr wrap="square">
            <a:spAutoFit/>
          </a:bodyPr>
          <a:lstStyle/>
          <a:p>
            <a:pPr algn="l"/>
            <a:r>
              <a:rPr sz="1200" b="0" i="0">
                <a:solidFill>
                  <a:srgbClr val="334155"/>
                </a:solidFill>
              </a:rPr>
              <a:t>Object Process Methodology — typed relationships, OPL sentence export (ISO 19450)</a:t>
            </a:r>
          </a:p>
        </p:txBody>
      </p:sp>
      <p:sp>
        <p:nvSpPr>
          <p:cNvPr id="14" name="Rectangle 13"/>
          <p:cNvSpPr/>
          <p:nvPr/>
        </p:nvSpPr>
        <p:spPr>
          <a:xfrm>
            <a:off x="6309360" y="2258568"/>
            <a:ext cx="548640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295144"/>
            <a:ext cx="1371600" cy="411480"/>
          </a:xfrm>
          <a:prstGeom prst="rect">
            <a:avLst/>
          </a:prstGeom>
          <a:noFill/>
        </p:spPr>
        <p:txBody>
          <a:bodyPr wrap="square">
            <a:spAutoFit/>
          </a:bodyPr>
          <a:lstStyle/>
          <a:p>
            <a:pPr algn="l"/>
            <a:r>
              <a:rPr sz="1400" b="1" i="0">
                <a:solidFill>
                  <a:srgbClr val="166A34"/>
                </a:solidFill>
              </a:rPr>
              <a:t>EIP</a:t>
            </a:r>
          </a:p>
        </p:txBody>
      </p:sp>
      <p:sp>
        <p:nvSpPr>
          <p:cNvPr id="16" name="TextBox 15"/>
          <p:cNvSpPr txBox="1"/>
          <p:nvPr/>
        </p:nvSpPr>
        <p:spPr>
          <a:xfrm>
            <a:off x="6473952" y="2660903"/>
            <a:ext cx="5120640" cy="548640"/>
          </a:xfrm>
          <a:prstGeom prst="rect">
            <a:avLst/>
          </a:prstGeom>
          <a:noFill/>
        </p:spPr>
        <p:txBody>
          <a:bodyPr wrap="square">
            <a:spAutoFit/>
          </a:bodyPr>
          <a:lstStyle/>
          <a:p>
            <a:pPr algn="l"/>
            <a:r>
              <a:rPr sz="1200" b="0" i="0">
                <a:solidFill>
                  <a:srgbClr val="334155"/>
                </a:solidFill>
              </a:rPr>
              <a:t>Ecology · Institutions · Politics column overlay</a:t>
            </a:r>
          </a:p>
        </p:txBody>
      </p:sp>
      <p:sp>
        <p:nvSpPr>
          <p:cNvPr id="17" name="Rectangle 16"/>
          <p:cNvSpPr/>
          <p:nvPr/>
        </p:nvSpPr>
        <p:spPr>
          <a:xfrm>
            <a:off x="457200" y="3374136"/>
            <a:ext cx="548640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3410712"/>
            <a:ext cx="1371600" cy="411480"/>
          </a:xfrm>
          <a:prstGeom prst="rect">
            <a:avLst/>
          </a:prstGeom>
          <a:noFill/>
        </p:spPr>
        <p:txBody>
          <a:bodyPr wrap="square">
            <a:spAutoFit/>
          </a:bodyPr>
          <a:lstStyle/>
          <a:p>
            <a:pPr algn="l"/>
            <a:r>
              <a:rPr sz="1400" b="1" i="0">
                <a:solidFill>
                  <a:srgbClr val="991B1B"/>
                </a:solidFill>
              </a:rPr>
              <a:t>NRM</a:t>
            </a:r>
          </a:p>
        </p:txBody>
      </p:sp>
      <p:sp>
        <p:nvSpPr>
          <p:cNvPr id="19" name="TextBox 18"/>
          <p:cNvSpPr txBox="1"/>
          <p:nvPr/>
        </p:nvSpPr>
        <p:spPr>
          <a:xfrm>
            <a:off x="621792" y="3776472"/>
            <a:ext cx="5120640" cy="548640"/>
          </a:xfrm>
          <a:prstGeom prst="rect">
            <a:avLst/>
          </a:prstGeom>
          <a:noFill/>
        </p:spPr>
        <p:txBody>
          <a:bodyPr wrap="square">
            <a:spAutoFit/>
          </a:bodyPr>
          <a:lstStyle/>
          <a:p>
            <a:pPr algn="l"/>
            <a:r>
              <a:rPr sz="1200" b="0" i="0">
                <a:solidFill>
                  <a:srgbClr val="334155"/>
                </a:solidFill>
              </a:rPr>
              <a:t>Neighborhood Risk Management — Tripod Beta causal analysis</a:t>
            </a:r>
          </a:p>
        </p:txBody>
      </p:sp>
      <p:sp>
        <p:nvSpPr>
          <p:cNvPr id="20" name="Rectangle 19"/>
          <p:cNvSpPr/>
          <p:nvPr/>
        </p:nvSpPr>
        <p:spPr>
          <a:xfrm>
            <a:off x="6309360" y="3374136"/>
            <a:ext cx="548640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3410712"/>
            <a:ext cx="1371600" cy="411480"/>
          </a:xfrm>
          <a:prstGeom prst="rect">
            <a:avLst/>
          </a:prstGeom>
          <a:noFill/>
        </p:spPr>
        <p:txBody>
          <a:bodyPr wrap="square">
            <a:spAutoFit/>
          </a:bodyPr>
          <a:lstStyle/>
          <a:p>
            <a:pPr algn="l"/>
            <a:r>
              <a:rPr sz="1400" b="1" i="0">
                <a:solidFill>
                  <a:srgbClr val="1D4ED8"/>
                </a:solidFill>
              </a:rPr>
              <a:t>Trace</a:t>
            </a:r>
          </a:p>
        </p:txBody>
      </p:sp>
      <p:sp>
        <p:nvSpPr>
          <p:cNvPr id="22" name="TextBox 21"/>
          <p:cNvSpPr txBox="1"/>
          <p:nvPr/>
        </p:nvSpPr>
        <p:spPr>
          <a:xfrm>
            <a:off x="6473952" y="3776472"/>
            <a:ext cx="5120640" cy="548640"/>
          </a:xfrm>
          <a:prstGeom prst="rect">
            <a:avLst/>
          </a:prstGeom>
          <a:noFill/>
        </p:spPr>
        <p:txBody>
          <a:bodyPr wrap="square">
            <a:spAutoFit/>
          </a:bodyPr>
          <a:lstStyle/>
          <a:p>
            <a:pPr algn="l"/>
            <a:r>
              <a:rPr sz="1200" b="0" i="0">
                <a:solidFill>
                  <a:srgbClr val="334155"/>
                </a:solidFill>
              </a:rPr>
              <a:t>Pathway animation — walk an audience through a causal chain step by step</a:t>
            </a:r>
          </a:p>
        </p:txBody>
      </p:sp>
      <p:sp>
        <p:nvSpPr>
          <p:cNvPr id="23" name="Rectangle 22"/>
          <p:cNvSpPr/>
          <p:nvPr/>
        </p:nvSpPr>
        <p:spPr>
          <a:xfrm>
            <a:off x="457200" y="4489704"/>
            <a:ext cx="548640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4526280"/>
            <a:ext cx="1371600" cy="411480"/>
          </a:xfrm>
          <a:prstGeom prst="rect">
            <a:avLst/>
          </a:prstGeom>
          <a:noFill/>
        </p:spPr>
        <p:txBody>
          <a:bodyPr wrap="square">
            <a:spAutoFit/>
          </a:bodyPr>
          <a:lstStyle/>
          <a:p>
            <a:pPr algn="l"/>
            <a:r>
              <a:rPr sz="1400" b="1" i="0">
                <a:solidFill>
                  <a:srgbClr val="1D4ED8"/>
                </a:solidFill>
              </a:rPr>
              <a:t>Wardley</a:t>
            </a:r>
          </a:p>
        </p:txBody>
      </p:sp>
      <p:sp>
        <p:nvSpPr>
          <p:cNvPr id="25" name="TextBox 24"/>
          <p:cNvSpPr txBox="1"/>
          <p:nvPr/>
        </p:nvSpPr>
        <p:spPr>
          <a:xfrm>
            <a:off x="621792" y="4892040"/>
            <a:ext cx="5120640" cy="548640"/>
          </a:xfrm>
          <a:prstGeom prst="rect">
            <a:avLst/>
          </a:prstGeom>
          <a:noFill/>
        </p:spPr>
        <p:txBody>
          <a:bodyPr wrap="square">
            <a:spAutoFit/>
          </a:bodyPr>
          <a:lstStyle/>
          <a:p>
            <a:pPr algn="l"/>
            <a:r>
              <a:rPr sz="1200" b="0" i="0">
                <a:solidFill>
                  <a:srgbClr val="334155"/>
                </a:solidFill>
              </a:rPr>
              <a:t>Wardley Map grid — evolution axis and value chain positioning</a:t>
            </a:r>
          </a:p>
        </p:txBody>
      </p:sp>
      <p:sp>
        <p:nvSpPr>
          <p:cNvPr id="26" name="Rectangle 25"/>
          <p:cNvSpPr/>
          <p:nvPr/>
        </p:nvSpPr>
        <p:spPr>
          <a:xfrm>
            <a:off x="6309360" y="4489704"/>
            <a:ext cx="548640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4526280"/>
            <a:ext cx="1371600" cy="411480"/>
          </a:xfrm>
          <a:prstGeom prst="rect">
            <a:avLst/>
          </a:prstGeom>
          <a:noFill/>
        </p:spPr>
        <p:txBody>
          <a:bodyPr wrap="square">
            <a:spAutoFit/>
          </a:bodyPr>
          <a:lstStyle/>
          <a:p>
            <a:pPr algn="l"/>
            <a:r>
              <a:rPr sz="1400" b="1" i="0">
                <a:solidFill>
                  <a:srgbClr val="0F766E"/>
                </a:solidFill>
              </a:rPr>
              <a:t>LOP</a:t>
            </a:r>
          </a:p>
        </p:txBody>
      </p:sp>
      <p:sp>
        <p:nvSpPr>
          <p:cNvPr id="28" name="TextBox 27"/>
          <p:cNvSpPr txBox="1"/>
          <p:nvPr/>
        </p:nvSpPr>
        <p:spPr>
          <a:xfrm>
            <a:off x="6473952" y="4892040"/>
            <a:ext cx="5120640" cy="548640"/>
          </a:xfrm>
          <a:prstGeom prst="rect">
            <a:avLst/>
          </a:prstGeom>
          <a:noFill/>
        </p:spPr>
        <p:txBody>
          <a:bodyPr wrap="square">
            <a:spAutoFit/>
          </a:bodyPr>
          <a:lstStyle/>
          <a:p>
            <a:pPr algn="l"/>
            <a:r>
              <a:rPr sz="1200" b="0" i="0">
                <a:solidFill>
                  <a:srgbClr val="334155"/>
                </a:solidFill>
              </a:rPr>
              <a:t>Linkage of Processes — Deming's organization-as-a-system, four labelled bands</a:t>
            </a:r>
          </a:p>
        </p:txBody>
      </p:sp>
      <p:sp>
        <p:nvSpPr>
          <p:cNvPr id="29" name="Rectangle 28"/>
          <p:cNvSpPr/>
          <p:nvPr/>
        </p:nvSpPr>
        <p:spPr>
          <a:xfrm>
            <a:off x="457200" y="5605272"/>
            <a:ext cx="548640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5641848"/>
            <a:ext cx="1371600" cy="411480"/>
          </a:xfrm>
          <a:prstGeom prst="rect">
            <a:avLst/>
          </a:prstGeom>
          <a:noFill/>
        </p:spPr>
        <p:txBody>
          <a:bodyPr wrap="square">
            <a:spAutoFit/>
          </a:bodyPr>
          <a:lstStyle/>
          <a:p>
            <a:pPr algn="l"/>
            <a:r>
              <a:rPr sz="1400" b="1" i="0">
                <a:solidFill>
                  <a:srgbClr val="475569"/>
                </a:solidFill>
              </a:rPr>
              <a:t>Layers</a:t>
            </a:r>
          </a:p>
        </p:txBody>
      </p:sp>
      <p:sp>
        <p:nvSpPr>
          <p:cNvPr id="31" name="TextBox 30"/>
          <p:cNvSpPr txBox="1"/>
          <p:nvPr/>
        </p:nvSpPr>
        <p:spPr>
          <a:xfrm>
            <a:off x="621792" y="6007608"/>
            <a:ext cx="5120640" cy="548640"/>
          </a:xfrm>
          <a:prstGeom prst="rect">
            <a:avLst/>
          </a:prstGeom>
          <a:noFill/>
        </p:spPr>
        <p:txBody>
          <a:bodyPr wrap="square">
            <a:spAutoFit/>
          </a:bodyPr>
          <a:lstStyle/>
          <a:p>
            <a:pPr algn="l"/>
            <a:r>
              <a:rPr sz="1200" b="0" i="0">
                <a:solidFill>
                  <a:srgbClr val="334155"/>
                </a:solidFill>
              </a:rPr>
              <a:t>Named layer visibility — show/hide domains without separate diagrams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CLD Mode — Seeing Feedback Loops</a:t>
            </a:r>
          </a:p>
        </p:txBody>
      </p:sp>
      <p:sp>
        <p:nvSpPr>
          <p:cNvPr id="5" name="TextBox 4"/>
          <p:cNvSpPr txBox="1"/>
          <p:nvPr/>
        </p:nvSpPr>
        <p:spPr>
          <a:xfrm>
            <a:off x="548640" y="1143000"/>
            <a:ext cx="11064240" cy="548640"/>
          </a:xfrm>
          <a:prstGeom prst="rect">
            <a:avLst/>
          </a:prstGeom>
          <a:noFill/>
        </p:spPr>
        <p:txBody>
          <a:bodyPr wrap="square">
            <a:spAutoFit/>
          </a:bodyPr>
          <a:lstStyle/>
          <a:p>
            <a:pPr algn="l"/>
            <a:r>
              <a:rPr sz="1700" b="0" i="0">
                <a:solidFill>
                  <a:srgbClr val="334155"/>
                </a:solidFill>
              </a:rPr>
              <a:t>Neighborhood systems are full of feedback. CLD mode makes loops visible and analyzable.</a:t>
            </a:r>
          </a:p>
        </p:txBody>
      </p:sp>
      <p:sp>
        <p:nvSpPr>
          <p:cNvPr id="6" name="Rectangle 5"/>
          <p:cNvSpPr/>
          <p:nvPr/>
        </p:nvSpPr>
        <p:spPr>
          <a:xfrm>
            <a:off x="457200" y="1920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75104"/>
            <a:ext cx="3200400" cy="457200"/>
          </a:xfrm>
          <a:prstGeom prst="rect">
            <a:avLst/>
          </a:prstGeom>
          <a:noFill/>
        </p:spPr>
        <p:txBody>
          <a:bodyPr wrap="square">
            <a:spAutoFit/>
          </a:bodyPr>
          <a:lstStyle/>
          <a:p>
            <a:pPr algn="l"/>
            <a:r>
              <a:rPr sz="1400" b="1" i="0">
                <a:solidFill>
                  <a:srgbClr val="6B21A8"/>
                </a:solidFill>
              </a:rPr>
              <a:t>Automatic loop detection</a:t>
            </a:r>
          </a:p>
        </p:txBody>
      </p:sp>
      <p:sp>
        <p:nvSpPr>
          <p:cNvPr id="8" name="TextBox 7"/>
          <p:cNvSpPr txBox="1"/>
          <p:nvPr/>
        </p:nvSpPr>
        <p:spPr>
          <a:xfrm>
            <a:off x="640080" y="2377440"/>
            <a:ext cx="10789920" cy="502920"/>
          </a:xfrm>
          <a:prstGeom prst="rect">
            <a:avLst/>
          </a:prstGeom>
          <a:noFill/>
        </p:spPr>
        <p:txBody>
          <a:bodyPr wrap="square">
            <a:spAutoFit/>
          </a:bodyPr>
          <a:lstStyle/>
          <a:p>
            <a:pPr algn="l"/>
            <a:r>
              <a:rPr sz="1300" b="0" i="0">
                <a:solidFill>
                  <a:srgbClr val="334155"/>
                </a:solidFill>
              </a:rPr>
              <a:t>Every feedback loop is traced and classified as Reinforcing (R) or Balancing (B) based on the product of edge polarities. Labeled badges appear on the canvas.</a:t>
            </a:r>
          </a:p>
        </p:txBody>
      </p:sp>
      <p:sp>
        <p:nvSpPr>
          <p:cNvPr id="9" name="Rectangle 8"/>
          <p:cNvSpPr/>
          <p:nvPr/>
        </p:nvSpPr>
        <p:spPr>
          <a:xfrm>
            <a:off x="457200" y="3063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18104"/>
            <a:ext cx="3200400" cy="457200"/>
          </a:xfrm>
          <a:prstGeom prst="rect">
            <a:avLst/>
          </a:prstGeom>
          <a:noFill/>
        </p:spPr>
        <p:txBody>
          <a:bodyPr wrap="square">
            <a:spAutoFit/>
          </a:bodyPr>
          <a:lstStyle/>
          <a:p>
            <a:pPr algn="l"/>
            <a:r>
              <a:rPr sz="1400" b="1" i="0">
                <a:solidFill>
                  <a:srgbClr val="6B21A8"/>
                </a:solidFill>
              </a:rPr>
              <a:t>Animated polarity propagation</a:t>
            </a:r>
          </a:p>
        </p:txBody>
      </p:sp>
      <p:sp>
        <p:nvSpPr>
          <p:cNvPr id="11" name="TextBox 10"/>
          <p:cNvSpPr txBox="1"/>
          <p:nvPr/>
        </p:nvSpPr>
        <p:spPr>
          <a:xfrm>
            <a:off x="640080" y="3520440"/>
            <a:ext cx="10789920" cy="502920"/>
          </a:xfrm>
          <a:prstGeom prst="rect">
            <a:avLst/>
          </a:prstGeom>
          <a:noFill/>
        </p:spPr>
        <p:txBody>
          <a:bodyPr wrap="square">
            <a:spAutoFit/>
          </a:bodyPr>
          <a:lstStyle/>
          <a:p>
            <a:pPr algn="l"/>
            <a:r>
              <a:rPr sz="1300" b="0" i="0">
                <a:solidFill>
                  <a:srgbClr val="334155"/>
                </a:solidFill>
              </a:rPr>
              <a:t>Long-press any node, choose ↑ or ↓. The causal effect ripples outward hop by hop — green for reinforcing, red for balancing. Pause, replay, control speed.</a:t>
            </a:r>
          </a:p>
        </p:txBody>
      </p:sp>
      <p:sp>
        <p:nvSpPr>
          <p:cNvPr id="12" name="Rectangle 11"/>
          <p:cNvSpPr/>
          <p:nvPr/>
        </p:nvSpPr>
        <p:spPr>
          <a:xfrm>
            <a:off x="457200" y="4206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261103"/>
            <a:ext cx="3200400" cy="457200"/>
          </a:xfrm>
          <a:prstGeom prst="rect">
            <a:avLst/>
          </a:prstGeom>
          <a:noFill/>
        </p:spPr>
        <p:txBody>
          <a:bodyPr wrap="square">
            <a:spAutoFit/>
          </a:bodyPr>
          <a:lstStyle/>
          <a:p>
            <a:pPr algn="l"/>
            <a:r>
              <a:rPr sz="1400" b="1" i="0">
                <a:solidFill>
                  <a:srgbClr val="6B21A8"/>
                </a:solidFill>
              </a:rPr>
              <a:t>Driver trees</a:t>
            </a:r>
          </a:p>
        </p:txBody>
      </p:sp>
      <p:sp>
        <p:nvSpPr>
          <p:cNvPr id="14" name="TextBox 13"/>
          <p:cNvSpPr txBox="1"/>
          <p:nvPr/>
        </p:nvSpPr>
        <p:spPr>
          <a:xfrm>
            <a:off x="640080" y="4663440"/>
            <a:ext cx="10789920" cy="502920"/>
          </a:xfrm>
          <a:prstGeom prst="rect">
            <a:avLst/>
          </a:prstGeom>
          <a:noFill/>
        </p:spPr>
        <p:txBody>
          <a:bodyPr wrap="square">
            <a:spAutoFit/>
          </a:bodyPr>
          <a:lstStyle/>
          <a:p>
            <a:pPr algn="l"/>
            <a:r>
              <a:rPr sz="1300" b="0" i="0">
                <a:solidFill>
                  <a:srgbClr val="334155"/>
                </a:solidFill>
              </a:rPr>
              <a:t>Select any variable and open an Effects Tree (what does this affect?) or Causes Tree (what drives this?) — radial layout to any depth. Unique to this tool.</a:t>
            </a:r>
          </a:p>
        </p:txBody>
      </p:sp>
      <p:sp>
        <p:nvSpPr>
          <p:cNvPr id="15" name="Rectangle 14"/>
          <p:cNvSpPr/>
          <p:nvPr/>
        </p:nvSpPr>
        <p:spPr>
          <a:xfrm>
            <a:off x="457200" y="5349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404103"/>
            <a:ext cx="3200400" cy="457200"/>
          </a:xfrm>
          <a:prstGeom prst="rect">
            <a:avLst/>
          </a:prstGeom>
          <a:noFill/>
        </p:spPr>
        <p:txBody>
          <a:bodyPr wrap="square">
            <a:spAutoFit/>
          </a:bodyPr>
          <a:lstStyle/>
          <a:p>
            <a:pPr algn="l"/>
            <a:r>
              <a:rPr sz="1400" b="1" i="0">
                <a:solidFill>
                  <a:srgbClr val="6B21A8"/>
                </a:solidFill>
              </a:rPr>
              <a:t>Polarity and delay marks</a:t>
            </a:r>
          </a:p>
        </p:txBody>
      </p:sp>
      <p:sp>
        <p:nvSpPr>
          <p:cNvPr id="17" name="TextBox 16"/>
          <p:cNvSpPr txBox="1"/>
          <p:nvPr/>
        </p:nvSpPr>
        <p:spPr>
          <a:xfrm>
            <a:off x="640080" y="5806440"/>
            <a:ext cx="10789920" cy="502920"/>
          </a:xfrm>
          <a:prstGeom prst="rect">
            <a:avLst/>
          </a:prstGeom>
          <a:noFill/>
        </p:spPr>
        <p:txBody>
          <a:bodyPr wrap="square">
            <a:spAutoFit/>
          </a:bodyPr>
          <a:lstStyle/>
          <a:p>
            <a:pPr algn="l"/>
            <a:r>
              <a:rPr sz="1300" b="0" i="0">
                <a:solidFill>
                  <a:srgbClr val="334155"/>
                </a:solidFill>
              </a:rPr>
              <a:t>Edges carry + or − polarity and a delay mark (double bar). These export to Vensim MDL and XMILE — the diagram becomes the starting point for simulation.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OPM Mode — Precise Relationships</a:t>
            </a:r>
          </a:p>
        </p:txBody>
      </p:sp>
      <p:sp>
        <p:nvSpPr>
          <p:cNvPr id="5" name="TextBox 4"/>
          <p:cNvSpPr txBox="1"/>
          <p:nvPr/>
        </p:nvSpPr>
        <p:spPr>
          <a:xfrm>
            <a:off x="548640" y="1097280"/>
            <a:ext cx="11064240" cy="502920"/>
          </a:xfrm>
          <a:prstGeom prst="rect">
            <a:avLst/>
          </a:prstGeom>
          <a:noFill/>
        </p:spPr>
        <p:txBody>
          <a:bodyPr wrap="square">
            <a:spAutoFit/>
          </a:bodyPr>
          <a:lstStyle/>
          <a:p>
            <a:pPr algn="l"/>
            <a:r>
              <a:rPr sz="1600" b="0" i="0">
                <a:solidFill>
                  <a:srgbClr val="334155"/>
                </a:solidFill>
              </a:rPr>
              <a:t>Object Process Methodology (ISO 19450 / Dov Dori). Every edge must declare what kind of relationship it is.</a:t>
            </a:r>
          </a:p>
        </p:txBody>
      </p:sp>
      <p:sp>
        <p:nvSpPr>
          <p:cNvPr id="6" name="Rectangle 5"/>
          <p:cNvSpPr/>
          <p:nvPr/>
        </p:nvSpPr>
        <p:spPr>
          <a:xfrm>
            <a:off x="365760" y="1737360"/>
            <a:ext cx="530352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4937760" cy="457200"/>
          </a:xfrm>
          <a:prstGeom prst="rect">
            <a:avLst/>
          </a:prstGeom>
          <a:noFill/>
        </p:spPr>
        <p:txBody>
          <a:bodyPr wrap="square">
            <a:spAutoFit/>
          </a:bodyPr>
          <a:lstStyle/>
          <a:p>
            <a:pPr algn="l"/>
            <a:r>
              <a:rPr sz="1300" b="1" i="0">
                <a:solidFill>
                  <a:srgbClr val="0F766E"/>
                </a:solidFill>
              </a:rPr>
              <a:t>10 typed relationships — auto-suggested by the picker</a:t>
            </a:r>
          </a:p>
        </p:txBody>
      </p:sp>
      <p:sp>
        <p:nvSpPr>
          <p:cNvPr id="8" name="TextBox 7"/>
          <p:cNvSpPr txBox="1"/>
          <p:nvPr/>
        </p:nvSpPr>
        <p:spPr>
          <a:xfrm>
            <a:off x="548640" y="2331720"/>
            <a:ext cx="4937760" cy="3840480"/>
          </a:xfrm>
          <a:prstGeom prst="rect">
            <a:avLst/>
          </a:prstGeom>
          <a:noFill/>
        </p:spPr>
        <p:txBody>
          <a:bodyPr wrap="square">
            <a:spAutoFit/>
          </a:bodyPr>
          <a:lstStyle/>
          <a:p>
            <a:pPr>
              <a:spcBef>
                <a:spcPts val="300"/>
              </a:spcBef>
            </a:pPr>
            <a:r>
              <a:rPr sz="1300" b="1">
                <a:solidFill>
                  <a:srgbClr val="0F766E"/>
                </a:solidFill>
              </a:rPr>
              <a:t>Structural (Object → Object)</a:t>
            </a:r>
          </a:p>
          <a:p>
            <a:pPr>
              <a:spcBef>
                <a:spcPts val="300"/>
              </a:spcBef>
            </a:pPr>
            <a:r>
              <a:rPr sz="1300" b="0">
                <a:solidFill>
                  <a:srgbClr val="334155"/>
                </a:solidFill>
              </a:rPr>
              <a:t>  is part of</a:t>
            </a:r>
          </a:p>
          <a:p>
            <a:pPr>
              <a:spcBef>
                <a:spcPts val="300"/>
              </a:spcBef>
            </a:pPr>
            <a:r>
              <a:rPr sz="1300" b="0">
                <a:solidFill>
                  <a:srgbClr val="334155"/>
                </a:solidFill>
              </a:rPr>
              <a:t>  is a type of</a:t>
            </a:r>
          </a:p>
          <a:p>
            <a:pPr>
              <a:spcBef>
                <a:spcPts val="300"/>
              </a:spcBef>
            </a:pPr>
            <a:r>
              <a:rPr sz="1300" b="0">
                <a:solidFill>
                  <a:srgbClr val="334155"/>
                </a:solidFill>
              </a:rPr>
              <a:t>  characterizes</a:t>
            </a:r>
          </a:p>
          <a:p>
            <a:pPr>
              <a:spcBef>
                <a:spcPts val="300"/>
              </a:spcBef>
            </a:pPr>
            <a:r>
              <a:rPr sz="1300" b="0">
                <a:solidFill>
                  <a:srgbClr val="334155"/>
                </a:solidFill>
              </a:rPr>
              <a:t>  is an instance of  ← new</a:t>
            </a:r>
          </a:p>
          <a:p>
            <a:pPr>
              <a:spcBef>
                <a:spcPts val="300"/>
              </a:spcBef>
            </a:pPr>
            <a:r>
              <a:rPr sz="1300" b="1">
                <a:solidFill>
                  <a:srgbClr val="0F766E"/>
                </a:solidFill>
              </a:rPr>
              <a:t>Procedural (Object ↔ Process)</a:t>
            </a:r>
          </a:p>
          <a:p>
            <a:pPr>
              <a:spcBef>
                <a:spcPts val="300"/>
              </a:spcBef>
            </a:pPr>
            <a:r>
              <a:rPr sz="1300" b="0">
                <a:solidFill>
                  <a:srgbClr val="334155"/>
                </a:solidFill>
              </a:rPr>
              <a:t>  handles  ·  required by  ·  consumed by</a:t>
            </a:r>
          </a:p>
          <a:p>
            <a:pPr>
              <a:spcBef>
                <a:spcPts val="300"/>
              </a:spcBef>
            </a:pPr>
            <a:r>
              <a:rPr sz="1300" b="0">
                <a:solidFill>
                  <a:srgbClr val="334155"/>
                </a:solidFill>
              </a:rPr>
              <a:t>  yields  ·  affects</a:t>
            </a:r>
          </a:p>
          <a:p>
            <a:pPr>
              <a:spcBef>
                <a:spcPts val="300"/>
              </a:spcBef>
            </a:pPr>
            <a:r>
              <a:rPr sz="1300" b="1">
                <a:solidFill>
                  <a:srgbClr val="0F766E"/>
                </a:solidFill>
              </a:rPr>
              <a:t>Process → Process</a:t>
            </a:r>
          </a:p>
          <a:p>
            <a:pPr>
              <a:spcBef>
                <a:spcPts val="300"/>
              </a:spcBef>
            </a:pPr>
            <a:r>
              <a:rPr sz="1300" b="0">
                <a:solidFill>
                  <a:srgbClr val="334155"/>
                </a:solidFill>
              </a:rPr>
              <a:t>  invokes</a:t>
            </a:r>
          </a:p>
        </p:txBody>
      </p:sp>
      <p:sp>
        <p:nvSpPr>
          <p:cNvPr id="9" name="Rectangle 8"/>
          <p:cNvSpPr/>
          <p:nvPr/>
        </p:nvSpPr>
        <p:spPr>
          <a:xfrm>
            <a:off x="5943600" y="1737360"/>
            <a:ext cx="5852160" cy="4663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810512"/>
            <a:ext cx="5486400" cy="457200"/>
          </a:xfrm>
          <a:prstGeom prst="rect">
            <a:avLst/>
          </a:prstGeom>
          <a:noFill/>
        </p:spPr>
        <p:txBody>
          <a:bodyPr wrap="square">
            <a:spAutoFit/>
          </a:bodyPr>
          <a:lstStyle/>
          <a:p>
            <a:pPr algn="l"/>
            <a:r>
              <a:rPr sz="1300" b="1" i="0">
                <a:solidFill>
                  <a:srgbClr val="F0FDFA"/>
                </a:solidFill>
              </a:rPr>
              <a:t>OPL output — auto-generated from the diagram</a:t>
            </a:r>
          </a:p>
        </p:txBody>
      </p:sp>
      <p:sp>
        <p:nvSpPr>
          <p:cNvPr id="11" name="TextBox 10"/>
          <p:cNvSpPr txBox="1"/>
          <p:nvPr/>
        </p:nvSpPr>
        <p:spPr>
          <a:xfrm>
            <a:off x="6126480" y="2331720"/>
            <a:ext cx="5486400" cy="3931920"/>
          </a:xfrm>
          <a:prstGeom prst="rect">
            <a:avLst/>
          </a:prstGeom>
          <a:noFill/>
        </p:spPr>
        <p:txBody>
          <a:bodyPr wrap="square">
            <a:spAutoFit/>
          </a:bodyPr>
          <a:lstStyle/>
          <a:p>
            <a:r>
              <a:rPr sz="1250" b="0">
                <a:solidFill>
                  <a:srgbClr val="F0FDFA"/>
                </a:solidFill>
              </a:rPr>
              <a:t>City of Bellingham is an Object.</a:t>
            </a:r>
          </a:p>
          <a:p>
            <a:r>
              <a:rPr sz="1250" b="0">
                <a:solidFill>
                  <a:srgbClr val="F0FDFA"/>
                </a:solidFill>
              </a:rPr>
              <a:t>On Street Business is an Object.</a:t>
            </a:r>
          </a:p>
          <a:p>
            <a:r>
              <a:rPr sz="1250" b="0">
                <a:solidFill>
                  <a:srgbClr val="F0FDFA"/>
                </a:solidFill>
              </a:rPr>
              <a:t>Restaurant is an Object.</a:t>
            </a:r>
          </a:p>
          <a:p>
            <a:r>
              <a:rPr sz="1250" b="0">
                <a:solidFill>
                  <a:srgbClr val="F0FDFA"/>
                </a:solidFill>
              </a:rPr>
              <a:t>Bantam Restaurant is an Object.</a:t>
            </a:r>
          </a:p>
          <a:p>
            <a:r>
              <a:rPr sz="1250" b="0">
                <a:solidFill>
                  <a:srgbClr val="F0FDFA"/>
                </a:solidFill>
              </a:rPr>
              <a:t>Ordering is a Process.</a:t>
            </a:r>
          </a:p>
          <a:p>
            <a:r>
              <a:rPr sz="1250" b="0">
                <a:solidFill>
                  <a:srgbClr val="F0FDFA"/>
                </a:solidFill>
              </a:rPr>
              <a:t>Cooking is a Process.</a:t>
            </a:r>
          </a:p>
          <a:p>
            <a:r>
              <a:rPr sz="1250" b="0">
                <a:solidFill>
                  <a:srgbClr val="F0FDFA"/>
                </a:solidFill>
              </a:rPr>
              <a:t/>
            </a:r>
          </a:p>
          <a:p>
            <a:r>
              <a:rPr sz="1250" b="0">
                <a:solidFill>
                  <a:srgbClr val="F0FDFA"/>
                </a:solidFill>
              </a:rPr>
              <a:t>City of Bellingham consists of On Street</a:t>
            </a:r>
          </a:p>
          <a:p>
            <a:r>
              <a:rPr sz="1250" b="0">
                <a:solidFill>
                  <a:srgbClr val="F0FDFA"/>
                </a:solidFill>
              </a:rPr>
              <a:t>Business and Waterfront Businesses.</a:t>
            </a:r>
          </a:p>
          <a:p>
            <a:r>
              <a:rPr sz="1250" b="0">
                <a:solidFill>
                  <a:srgbClr val="F0FDFA"/>
                </a:solidFill>
              </a:rPr>
              <a:t>Restaurant is a type of On Street Business.</a:t>
            </a:r>
          </a:p>
          <a:p>
            <a:r>
              <a:rPr sz="1250" b="0">
                <a:solidFill>
                  <a:srgbClr val="F0FDFA"/>
                </a:solidFill>
              </a:rPr>
              <a:t>Bantam Restaurant is an instance of Restaurant.</a:t>
            </a:r>
          </a:p>
          <a:p>
            <a:r>
              <a:rPr sz="1250" b="0">
                <a:solidFill>
                  <a:srgbClr val="F0FDFA"/>
                </a:solidFill>
              </a:rPr>
              <a:t>Bantam Restaurant handles Ordering,</a:t>
            </a:r>
          </a:p>
          <a:p>
            <a:r>
              <a:rPr sz="1250" b="0">
                <a:solidFill>
                  <a:srgbClr val="F0FDFA"/>
                </a:solidFill>
              </a:rPr>
              <a:t>Cooking, and Serving.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600" b="1" i="0">
                <a:solidFill>
                  <a:srgbClr val="FFFFFF"/>
                </a:solidFill>
              </a:rPr>
              <a:t>The four structural relations — being forced to choose clarifies thinking</a:t>
            </a:r>
          </a:p>
        </p:txBody>
      </p:sp>
      <p:sp>
        <p:nvSpPr>
          <p:cNvPr id="5" name="Rectangle 4"/>
          <p:cNvSpPr/>
          <p:nvPr/>
        </p:nvSpPr>
        <p:spPr>
          <a:xfrm>
            <a:off x="365760" y="114300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5212080" cy="502920"/>
          </a:xfrm>
          <a:prstGeom prst="rect">
            <a:avLst/>
          </a:prstGeom>
          <a:noFill/>
        </p:spPr>
        <p:txBody>
          <a:bodyPr wrap="square">
            <a:spAutoFit/>
          </a:bodyPr>
          <a:lstStyle/>
          <a:p>
            <a:pPr algn="l"/>
            <a:r>
              <a:rPr sz="2000" b="1" i="0">
                <a:solidFill>
                  <a:srgbClr val="0F766E"/>
                </a:solidFill>
              </a:rPr>
              <a:t>is part of</a:t>
            </a:r>
          </a:p>
        </p:txBody>
      </p:sp>
      <p:sp>
        <p:nvSpPr>
          <p:cNvPr id="7" name="TextBox 6"/>
          <p:cNvSpPr txBox="1"/>
          <p:nvPr/>
        </p:nvSpPr>
        <p:spPr>
          <a:xfrm>
            <a:off x="548640" y="1737360"/>
            <a:ext cx="5212080" cy="365760"/>
          </a:xfrm>
          <a:prstGeom prst="rect">
            <a:avLst/>
          </a:prstGeom>
          <a:noFill/>
        </p:spPr>
        <p:txBody>
          <a:bodyPr wrap="square">
            <a:spAutoFit/>
          </a:bodyPr>
          <a:lstStyle/>
          <a:p>
            <a:pPr algn="l"/>
            <a:r>
              <a:rPr sz="1300" b="1" i="0">
                <a:solidFill>
                  <a:srgbClr val="475569"/>
                </a:solidFill>
              </a:rPr>
              <a:t>Aggregation-Participation</a:t>
            </a:r>
          </a:p>
        </p:txBody>
      </p:sp>
      <p:sp>
        <p:nvSpPr>
          <p:cNvPr id="8" name="TextBox 7"/>
          <p:cNvSpPr txBox="1"/>
          <p:nvPr/>
        </p:nvSpPr>
        <p:spPr>
          <a:xfrm>
            <a:off x="548640" y="2057400"/>
            <a:ext cx="5212080" cy="365760"/>
          </a:xfrm>
          <a:prstGeom prst="rect">
            <a:avLst/>
          </a:prstGeom>
          <a:noFill/>
        </p:spPr>
        <p:txBody>
          <a:bodyPr wrap="square">
            <a:spAutoFit/>
          </a:bodyPr>
          <a:lstStyle/>
          <a:p>
            <a:pPr algn="l"/>
            <a:r>
              <a:rPr sz="1300" b="0" i="0">
                <a:solidFill>
                  <a:srgbClr val="334155"/>
                </a:solidFill>
              </a:rPr>
              <a:t>Composition. Part → Whole.</a:t>
            </a:r>
          </a:p>
        </p:txBody>
      </p:sp>
      <p:sp>
        <p:nvSpPr>
          <p:cNvPr id="9" name="TextBox 8"/>
          <p:cNvSpPr txBox="1"/>
          <p:nvPr/>
        </p:nvSpPr>
        <p:spPr>
          <a:xfrm>
            <a:off x="548640" y="2441448"/>
            <a:ext cx="5212080" cy="914400"/>
          </a:xfrm>
          <a:prstGeom prst="rect">
            <a:avLst/>
          </a:prstGeom>
          <a:noFill/>
        </p:spPr>
        <p:txBody>
          <a:bodyPr wrap="square">
            <a:spAutoFit/>
          </a:bodyPr>
          <a:lstStyle/>
          <a:p>
            <a:pPr algn="l"/>
            <a:r>
              <a:rPr sz="1200" b="0" i="1">
                <a:solidFill>
                  <a:srgbClr val="0F172A"/>
                </a:solidFill>
              </a:rPr>
              <a:t>"Engine is part of Car."
"Ordering is part of Restaurant Operations."</a:t>
            </a:r>
          </a:p>
        </p:txBody>
      </p:sp>
      <p:sp>
        <p:nvSpPr>
          <p:cNvPr id="10" name="Rectangle 9"/>
          <p:cNvSpPr/>
          <p:nvPr/>
        </p:nvSpPr>
        <p:spPr>
          <a:xfrm>
            <a:off x="6263640" y="114300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234440"/>
            <a:ext cx="5212080" cy="502920"/>
          </a:xfrm>
          <a:prstGeom prst="rect">
            <a:avLst/>
          </a:prstGeom>
          <a:noFill/>
        </p:spPr>
        <p:txBody>
          <a:bodyPr wrap="square">
            <a:spAutoFit/>
          </a:bodyPr>
          <a:lstStyle/>
          <a:p>
            <a:pPr algn="l"/>
            <a:r>
              <a:rPr sz="2000" b="1" i="0">
                <a:solidFill>
                  <a:srgbClr val="0F766E"/>
                </a:solidFill>
              </a:rPr>
              <a:t>is a type of</a:t>
            </a:r>
          </a:p>
        </p:txBody>
      </p:sp>
      <p:sp>
        <p:nvSpPr>
          <p:cNvPr id="12" name="TextBox 11"/>
          <p:cNvSpPr txBox="1"/>
          <p:nvPr/>
        </p:nvSpPr>
        <p:spPr>
          <a:xfrm>
            <a:off x="6446520" y="1737360"/>
            <a:ext cx="5212080" cy="365760"/>
          </a:xfrm>
          <a:prstGeom prst="rect">
            <a:avLst/>
          </a:prstGeom>
          <a:noFill/>
        </p:spPr>
        <p:txBody>
          <a:bodyPr wrap="square">
            <a:spAutoFit/>
          </a:bodyPr>
          <a:lstStyle/>
          <a:p>
            <a:pPr algn="l"/>
            <a:r>
              <a:rPr sz="1300" b="1" i="0">
                <a:solidFill>
                  <a:srgbClr val="475569"/>
                </a:solidFill>
              </a:rPr>
              <a:t>Generalization-Specialization</a:t>
            </a:r>
          </a:p>
        </p:txBody>
      </p:sp>
      <p:sp>
        <p:nvSpPr>
          <p:cNvPr id="13" name="TextBox 12"/>
          <p:cNvSpPr txBox="1"/>
          <p:nvPr/>
        </p:nvSpPr>
        <p:spPr>
          <a:xfrm>
            <a:off x="6446520" y="2057400"/>
            <a:ext cx="5212080" cy="365760"/>
          </a:xfrm>
          <a:prstGeom prst="rect">
            <a:avLst/>
          </a:prstGeom>
          <a:noFill/>
        </p:spPr>
        <p:txBody>
          <a:bodyPr wrap="square">
            <a:spAutoFit/>
          </a:bodyPr>
          <a:lstStyle/>
          <a:p>
            <a:pPr algn="l"/>
            <a:r>
              <a:rPr sz="1300" b="0" i="0">
                <a:solidFill>
                  <a:srgbClr val="334155"/>
                </a:solidFill>
              </a:rPr>
              <a:t>Class hierarchy. Specific → General.</a:t>
            </a:r>
          </a:p>
        </p:txBody>
      </p:sp>
      <p:sp>
        <p:nvSpPr>
          <p:cNvPr id="14" name="TextBox 13"/>
          <p:cNvSpPr txBox="1"/>
          <p:nvPr/>
        </p:nvSpPr>
        <p:spPr>
          <a:xfrm>
            <a:off x="6446520" y="2441448"/>
            <a:ext cx="5212080" cy="914400"/>
          </a:xfrm>
          <a:prstGeom prst="rect">
            <a:avLst/>
          </a:prstGeom>
          <a:noFill/>
        </p:spPr>
        <p:txBody>
          <a:bodyPr wrap="square">
            <a:spAutoFit/>
          </a:bodyPr>
          <a:lstStyle/>
          <a:p>
            <a:pPr algn="l"/>
            <a:r>
              <a:rPr sz="1200" b="0" i="1">
                <a:solidFill>
                  <a:srgbClr val="0F172A"/>
                </a:solidFill>
              </a:rPr>
              <a:t>"Restaurant is a type of On Street Business."
"Failed Barrier is a type of Barrier."</a:t>
            </a:r>
          </a:p>
        </p:txBody>
      </p:sp>
      <p:sp>
        <p:nvSpPr>
          <p:cNvPr id="15" name="Rectangle 14"/>
          <p:cNvSpPr/>
          <p:nvPr/>
        </p:nvSpPr>
        <p:spPr>
          <a:xfrm>
            <a:off x="365760" y="379476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886200"/>
            <a:ext cx="5212080" cy="502920"/>
          </a:xfrm>
          <a:prstGeom prst="rect">
            <a:avLst/>
          </a:prstGeom>
          <a:noFill/>
        </p:spPr>
        <p:txBody>
          <a:bodyPr wrap="square">
            <a:spAutoFit/>
          </a:bodyPr>
          <a:lstStyle/>
          <a:p>
            <a:pPr algn="l"/>
            <a:r>
              <a:rPr sz="2000" b="1" i="0">
                <a:solidFill>
                  <a:srgbClr val="0F766E"/>
                </a:solidFill>
              </a:rPr>
              <a:t>characterizes</a:t>
            </a:r>
          </a:p>
        </p:txBody>
      </p:sp>
      <p:sp>
        <p:nvSpPr>
          <p:cNvPr id="17" name="TextBox 16"/>
          <p:cNvSpPr txBox="1"/>
          <p:nvPr/>
        </p:nvSpPr>
        <p:spPr>
          <a:xfrm>
            <a:off x="548640" y="4389120"/>
            <a:ext cx="5212080" cy="365760"/>
          </a:xfrm>
          <a:prstGeom prst="rect">
            <a:avLst/>
          </a:prstGeom>
          <a:noFill/>
        </p:spPr>
        <p:txBody>
          <a:bodyPr wrap="square">
            <a:spAutoFit/>
          </a:bodyPr>
          <a:lstStyle/>
          <a:p>
            <a:pPr algn="l"/>
            <a:r>
              <a:rPr sz="1300" b="1" i="0">
                <a:solidFill>
                  <a:srgbClr val="475569"/>
                </a:solidFill>
              </a:rPr>
              <a:t>Exhibition-Characterization</a:t>
            </a:r>
          </a:p>
        </p:txBody>
      </p:sp>
      <p:sp>
        <p:nvSpPr>
          <p:cNvPr id="18" name="TextBox 17"/>
          <p:cNvSpPr txBox="1"/>
          <p:nvPr/>
        </p:nvSpPr>
        <p:spPr>
          <a:xfrm>
            <a:off x="548640" y="4709160"/>
            <a:ext cx="5212080" cy="365760"/>
          </a:xfrm>
          <a:prstGeom prst="rect">
            <a:avLst/>
          </a:prstGeom>
          <a:noFill/>
        </p:spPr>
        <p:txBody>
          <a:bodyPr wrap="square">
            <a:spAutoFit/>
          </a:bodyPr>
          <a:lstStyle/>
          <a:p>
            <a:pPr algn="l"/>
            <a:r>
              <a:rPr sz="1300" b="0" i="0">
                <a:solidFill>
                  <a:srgbClr val="334155"/>
                </a:solidFill>
              </a:rPr>
              <a:t>Feature → Exhibitor.</a:t>
            </a:r>
          </a:p>
        </p:txBody>
      </p:sp>
      <p:sp>
        <p:nvSpPr>
          <p:cNvPr id="19" name="TextBox 18"/>
          <p:cNvSpPr txBox="1"/>
          <p:nvPr/>
        </p:nvSpPr>
        <p:spPr>
          <a:xfrm>
            <a:off x="548640" y="5093208"/>
            <a:ext cx="5212080" cy="914400"/>
          </a:xfrm>
          <a:prstGeom prst="rect">
            <a:avLst/>
          </a:prstGeom>
          <a:noFill/>
        </p:spPr>
        <p:txBody>
          <a:bodyPr wrap="square">
            <a:spAutoFit/>
          </a:bodyPr>
          <a:lstStyle/>
          <a:p>
            <a:pPr algn="l"/>
            <a:r>
              <a:rPr sz="1200" b="0" i="1">
                <a:solidFill>
                  <a:srgbClr val="0F172A"/>
                </a:solidFill>
              </a:rPr>
              <a:t>"Seating Capacity characterizes Restaurant."
OPL: "Restaurant exhibits Seating Capacity."</a:t>
            </a:r>
          </a:p>
        </p:txBody>
      </p:sp>
      <p:sp>
        <p:nvSpPr>
          <p:cNvPr id="20" name="Rectangle 19"/>
          <p:cNvSpPr/>
          <p:nvPr/>
        </p:nvSpPr>
        <p:spPr>
          <a:xfrm>
            <a:off x="6263640" y="379476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886200"/>
            <a:ext cx="5212080" cy="502920"/>
          </a:xfrm>
          <a:prstGeom prst="rect">
            <a:avLst/>
          </a:prstGeom>
          <a:noFill/>
        </p:spPr>
        <p:txBody>
          <a:bodyPr wrap="square">
            <a:spAutoFit/>
          </a:bodyPr>
          <a:lstStyle/>
          <a:p>
            <a:pPr algn="l"/>
            <a:r>
              <a:rPr sz="2000" b="1" i="0">
                <a:solidFill>
                  <a:srgbClr val="0F766E"/>
                </a:solidFill>
              </a:rPr>
              <a:t>is an instance of</a:t>
            </a:r>
          </a:p>
        </p:txBody>
      </p:sp>
      <p:sp>
        <p:nvSpPr>
          <p:cNvPr id="22" name="TextBox 21"/>
          <p:cNvSpPr txBox="1"/>
          <p:nvPr/>
        </p:nvSpPr>
        <p:spPr>
          <a:xfrm>
            <a:off x="6446520" y="4389120"/>
            <a:ext cx="5212080" cy="365760"/>
          </a:xfrm>
          <a:prstGeom prst="rect">
            <a:avLst/>
          </a:prstGeom>
          <a:noFill/>
        </p:spPr>
        <p:txBody>
          <a:bodyPr wrap="square">
            <a:spAutoFit/>
          </a:bodyPr>
          <a:lstStyle/>
          <a:p>
            <a:pPr algn="l"/>
            <a:r>
              <a:rPr sz="1300" b="1" i="0">
                <a:solidFill>
                  <a:srgbClr val="475569"/>
                </a:solidFill>
              </a:rPr>
              <a:t>Classification-Instantiation</a:t>
            </a:r>
          </a:p>
        </p:txBody>
      </p:sp>
      <p:sp>
        <p:nvSpPr>
          <p:cNvPr id="23" name="TextBox 22"/>
          <p:cNvSpPr txBox="1"/>
          <p:nvPr/>
        </p:nvSpPr>
        <p:spPr>
          <a:xfrm>
            <a:off x="6446520" y="4709160"/>
            <a:ext cx="5212080" cy="365760"/>
          </a:xfrm>
          <a:prstGeom prst="rect">
            <a:avLst/>
          </a:prstGeom>
          <a:noFill/>
        </p:spPr>
        <p:txBody>
          <a:bodyPr wrap="square">
            <a:spAutoFit/>
          </a:bodyPr>
          <a:lstStyle/>
          <a:p>
            <a:pPr algn="l"/>
            <a:r>
              <a:rPr sz="1300" b="0" i="0">
                <a:solidFill>
                  <a:srgbClr val="334155"/>
                </a:solidFill>
              </a:rPr>
              <a:t>Individual → Class.</a:t>
            </a:r>
          </a:p>
        </p:txBody>
      </p:sp>
      <p:sp>
        <p:nvSpPr>
          <p:cNvPr id="24" name="TextBox 23"/>
          <p:cNvSpPr txBox="1"/>
          <p:nvPr/>
        </p:nvSpPr>
        <p:spPr>
          <a:xfrm>
            <a:off x="6446520" y="5093208"/>
            <a:ext cx="5212080" cy="914400"/>
          </a:xfrm>
          <a:prstGeom prst="rect">
            <a:avLst/>
          </a:prstGeom>
          <a:noFill/>
        </p:spPr>
        <p:txBody>
          <a:bodyPr wrap="square">
            <a:spAutoFit/>
          </a:bodyPr>
          <a:lstStyle/>
          <a:p>
            <a:pPr algn="l"/>
            <a:r>
              <a:rPr sz="1200" b="0" i="1">
                <a:solidFill>
                  <a:srgbClr val="0F172A"/>
                </a:solidFill>
              </a:rPr>
              <a:t>"Bantam Restaurant is an instance of Restaurant."
"This incident is an instance of Theft."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1247120" cy="777240"/>
          </a:xfrm>
          <a:prstGeom prst="rect">
            <a:avLst/>
          </a:prstGeom>
          <a:noFill/>
        </p:spPr>
        <p:txBody>
          <a:bodyPr wrap="square">
            <a:spAutoFit/>
          </a:bodyPr>
          <a:lstStyle/>
          <a:p>
            <a:pPr algn="l"/>
            <a:r>
              <a:rPr sz="2800" b="1" i="0">
                <a:solidFill>
                  <a:srgbClr val="FFFFFF"/>
                </a:solidFill>
              </a:rPr>
              <a:t>OPD → OPL  The diagram speaks in plain English</a:t>
            </a:r>
          </a:p>
        </p:txBody>
      </p:sp>
      <p:sp>
        <p:nvSpPr>
          <p:cNvPr id="5" name="TextBox 4"/>
          <p:cNvSpPr txBox="1"/>
          <p:nvPr/>
        </p:nvSpPr>
        <p:spPr>
          <a:xfrm>
            <a:off x="548640" y="1097280"/>
            <a:ext cx="11064240" cy="548640"/>
          </a:xfrm>
          <a:prstGeom prst="rect">
            <a:avLst/>
          </a:prstGeom>
          <a:noFill/>
        </p:spPr>
        <p:txBody>
          <a:bodyPr wrap="square">
            <a:spAutoFit/>
          </a:bodyPr>
          <a:lstStyle/>
          <a:p>
            <a:pPr algn="l"/>
            <a:r>
              <a:rPr sz="1600" b="0" i="0">
                <a:solidFill>
                  <a:srgbClr val="334155"/>
                </a:solidFill>
              </a:rPr>
              <a:t>The OPD (Object Process Diagram) and the OPL (Object Process Language) are mirrors. They are generated from the same data and cannot drift apart.</a:t>
            </a:r>
          </a:p>
        </p:txBody>
      </p:sp>
      <p:sp>
        <p:nvSpPr>
          <p:cNvPr id="6" name="Rectangle 5"/>
          <p:cNvSpPr/>
          <p:nvPr/>
        </p:nvSpPr>
        <p:spPr>
          <a:xfrm>
            <a:off x="365760" y="1783080"/>
            <a:ext cx="5394960" cy="4572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47088"/>
            <a:ext cx="5029200" cy="411480"/>
          </a:xfrm>
          <a:prstGeom prst="rect">
            <a:avLst/>
          </a:prstGeom>
          <a:noFill/>
        </p:spPr>
        <p:txBody>
          <a:bodyPr wrap="square">
            <a:spAutoFit/>
          </a:bodyPr>
          <a:lstStyle/>
          <a:p>
            <a:pPr algn="l"/>
            <a:r>
              <a:rPr sz="1400" b="1" i="0">
                <a:solidFill>
                  <a:srgbClr val="F0FDFA"/>
                </a:solidFill>
              </a:rPr>
              <a:t>What you draw in the diagram…</a:t>
            </a:r>
          </a:p>
        </p:txBody>
      </p:sp>
      <p:sp>
        <p:nvSpPr>
          <p:cNvPr id="8" name="TextBox 7"/>
          <p:cNvSpPr txBox="1"/>
          <p:nvPr/>
        </p:nvSpPr>
        <p:spPr>
          <a:xfrm>
            <a:off x="548640" y="2377440"/>
            <a:ext cx="5029200" cy="3749039"/>
          </a:xfrm>
          <a:prstGeom prst="rect">
            <a:avLst/>
          </a:prstGeom>
          <a:noFill/>
        </p:spPr>
        <p:txBody>
          <a:bodyPr wrap="square">
            <a:spAutoFit/>
          </a:bodyPr>
          <a:lstStyle/>
          <a:p>
            <a:pPr>
              <a:spcBef>
                <a:spcPts val="500"/>
              </a:spcBef>
            </a:pPr>
            <a:r>
              <a:rPr sz="1200" b="0">
                <a:solidFill>
                  <a:srgbClr val="F0FDFA"/>
                </a:solidFill>
              </a:rPr>
              <a:t>City of Bellingham  —[consists of]→  On Street Business</a:t>
            </a:r>
          </a:p>
          <a:p>
            <a:pPr>
              <a:spcBef>
                <a:spcPts val="500"/>
              </a:spcBef>
            </a:pPr>
            <a:r>
              <a:rPr sz="1200" b="0">
                <a:solidFill>
                  <a:srgbClr val="F0FDFA"/>
                </a:solidFill>
              </a:rPr>
              <a:t>City of Bellingham  —[consists of]→  Waterfront Businesses</a:t>
            </a:r>
          </a:p>
          <a:p>
            <a:pPr>
              <a:spcBef>
                <a:spcPts val="500"/>
              </a:spcBef>
            </a:pPr>
            <a:r>
              <a:rPr sz="1200" b="0">
                <a:solidFill>
                  <a:srgbClr val="F0FDFA"/>
                </a:solidFill>
              </a:rPr>
              <a:t>Restaurant  —[is a type of]→  On Street Business</a:t>
            </a:r>
          </a:p>
          <a:p>
            <a:pPr>
              <a:spcBef>
                <a:spcPts val="500"/>
              </a:spcBef>
            </a:pPr>
            <a:r>
              <a:rPr sz="1200" b="0">
                <a:solidFill>
                  <a:srgbClr val="F0FDFA"/>
                </a:solidFill>
              </a:rPr>
              <a:t>Bantam Restaurant  —[is an instance of]→  Restaurant</a:t>
            </a:r>
          </a:p>
          <a:p>
            <a:pPr>
              <a:spcBef>
                <a:spcPts val="500"/>
              </a:spcBef>
            </a:pPr>
            <a:r>
              <a:rPr sz="1200" b="0">
                <a:solidFill>
                  <a:srgbClr val="F0FDFA"/>
                </a:solidFill>
              </a:rPr>
              <a:t>Bantam Restaurant  —[handles]→  Ordering</a:t>
            </a:r>
          </a:p>
          <a:p>
            <a:pPr>
              <a:spcBef>
                <a:spcPts val="500"/>
              </a:spcBef>
            </a:pPr>
            <a:r>
              <a:rPr sz="1200" b="0">
                <a:solidFill>
                  <a:srgbClr val="F0FDFA"/>
                </a:solidFill>
              </a:rPr>
              <a:t>Bantam Restaurant  —[handles]→  Cooking</a:t>
            </a:r>
          </a:p>
          <a:p>
            <a:pPr>
              <a:spcBef>
                <a:spcPts val="500"/>
              </a:spcBef>
            </a:pPr>
            <a:r>
              <a:rPr sz="1200" b="0">
                <a:solidFill>
                  <a:srgbClr val="F0FDFA"/>
                </a:solidFill>
              </a:rPr>
              <a:t>Bantam Restaurant  —[handles]→  Serving</a:t>
            </a:r>
          </a:p>
        </p:txBody>
      </p:sp>
      <p:sp>
        <p:nvSpPr>
          <p:cNvPr id="9" name="Rectangle 8"/>
          <p:cNvSpPr/>
          <p:nvPr/>
        </p:nvSpPr>
        <p:spPr>
          <a:xfrm>
            <a:off x="6035040" y="1783080"/>
            <a:ext cx="5760720" cy="4572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847088"/>
            <a:ext cx="5394960" cy="411480"/>
          </a:xfrm>
          <a:prstGeom prst="rect">
            <a:avLst/>
          </a:prstGeom>
          <a:noFill/>
        </p:spPr>
        <p:txBody>
          <a:bodyPr wrap="square">
            <a:spAutoFit/>
          </a:bodyPr>
          <a:lstStyle/>
          <a:p>
            <a:pPr algn="l"/>
            <a:r>
              <a:rPr sz="1400" b="1" i="0">
                <a:solidFill>
                  <a:srgbClr val="0F766E"/>
                </a:solidFill>
              </a:rPr>
              <a:t>…becomes this OPL text file:</a:t>
            </a:r>
          </a:p>
        </p:txBody>
      </p:sp>
      <p:sp>
        <p:nvSpPr>
          <p:cNvPr id="11" name="TextBox 10"/>
          <p:cNvSpPr txBox="1"/>
          <p:nvPr/>
        </p:nvSpPr>
        <p:spPr>
          <a:xfrm>
            <a:off x="6217920" y="2377440"/>
            <a:ext cx="5394960" cy="3749039"/>
          </a:xfrm>
          <a:prstGeom prst="rect">
            <a:avLst/>
          </a:prstGeom>
          <a:noFill/>
        </p:spPr>
        <p:txBody>
          <a:bodyPr wrap="square">
            <a:spAutoFit/>
          </a:bodyPr>
          <a:lstStyle/>
          <a:p>
            <a:pPr>
              <a:spcBef>
                <a:spcPts val="500"/>
              </a:spcBef>
            </a:pPr>
            <a:r>
              <a:rPr sz="1250" b="0">
                <a:solidFill>
                  <a:srgbClr val="0F172A"/>
                </a:solidFill>
              </a:rPr>
              <a:t>City of Bellingham is an Object.</a:t>
            </a:r>
          </a:p>
          <a:p>
            <a:pPr>
              <a:spcBef>
                <a:spcPts val="500"/>
              </a:spcBef>
            </a:pPr>
            <a:r>
              <a:rPr sz="1250" b="0">
                <a:solidFill>
                  <a:srgbClr val="0F172A"/>
                </a:solidFill>
              </a:rPr>
              <a:t>On Street Business is an Object.</a:t>
            </a:r>
          </a:p>
          <a:p>
            <a:pPr>
              <a:spcBef>
                <a:spcPts val="500"/>
              </a:spcBef>
            </a:pPr>
            <a:r>
              <a:rPr sz="1250" b="0">
                <a:solidFill>
                  <a:srgbClr val="0F172A"/>
                </a:solidFill>
              </a:rPr>
              <a:t>Restaurant is an Object.</a:t>
            </a:r>
          </a:p>
          <a:p>
            <a:pPr>
              <a:spcBef>
                <a:spcPts val="500"/>
              </a:spcBef>
            </a:pPr>
            <a:r>
              <a:rPr sz="1250" b="0">
                <a:solidFill>
                  <a:srgbClr val="0F172A"/>
                </a:solidFill>
              </a:rPr>
              <a:t>Bantam Restaurant is an Object.</a:t>
            </a:r>
          </a:p>
          <a:p>
            <a:pPr>
              <a:spcBef>
                <a:spcPts val="500"/>
              </a:spcBef>
            </a:pPr>
            <a:r>
              <a:rPr sz="1250" b="0">
                <a:solidFill>
                  <a:srgbClr val="0F172A"/>
                </a:solidFill>
              </a:rPr>
              <a:t/>
            </a:r>
          </a:p>
          <a:p>
            <a:pPr>
              <a:spcBef>
                <a:spcPts val="500"/>
              </a:spcBef>
            </a:pPr>
            <a:r>
              <a:rPr sz="1250" b="0">
                <a:solidFill>
                  <a:srgbClr val="0F172A"/>
                </a:solidFill>
              </a:rPr>
              <a:t>City of Bellingham consists of On Street</a:t>
            </a:r>
          </a:p>
          <a:p>
            <a:pPr>
              <a:spcBef>
                <a:spcPts val="500"/>
              </a:spcBef>
            </a:pPr>
            <a:r>
              <a:rPr sz="1250" b="0">
                <a:solidFill>
                  <a:srgbClr val="0F172A"/>
                </a:solidFill>
              </a:rPr>
              <a:t>  Business and Waterfront Businesses.</a:t>
            </a:r>
          </a:p>
          <a:p>
            <a:pPr>
              <a:spcBef>
                <a:spcPts val="500"/>
              </a:spcBef>
            </a:pPr>
            <a:r>
              <a:rPr sz="1250" b="0">
                <a:solidFill>
                  <a:srgbClr val="0F172A"/>
                </a:solidFill>
              </a:rPr>
              <a:t>Restaurant is a type of On Street Business.</a:t>
            </a:r>
          </a:p>
          <a:p>
            <a:pPr>
              <a:spcBef>
                <a:spcPts val="500"/>
              </a:spcBef>
            </a:pPr>
            <a:r>
              <a:rPr sz="1250" b="0">
                <a:solidFill>
                  <a:srgbClr val="0F172A"/>
                </a:solidFill>
              </a:rPr>
              <a:t>Bantam Restaurant is an instance of Restaurant.</a:t>
            </a:r>
          </a:p>
          <a:p>
            <a:pPr>
              <a:spcBef>
                <a:spcPts val="500"/>
              </a:spcBef>
            </a:pPr>
            <a:r>
              <a:rPr sz="1250" b="0">
                <a:solidFill>
                  <a:srgbClr val="0F172A"/>
                </a:solidFill>
              </a:rPr>
              <a:t>Bantam Restaurant handles Ordering,</a:t>
            </a:r>
          </a:p>
          <a:p>
            <a:pPr>
              <a:spcBef>
                <a:spcPts val="500"/>
              </a:spcBef>
            </a:pPr>
            <a:r>
              <a:rPr sz="1250" b="0">
                <a:solidFill>
                  <a:srgbClr val="0F172A"/>
                </a:solidFill>
              </a:rPr>
              <a:t>  Cooking, and Serving.</a:t>
            </a:r>
          </a:p>
        </p:txBody>
      </p:sp>
      <p:sp>
        <p:nvSpPr>
          <p:cNvPr id="12" name="TextBox 11"/>
          <p:cNvSpPr txBox="1"/>
          <p:nvPr/>
        </p:nvSpPr>
        <p:spPr>
          <a:xfrm>
            <a:off x="548640" y="6400800"/>
            <a:ext cx="11064240" cy="347472"/>
          </a:xfrm>
          <a:prstGeom prst="rect">
            <a:avLst/>
          </a:prstGeom>
          <a:noFill/>
        </p:spPr>
        <p:txBody>
          <a:bodyPr wrap="square">
            <a:spAutoFit/>
          </a:bodyPr>
          <a:lstStyle/>
          <a:p>
            <a:pPr algn="l"/>
            <a:r>
              <a:rPr sz="1200" b="0" i="1">
                <a:solidFill>
                  <a:srgbClr val="475569"/>
                </a:solidFill>
              </a:rPr>
              <a:t>Compound sentences form automatically when the same subject has multiple relations of the same type.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NRM &amp; EIP — Understanding Risk and Context</a:t>
            </a:r>
          </a:p>
        </p:txBody>
      </p:sp>
      <p:sp>
        <p:nvSpPr>
          <p:cNvPr id="5" name="Rectangle 4"/>
          <p:cNvSpPr/>
          <p:nvPr/>
        </p:nvSpPr>
        <p:spPr>
          <a:xfrm>
            <a:off x="365760" y="1143000"/>
            <a:ext cx="5486400" cy="5257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5120640" cy="502920"/>
          </a:xfrm>
          <a:prstGeom prst="rect">
            <a:avLst/>
          </a:prstGeom>
          <a:noFill/>
        </p:spPr>
        <p:txBody>
          <a:bodyPr wrap="square">
            <a:spAutoFit/>
          </a:bodyPr>
          <a:lstStyle/>
          <a:p>
            <a:pPr algn="l"/>
            <a:r>
              <a:rPr sz="1600" b="1" i="0">
                <a:solidFill>
                  <a:srgbClr val="C2410C"/>
                </a:solidFill>
              </a:rPr>
              <a:t>NRM Mode — Neighborhood Risk Management</a:t>
            </a:r>
          </a:p>
        </p:txBody>
      </p:sp>
      <p:sp>
        <p:nvSpPr>
          <p:cNvPr id="7" name="TextBox 6"/>
          <p:cNvSpPr txBox="1"/>
          <p:nvPr/>
        </p:nvSpPr>
        <p:spPr>
          <a:xfrm>
            <a:off x="548640" y="1810512"/>
            <a:ext cx="5120640" cy="457200"/>
          </a:xfrm>
          <a:prstGeom prst="rect">
            <a:avLst/>
          </a:prstGeom>
          <a:noFill/>
        </p:spPr>
        <p:txBody>
          <a:bodyPr wrap="square">
            <a:spAutoFit/>
          </a:bodyPr>
          <a:lstStyle/>
          <a:p>
            <a:pPr algn="l"/>
            <a:r>
              <a:rPr sz="1300" b="0" i="0">
                <a:solidFill>
                  <a:srgbClr val="334155"/>
                </a:solidFill>
              </a:rPr>
              <a:t>Implements the Tripod Beta accident causation model for community risk analysis.</a:t>
            </a:r>
          </a:p>
        </p:txBody>
      </p:sp>
      <p:sp>
        <p:nvSpPr>
          <p:cNvPr id="8" name="TextBox 7"/>
          <p:cNvSpPr txBox="1"/>
          <p:nvPr/>
        </p:nvSpPr>
        <p:spPr>
          <a:xfrm>
            <a:off x="548640" y="2377440"/>
            <a:ext cx="5120640" cy="3749039"/>
          </a:xfrm>
          <a:prstGeom prst="rect">
            <a:avLst/>
          </a:prstGeom>
          <a:noFill/>
        </p:spPr>
        <p:txBody>
          <a:bodyPr wrap="square">
            <a:spAutoFit/>
          </a:bodyPr>
          <a:lstStyle/>
          <a:p>
            <a:pPr>
              <a:spcBef>
                <a:spcPts val="400"/>
              </a:spcBef>
            </a:pPr>
            <a:r>
              <a:rPr sz="1300" b="0">
                <a:solidFill>
                  <a:srgbClr val="0F172A"/>
                </a:solidFill>
              </a:rPr>
              <a:t>• Underlying Causes (dark red) — systemic root factors</a:t>
            </a:r>
          </a:p>
          <a:p>
            <a:pPr>
              <a:spcBef>
                <a:spcPts val="400"/>
              </a:spcBef>
            </a:pPr>
            <a:r>
              <a:rPr sz="1300" b="0">
                <a:solidFill>
                  <a:srgbClr val="0F172A"/>
                </a:solidFill>
              </a:rPr>
              <a:t>• Preconditions (orange) — enabling conditions</a:t>
            </a:r>
          </a:p>
          <a:p>
            <a:pPr>
              <a:spcBef>
                <a:spcPts val="400"/>
              </a:spcBef>
            </a:pPr>
            <a:r>
              <a:rPr sz="1300" b="0">
                <a:solidFill>
                  <a:srgbClr val="0F172A"/>
                </a:solidFill>
              </a:rPr>
              <a:t>• Immediate Causes (salmon) — direct triggers</a:t>
            </a:r>
          </a:p>
          <a:p>
            <a:pPr>
              <a:spcBef>
                <a:spcPts val="400"/>
              </a:spcBef>
            </a:pPr>
            <a:r>
              <a:rPr sz="1300" b="0">
                <a:solidFill>
                  <a:srgbClr val="0F172A"/>
                </a:solidFill>
              </a:rPr>
              <a:t>• Incident Trio — Agent · Object · Event</a:t>
            </a:r>
          </a:p>
          <a:p>
            <a:pPr>
              <a:spcBef>
                <a:spcPts val="400"/>
              </a:spcBef>
            </a:pPr>
            <a:r>
              <a:rPr sz="1300" b="0">
                <a:solidFill>
                  <a:srgbClr val="0F172A"/>
                </a:solidFill>
              </a:rPr>
              <a:t>• Barriers — Failed · Missing · Intact</a:t>
            </a:r>
          </a:p>
          <a:p>
            <a:pPr>
              <a:spcBef>
                <a:spcPts val="400"/>
              </a:spcBef>
            </a:pPr>
            <a:r>
              <a:rPr sz="1300" b="0">
                <a:solidFill>
                  <a:srgbClr val="0F172A"/>
                </a:solidFill>
              </a:rPr>
              <a:t>• Combines with CLD mode for feedback analysis</a:t>
            </a:r>
          </a:p>
          <a:p>
            <a:pPr>
              <a:spcBef>
                <a:spcPts val="400"/>
              </a:spcBef>
            </a:pPr>
            <a:r>
              <a:rPr sz="1300" b="0">
                <a:solidFill>
                  <a:srgbClr val="0F172A"/>
                </a:solidFill>
              </a:rPr>
              <a:t>• Export as NRM→Cypher for Neo4j integration</a:t>
            </a:r>
          </a:p>
        </p:txBody>
      </p:sp>
      <p:sp>
        <p:nvSpPr>
          <p:cNvPr id="9" name="Rectangle 8"/>
          <p:cNvSpPr/>
          <p:nvPr/>
        </p:nvSpPr>
        <p:spPr>
          <a:xfrm>
            <a:off x="6126480" y="1143000"/>
            <a:ext cx="5669280" cy="5257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234440"/>
            <a:ext cx="5303520" cy="502920"/>
          </a:xfrm>
          <a:prstGeom prst="rect">
            <a:avLst/>
          </a:prstGeom>
          <a:noFill/>
        </p:spPr>
        <p:txBody>
          <a:bodyPr wrap="square">
            <a:spAutoFit/>
          </a:bodyPr>
          <a:lstStyle/>
          <a:p>
            <a:pPr algn="l"/>
            <a:r>
              <a:rPr sz="1600" b="1" i="0">
                <a:solidFill>
                  <a:srgbClr val="166A34"/>
                </a:solidFill>
              </a:rPr>
              <a:t>EIP Mode — Ecology · Institutions · Politics</a:t>
            </a:r>
          </a:p>
        </p:txBody>
      </p:sp>
      <p:sp>
        <p:nvSpPr>
          <p:cNvPr id="11" name="TextBox 10"/>
          <p:cNvSpPr txBox="1"/>
          <p:nvPr/>
        </p:nvSpPr>
        <p:spPr>
          <a:xfrm>
            <a:off x="6309360" y="1810512"/>
            <a:ext cx="5303520" cy="457200"/>
          </a:xfrm>
          <a:prstGeom prst="rect">
            <a:avLst/>
          </a:prstGeom>
          <a:noFill/>
        </p:spPr>
        <p:txBody>
          <a:bodyPr wrap="square">
            <a:spAutoFit/>
          </a:bodyPr>
          <a:lstStyle/>
          <a:p>
            <a:pPr algn="l"/>
            <a:r>
              <a:rPr sz="1300" b="0" i="0">
                <a:solidFill>
                  <a:srgbClr val="334155"/>
                </a:solidFill>
              </a:rPr>
              <a:t>A three-domain overlay for policy and governance analysis.</a:t>
            </a:r>
          </a:p>
        </p:txBody>
      </p:sp>
      <p:sp>
        <p:nvSpPr>
          <p:cNvPr id="12" name="TextBox 11"/>
          <p:cNvSpPr txBox="1"/>
          <p:nvPr/>
        </p:nvSpPr>
        <p:spPr>
          <a:xfrm>
            <a:off x="6309360" y="2377440"/>
            <a:ext cx="5303520" cy="3749039"/>
          </a:xfrm>
          <a:prstGeom prst="rect">
            <a:avLst/>
          </a:prstGeom>
          <a:noFill/>
        </p:spPr>
        <p:txBody>
          <a:bodyPr wrap="square">
            <a:spAutoFit/>
          </a:bodyPr>
          <a:lstStyle/>
          <a:p>
            <a:pPr>
              <a:spcBef>
                <a:spcPts val="400"/>
              </a:spcBef>
            </a:pPr>
            <a:r>
              <a:rPr sz="1300" b="0">
                <a:solidFill>
                  <a:srgbClr val="0F172A"/>
                </a:solidFill>
              </a:rPr>
              <a:t>• Three labeled columns: Ecology (green), Institutions (purple), Politics (blue)</a:t>
            </a:r>
          </a:p>
          <a:p>
            <a:pPr>
              <a:spcBef>
                <a:spcPts val="400"/>
              </a:spcBef>
            </a:pPr>
            <a:r>
              <a:rPr sz="1300" b="0">
                <a:solidFill>
                  <a:srgbClr val="0F172A"/>
                </a:solidFill>
              </a:rPr>
              <a:t>• Node placement becomes positionally meaningful — drag nodes into their domain</a:t>
            </a:r>
          </a:p>
          <a:p>
            <a:pPr>
              <a:spcBef>
                <a:spcPts val="400"/>
              </a:spcBef>
            </a:pPr>
            <a:r>
              <a:rPr sz="1300" b="0">
                <a:solidFill>
                  <a:srgbClr val="0F172A"/>
                </a:solidFill>
              </a:rPr>
              <a:t>• Pre-assigned color palettes per domain</a:t>
            </a:r>
          </a:p>
          <a:p>
            <a:pPr>
              <a:spcBef>
                <a:spcPts val="400"/>
              </a:spcBef>
            </a:pPr>
            <a:r>
              <a:rPr sz="1300" b="0">
                <a:solidFill>
                  <a:srgbClr val="0F172A"/>
                </a:solidFill>
              </a:rPr>
              <a:t>• Scales and pans with the diagram</a:t>
            </a:r>
          </a:p>
          <a:p>
            <a:pPr>
              <a:spcBef>
                <a:spcPts val="400"/>
              </a:spcBef>
            </a:pPr>
            <a:r>
              <a:rPr sz="1300" b="0">
                <a:solidFill>
                  <a:srgbClr val="0F172A"/>
                </a:solidFill>
              </a:rPr>
              <a:t>• Export to SVG/PNG for presentation and reports</a:t>
            </a:r>
          </a:p>
          <a:p>
            <a:pPr>
              <a:spcBef>
                <a:spcPts val="400"/>
              </a:spcBef>
            </a:pPr>
            <a:r>
              <a:rPr sz="1300" b="0">
                <a:solidFill>
                  <a:srgbClr val="0F172A"/>
                </a:solidFill>
              </a:rPr>
              <a:t>• Useful for: policy mapping, governance design, stakeholder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Wardley mode — where things are, and what is held back</a:t>
            </a:r>
          </a:p>
        </p:txBody>
      </p:sp>
      <p:sp>
        <p:nvSpPr>
          <p:cNvPr id="5" name="TextBox 4"/>
          <p:cNvSpPr txBox="1"/>
          <p:nvPr/>
        </p:nvSpPr>
        <p:spPr>
          <a:xfrm>
            <a:off x="548640" y="1143000"/>
            <a:ext cx="11064240" cy="548640"/>
          </a:xfrm>
          <a:prstGeom prst="rect">
            <a:avLst/>
          </a:prstGeom>
          <a:noFill/>
        </p:spPr>
        <p:txBody>
          <a:bodyPr wrap="square">
            <a:spAutoFit/>
          </a:bodyPr>
          <a:lstStyle/>
          <a:p>
            <a:pPr algn="l"/>
            <a:r>
              <a:rPr sz="1700" b="0" i="0">
                <a:solidFill>
                  <a:srgbClr val="334155"/>
                </a:solidFill>
              </a:rPr>
              <a:t>A Wardley map says where each component sits. Rent Band Analysis adds where it lands once someone stops paying to hold it there.</a:t>
            </a:r>
          </a:p>
        </p:txBody>
      </p:sp>
      <p:sp>
        <p:nvSpPr>
          <p:cNvPr id="6" name="Rectangle 5"/>
          <p:cNvSpPr/>
          <p:nvPr/>
        </p:nvSpPr>
        <p:spPr>
          <a:xfrm>
            <a:off x="457200" y="1920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75104"/>
            <a:ext cx="3200400" cy="457200"/>
          </a:xfrm>
          <a:prstGeom prst="rect">
            <a:avLst/>
          </a:prstGeom>
          <a:noFill/>
        </p:spPr>
        <p:txBody>
          <a:bodyPr wrap="square">
            <a:spAutoFit/>
          </a:bodyPr>
          <a:lstStyle/>
          <a:p>
            <a:pPr algn="l"/>
            <a:r>
              <a:rPr sz="1400" b="1" i="0">
                <a:solidFill>
                  <a:srgbClr val="1D4ED8"/>
                </a:solidFill>
              </a:rPr>
              <a:t>Evolution and value chain</a:t>
            </a:r>
          </a:p>
        </p:txBody>
      </p:sp>
      <p:sp>
        <p:nvSpPr>
          <p:cNvPr id="8" name="TextBox 7"/>
          <p:cNvSpPr txBox="1"/>
          <p:nvPr/>
        </p:nvSpPr>
        <p:spPr>
          <a:xfrm>
            <a:off x="640080" y="2377440"/>
            <a:ext cx="10789920" cy="502920"/>
          </a:xfrm>
          <a:prstGeom prst="rect">
            <a:avLst/>
          </a:prstGeom>
          <a:noFill/>
        </p:spPr>
        <p:txBody>
          <a:bodyPr wrap="square">
            <a:spAutoFit/>
          </a:bodyPr>
          <a:lstStyle/>
          <a:p>
            <a:pPr algn="l"/>
            <a:r>
              <a:rPr sz="1300" b="0" i="0">
                <a:solidFill>
                  <a:srgbClr val="334155"/>
                </a:solidFill>
              </a:rPr>
              <a:t>Genesis to Commodity across the bottom, visible to buried down the side. Position carries meaning here, so auto-layout is switched off and dragging is the edit.</a:t>
            </a:r>
          </a:p>
        </p:txBody>
      </p:sp>
      <p:sp>
        <p:nvSpPr>
          <p:cNvPr id="9" name="Rectangle 8"/>
          <p:cNvSpPr/>
          <p:nvPr/>
        </p:nvSpPr>
        <p:spPr>
          <a:xfrm>
            <a:off x="457200" y="3063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18104"/>
            <a:ext cx="3200400" cy="457200"/>
          </a:xfrm>
          <a:prstGeom prst="rect">
            <a:avLst/>
          </a:prstGeom>
          <a:noFill/>
        </p:spPr>
        <p:txBody>
          <a:bodyPr wrap="square">
            <a:spAutoFit/>
          </a:bodyPr>
          <a:lstStyle/>
          <a:p>
            <a:pPr algn="l"/>
            <a:r>
              <a:rPr sz="1400" b="1" i="0">
                <a:solidFill>
                  <a:srgbClr val="1D4ED8"/>
                </a:solidFill>
              </a:rPr>
              <a:t>The shadow and the band</a:t>
            </a:r>
          </a:p>
        </p:txBody>
      </p:sp>
      <p:sp>
        <p:nvSpPr>
          <p:cNvPr id="11" name="TextBox 10"/>
          <p:cNvSpPr txBox="1"/>
          <p:nvPr/>
        </p:nvSpPr>
        <p:spPr>
          <a:xfrm>
            <a:off x="640080" y="3520440"/>
            <a:ext cx="10789920" cy="502920"/>
          </a:xfrm>
          <a:prstGeom prst="rect">
            <a:avLst/>
          </a:prstGeom>
          <a:noFill/>
        </p:spPr>
        <p:txBody>
          <a:bodyPr wrap="square">
            <a:spAutoFit/>
          </a:bodyPr>
          <a:lstStyle/>
          <a:p>
            <a:pPr algn="l"/>
            <a:r>
              <a:rPr sz="1300" b="0" i="0">
                <a:solidFill>
                  <a:srgbClr val="334155"/>
                </a:solidFill>
              </a:rPr>
              <a:t>A dashed node marks the forecast position when the pinning stops. The translucent band between the two is the excess rent, drawn as an object you can point at and measure.</a:t>
            </a:r>
          </a:p>
        </p:txBody>
      </p:sp>
      <p:sp>
        <p:nvSpPr>
          <p:cNvPr id="12" name="Rectangle 11"/>
          <p:cNvSpPr/>
          <p:nvPr/>
        </p:nvSpPr>
        <p:spPr>
          <a:xfrm>
            <a:off x="457200" y="4206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261103"/>
            <a:ext cx="3200400" cy="457200"/>
          </a:xfrm>
          <a:prstGeom prst="rect">
            <a:avLst/>
          </a:prstGeom>
          <a:noFill/>
        </p:spPr>
        <p:txBody>
          <a:bodyPr wrap="square">
            <a:spAutoFit/>
          </a:bodyPr>
          <a:lstStyle/>
          <a:p>
            <a:pPr algn="l"/>
            <a:r>
              <a:rPr sz="1400" b="1" i="0">
                <a:solidFill>
                  <a:srgbClr val="1D4ED8"/>
                </a:solidFill>
              </a:rPr>
              <a:t>The pin and the pressure arrow</a:t>
            </a:r>
          </a:p>
        </p:txBody>
      </p:sp>
      <p:sp>
        <p:nvSpPr>
          <p:cNvPr id="14" name="TextBox 13"/>
          <p:cNvSpPr txBox="1"/>
          <p:nvPr/>
        </p:nvSpPr>
        <p:spPr>
          <a:xfrm>
            <a:off x="640080" y="4663440"/>
            <a:ext cx="10789920" cy="502920"/>
          </a:xfrm>
          <a:prstGeom prst="rect">
            <a:avLst/>
          </a:prstGeom>
          <a:noFill/>
        </p:spPr>
        <p:txBody>
          <a:bodyPr wrap="square">
            <a:spAutoFit/>
          </a:bodyPr>
          <a:lstStyle/>
          <a:p>
            <a:pPr algn="l"/>
            <a:r>
              <a:rPr sz="1300" b="0" i="0">
                <a:solidFill>
                  <a:srgbClr val="334155"/>
                </a:solidFill>
              </a:rPr>
              <a:t>A pin names the causal loop holding the component left. The arrow lists the forces pushing right and the mechanisms resisting, each with what it costs the resistor every year.</a:t>
            </a:r>
          </a:p>
        </p:txBody>
      </p:sp>
      <p:sp>
        <p:nvSpPr>
          <p:cNvPr id="15" name="Rectangle 14"/>
          <p:cNvSpPr/>
          <p:nvPr/>
        </p:nvSpPr>
        <p:spPr>
          <a:xfrm>
            <a:off x="457200" y="5349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404103"/>
            <a:ext cx="3200400" cy="457200"/>
          </a:xfrm>
          <a:prstGeom prst="rect">
            <a:avLst/>
          </a:prstGeom>
          <a:noFill/>
        </p:spPr>
        <p:txBody>
          <a:bodyPr wrap="square">
            <a:spAutoFit/>
          </a:bodyPr>
          <a:lstStyle/>
          <a:p>
            <a:pPr algn="l"/>
            <a:r>
              <a:rPr sz="1400" b="1" i="0">
                <a:solidFill>
                  <a:srgbClr val="1D4ED8"/>
                </a:solidFill>
              </a:rPr>
              <a:t>It survives leaving the tool</a:t>
            </a:r>
          </a:p>
        </p:txBody>
      </p:sp>
      <p:sp>
        <p:nvSpPr>
          <p:cNvPr id="17" name="TextBox 16"/>
          <p:cNvSpPr txBox="1"/>
          <p:nvPr/>
        </p:nvSpPr>
        <p:spPr>
          <a:xfrm>
            <a:off x="640080" y="5806440"/>
            <a:ext cx="10789920" cy="502920"/>
          </a:xfrm>
          <a:prstGeom prst="rect">
            <a:avLst/>
          </a:prstGeom>
          <a:noFill/>
        </p:spPr>
        <p:txBody>
          <a:bodyPr wrap="square">
            <a:spAutoFit/>
          </a:bodyPr>
          <a:lstStyle/>
          <a:p>
            <a:pPr algn="l"/>
            <a:r>
              <a:rPr sz="1300" b="0" i="0">
                <a:solidFill>
                  <a:srgbClr val="334155"/>
                </a:solidFill>
              </a:rPr>
              <a:t>Every hover annotation exports into the SVG, so a printed or federated map still answers the question a rent figure always attracts: says who, and when.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Wardley maps written by Claude Chat</a:t>
            </a:r>
          </a:p>
        </p:txBody>
      </p:sp>
      <p:sp>
        <p:nvSpPr>
          <p:cNvPr id="5" name="TextBox 4"/>
          <p:cNvSpPr txBox="1"/>
          <p:nvPr/>
        </p:nvSpPr>
        <p:spPr>
          <a:xfrm>
            <a:off x="548640" y="1097280"/>
            <a:ext cx="11064240" cy="457200"/>
          </a:xfrm>
          <a:prstGeom prst="rect">
            <a:avLst/>
          </a:prstGeom>
          <a:noFill/>
        </p:spPr>
        <p:txBody>
          <a:bodyPr wrap="square">
            <a:spAutoFit/>
          </a:bodyPr>
          <a:lstStyle/>
          <a:p>
            <a:pPr algn="l"/>
            <a:r>
              <a:rPr sz="1700" b="0" i="0">
                <a:solidFill>
                  <a:srgbClr val="334155"/>
                </a:solidFill>
              </a:rPr>
              <a:t>Chat writes the map, the tool draws it, you correct it. Correcting the positions is the analysis.</a:t>
            </a:r>
          </a:p>
        </p:txBody>
      </p:sp>
      <p:sp>
        <p:nvSpPr>
          <p:cNvPr id="6" name="Rectangle 5"/>
          <p:cNvSpPr/>
          <p:nvPr/>
        </p:nvSpPr>
        <p:spPr>
          <a:xfrm>
            <a:off x="365760" y="1691640"/>
            <a:ext cx="5577840" cy="1463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828800"/>
            <a:ext cx="502920" cy="5029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1</a:t>
            </a:r>
          </a:p>
        </p:txBody>
      </p:sp>
      <p:sp>
        <p:nvSpPr>
          <p:cNvPr id="8" name="TextBox 7"/>
          <p:cNvSpPr txBox="1"/>
          <p:nvPr/>
        </p:nvSpPr>
        <p:spPr>
          <a:xfrm>
            <a:off x="1115568" y="1801368"/>
            <a:ext cx="4663440" cy="411480"/>
          </a:xfrm>
          <a:prstGeom prst="rect">
            <a:avLst/>
          </a:prstGeom>
          <a:noFill/>
        </p:spPr>
        <p:txBody>
          <a:bodyPr wrap="square">
            <a:spAutoFit/>
          </a:bodyPr>
          <a:lstStyle/>
          <a:p>
            <a:pPr algn="l"/>
            <a:r>
              <a:rPr sz="1500" b="1" i="0">
                <a:solidFill>
                  <a:srgbClr val="0F172A"/>
                </a:solidFill>
              </a:rPr>
              <a:t>Hand Chat the card</a:t>
            </a:r>
          </a:p>
        </p:txBody>
      </p:sp>
      <p:sp>
        <p:nvSpPr>
          <p:cNvPr id="9" name="TextBox 8"/>
          <p:cNvSpPr txBox="1"/>
          <p:nvPr/>
        </p:nvSpPr>
        <p:spPr>
          <a:xfrm>
            <a:off x="1115568" y="2221992"/>
            <a:ext cx="4663440" cy="822960"/>
          </a:xfrm>
          <a:prstGeom prst="rect">
            <a:avLst/>
          </a:prstGeom>
          <a:noFill/>
        </p:spPr>
        <p:txBody>
          <a:bodyPr wrap="square">
            <a:spAutoFit/>
          </a:bodyPr>
          <a:lstStyle/>
          <a:p>
            <a:pPr algn="l"/>
            <a:r>
              <a:rPr sz="1300" b="0" i="0">
                <a:solidFill>
                  <a:srgbClr val="334155"/>
                </a:solidFill>
              </a:rPr>
              <a:t>Paste wardley-chat-card.md into a new conversation,
then say what you want mapped.</a:t>
            </a:r>
          </a:p>
        </p:txBody>
      </p:sp>
      <p:sp>
        <p:nvSpPr>
          <p:cNvPr id="10" name="Rectangle 9"/>
          <p:cNvSpPr/>
          <p:nvPr/>
        </p:nvSpPr>
        <p:spPr>
          <a:xfrm>
            <a:off x="6263640" y="1691640"/>
            <a:ext cx="5577840" cy="1463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828800"/>
            <a:ext cx="502920" cy="5029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2</a:t>
            </a:r>
          </a:p>
        </p:txBody>
      </p:sp>
      <p:sp>
        <p:nvSpPr>
          <p:cNvPr id="12" name="TextBox 11"/>
          <p:cNvSpPr txBox="1"/>
          <p:nvPr/>
        </p:nvSpPr>
        <p:spPr>
          <a:xfrm>
            <a:off x="7013448" y="1801368"/>
            <a:ext cx="4663440" cy="411480"/>
          </a:xfrm>
          <a:prstGeom prst="rect">
            <a:avLst/>
          </a:prstGeom>
          <a:noFill/>
        </p:spPr>
        <p:txBody>
          <a:bodyPr wrap="square">
            <a:spAutoFit/>
          </a:bodyPr>
          <a:lstStyle/>
          <a:p>
            <a:pPr algn="l"/>
            <a:r>
              <a:rPr sz="1500" b="1" i="0">
                <a:solidFill>
                  <a:srgbClr val="0F172A"/>
                </a:solidFill>
              </a:rPr>
              <a:t>Save what comes back</a:t>
            </a:r>
          </a:p>
        </p:txBody>
      </p:sp>
      <p:sp>
        <p:nvSpPr>
          <p:cNvPr id="13" name="TextBox 12"/>
          <p:cNvSpPr txBox="1"/>
          <p:nvPr/>
        </p:nvSpPr>
        <p:spPr>
          <a:xfrm>
            <a:off x="7013448" y="2221992"/>
            <a:ext cx="4663440" cy="822960"/>
          </a:xfrm>
          <a:prstGeom prst="rect">
            <a:avLst/>
          </a:prstGeom>
          <a:noFill/>
        </p:spPr>
        <p:txBody>
          <a:bodyPr wrap="square">
            <a:spAutoFit/>
          </a:bodyPr>
          <a:lstStyle/>
          <a:p>
            <a:pPr algn="l"/>
            <a:r>
              <a:rPr sz="1300" b="0" i="0">
                <a:solidFill>
                  <a:srgbClr val="334155"/>
                </a:solidFill>
              </a:rPr>
              <a:t>One JSON block. A node needs four fields — id, label,
evolution, visibility — so there is little to get wrong.</a:t>
            </a:r>
          </a:p>
        </p:txBody>
      </p:sp>
      <p:sp>
        <p:nvSpPr>
          <p:cNvPr id="14" name="Rectangle 13"/>
          <p:cNvSpPr/>
          <p:nvPr/>
        </p:nvSpPr>
        <p:spPr>
          <a:xfrm>
            <a:off x="365760" y="3291840"/>
            <a:ext cx="5577840" cy="1463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429000"/>
            <a:ext cx="502920" cy="5029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3</a:t>
            </a:r>
          </a:p>
        </p:txBody>
      </p:sp>
      <p:sp>
        <p:nvSpPr>
          <p:cNvPr id="16" name="TextBox 15"/>
          <p:cNvSpPr txBox="1"/>
          <p:nvPr/>
        </p:nvSpPr>
        <p:spPr>
          <a:xfrm>
            <a:off x="1115568" y="3401568"/>
            <a:ext cx="4663440" cy="411480"/>
          </a:xfrm>
          <a:prstGeom prst="rect">
            <a:avLst/>
          </a:prstGeom>
          <a:noFill/>
        </p:spPr>
        <p:txBody>
          <a:bodyPr wrap="square">
            <a:spAutoFit/>
          </a:bodyPr>
          <a:lstStyle/>
          <a:p>
            <a:pPr algn="l"/>
            <a:r>
              <a:rPr sz="1500" b="1" i="0">
                <a:solidFill>
                  <a:srgbClr val="0F172A"/>
                </a:solidFill>
              </a:rPr>
              <a:t>Check it before you open it</a:t>
            </a:r>
          </a:p>
        </p:txBody>
      </p:sp>
      <p:sp>
        <p:nvSpPr>
          <p:cNvPr id="17" name="TextBox 16"/>
          <p:cNvSpPr txBox="1"/>
          <p:nvPr/>
        </p:nvSpPr>
        <p:spPr>
          <a:xfrm>
            <a:off x="1115568" y="3822191"/>
            <a:ext cx="4663440" cy="822960"/>
          </a:xfrm>
          <a:prstGeom prst="rect">
            <a:avLst/>
          </a:prstGeom>
          <a:noFill/>
        </p:spPr>
        <p:txBody>
          <a:bodyPr wrap="square">
            <a:spAutoFit/>
          </a:bodyPr>
          <a:lstStyle/>
          <a:p>
            <a:pPr algn="l"/>
            <a:r>
              <a:rPr sz="1300" b="0" i="0">
                <a:solidFill>
                  <a:srgbClr val="334155"/>
                </a:solidFill>
              </a:rPr>
              <a:t>node validate-rcn-graph.js yourmap.json
Fix anything it calls an ERROR. Warnings are advice.</a:t>
            </a:r>
          </a:p>
        </p:txBody>
      </p:sp>
      <p:sp>
        <p:nvSpPr>
          <p:cNvPr id="18" name="Rectangle 17"/>
          <p:cNvSpPr/>
          <p:nvPr/>
        </p:nvSpPr>
        <p:spPr>
          <a:xfrm>
            <a:off x="6263640" y="3291840"/>
            <a:ext cx="5577840" cy="1463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3429000"/>
            <a:ext cx="502920" cy="5029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4</a:t>
            </a:r>
          </a:p>
        </p:txBody>
      </p:sp>
      <p:sp>
        <p:nvSpPr>
          <p:cNvPr id="20" name="TextBox 19"/>
          <p:cNvSpPr txBox="1"/>
          <p:nvPr/>
        </p:nvSpPr>
        <p:spPr>
          <a:xfrm>
            <a:off x="7013448" y="3401568"/>
            <a:ext cx="4663440" cy="411480"/>
          </a:xfrm>
          <a:prstGeom prst="rect">
            <a:avLst/>
          </a:prstGeom>
          <a:noFill/>
        </p:spPr>
        <p:txBody>
          <a:bodyPr wrap="square">
            <a:spAutoFit/>
          </a:bodyPr>
          <a:lstStyle/>
          <a:p>
            <a:pPr algn="l"/>
            <a:r>
              <a:rPr sz="1500" b="1" i="0">
                <a:solidFill>
                  <a:srgbClr val="0F172A"/>
                </a:solidFill>
              </a:rPr>
              <a:t>Drag it in, then drag the nodes</a:t>
            </a:r>
          </a:p>
        </p:txBody>
      </p:sp>
      <p:sp>
        <p:nvSpPr>
          <p:cNvPr id="21" name="TextBox 20"/>
          <p:cNvSpPr txBox="1"/>
          <p:nvPr/>
        </p:nvSpPr>
        <p:spPr>
          <a:xfrm>
            <a:off x="7013448" y="3822191"/>
            <a:ext cx="4663440" cy="822960"/>
          </a:xfrm>
          <a:prstGeom prst="rect">
            <a:avLst/>
          </a:prstGeom>
          <a:noFill/>
        </p:spPr>
        <p:txBody>
          <a:bodyPr wrap="square">
            <a:spAutoFit/>
          </a:bodyPr>
          <a:lstStyle/>
          <a:p>
            <a:pPr algn="l"/>
            <a:r>
              <a:rPr sz="1300" b="0" i="0">
                <a:solidFill>
                  <a:srgbClr val="334155"/>
                </a:solidFill>
              </a:rPr>
              <a:t>IMPORT → JSON. The map opens in Wardley mode itself.
Your corrections are written back into the file on export.</a:t>
            </a:r>
          </a:p>
        </p:txBody>
      </p:sp>
      <p:sp>
        <p:nvSpPr>
          <p:cNvPr id="22" name="Rectangle 21"/>
          <p:cNvSpPr/>
          <p:nvPr/>
        </p:nvSpPr>
        <p:spPr>
          <a:xfrm>
            <a:off x="365760" y="5029200"/>
            <a:ext cx="11475720" cy="1234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138928"/>
            <a:ext cx="10972800" cy="365760"/>
          </a:xfrm>
          <a:prstGeom prst="rect">
            <a:avLst/>
          </a:prstGeom>
          <a:noFill/>
        </p:spPr>
        <p:txBody>
          <a:bodyPr wrap="square">
            <a:spAutoFit/>
          </a:bodyPr>
          <a:lstStyle/>
          <a:p>
            <a:pPr algn="l"/>
            <a:r>
              <a:rPr sz="1500" b="1" i="0">
                <a:solidFill>
                  <a:srgbClr val="F0FDFA"/>
                </a:solidFill>
              </a:rPr>
              <a:t>The one thing that goes badly wrong: which way the evolution axis runs</a:t>
            </a:r>
          </a:p>
        </p:txBody>
      </p:sp>
      <p:sp>
        <p:nvSpPr>
          <p:cNvPr id="24" name="TextBox 23"/>
          <p:cNvSpPr txBox="1"/>
          <p:nvPr/>
        </p:nvSpPr>
        <p:spPr>
          <a:xfrm>
            <a:off x="640080" y="5504688"/>
            <a:ext cx="10972800" cy="731520"/>
          </a:xfrm>
          <a:prstGeom prst="rect">
            <a:avLst/>
          </a:prstGeom>
          <a:noFill/>
        </p:spPr>
        <p:txBody>
          <a:bodyPr wrap="square">
            <a:spAutoFit/>
          </a:bodyPr>
          <a:lstStyle/>
          <a:p>
            <a:pPr algn="l"/>
            <a:r>
              <a:rPr sz="1300" b="0" i="0">
                <a:solidFill>
                  <a:srgbClr val="CBD5E1"/>
                </a:solidFill>
              </a:rPr>
              <a:t>Two conventions are in circulation and they run opposite ways. RCN and standard Wardley put Commodity on the right; the Wardley Map Generator's own format puts Genesis there. Get it backwards and every commodity renders in Genesis, looking entirely deliberate. The tool refuses to guess — a file that does not say will not load.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The legend is the registry</a:t>
            </a:r>
          </a:p>
        </p:txBody>
      </p:sp>
      <p:sp>
        <p:nvSpPr>
          <p:cNvPr id="5" name="Rectangle 4"/>
          <p:cNvSpPr/>
          <p:nvPr/>
        </p:nvSpPr>
        <p:spPr>
          <a:xfrm>
            <a:off x="365760" y="1143000"/>
            <a:ext cx="5486400" cy="5257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5120640" cy="502920"/>
          </a:xfrm>
          <a:prstGeom prst="rect">
            <a:avLst/>
          </a:prstGeom>
          <a:noFill/>
        </p:spPr>
        <p:txBody>
          <a:bodyPr wrap="square">
            <a:spAutoFit/>
          </a:bodyPr>
          <a:lstStyle/>
          <a:p>
            <a:pPr algn="l"/>
            <a:r>
              <a:rPr sz="1600" b="1" i="0">
                <a:solidFill>
                  <a:srgbClr val="C2410C"/>
                </a:solidFill>
              </a:rPr>
              <a:t>Style by kind, not by element</a:t>
            </a:r>
          </a:p>
        </p:txBody>
      </p:sp>
      <p:sp>
        <p:nvSpPr>
          <p:cNvPr id="7" name="TextBox 6"/>
          <p:cNvSpPr txBox="1"/>
          <p:nvPr/>
        </p:nvSpPr>
        <p:spPr>
          <a:xfrm>
            <a:off x="548640" y="1810512"/>
            <a:ext cx="5120640" cy="457200"/>
          </a:xfrm>
          <a:prstGeom prst="rect">
            <a:avLst/>
          </a:prstGeom>
          <a:noFill/>
        </p:spPr>
        <p:txBody>
          <a:bodyPr wrap="square">
            <a:spAutoFit/>
          </a:bodyPr>
          <a:lstStyle/>
          <a:p>
            <a:pPr algn="l"/>
            <a:r>
              <a:rPr sz="1300" b="0" i="0">
                <a:solidFill>
                  <a:srgbClr val="334155"/>
                </a:solidFill>
              </a:rPr>
              <a:t>In most tools the legend is a picture of the colour scheme — kept in sync by hand, and the first thing to go stale.</a:t>
            </a:r>
          </a:p>
        </p:txBody>
      </p:sp>
      <p:sp>
        <p:nvSpPr>
          <p:cNvPr id="8" name="TextBox 7"/>
          <p:cNvSpPr txBox="1"/>
          <p:nvPr/>
        </p:nvSpPr>
        <p:spPr>
          <a:xfrm>
            <a:off x="548640" y="2468880"/>
            <a:ext cx="5120640" cy="3657600"/>
          </a:xfrm>
          <a:prstGeom prst="rect">
            <a:avLst/>
          </a:prstGeom>
          <a:noFill/>
        </p:spPr>
        <p:txBody>
          <a:bodyPr wrap="square">
            <a:spAutoFit/>
          </a:bodyPr>
          <a:lstStyle/>
          <a:p>
            <a:pPr>
              <a:spcAft>
                <a:spcPts val="600"/>
              </a:spcAft>
            </a:pPr>
            <a:r>
              <a:rPr sz="1300" b="0">
                <a:solidFill>
                  <a:srgbClr val="0F172A"/>
                </a:solidFill>
              </a:rPr>
              <a:t>• A legend row DEFINES a kind — its fill, border, width, dash</a:t>
            </a:r>
          </a:p>
          <a:p>
            <a:pPr>
              <a:spcAft>
                <a:spcPts val="600"/>
              </a:spcAft>
            </a:pPr>
            <a:r>
              <a:rPr sz="1300" b="0">
                <a:solidFill>
                  <a:srgbClr val="0F172A"/>
                </a:solidFill>
              </a:rPr>
              <a:t>• Nodes and edges follow a row instead of carrying their own styling</a:t>
            </a:r>
          </a:p>
          <a:p>
            <a:pPr>
              <a:spcAft>
                <a:spcPts val="600"/>
              </a:spcAft>
            </a:pPr>
            <a:r>
              <a:rPr sz="1300" b="0">
                <a:solidFill>
                  <a:srgbClr val="0F172A"/>
                </a:solidFill>
              </a:rPr>
              <a:t>• Change the row and every element following it changes at once</a:t>
            </a:r>
          </a:p>
          <a:p>
            <a:pPr>
              <a:spcAft>
                <a:spcPts val="600"/>
              </a:spcAft>
            </a:pPr>
            <a:r>
              <a:rPr sz="1300" b="0">
                <a:solidFill>
                  <a:srgbClr val="0F172A"/>
                </a:solidFill>
              </a:rPr>
              <a:t>• Assign selection puts a selection on a row</a:t>
            </a:r>
          </a:p>
          <a:p>
            <a:pPr>
              <a:spcAft>
                <a:spcPts val="600"/>
              </a:spcAft>
            </a:pPr>
            <a:r>
              <a:rPr sz="1300" b="0">
                <a:solidFill>
                  <a:srgbClr val="0F172A"/>
                </a:solidFill>
              </a:rPr>
              <a:t>• Override one element and it diverges on that property only — still following the row for everything else</a:t>
            </a:r>
          </a:p>
          <a:p>
            <a:pPr>
              <a:spcAft>
                <a:spcPts val="600"/>
              </a:spcAft>
            </a:pPr>
            <a:r>
              <a:rPr sz="1300" b="0">
                <a:solidFill>
                  <a:srgbClr val="0F172A"/>
                </a:solidFill>
              </a:rPr>
              <a:t>• Clear overrides snaps every follower back to the row</a:t>
            </a:r>
          </a:p>
          <a:p>
            <a:pPr>
              <a:spcAft>
                <a:spcPts val="600"/>
              </a:spcAft>
            </a:pPr>
            <a:r>
              <a:rPr sz="1300" b="0">
                <a:solidFill>
                  <a:srgbClr val="0F172A"/>
                </a:solidFill>
              </a:rPr>
              <a:t>• 6–8 kinds is what a group can read; the panel warns above 8, and says how many elements follow no row at all</a:t>
            </a:r>
          </a:p>
        </p:txBody>
      </p:sp>
      <p:sp>
        <p:nvSpPr>
          <p:cNvPr id="9" name="Rectangle 8"/>
          <p:cNvSpPr/>
          <p:nvPr/>
        </p:nvSpPr>
        <p:spPr>
          <a:xfrm>
            <a:off x="6126480" y="1143000"/>
            <a:ext cx="5669280" cy="5257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234440"/>
            <a:ext cx="5303520" cy="502920"/>
          </a:xfrm>
          <a:prstGeom prst="rect">
            <a:avLst/>
          </a:prstGeom>
          <a:noFill/>
        </p:spPr>
        <p:txBody>
          <a:bodyPr wrap="square">
            <a:spAutoFit/>
          </a:bodyPr>
          <a:lstStyle/>
          <a:p>
            <a:pPr algn="l"/>
            <a:r>
              <a:rPr sz="1600" b="1" i="0">
                <a:solidFill>
                  <a:srgbClr val="166A34"/>
                </a:solidFill>
              </a:rPr>
              <a:t>Exports that describe themselves</a:t>
            </a:r>
          </a:p>
        </p:txBody>
      </p:sp>
      <p:sp>
        <p:nvSpPr>
          <p:cNvPr id="11" name="TextBox 10"/>
          <p:cNvSpPr txBox="1"/>
          <p:nvPr/>
        </p:nvSpPr>
        <p:spPr>
          <a:xfrm>
            <a:off x="6309360" y="1810512"/>
            <a:ext cx="5303520" cy="457200"/>
          </a:xfrm>
          <a:prstGeom prst="rect">
            <a:avLst/>
          </a:prstGeom>
          <a:noFill/>
        </p:spPr>
        <p:txBody>
          <a:bodyPr wrap="square">
            <a:spAutoFit/>
          </a:bodyPr>
          <a:lstStyle/>
          <a:p>
            <a:pPr algn="l"/>
            <a:r>
              <a:rPr sz="1300" b="0" i="0">
                <a:solidFill>
                  <a:srgbClr val="334155"/>
                </a:solidFill>
              </a:rPr>
              <a:t>Styling by registry creates a trap, and the tool closes it on the way out.</a:t>
            </a:r>
          </a:p>
        </p:txBody>
      </p:sp>
      <p:sp>
        <p:nvSpPr>
          <p:cNvPr id="12" name="TextBox 11"/>
          <p:cNvSpPr txBox="1"/>
          <p:nvPr/>
        </p:nvSpPr>
        <p:spPr>
          <a:xfrm>
            <a:off x="6309360" y="2468880"/>
            <a:ext cx="5303520" cy="3657600"/>
          </a:xfrm>
          <a:prstGeom prst="rect">
            <a:avLst/>
          </a:prstGeom>
          <a:noFill/>
        </p:spPr>
        <p:txBody>
          <a:bodyPr wrap="square">
            <a:spAutoFit/>
          </a:bodyPr>
          <a:lstStyle/>
          <a:p>
            <a:pPr>
              <a:spcAft>
                <a:spcPts val="600"/>
              </a:spcAft>
            </a:pPr>
            <a:r>
              <a:rPr sz="1300" b="0">
                <a:solidFill>
                  <a:srgbClr val="0F172A"/>
                </a:solidFill>
              </a:rPr>
              <a:t>• An element following a row needs no colour of its own to draw correctly</a:t>
            </a:r>
          </a:p>
          <a:p>
            <a:pPr>
              <a:spcAft>
                <a:spcPts val="600"/>
              </a:spcAft>
            </a:pPr>
            <a:r>
              <a:rPr sz="1300" b="0">
                <a:solidFill>
                  <a:srgbClr val="0F172A"/>
                </a:solidFill>
              </a:rPr>
              <a:t>• So a saved file can be perfectly right on screen and look entirely unstyled to anything that is not this tool — a database projection, a converter, an AI assistant reading it, a person scanning the JSON</a:t>
            </a:r>
          </a:p>
          <a:p>
            <a:pPr>
              <a:spcAft>
                <a:spcPts val="600"/>
              </a:spcAft>
            </a:pPr>
            <a:r>
              <a:rPr sz="1300" b="0">
                <a:solidFill>
                  <a:srgbClr val="0F172A"/>
                </a:solidFill>
              </a:rPr>
              <a:t>• On export the tool stamps each element’s resolved appearance alongside the row it follows, so the file says what you saw</a:t>
            </a:r>
          </a:p>
          <a:p>
            <a:pPr>
              <a:spcAft>
                <a:spcPts val="600"/>
              </a:spcAft>
            </a:pPr>
            <a:r>
              <a:rPr sz="1300" b="0">
                <a:solidFill>
                  <a:srgbClr val="0F172A"/>
                </a:solidFill>
              </a:rPr>
              <a:t>• It also settles a contradiction: loading writes dash = solid onto every edge, so a dashed row drew dashed while the file claimed solid</a:t>
            </a:r>
          </a:p>
          <a:p>
            <a:pPr>
              <a:spcAft>
                <a:spcPts val="600"/>
              </a:spcAft>
            </a:pPr>
            <a:r>
              <a:rPr sz="1300" b="0">
                <a:solidFill>
                  <a:srgbClr val="0F172A"/>
                </a:solidFill>
              </a:rPr>
              <a:t>• The row still wins on reload — the legend stays the single place to restyle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Export — your diagram lives beyond the tool</a:t>
            </a:r>
          </a:p>
        </p:txBody>
      </p:sp>
      <p:sp>
        <p:nvSpPr>
          <p:cNvPr id="5" name="Rectangle 4"/>
          <p:cNvSpPr/>
          <p:nvPr/>
        </p:nvSpPr>
        <p:spPr>
          <a:xfrm>
            <a:off x="365760" y="1143000"/>
            <a:ext cx="557784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2286000" cy="411480"/>
          </a:xfrm>
          <a:prstGeom prst="rect">
            <a:avLst/>
          </a:prstGeom>
          <a:noFill/>
        </p:spPr>
        <p:txBody>
          <a:bodyPr wrap="square">
            <a:spAutoFit/>
          </a:bodyPr>
          <a:lstStyle/>
          <a:p>
            <a:pPr algn="l"/>
            <a:r>
              <a:rPr sz="1500" b="1" i="0">
                <a:solidFill>
                  <a:srgbClr val="0F766E"/>
                </a:solidFill>
              </a:rPr>
              <a:t>Presentation</a:t>
            </a:r>
          </a:p>
        </p:txBody>
      </p:sp>
      <p:sp>
        <p:nvSpPr>
          <p:cNvPr id="7" name="TextBox 6"/>
          <p:cNvSpPr txBox="1"/>
          <p:nvPr/>
        </p:nvSpPr>
        <p:spPr>
          <a:xfrm>
            <a:off x="548640" y="1618488"/>
            <a:ext cx="5212080" cy="411480"/>
          </a:xfrm>
          <a:prstGeom prst="rect">
            <a:avLst/>
          </a:prstGeom>
          <a:noFill/>
        </p:spPr>
        <p:txBody>
          <a:bodyPr wrap="square">
            <a:spAutoFit/>
          </a:bodyPr>
          <a:lstStyle/>
          <a:p>
            <a:pPr algn="l"/>
            <a:r>
              <a:rPr sz="1200" b="0" i="0">
                <a:solidFill>
                  <a:srgbClr val="475569"/>
                </a:solidFill>
              </a:rPr>
              <a:t>SVG · PNG (2×) · Copy to clipboard · Print</a:t>
            </a:r>
          </a:p>
        </p:txBody>
      </p:sp>
      <p:sp>
        <p:nvSpPr>
          <p:cNvPr id="8" name="TextBox 7"/>
          <p:cNvSpPr txBox="1"/>
          <p:nvPr/>
        </p:nvSpPr>
        <p:spPr>
          <a:xfrm>
            <a:off x="548640" y="2057400"/>
            <a:ext cx="5212080" cy="685800"/>
          </a:xfrm>
          <a:prstGeom prst="rect">
            <a:avLst/>
          </a:prstGeom>
          <a:noFill/>
        </p:spPr>
        <p:txBody>
          <a:bodyPr wrap="square">
            <a:spAutoFit/>
          </a:bodyPr>
          <a:lstStyle/>
          <a:p>
            <a:pPr algn="l"/>
            <a:r>
              <a:rPr sz="1200" b="0" i="0">
                <a:solidFill>
                  <a:srgbClr val="334155"/>
                </a:solidFill>
              </a:rPr>
              <a:t>Paste directly into PowerPoint or Google Slides.
Export SVG for documents that need to scale.
Or show it live: press P for presentation view.</a:t>
            </a:r>
          </a:p>
        </p:txBody>
      </p:sp>
      <p:sp>
        <p:nvSpPr>
          <p:cNvPr id="9" name="Rectangle 8"/>
          <p:cNvSpPr/>
          <p:nvPr/>
        </p:nvSpPr>
        <p:spPr>
          <a:xfrm>
            <a:off x="6263640" y="1143000"/>
            <a:ext cx="557784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234440"/>
            <a:ext cx="2286000" cy="411480"/>
          </a:xfrm>
          <a:prstGeom prst="rect">
            <a:avLst/>
          </a:prstGeom>
          <a:noFill/>
        </p:spPr>
        <p:txBody>
          <a:bodyPr wrap="square">
            <a:spAutoFit/>
          </a:bodyPr>
          <a:lstStyle/>
          <a:p>
            <a:pPr algn="l"/>
            <a:r>
              <a:rPr sz="1500" b="1" i="0">
                <a:solidFill>
                  <a:srgbClr val="0F766E"/>
                </a:solidFill>
              </a:rPr>
              <a:t>Share</a:t>
            </a:r>
          </a:p>
        </p:txBody>
      </p:sp>
      <p:sp>
        <p:nvSpPr>
          <p:cNvPr id="11" name="TextBox 10"/>
          <p:cNvSpPr txBox="1"/>
          <p:nvPr/>
        </p:nvSpPr>
        <p:spPr>
          <a:xfrm>
            <a:off x="6446520" y="1618488"/>
            <a:ext cx="5212080" cy="411480"/>
          </a:xfrm>
          <a:prstGeom prst="rect">
            <a:avLst/>
          </a:prstGeom>
          <a:noFill/>
        </p:spPr>
        <p:txBody>
          <a:bodyPr wrap="square">
            <a:spAutoFit/>
          </a:bodyPr>
          <a:lstStyle/>
          <a:p>
            <a:pPr algn="l"/>
            <a:r>
              <a:rPr sz="1200" b="0" i="0">
                <a:solidFill>
                  <a:srgbClr val="475569"/>
                </a:solidFill>
              </a:rPr>
              <a:t>URL encode · JSON · Snapshot</a:t>
            </a:r>
          </a:p>
        </p:txBody>
      </p:sp>
      <p:sp>
        <p:nvSpPr>
          <p:cNvPr id="12" name="TextBox 11"/>
          <p:cNvSpPr txBox="1"/>
          <p:nvPr/>
        </p:nvSpPr>
        <p:spPr>
          <a:xfrm>
            <a:off x="6446520" y="2057400"/>
            <a:ext cx="5212080" cy="685800"/>
          </a:xfrm>
          <a:prstGeom prst="rect">
            <a:avLst/>
          </a:prstGeom>
          <a:noFill/>
        </p:spPr>
        <p:txBody>
          <a:bodyPr wrap="square">
            <a:spAutoFit/>
          </a:bodyPr>
          <a:lstStyle/>
          <a:p>
            <a:pPr algn="l"/>
            <a:r>
              <a:rPr sz="1200" b="0" i="0">
                <a:solidFill>
                  <a:srgbClr val="334155"/>
                </a:solidFill>
              </a:rPr>
              <a:t>URL export encodes the full diagram in a link — share it, no file needed.
Snapshot downloads one HTML file with the diagram baked in — open in any browser, no companion file.
JSON is the lossless save format.</a:t>
            </a:r>
          </a:p>
        </p:txBody>
      </p:sp>
      <p:sp>
        <p:nvSpPr>
          <p:cNvPr id="13" name="Rectangle 12"/>
          <p:cNvSpPr/>
          <p:nvPr/>
        </p:nvSpPr>
        <p:spPr>
          <a:xfrm>
            <a:off x="365760" y="2971800"/>
            <a:ext cx="557784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63240"/>
            <a:ext cx="2286000" cy="411480"/>
          </a:xfrm>
          <a:prstGeom prst="rect">
            <a:avLst/>
          </a:prstGeom>
          <a:noFill/>
        </p:spPr>
        <p:txBody>
          <a:bodyPr wrap="square">
            <a:spAutoFit/>
          </a:bodyPr>
          <a:lstStyle/>
          <a:p>
            <a:pPr algn="l"/>
            <a:r>
              <a:rPr sz="1500" b="1" i="0">
                <a:solidFill>
                  <a:srgbClr val="0F766E"/>
                </a:solidFill>
              </a:rPr>
              <a:t>Neo4j</a:t>
            </a:r>
          </a:p>
        </p:txBody>
      </p:sp>
      <p:sp>
        <p:nvSpPr>
          <p:cNvPr id="15" name="TextBox 14"/>
          <p:cNvSpPr txBox="1"/>
          <p:nvPr/>
        </p:nvSpPr>
        <p:spPr>
          <a:xfrm>
            <a:off x="548640" y="3447288"/>
            <a:ext cx="5212080" cy="411480"/>
          </a:xfrm>
          <a:prstGeom prst="rect">
            <a:avLst/>
          </a:prstGeom>
          <a:noFill/>
        </p:spPr>
        <p:txBody>
          <a:bodyPr wrap="square">
            <a:spAutoFit/>
          </a:bodyPr>
          <a:lstStyle/>
          <a:p>
            <a:pPr algn="l"/>
            <a:r>
              <a:rPr sz="1200" b="0" i="0">
                <a:solidFill>
                  <a:srgbClr val="475569"/>
                </a:solidFill>
              </a:rPr>
              <a:t>Cypher CREATE · MATCH import · OPM→Cypher · NRM→Cypher</a:t>
            </a:r>
          </a:p>
        </p:txBody>
      </p:sp>
      <p:sp>
        <p:nvSpPr>
          <p:cNvPr id="16" name="TextBox 15"/>
          <p:cNvSpPr txBox="1"/>
          <p:nvPr/>
        </p:nvSpPr>
        <p:spPr>
          <a:xfrm>
            <a:off x="548640" y="3886200"/>
            <a:ext cx="5212080" cy="685800"/>
          </a:xfrm>
          <a:prstGeom prst="rect">
            <a:avLst/>
          </a:prstGeom>
          <a:noFill/>
        </p:spPr>
        <p:txBody>
          <a:bodyPr wrap="square">
            <a:spAutoFit/>
          </a:bodyPr>
          <a:lstStyle/>
          <a:p>
            <a:pPr algn="l"/>
            <a:r>
              <a:rPr sz="1200" b="0" i="0">
                <a:solidFill>
                  <a:srgbClr val="334155"/>
                </a:solidFill>
              </a:rPr>
              <a:t>Design schemas here, paste into Neo4j Browser.
Bring live graph data back with MATCH import.</a:t>
            </a:r>
          </a:p>
        </p:txBody>
      </p:sp>
      <p:sp>
        <p:nvSpPr>
          <p:cNvPr id="17" name="Rectangle 16"/>
          <p:cNvSpPr/>
          <p:nvPr/>
        </p:nvSpPr>
        <p:spPr>
          <a:xfrm>
            <a:off x="6263640" y="2971800"/>
            <a:ext cx="557784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063240"/>
            <a:ext cx="2286000" cy="411480"/>
          </a:xfrm>
          <a:prstGeom prst="rect">
            <a:avLst/>
          </a:prstGeom>
          <a:noFill/>
        </p:spPr>
        <p:txBody>
          <a:bodyPr wrap="square">
            <a:spAutoFit/>
          </a:bodyPr>
          <a:lstStyle/>
          <a:p>
            <a:pPr algn="l"/>
            <a:r>
              <a:rPr sz="1500" b="1" i="0">
                <a:solidFill>
                  <a:srgbClr val="0F766E"/>
                </a:solidFill>
              </a:rPr>
              <a:t>OPM text</a:t>
            </a:r>
          </a:p>
        </p:txBody>
      </p:sp>
      <p:sp>
        <p:nvSpPr>
          <p:cNvPr id="19" name="TextBox 18"/>
          <p:cNvSpPr txBox="1"/>
          <p:nvPr/>
        </p:nvSpPr>
        <p:spPr>
          <a:xfrm>
            <a:off x="6446520" y="3447288"/>
            <a:ext cx="5212080" cy="411480"/>
          </a:xfrm>
          <a:prstGeom prst="rect">
            <a:avLst/>
          </a:prstGeom>
          <a:noFill/>
        </p:spPr>
        <p:txBody>
          <a:bodyPr wrap="square">
            <a:spAutoFit/>
          </a:bodyPr>
          <a:lstStyle/>
          <a:p>
            <a:pPr algn="l"/>
            <a:r>
              <a:rPr sz="1200" b="0" i="0">
                <a:solidFill>
                  <a:srgbClr val="475569"/>
                </a:solidFill>
              </a:rPr>
              <a:t>OPM→OPL · OPM→CSV</a:t>
            </a:r>
          </a:p>
        </p:txBody>
      </p:sp>
      <p:sp>
        <p:nvSpPr>
          <p:cNvPr id="20" name="TextBox 19"/>
          <p:cNvSpPr txBox="1"/>
          <p:nvPr/>
        </p:nvSpPr>
        <p:spPr>
          <a:xfrm>
            <a:off x="6446520" y="3886200"/>
            <a:ext cx="5212080" cy="685800"/>
          </a:xfrm>
          <a:prstGeom prst="rect">
            <a:avLst/>
          </a:prstGeom>
          <a:noFill/>
        </p:spPr>
        <p:txBody>
          <a:bodyPr wrap="square">
            <a:spAutoFit/>
          </a:bodyPr>
          <a:lstStyle/>
          <a:p>
            <a:pPr algn="l"/>
            <a:r>
              <a:rPr sz="1200" b="0" i="0">
                <a:solidFill>
                  <a:srgbClr val="334155"/>
                </a:solidFill>
              </a:rPr>
              <a:t>Plain-text OPL for documentation, CSV triples for
spreadsheets or other tools.</a:t>
            </a:r>
          </a:p>
        </p:txBody>
      </p:sp>
      <p:sp>
        <p:nvSpPr>
          <p:cNvPr id="21" name="Rectangle 20"/>
          <p:cNvSpPr/>
          <p:nvPr/>
        </p:nvSpPr>
        <p:spPr>
          <a:xfrm>
            <a:off x="365760" y="4800600"/>
            <a:ext cx="557784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892040"/>
            <a:ext cx="2286000" cy="411480"/>
          </a:xfrm>
          <a:prstGeom prst="rect">
            <a:avLst/>
          </a:prstGeom>
          <a:noFill/>
        </p:spPr>
        <p:txBody>
          <a:bodyPr wrap="square">
            <a:spAutoFit/>
          </a:bodyPr>
          <a:lstStyle/>
          <a:p>
            <a:pPr algn="l"/>
            <a:r>
              <a:rPr sz="1500" b="1" i="0">
                <a:solidFill>
                  <a:srgbClr val="0F766E"/>
                </a:solidFill>
              </a:rPr>
              <a:t>Vensim</a:t>
            </a:r>
          </a:p>
        </p:txBody>
      </p:sp>
      <p:sp>
        <p:nvSpPr>
          <p:cNvPr id="23" name="TextBox 22"/>
          <p:cNvSpPr txBox="1"/>
          <p:nvPr/>
        </p:nvSpPr>
        <p:spPr>
          <a:xfrm>
            <a:off x="548640" y="5276088"/>
            <a:ext cx="5212080" cy="411480"/>
          </a:xfrm>
          <a:prstGeom prst="rect">
            <a:avLst/>
          </a:prstGeom>
          <a:noFill/>
        </p:spPr>
        <p:txBody>
          <a:bodyPr wrap="square">
            <a:spAutoFit/>
          </a:bodyPr>
          <a:lstStyle/>
          <a:p>
            <a:pPr algn="l"/>
            <a:r>
              <a:rPr sz="1200" b="0" i="0">
                <a:solidFill>
                  <a:srgbClr val="475569"/>
                </a:solidFill>
              </a:rPr>
              <a:t>Export .mdl · Export XMILE · Import .mdl · Import XMILE</a:t>
            </a:r>
          </a:p>
        </p:txBody>
      </p:sp>
      <p:sp>
        <p:nvSpPr>
          <p:cNvPr id="24" name="TextBox 23"/>
          <p:cNvSpPr txBox="1"/>
          <p:nvPr/>
        </p:nvSpPr>
        <p:spPr>
          <a:xfrm>
            <a:off x="548640" y="5715000"/>
            <a:ext cx="5212080" cy="685800"/>
          </a:xfrm>
          <a:prstGeom prst="rect">
            <a:avLst/>
          </a:prstGeom>
          <a:noFill/>
        </p:spPr>
        <p:txBody>
          <a:bodyPr wrap="square">
            <a:spAutoFit/>
          </a:bodyPr>
          <a:lstStyle/>
          <a:p>
            <a:pPr algn="l"/>
            <a:r>
              <a:rPr sz="1200" b="0" i="0">
                <a:solidFill>
                  <a:srgbClr val="334155"/>
                </a:solidFill>
              </a:rPr>
              <a:t>Sketch causal structure here, move to Vensim
for simulation when ready.</a:t>
            </a:r>
          </a:p>
        </p:txBody>
      </p:sp>
      <p:sp>
        <p:nvSpPr>
          <p:cNvPr id="25" name="Rectangle 24"/>
          <p:cNvSpPr/>
          <p:nvPr/>
        </p:nvSpPr>
        <p:spPr>
          <a:xfrm>
            <a:off x="6263640" y="4800600"/>
            <a:ext cx="557784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892040"/>
            <a:ext cx="2286000" cy="411480"/>
          </a:xfrm>
          <a:prstGeom prst="rect">
            <a:avLst/>
          </a:prstGeom>
          <a:noFill/>
        </p:spPr>
        <p:txBody>
          <a:bodyPr wrap="square">
            <a:spAutoFit/>
          </a:bodyPr>
          <a:lstStyle/>
          <a:p>
            <a:pPr algn="l"/>
            <a:r>
              <a:rPr sz="1500" b="1" i="0">
                <a:solidFill>
                  <a:srgbClr val="0F766E"/>
                </a:solidFill>
              </a:rPr>
              <a:t>Graphviz</a:t>
            </a:r>
          </a:p>
        </p:txBody>
      </p:sp>
      <p:sp>
        <p:nvSpPr>
          <p:cNvPr id="27" name="TextBox 26"/>
          <p:cNvSpPr txBox="1"/>
          <p:nvPr/>
        </p:nvSpPr>
        <p:spPr>
          <a:xfrm>
            <a:off x="6446520" y="5276088"/>
            <a:ext cx="5212080" cy="411480"/>
          </a:xfrm>
          <a:prstGeom prst="rect">
            <a:avLst/>
          </a:prstGeom>
          <a:noFill/>
        </p:spPr>
        <p:txBody>
          <a:bodyPr wrap="square">
            <a:spAutoFit/>
          </a:bodyPr>
          <a:lstStyle/>
          <a:p>
            <a:pPr algn="l"/>
            <a:r>
              <a:rPr sz="1200" b="0" i="0">
                <a:solidFill>
                  <a:srgbClr val="475569"/>
                </a:solidFill>
              </a:rPr>
              <a:t>Export .dot · Import .dot</a:t>
            </a:r>
          </a:p>
        </p:txBody>
      </p:sp>
      <p:sp>
        <p:nvSpPr>
          <p:cNvPr id="28" name="TextBox 27"/>
          <p:cNvSpPr txBox="1"/>
          <p:nvPr/>
        </p:nvSpPr>
        <p:spPr>
          <a:xfrm>
            <a:off x="6446520" y="5715000"/>
            <a:ext cx="5212080" cy="685800"/>
          </a:xfrm>
          <a:prstGeom prst="rect">
            <a:avLst/>
          </a:prstGeom>
          <a:noFill/>
        </p:spPr>
        <p:txBody>
          <a:bodyPr wrap="square">
            <a:spAutoFit/>
          </a:bodyPr>
          <a:lstStyle/>
          <a:p>
            <a:pPr algn="l"/>
            <a:r>
              <a:rPr sz="1200" b="0" i="0">
                <a:solidFill>
                  <a:srgbClr val="334155"/>
                </a:solidFill>
              </a:rPr>
              <a:t>Full round-trip with the Graphviz / Gephi ecosystem.
Colors, shapes, edge weights all preserved.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Presenting — hand the whole screen to the graph</a:t>
            </a:r>
          </a:p>
        </p:txBody>
      </p:sp>
      <p:sp>
        <p:nvSpPr>
          <p:cNvPr id="5" name="TextBox 4"/>
          <p:cNvSpPr txBox="1"/>
          <p:nvPr/>
        </p:nvSpPr>
        <p:spPr>
          <a:xfrm>
            <a:off x="548640" y="1143000"/>
            <a:ext cx="11064240" cy="548640"/>
          </a:xfrm>
          <a:prstGeom prst="rect">
            <a:avLst/>
          </a:prstGeom>
          <a:noFill/>
        </p:spPr>
        <p:txBody>
          <a:bodyPr wrap="square">
            <a:spAutoFit/>
          </a:bodyPr>
          <a:lstStyle/>
          <a:p>
            <a:pPr algn="l"/>
            <a:r>
              <a:rPr sz="1700" b="0" i="0">
                <a:solidFill>
                  <a:srgbClr val="334155"/>
                </a:solidFill>
              </a:rPr>
              <a:t>The goal is a picture a group can read together. Presentation view takes away everything that is not the picture.</a:t>
            </a:r>
          </a:p>
        </p:txBody>
      </p:sp>
      <p:sp>
        <p:nvSpPr>
          <p:cNvPr id="6" name="Rectangle 5"/>
          <p:cNvSpPr/>
          <p:nvPr/>
        </p:nvSpPr>
        <p:spPr>
          <a:xfrm>
            <a:off x="457200" y="1920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75104"/>
            <a:ext cx="3840480" cy="457200"/>
          </a:xfrm>
          <a:prstGeom prst="rect">
            <a:avLst/>
          </a:prstGeom>
          <a:noFill/>
        </p:spPr>
        <p:txBody>
          <a:bodyPr wrap="square">
            <a:spAutoFit/>
          </a:bodyPr>
          <a:lstStyle/>
          <a:p>
            <a:pPr algn="l"/>
            <a:r>
              <a:rPr sz="1400" b="1" i="0">
                <a:solidFill>
                  <a:srgbClr val="0F766E"/>
                </a:solidFill>
              </a:rPr>
              <a:t>One key, no chrome</a:t>
            </a:r>
          </a:p>
        </p:txBody>
      </p:sp>
      <p:sp>
        <p:nvSpPr>
          <p:cNvPr id="8" name="TextBox 7"/>
          <p:cNvSpPr txBox="1"/>
          <p:nvPr/>
        </p:nvSpPr>
        <p:spPr>
          <a:xfrm>
            <a:off x="640080" y="2377440"/>
            <a:ext cx="10789920" cy="502920"/>
          </a:xfrm>
          <a:prstGeom prst="rect">
            <a:avLst/>
          </a:prstGeom>
          <a:noFill/>
        </p:spPr>
        <p:txBody>
          <a:bodyPr wrap="square">
            <a:spAutoFit/>
          </a:bodyPr>
          <a:lstStyle/>
          <a:p>
            <a:pPr algn="l"/>
            <a:r>
              <a:rPr sz="1300" b="0" i="0">
                <a:solidFill>
                  <a:srgbClr val="334155"/>
                </a:solidFill>
              </a:rPr>
              <a:t>Press P, or click Present. Toolbar, sidebar, search box, mode banners and hint strip all disappear, the browser goes fullscreen, and the graph is refitted to the whole window. Escape brings it back at the pan and zoom you left.</a:t>
            </a:r>
          </a:p>
        </p:txBody>
      </p:sp>
      <p:sp>
        <p:nvSpPr>
          <p:cNvPr id="9" name="Rectangle 8"/>
          <p:cNvSpPr/>
          <p:nvPr/>
        </p:nvSpPr>
        <p:spPr>
          <a:xfrm>
            <a:off x="457200" y="3063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18104"/>
            <a:ext cx="3840480" cy="457200"/>
          </a:xfrm>
          <a:prstGeom prst="rect">
            <a:avLst/>
          </a:prstGeom>
          <a:noFill/>
        </p:spPr>
        <p:txBody>
          <a:bodyPr wrap="square">
            <a:spAutoFit/>
          </a:bodyPr>
          <a:lstStyle/>
          <a:p>
            <a:pPr algn="l"/>
            <a:r>
              <a:rPr sz="1400" b="1" i="0">
                <a:solidFill>
                  <a:srgbClr val="0F766E"/>
                </a:solidFill>
              </a:rPr>
              <a:t>What stays is the picture</a:t>
            </a:r>
          </a:p>
        </p:txBody>
      </p:sp>
      <p:sp>
        <p:nvSpPr>
          <p:cNvPr id="11" name="TextBox 10"/>
          <p:cNvSpPr txBox="1"/>
          <p:nvPr/>
        </p:nvSpPr>
        <p:spPr>
          <a:xfrm>
            <a:off x="640080" y="3520440"/>
            <a:ext cx="10789920" cy="502920"/>
          </a:xfrm>
          <a:prstGeom prst="rect">
            <a:avLst/>
          </a:prstGeom>
          <a:noFill/>
        </p:spPr>
        <p:txBody>
          <a:bodyPr wrap="square">
            <a:spAutoFit/>
          </a:bodyPr>
          <a:lstStyle/>
          <a:p>
            <a:pPr algn="l"/>
            <a:r>
              <a:rPr sz="1300" b="0" i="0">
                <a:solidFill>
                  <a:srgbClr val="334155"/>
                </a:solidFill>
              </a:rPr>
              <a:t>The legend, the EIP columns and the CLD loop labels stay on screen. They belong to the diagram, not to the tool — so nothing the room needs to read the graph goes away with the controls.</a:t>
            </a:r>
          </a:p>
        </p:txBody>
      </p:sp>
      <p:sp>
        <p:nvSpPr>
          <p:cNvPr id="12" name="Rectangle 11"/>
          <p:cNvSpPr/>
          <p:nvPr/>
        </p:nvSpPr>
        <p:spPr>
          <a:xfrm>
            <a:off x="457200" y="4206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261103"/>
            <a:ext cx="3840480" cy="457200"/>
          </a:xfrm>
          <a:prstGeom prst="rect">
            <a:avLst/>
          </a:prstGeom>
          <a:noFill/>
        </p:spPr>
        <p:txBody>
          <a:bodyPr wrap="square">
            <a:spAutoFit/>
          </a:bodyPr>
          <a:lstStyle/>
          <a:p>
            <a:pPr algn="l"/>
            <a:r>
              <a:rPr sz="1400" b="1" i="0">
                <a:solidFill>
                  <a:srgbClr val="0F766E"/>
                </a:solidFill>
              </a:rPr>
              <a:t>Still live, not a slide</a:t>
            </a:r>
          </a:p>
        </p:txBody>
      </p:sp>
      <p:sp>
        <p:nvSpPr>
          <p:cNvPr id="14" name="TextBox 13"/>
          <p:cNvSpPr txBox="1"/>
          <p:nvPr/>
        </p:nvSpPr>
        <p:spPr>
          <a:xfrm>
            <a:off x="640080" y="4663440"/>
            <a:ext cx="10789920" cy="502920"/>
          </a:xfrm>
          <a:prstGeom prst="rect">
            <a:avLst/>
          </a:prstGeom>
          <a:noFill/>
        </p:spPr>
        <p:txBody>
          <a:bodyPr wrap="square">
            <a:spAutoFit/>
          </a:bodyPr>
          <a:lstStyle/>
          <a:p>
            <a:pPr algn="l"/>
            <a:r>
              <a:rPr sz="1300" b="0" i="0">
                <a:solidFill>
                  <a:srgbClr val="334155"/>
                </a:solidFill>
              </a:rPr>
              <a:t>Nothing is read-only: nodes drag, edges draw, labels edit. Run polarity propagation or a Trace animation in front of the room — those controls are among the few kept on screen, because a presenter uses them.</a:t>
            </a:r>
          </a:p>
        </p:txBody>
      </p:sp>
      <p:sp>
        <p:nvSpPr>
          <p:cNvPr id="15" name="Rectangle 14"/>
          <p:cNvSpPr/>
          <p:nvPr/>
        </p:nvSpPr>
        <p:spPr>
          <a:xfrm>
            <a:off x="457200" y="5349240"/>
            <a:ext cx="11247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404103"/>
            <a:ext cx="3840480" cy="457200"/>
          </a:xfrm>
          <a:prstGeom prst="rect">
            <a:avLst/>
          </a:prstGeom>
          <a:noFill/>
        </p:spPr>
        <p:txBody>
          <a:bodyPr wrap="square">
            <a:spAutoFit/>
          </a:bodyPr>
          <a:lstStyle/>
          <a:p>
            <a:pPr algn="l"/>
            <a:r>
              <a:rPr sz="1400" b="1" i="0">
                <a:solidFill>
                  <a:srgbClr val="0F766E"/>
                </a:solidFill>
              </a:rPr>
              <a:t>Hover still answers the question</a:t>
            </a:r>
          </a:p>
        </p:txBody>
      </p:sp>
      <p:sp>
        <p:nvSpPr>
          <p:cNvPr id="17" name="TextBox 16"/>
          <p:cNvSpPr txBox="1"/>
          <p:nvPr/>
        </p:nvSpPr>
        <p:spPr>
          <a:xfrm>
            <a:off x="640080" y="5806440"/>
            <a:ext cx="10789920" cy="502920"/>
          </a:xfrm>
          <a:prstGeom prst="rect">
            <a:avLst/>
          </a:prstGeom>
          <a:noFill/>
        </p:spPr>
        <p:txBody>
          <a:bodyPr wrap="square">
            <a:spAutoFit/>
          </a:bodyPr>
          <a:lstStyle/>
          <a:p>
            <a:pPr algn="l"/>
            <a:r>
              <a:rPr sz="1300" b="0" i="0">
                <a:solidFill>
                  <a:srgbClr val="334155"/>
                </a:solidFill>
              </a:rPr>
              <a:t>Notes, properties and source links appear on hover, so a challenge from the room is answered from the diagram itself rather than from a separate document.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What you can map for a neighborhood</a:t>
            </a:r>
          </a:p>
        </p:txBody>
      </p:sp>
      <p:sp>
        <p:nvSpPr>
          <p:cNvPr id="5" name="Rectangle 4"/>
          <p:cNvSpPr/>
          <p:nvPr/>
        </p:nvSpPr>
        <p:spPr>
          <a:xfrm>
            <a:off x="365760" y="114300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5212080" cy="731520"/>
          </a:xfrm>
          <a:prstGeom prst="rect">
            <a:avLst/>
          </a:prstGeom>
          <a:noFill/>
        </p:spPr>
        <p:txBody>
          <a:bodyPr wrap="square">
            <a:spAutoFit/>
          </a:bodyPr>
          <a:lstStyle/>
          <a:p>
            <a:pPr algn="l"/>
            <a:r>
              <a:rPr sz="1800" b="1" i="0">
                <a:solidFill>
                  <a:srgbClr val="1D4ED8"/>
                </a:solidFill>
              </a:rPr>
              <a:t>Commercial district
systems</a:t>
            </a:r>
          </a:p>
        </p:txBody>
      </p:sp>
      <p:sp>
        <p:nvSpPr>
          <p:cNvPr id="7" name="TextBox 6"/>
          <p:cNvSpPr txBox="1"/>
          <p:nvPr/>
        </p:nvSpPr>
        <p:spPr>
          <a:xfrm>
            <a:off x="548640" y="2011680"/>
            <a:ext cx="5212080" cy="1463040"/>
          </a:xfrm>
          <a:prstGeom prst="rect">
            <a:avLst/>
          </a:prstGeom>
          <a:noFill/>
        </p:spPr>
        <p:txBody>
          <a:bodyPr wrap="square">
            <a:spAutoFit/>
          </a:bodyPr>
          <a:lstStyle/>
          <a:p>
            <a:pPr algn="l"/>
            <a:r>
              <a:rPr sz="1300" b="0" i="0">
                <a:solidFill>
                  <a:srgbClr val="334155"/>
                </a:solidFill>
              </a:rPr>
              <a:t>Map businesses by type (OPM: Classification-Instantiation), ownership structure (Aggregation-Participation), and governance relationships (EIP). Export OPL as documentation.</a:t>
            </a:r>
          </a:p>
        </p:txBody>
      </p:sp>
      <p:sp>
        <p:nvSpPr>
          <p:cNvPr id="8" name="Rectangle 7"/>
          <p:cNvSpPr/>
          <p:nvPr/>
        </p:nvSpPr>
        <p:spPr>
          <a:xfrm>
            <a:off x="6263640" y="114300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234440"/>
            <a:ext cx="5212080" cy="731520"/>
          </a:xfrm>
          <a:prstGeom prst="rect">
            <a:avLst/>
          </a:prstGeom>
          <a:noFill/>
        </p:spPr>
        <p:txBody>
          <a:bodyPr wrap="square">
            <a:spAutoFit/>
          </a:bodyPr>
          <a:lstStyle/>
          <a:p>
            <a:pPr algn="l"/>
            <a:r>
              <a:rPr sz="1800" b="1" i="0">
                <a:solidFill>
                  <a:srgbClr val="1D4ED8"/>
                </a:solidFill>
              </a:rPr>
              <a:t>Causal chains in
community risk</a:t>
            </a:r>
          </a:p>
        </p:txBody>
      </p:sp>
      <p:sp>
        <p:nvSpPr>
          <p:cNvPr id="10" name="TextBox 9"/>
          <p:cNvSpPr txBox="1"/>
          <p:nvPr/>
        </p:nvSpPr>
        <p:spPr>
          <a:xfrm>
            <a:off x="6446520" y="2011680"/>
            <a:ext cx="5212080" cy="1463040"/>
          </a:xfrm>
          <a:prstGeom prst="rect">
            <a:avLst/>
          </a:prstGeom>
          <a:noFill/>
        </p:spPr>
        <p:txBody>
          <a:bodyPr wrap="square">
            <a:spAutoFit/>
          </a:bodyPr>
          <a:lstStyle/>
          <a:p>
            <a:pPr algn="l"/>
            <a:r>
              <a:rPr sz="1300" b="0" i="0">
                <a:solidFill>
                  <a:srgbClr val="334155"/>
                </a:solidFill>
              </a:rPr>
              <a:t>Use NRM mode to trace from Underlying Causes through Preconditions to Incident. Identify missing or failed barriers. Switch to CLD to find reinforcing loops.</a:t>
            </a:r>
          </a:p>
        </p:txBody>
      </p:sp>
      <p:sp>
        <p:nvSpPr>
          <p:cNvPr id="11" name="Rectangle 10"/>
          <p:cNvSpPr/>
          <p:nvPr/>
        </p:nvSpPr>
        <p:spPr>
          <a:xfrm>
            <a:off x="365760" y="379476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886200"/>
            <a:ext cx="5212080" cy="731520"/>
          </a:xfrm>
          <a:prstGeom prst="rect">
            <a:avLst/>
          </a:prstGeom>
          <a:noFill/>
        </p:spPr>
        <p:txBody>
          <a:bodyPr wrap="square">
            <a:spAutoFit/>
          </a:bodyPr>
          <a:lstStyle/>
          <a:p>
            <a:pPr algn="l"/>
            <a:r>
              <a:rPr sz="1800" b="1" i="0">
                <a:solidFill>
                  <a:srgbClr val="1D4ED8"/>
                </a:solidFill>
              </a:rPr>
              <a:t>Health systems
mapping</a:t>
            </a:r>
          </a:p>
        </p:txBody>
      </p:sp>
      <p:sp>
        <p:nvSpPr>
          <p:cNvPr id="13" name="TextBox 12"/>
          <p:cNvSpPr txBox="1"/>
          <p:nvPr/>
        </p:nvSpPr>
        <p:spPr>
          <a:xfrm>
            <a:off x="548640" y="4663440"/>
            <a:ext cx="5212080" cy="1463040"/>
          </a:xfrm>
          <a:prstGeom prst="rect">
            <a:avLst/>
          </a:prstGeom>
          <a:noFill/>
        </p:spPr>
        <p:txBody>
          <a:bodyPr wrap="square">
            <a:spAutoFit/>
          </a:bodyPr>
          <a:lstStyle/>
          <a:p>
            <a:pPr algn="l"/>
            <a:r>
              <a:rPr sz="1300" b="0" i="0">
                <a:solidFill>
                  <a:srgbClr val="334155"/>
                </a:solidFill>
              </a:rPr>
              <a:t>Map service providers (Objects), care processes (Processes), and the relationships between them. Generate OPL for shared care plan documentation. Export Cypher for database integration.</a:t>
            </a:r>
          </a:p>
        </p:txBody>
      </p:sp>
      <p:sp>
        <p:nvSpPr>
          <p:cNvPr id="14" name="Rectangle 13"/>
          <p:cNvSpPr/>
          <p:nvPr/>
        </p:nvSpPr>
        <p:spPr>
          <a:xfrm>
            <a:off x="6263640" y="379476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3886200"/>
            <a:ext cx="5212080" cy="731520"/>
          </a:xfrm>
          <a:prstGeom prst="rect">
            <a:avLst/>
          </a:prstGeom>
          <a:noFill/>
        </p:spPr>
        <p:txBody>
          <a:bodyPr wrap="square">
            <a:spAutoFit/>
          </a:bodyPr>
          <a:lstStyle/>
          <a:p>
            <a:pPr algn="l"/>
            <a:r>
              <a:rPr sz="1800" b="1" i="0">
                <a:solidFill>
                  <a:srgbClr val="1D4ED8"/>
                </a:solidFill>
              </a:rPr>
              <a:t>Policy and
governance</a:t>
            </a:r>
          </a:p>
        </p:txBody>
      </p:sp>
      <p:sp>
        <p:nvSpPr>
          <p:cNvPr id="16" name="TextBox 15"/>
          <p:cNvSpPr txBox="1"/>
          <p:nvPr/>
        </p:nvSpPr>
        <p:spPr>
          <a:xfrm>
            <a:off x="6446520" y="4663440"/>
            <a:ext cx="5212080" cy="1463040"/>
          </a:xfrm>
          <a:prstGeom prst="rect">
            <a:avLst/>
          </a:prstGeom>
          <a:noFill/>
        </p:spPr>
        <p:txBody>
          <a:bodyPr wrap="square">
            <a:spAutoFit/>
          </a:bodyPr>
          <a:lstStyle/>
          <a:p>
            <a:pPr algn="l"/>
            <a:r>
              <a:rPr sz="1300" b="0" i="0">
                <a:solidFill>
                  <a:srgbClr val="334155"/>
                </a:solidFill>
              </a:rPr>
              <a:t>Use EIP columns to position stakeholders, institutions, and ecological factors. Use Triples to attach agreements or interventions to specific causal links. Animate pathways with Trace mode for presentations.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1247120" cy="731520"/>
          </a:xfrm>
          <a:prstGeom prst="rect">
            <a:avLst/>
          </a:prstGeom>
          <a:noFill/>
        </p:spPr>
        <p:txBody>
          <a:bodyPr wrap="square">
            <a:spAutoFit/>
          </a:bodyPr>
          <a:lstStyle/>
          <a:p>
            <a:pPr algn="l"/>
            <a:r>
              <a:rPr sz="2800" b="1" i="0">
                <a:solidFill>
                  <a:srgbClr val="FFFFFF"/>
                </a:solidFill>
              </a:rPr>
              <a:t>Getting started — in under 5 minutes</a:t>
            </a:r>
          </a:p>
        </p:txBody>
      </p:sp>
      <p:sp>
        <p:nvSpPr>
          <p:cNvPr id="5" name="Rectangle 4"/>
          <p:cNvSpPr/>
          <p:nvPr/>
        </p:nvSpPr>
        <p:spPr>
          <a:xfrm>
            <a:off x="365760" y="1188720"/>
            <a:ext cx="557784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325880"/>
            <a:ext cx="502920" cy="5029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1</a:t>
            </a:r>
          </a:p>
        </p:txBody>
      </p:sp>
      <p:sp>
        <p:nvSpPr>
          <p:cNvPr id="7" name="TextBox 6"/>
          <p:cNvSpPr txBox="1"/>
          <p:nvPr/>
        </p:nvSpPr>
        <p:spPr>
          <a:xfrm>
            <a:off x="1115568" y="1298448"/>
            <a:ext cx="4663440" cy="411480"/>
          </a:xfrm>
          <a:prstGeom prst="rect">
            <a:avLst/>
          </a:prstGeom>
          <a:noFill/>
        </p:spPr>
        <p:txBody>
          <a:bodyPr wrap="square">
            <a:spAutoFit/>
          </a:bodyPr>
          <a:lstStyle/>
          <a:p>
            <a:pPr algn="l"/>
            <a:r>
              <a:rPr sz="1500" b="1" i="0">
                <a:solidFill>
                  <a:srgbClr val="0F172A"/>
                </a:solidFill>
              </a:rPr>
              <a:t>Open the file</a:t>
            </a:r>
          </a:p>
        </p:txBody>
      </p:sp>
      <p:sp>
        <p:nvSpPr>
          <p:cNvPr id="8" name="TextBox 7"/>
          <p:cNvSpPr txBox="1"/>
          <p:nvPr/>
        </p:nvSpPr>
        <p:spPr>
          <a:xfrm>
            <a:off x="1115568" y="1737360"/>
            <a:ext cx="4663440" cy="914400"/>
          </a:xfrm>
          <a:prstGeom prst="rect">
            <a:avLst/>
          </a:prstGeom>
          <a:noFill/>
        </p:spPr>
        <p:txBody>
          <a:bodyPr wrap="square">
            <a:spAutoFit/>
          </a:bodyPr>
          <a:lstStyle/>
          <a:p>
            <a:pPr algn="l"/>
            <a:r>
              <a:rPr sz="1300" b="0" i="0">
                <a:solidFill>
                  <a:srgbClr val="334155"/>
                </a:solidFill>
              </a:rPr>
              <a:t>Open graph-tool-v22.html in any modern browser.
No install. No account. No internet required after loading.</a:t>
            </a:r>
          </a:p>
        </p:txBody>
      </p:sp>
      <p:sp>
        <p:nvSpPr>
          <p:cNvPr id="9" name="Rectangle 8"/>
          <p:cNvSpPr/>
          <p:nvPr/>
        </p:nvSpPr>
        <p:spPr>
          <a:xfrm>
            <a:off x="6263640" y="1188720"/>
            <a:ext cx="557784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325880"/>
            <a:ext cx="502920" cy="5029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2</a:t>
            </a:r>
          </a:p>
        </p:txBody>
      </p:sp>
      <p:sp>
        <p:nvSpPr>
          <p:cNvPr id="11" name="TextBox 10"/>
          <p:cNvSpPr txBox="1"/>
          <p:nvPr/>
        </p:nvSpPr>
        <p:spPr>
          <a:xfrm>
            <a:off x="7013448" y="1298448"/>
            <a:ext cx="4663440" cy="411480"/>
          </a:xfrm>
          <a:prstGeom prst="rect">
            <a:avLst/>
          </a:prstGeom>
          <a:noFill/>
        </p:spPr>
        <p:txBody>
          <a:bodyPr wrap="square">
            <a:spAutoFit/>
          </a:bodyPr>
          <a:lstStyle/>
          <a:p>
            <a:pPr algn="l"/>
            <a:r>
              <a:rPr sz="1500" b="1" i="0">
                <a:solidFill>
                  <a:srgbClr val="0F172A"/>
                </a:solidFill>
              </a:rPr>
              <a:t>Set a model name</a:t>
            </a:r>
          </a:p>
        </p:txBody>
      </p:sp>
      <p:sp>
        <p:nvSpPr>
          <p:cNvPr id="12" name="TextBox 11"/>
          <p:cNvSpPr txBox="1"/>
          <p:nvPr/>
        </p:nvSpPr>
        <p:spPr>
          <a:xfrm>
            <a:off x="7013448" y="1737360"/>
            <a:ext cx="4663440" cy="914400"/>
          </a:xfrm>
          <a:prstGeom prst="rect">
            <a:avLst/>
          </a:prstGeom>
          <a:noFill/>
        </p:spPr>
        <p:txBody>
          <a:bodyPr wrap="square">
            <a:spAutoFit/>
          </a:bodyPr>
          <a:lstStyle/>
          <a:p>
            <a:pPr algn="l"/>
            <a:r>
              <a:rPr sz="1300" b="0" i="0">
                <a:solidFill>
                  <a:srgbClr val="334155"/>
                </a:solidFill>
              </a:rPr>
              <a:t>Type a name in the Model Name field at the top of the sidebar.
This becomes the filename for all exports.</a:t>
            </a:r>
          </a:p>
        </p:txBody>
      </p:sp>
      <p:sp>
        <p:nvSpPr>
          <p:cNvPr id="13" name="Rectangle 12"/>
          <p:cNvSpPr/>
          <p:nvPr/>
        </p:nvSpPr>
        <p:spPr>
          <a:xfrm>
            <a:off x="365760" y="2971800"/>
            <a:ext cx="557784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108960"/>
            <a:ext cx="502920" cy="5029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3</a:t>
            </a:r>
          </a:p>
        </p:txBody>
      </p:sp>
      <p:sp>
        <p:nvSpPr>
          <p:cNvPr id="15" name="TextBox 14"/>
          <p:cNvSpPr txBox="1"/>
          <p:nvPr/>
        </p:nvSpPr>
        <p:spPr>
          <a:xfrm>
            <a:off x="1115568" y="3081528"/>
            <a:ext cx="4663440" cy="411480"/>
          </a:xfrm>
          <a:prstGeom prst="rect">
            <a:avLst/>
          </a:prstGeom>
          <a:noFill/>
        </p:spPr>
        <p:txBody>
          <a:bodyPr wrap="square">
            <a:spAutoFit/>
          </a:bodyPr>
          <a:lstStyle/>
          <a:p>
            <a:pPr algn="l"/>
            <a:r>
              <a:rPr sz="1500" b="1" i="0">
                <a:solidFill>
                  <a:srgbClr val="0F172A"/>
                </a:solidFill>
              </a:rPr>
              <a:t>Place nodes</a:t>
            </a:r>
          </a:p>
        </p:txBody>
      </p:sp>
      <p:sp>
        <p:nvSpPr>
          <p:cNvPr id="16" name="TextBox 15"/>
          <p:cNvSpPr txBox="1"/>
          <p:nvPr/>
        </p:nvSpPr>
        <p:spPr>
          <a:xfrm>
            <a:off x="1115568" y="3520440"/>
            <a:ext cx="4663440" cy="914400"/>
          </a:xfrm>
          <a:prstGeom prst="rect">
            <a:avLst/>
          </a:prstGeom>
          <a:noFill/>
        </p:spPr>
        <p:txBody>
          <a:bodyPr wrap="square">
            <a:spAutoFit/>
          </a:bodyPr>
          <a:lstStyle/>
          <a:p>
            <a:pPr algn="l"/>
            <a:r>
              <a:rPr sz="1300" b="0" i="0">
                <a:solidFill>
                  <a:srgbClr val="334155"/>
                </a:solidFill>
              </a:rPr>
              <a:t>Click + Node, then click the canvas to place it.
Double-tap to type a label. Press n for sticky Node mode.</a:t>
            </a:r>
          </a:p>
        </p:txBody>
      </p:sp>
      <p:sp>
        <p:nvSpPr>
          <p:cNvPr id="17" name="Rectangle 16"/>
          <p:cNvSpPr/>
          <p:nvPr/>
        </p:nvSpPr>
        <p:spPr>
          <a:xfrm>
            <a:off x="6263640" y="2971800"/>
            <a:ext cx="557784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3108960"/>
            <a:ext cx="502920" cy="5029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4</a:t>
            </a:r>
          </a:p>
        </p:txBody>
      </p:sp>
      <p:sp>
        <p:nvSpPr>
          <p:cNvPr id="19" name="TextBox 18"/>
          <p:cNvSpPr txBox="1"/>
          <p:nvPr/>
        </p:nvSpPr>
        <p:spPr>
          <a:xfrm>
            <a:off x="7013448" y="3081528"/>
            <a:ext cx="4663440" cy="411480"/>
          </a:xfrm>
          <a:prstGeom prst="rect">
            <a:avLst/>
          </a:prstGeom>
          <a:noFill/>
        </p:spPr>
        <p:txBody>
          <a:bodyPr wrap="square">
            <a:spAutoFit/>
          </a:bodyPr>
          <a:lstStyle/>
          <a:p>
            <a:pPr algn="l"/>
            <a:r>
              <a:rPr sz="1500" b="1" i="0">
                <a:solidFill>
                  <a:srgbClr val="0F172A"/>
                </a:solidFill>
              </a:rPr>
              <a:t>Draw edges</a:t>
            </a:r>
          </a:p>
        </p:txBody>
      </p:sp>
      <p:sp>
        <p:nvSpPr>
          <p:cNvPr id="20" name="TextBox 19"/>
          <p:cNvSpPr txBox="1"/>
          <p:nvPr/>
        </p:nvSpPr>
        <p:spPr>
          <a:xfrm>
            <a:off x="7013448" y="3520440"/>
            <a:ext cx="4663440" cy="914400"/>
          </a:xfrm>
          <a:prstGeom prst="rect">
            <a:avLst/>
          </a:prstGeom>
          <a:noFill/>
        </p:spPr>
        <p:txBody>
          <a:bodyPr wrap="square">
            <a:spAutoFit/>
          </a:bodyPr>
          <a:lstStyle/>
          <a:p>
            <a:pPr algn="l"/>
            <a:r>
              <a:rPr sz="1300" b="0" i="0">
                <a:solidFill>
                  <a:srgbClr val="334155"/>
                </a:solidFill>
              </a:rPr>
              <a:t>Click + Edge, then drag from source to target.
Press e for sticky Edge mode to chain many edges quickly.</a:t>
            </a:r>
          </a:p>
        </p:txBody>
      </p:sp>
      <p:sp>
        <p:nvSpPr>
          <p:cNvPr id="21" name="Rectangle 20"/>
          <p:cNvSpPr/>
          <p:nvPr/>
        </p:nvSpPr>
        <p:spPr>
          <a:xfrm>
            <a:off x="365760" y="4754880"/>
            <a:ext cx="557784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892040"/>
            <a:ext cx="502920" cy="5029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5</a:t>
            </a:r>
          </a:p>
        </p:txBody>
      </p:sp>
      <p:sp>
        <p:nvSpPr>
          <p:cNvPr id="23" name="TextBox 22"/>
          <p:cNvSpPr txBox="1"/>
          <p:nvPr/>
        </p:nvSpPr>
        <p:spPr>
          <a:xfrm>
            <a:off x="1115568" y="4864608"/>
            <a:ext cx="4663440" cy="411480"/>
          </a:xfrm>
          <a:prstGeom prst="rect">
            <a:avLst/>
          </a:prstGeom>
          <a:noFill/>
        </p:spPr>
        <p:txBody>
          <a:bodyPr wrap="square">
            <a:spAutoFit/>
          </a:bodyPr>
          <a:lstStyle/>
          <a:p>
            <a:pPr algn="l"/>
            <a:r>
              <a:rPr sz="1500" b="1" i="0">
                <a:solidFill>
                  <a:srgbClr val="0F172A"/>
                </a:solidFill>
              </a:rPr>
              <a:t>Choose a mode</a:t>
            </a:r>
          </a:p>
        </p:txBody>
      </p:sp>
      <p:sp>
        <p:nvSpPr>
          <p:cNvPr id="24" name="TextBox 23"/>
          <p:cNvSpPr txBox="1"/>
          <p:nvPr/>
        </p:nvSpPr>
        <p:spPr>
          <a:xfrm>
            <a:off x="1115568" y="5303520"/>
            <a:ext cx="4663440" cy="914400"/>
          </a:xfrm>
          <a:prstGeom prst="rect">
            <a:avLst/>
          </a:prstGeom>
          <a:noFill/>
        </p:spPr>
        <p:txBody>
          <a:bodyPr wrap="square">
            <a:spAutoFit/>
          </a:bodyPr>
          <a:lstStyle/>
          <a:p>
            <a:pPr algn="l"/>
            <a:r>
              <a:rPr sz="1300" b="0" i="0">
                <a:solidFill>
                  <a:srgbClr val="334155"/>
                </a:solidFill>
              </a:rPr>
              <a:t>Click CLD for feedback loop analysis, OPM for typed relationships,
NRM for risk mapping, or EIP for domain overlay.</a:t>
            </a:r>
          </a:p>
        </p:txBody>
      </p:sp>
      <p:sp>
        <p:nvSpPr>
          <p:cNvPr id="25" name="Rectangle 24"/>
          <p:cNvSpPr/>
          <p:nvPr/>
        </p:nvSpPr>
        <p:spPr>
          <a:xfrm>
            <a:off x="6263640" y="4754880"/>
            <a:ext cx="5577840" cy="1645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4892040"/>
            <a:ext cx="502920" cy="5029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6</a:t>
            </a:r>
          </a:p>
        </p:txBody>
      </p:sp>
      <p:sp>
        <p:nvSpPr>
          <p:cNvPr id="27" name="TextBox 26"/>
          <p:cNvSpPr txBox="1"/>
          <p:nvPr/>
        </p:nvSpPr>
        <p:spPr>
          <a:xfrm>
            <a:off x="7013448" y="4864608"/>
            <a:ext cx="4663440" cy="411480"/>
          </a:xfrm>
          <a:prstGeom prst="rect">
            <a:avLst/>
          </a:prstGeom>
          <a:noFill/>
        </p:spPr>
        <p:txBody>
          <a:bodyPr wrap="square">
            <a:spAutoFit/>
          </a:bodyPr>
          <a:lstStyle/>
          <a:p>
            <a:pPr algn="l"/>
            <a:r>
              <a:rPr sz="1500" b="1" i="0">
                <a:solidFill>
                  <a:srgbClr val="0F172A"/>
                </a:solidFill>
              </a:rPr>
              <a:t>Export</a:t>
            </a:r>
          </a:p>
        </p:txBody>
      </p:sp>
      <p:sp>
        <p:nvSpPr>
          <p:cNvPr id="28" name="TextBox 27"/>
          <p:cNvSpPr txBox="1"/>
          <p:nvPr/>
        </p:nvSpPr>
        <p:spPr>
          <a:xfrm>
            <a:off x="7013448" y="5303520"/>
            <a:ext cx="4663440" cy="914400"/>
          </a:xfrm>
          <a:prstGeom prst="rect">
            <a:avLst/>
          </a:prstGeom>
          <a:noFill/>
        </p:spPr>
        <p:txBody>
          <a:bodyPr wrap="square">
            <a:spAutoFit/>
          </a:bodyPr>
          <a:lstStyle/>
          <a:p>
            <a:pPr algn="l"/>
            <a:r>
              <a:rPr sz="1300" b="0" i="0">
                <a:solidFill>
                  <a:srgbClr val="334155"/>
                </a:solidFill>
              </a:rPr>
              <a:t>Export JSON to save. SVG/PNG for presentation.
Press P to present the graph itself, full screen.
URL to share as a link. Snapshot to share as a single file.
OPM→OPL for plain-text documentation.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88952"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881360" cy="822960"/>
          </a:xfrm>
          <a:prstGeom prst="rect">
            <a:avLst/>
          </a:prstGeom>
          <a:noFill/>
        </p:spPr>
        <p:txBody>
          <a:bodyPr wrap="square">
            <a:spAutoFit/>
          </a:bodyPr>
          <a:lstStyle/>
          <a:p>
            <a:pPr algn="ctr"/>
            <a:r>
              <a:rPr sz="4200" b="1" i="0">
                <a:solidFill>
                  <a:srgbClr val="FFFFFF"/>
                </a:solidFill>
              </a:rPr>
              <a:t>Free. Open source. One file.</a:t>
            </a:r>
          </a:p>
        </p:txBody>
      </p:sp>
      <p:sp>
        <p:nvSpPr>
          <p:cNvPr id="5" name="TextBox 4"/>
          <p:cNvSpPr txBox="1"/>
          <p:nvPr/>
        </p:nvSpPr>
        <p:spPr>
          <a:xfrm>
            <a:off x="640080" y="2423160"/>
            <a:ext cx="10881360" cy="1645920"/>
          </a:xfrm>
          <a:prstGeom prst="rect">
            <a:avLst/>
          </a:prstGeom>
          <a:noFill/>
        </p:spPr>
        <p:txBody>
          <a:bodyPr wrap="square">
            <a:spAutoFit/>
          </a:bodyPr>
          <a:lstStyle/>
          <a:p>
            <a:pPr algn="ctr"/>
            <a:r>
              <a:rPr sz="1700" b="0" i="0">
                <a:solidFill>
                  <a:srgbClr val="CBD5E1"/>
                </a:solidFill>
              </a:rPr>
              <a:t>The RCN Graph Tool is the only free, browser-based tool that combines
Neo4j data modeling · Causal Loop Diagrams · OPM typed relationships · OPL export
Tripod Beta risk analysis · EIP overlay · Wardley mapping and rent bands · Pathway animation
— all in a single HTML file, on the same graph.</a:t>
            </a:r>
          </a:p>
        </p:txBody>
      </p:sp>
      <p:sp>
        <p:nvSpPr>
          <p:cNvPr id="6" name="TextBox 5"/>
          <p:cNvSpPr txBox="1"/>
          <p:nvPr/>
        </p:nvSpPr>
        <p:spPr>
          <a:xfrm>
            <a:off x="640080" y="4343400"/>
            <a:ext cx="10881360" cy="457200"/>
          </a:xfrm>
          <a:prstGeom prst="rect">
            <a:avLst/>
          </a:prstGeom>
          <a:noFill/>
        </p:spPr>
        <p:txBody>
          <a:bodyPr wrap="square">
            <a:spAutoFit/>
          </a:bodyPr>
          <a:lstStyle/>
          <a:p>
            <a:pPr algn="ctr"/>
            <a:r>
              <a:rPr sz="1400" b="0" i="0">
                <a:solidFill>
                  <a:srgbClr val="0F766E"/>
                </a:solidFill>
              </a:rPr>
              <a:t>graph-tool-v22.html  ·  Introduction: graph-tool-intro.html  ·  Manual: graph-tool-manual.html</a:t>
            </a:r>
          </a:p>
        </p:txBody>
      </p:sp>
      <p:sp>
        <p:nvSpPr>
          <p:cNvPr id="7" name="TextBox 6"/>
          <p:cNvSpPr txBox="1"/>
          <p:nvPr/>
        </p:nvSpPr>
        <p:spPr>
          <a:xfrm>
            <a:off x="640080" y="5577840"/>
            <a:ext cx="10881360" cy="457200"/>
          </a:xfrm>
          <a:prstGeom prst="rect">
            <a:avLst/>
          </a:prstGeom>
          <a:noFill/>
        </p:spPr>
        <p:txBody>
          <a:bodyPr wrap="square">
            <a:spAutoFit/>
          </a:bodyPr>
          <a:lstStyle/>
          <a:p>
            <a:pPr algn="ctr"/>
            <a:r>
              <a:rPr sz="1300" b="0" i="0">
                <a:solidFill>
                  <a:srgbClr val="94A3B8"/>
                </a:solidFill>
              </a:rPr>
              <a:t>ReLocalize Creativity Network  ·  Open source  ·  Free by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