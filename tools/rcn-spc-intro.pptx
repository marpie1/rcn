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F47"/>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F2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965960"/>
            <a:ext cx="1463040" cy="50292"/>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7315200" cy="320040"/>
          </a:xfrm>
          <a:prstGeom prst="rect">
            <a:avLst/>
          </a:prstGeom>
          <a:noFill/>
        </p:spPr>
        <p:txBody>
          <a:bodyPr wrap="square" anchor="t">
            <a:spAutoFit/>
          </a:bodyPr>
          <a:lstStyle/>
          <a:p>
            <a:pPr algn="l">
              <a:lnSpc>
                <a:spcPct val="100000"/>
              </a:lnSpc>
            </a:pPr>
            <a:r>
              <a:rPr sz="1250" b="1" i="0">
                <a:solidFill>
                  <a:srgbClr val="7BA7C7"/>
                </a:solidFill>
                <a:latin typeface="Calibri"/>
              </a:rPr>
              <a:t>ReLocalize Creativity Network</a:t>
            </a:r>
          </a:p>
        </p:txBody>
      </p:sp>
      <p:sp>
        <p:nvSpPr>
          <p:cNvPr id="5" name="TextBox 4"/>
          <p:cNvSpPr txBox="1"/>
          <p:nvPr/>
        </p:nvSpPr>
        <p:spPr>
          <a:xfrm>
            <a:off x="777240" y="2286000"/>
            <a:ext cx="10058400" cy="1005840"/>
          </a:xfrm>
          <a:prstGeom prst="rect">
            <a:avLst/>
          </a:prstGeom>
          <a:noFill/>
        </p:spPr>
        <p:txBody>
          <a:bodyPr wrap="square" anchor="t">
            <a:spAutoFit/>
          </a:bodyPr>
          <a:lstStyle/>
          <a:p>
            <a:pPr algn="l">
              <a:lnSpc>
                <a:spcPct val="100000"/>
              </a:lnSpc>
            </a:pPr>
            <a:r>
              <a:rPr sz="4800" b="1" i="0">
                <a:solidFill>
                  <a:srgbClr val="FFFFFF"/>
                </a:solidFill>
                <a:latin typeface="Calibri"/>
              </a:rPr>
              <a:t>Process Behavior Charts</a:t>
            </a:r>
          </a:p>
        </p:txBody>
      </p:sp>
      <p:sp>
        <p:nvSpPr>
          <p:cNvPr id="6" name="TextBox 5"/>
          <p:cNvSpPr txBox="1"/>
          <p:nvPr/>
        </p:nvSpPr>
        <p:spPr>
          <a:xfrm>
            <a:off x="777240" y="3337560"/>
            <a:ext cx="9144000" cy="457200"/>
          </a:xfrm>
          <a:prstGeom prst="rect">
            <a:avLst/>
          </a:prstGeom>
          <a:noFill/>
        </p:spPr>
        <p:txBody>
          <a:bodyPr wrap="square" anchor="t">
            <a:spAutoFit/>
          </a:bodyPr>
          <a:lstStyle/>
          <a:p>
            <a:pPr algn="l">
              <a:lnSpc>
                <a:spcPct val="100000"/>
              </a:lnSpc>
            </a:pPr>
            <a:r>
              <a:rPr sz="1900" b="0" i="0">
                <a:solidFill>
                  <a:srgbClr val="C6DBEA"/>
                </a:solidFill>
                <a:latin typeface="Calibri"/>
              </a:rPr>
              <a:t>Separating signal from noise in the Whatcom Wealth and Health work</a:t>
            </a:r>
          </a:p>
        </p:txBody>
      </p:sp>
      <p:sp>
        <p:nvSpPr>
          <p:cNvPr id="7" name="TextBox 6"/>
          <p:cNvSpPr txBox="1"/>
          <p:nvPr/>
        </p:nvSpPr>
        <p:spPr>
          <a:xfrm>
            <a:off x="777240" y="3886200"/>
            <a:ext cx="9144000" cy="365760"/>
          </a:xfrm>
          <a:prstGeom prst="rect">
            <a:avLst/>
          </a:prstGeom>
          <a:noFill/>
        </p:spPr>
        <p:txBody>
          <a:bodyPr wrap="square" anchor="t">
            <a:spAutoFit/>
          </a:bodyPr>
          <a:lstStyle/>
          <a:p>
            <a:pPr algn="l">
              <a:lnSpc>
                <a:spcPct val="100000"/>
              </a:lnSpc>
            </a:pPr>
            <a:r>
              <a:rPr sz="1300" b="0" i="1">
                <a:solidFill>
                  <a:srgbClr val="7BA7C7"/>
                </a:solidFill>
                <a:latin typeface="Calibri"/>
              </a:rPr>
              <a:t>Statistical process control · after Shewhart, Deming, and Hart &amp; Hart</a:t>
            </a:r>
          </a:p>
        </p:txBody>
      </p:sp>
      <p:sp>
        <p:nvSpPr>
          <p:cNvPr id="8" name="TextBox 7"/>
          <p:cNvSpPr txBox="1"/>
          <p:nvPr/>
        </p:nvSpPr>
        <p:spPr>
          <a:xfrm>
            <a:off x="777240" y="6035040"/>
            <a:ext cx="3657600" cy="274320"/>
          </a:xfrm>
          <a:prstGeom prst="rect">
            <a:avLst/>
          </a:prstGeom>
          <a:noFill/>
        </p:spPr>
        <p:txBody>
          <a:bodyPr wrap="square" anchor="t">
            <a:spAutoFit/>
          </a:bodyPr>
          <a:lstStyle/>
          <a:p>
            <a:pPr algn="l">
              <a:lnSpc>
                <a:spcPct val="100000"/>
              </a:lnSpc>
            </a:pPr>
            <a:r>
              <a:rPr sz="1100" b="0" i="0">
                <a:solidFill>
                  <a:srgbClr val="5D82A0"/>
                </a:solidFill>
                <a:latin typeface="Calibri"/>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WHERE WE ARE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You are already measuring</a:t>
            </a:r>
          </a:p>
        </p:txBody>
      </p:sp>
      <p:sp>
        <p:nvSpPr>
          <p:cNvPr id="4" name="TextBox 3"/>
          <p:cNvSpPr txBox="1"/>
          <p:nvPr/>
        </p:nvSpPr>
        <p:spPr>
          <a:xfrm>
            <a:off x="777240" y="1965960"/>
            <a:ext cx="10607040" cy="457200"/>
          </a:xfrm>
          <a:prstGeom prst="rect">
            <a:avLst/>
          </a:prstGeom>
          <a:noFill/>
        </p:spPr>
        <p:txBody>
          <a:bodyPr wrap="square" anchor="t">
            <a:spAutoFit/>
          </a:bodyPr>
          <a:lstStyle/>
          <a:p>
            <a:pPr algn="l">
              <a:lnSpc>
                <a:spcPct val="100000"/>
              </a:lnSpc>
            </a:pPr>
            <a:r>
              <a:rPr sz="1900" b="0" i="0">
                <a:solidFill>
                  <a:srgbClr val="475569"/>
                </a:solidFill>
                <a:latin typeface="Calibri"/>
              </a:rPr>
              <a:t>The co-op will not have a data problem. It will have an interpretation problem.</a:t>
            </a:r>
          </a:p>
        </p:txBody>
      </p:sp>
      <p:sp>
        <p:nvSpPr>
          <p:cNvPr id="5" name="Rectangle 4"/>
          <p:cNvSpPr/>
          <p:nvPr/>
        </p:nvSpPr>
        <p:spPr>
          <a:xfrm>
            <a:off x="7772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Referral turnaround</a:t>
            </a:r>
          </a:p>
        </p:txBody>
      </p:sp>
      <p:sp>
        <p:nvSpPr>
          <p:cNvPr id="8" name="TextBox 7"/>
          <p:cNvSpPr txBox="1"/>
          <p:nvPr/>
        </p:nvSpPr>
        <p:spPr>
          <a:xfrm>
            <a:off x="1033271"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days from referral to first contact</a:t>
            </a:r>
          </a:p>
        </p:txBody>
      </p:sp>
      <p:sp>
        <p:nvSpPr>
          <p:cNvPr id="9" name="Rectangle 8"/>
          <p:cNvSpPr/>
          <p:nvPr/>
        </p:nvSpPr>
        <p:spPr>
          <a:xfrm>
            <a:off x="35204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76472"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CHW home visits</a:t>
            </a:r>
          </a:p>
        </p:txBody>
      </p:sp>
      <p:sp>
        <p:nvSpPr>
          <p:cNvPr id="12" name="TextBox 11"/>
          <p:cNvSpPr txBox="1"/>
          <p:nvPr/>
        </p:nvSpPr>
        <p:spPr>
          <a:xfrm>
            <a:off x="3776472"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count per worker per week</a:t>
            </a:r>
          </a:p>
        </p:txBody>
      </p:sp>
      <p:sp>
        <p:nvSpPr>
          <p:cNvPr id="13" name="Rectangle 12"/>
          <p:cNvSpPr/>
          <p:nvPr/>
        </p:nvSpPr>
        <p:spPr>
          <a:xfrm>
            <a:off x="62636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Care plan completion</a:t>
            </a:r>
          </a:p>
        </p:txBody>
      </p:sp>
      <p:sp>
        <p:nvSpPr>
          <p:cNvPr id="16" name="TextBox 15"/>
          <p:cNvSpPr txBox="1"/>
          <p:nvPr/>
        </p:nvSpPr>
        <p:spPr>
          <a:xfrm>
            <a:off x="6519672"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share of enrolled members</a:t>
            </a:r>
          </a:p>
        </p:txBody>
      </p:sp>
      <p:sp>
        <p:nvSpPr>
          <p:cNvPr id="17" name="Rectangle 16"/>
          <p:cNvSpPr/>
          <p:nvPr/>
        </p:nvSpPr>
        <p:spPr>
          <a:xfrm>
            <a:off x="9006840" y="2697480"/>
            <a:ext cx="251460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06840" y="2697480"/>
            <a:ext cx="50292" cy="137160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62872" y="2880360"/>
            <a:ext cx="2057400" cy="365760"/>
          </a:xfrm>
          <a:prstGeom prst="rect">
            <a:avLst/>
          </a:prstGeom>
          <a:noFill/>
        </p:spPr>
        <p:txBody>
          <a:bodyPr wrap="square" anchor="t">
            <a:spAutoFit/>
          </a:bodyPr>
          <a:lstStyle/>
          <a:p>
            <a:pPr algn="l">
              <a:lnSpc>
                <a:spcPct val="100000"/>
              </a:lnSpc>
            </a:pPr>
            <a:r>
              <a:rPr sz="1400" b="1" i="0">
                <a:solidFill>
                  <a:srgbClr val="0F172A"/>
                </a:solidFill>
                <a:latin typeface="Calibri"/>
              </a:rPr>
              <a:t>ED utilisation</a:t>
            </a:r>
          </a:p>
        </p:txBody>
      </p:sp>
      <p:sp>
        <p:nvSpPr>
          <p:cNvPr id="20" name="TextBox 19"/>
          <p:cNvSpPr txBox="1"/>
          <p:nvPr/>
        </p:nvSpPr>
        <p:spPr>
          <a:xfrm>
            <a:off x="9262872" y="3355848"/>
            <a:ext cx="2057400" cy="548640"/>
          </a:xfrm>
          <a:prstGeom prst="rect">
            <a:avLst/>
          </a:prstGeom>
          <a:noFill/>
        </p:spPr>
        <p:txBody>
          <a:bodyPr wrap="square" anchor="t">
            <a:spAutoFit/>
          </a:bodyPr>
          <a:lstStyle/>
          <a:p>
            <a:pPr algn="l">
              <a:lnSpc>
                <a:spcPct val="110000"/>
              </a:lnSpc>
            </a:pPr>
            <a:r>
              <a:rPr sz="1150" b="0" i="0">
                <a:solidFill>
                  <a:srgbClr val="475569"/>
                </a:solidFill>
                <a:latin typeface="Calibri"/>
              </a:rPr>
              <a:t>visits per 1,000 member-months</a:t>
            </a:r>
          </a:p>
        </p:txBody>
      </p:sp>
      <p:sp>
        <p:nvSpPr>
          <p:cNvPr id="21" name="Rectangle 20"/>
          <p:cNvSpPr/>
          <p:nvPr/>
        </p:nvSpPr>
        <p:spPr>
          <a:xfrm>
            <a:off x="777240" y="4434840"/>
            <a:ext cx="10607040" cy="1234440"/>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572000"/>
            <a:ext cx="10058400" cy="329184"/>
          </a:xfrm>
          <a:prstGeom prst="rect">
            <a:avLst/>
          </a:prstGeom>
          <a:noFill/>
        </p:spPr>
        <p:txBody>
          <a:bodyPr wrap="square" anchor="t">
            <a:spAutoFit/>
          </a:bodyPr>
          <a:lstStyle/>
          <a:p>
            <a:pPr algn="l">
              <a:lnSpc>
                <a:spcPct val="100000"/>
              </a:lnSpc>
            </a:pPr>
            <a:r>
              <a:rPr sz="1500" b="1" i="0">
                <a:solidFill>
                  <a:srgbClr val="0F2F47"/>
                </a:solidFill>
                <a:latin typeface="Calibri"/>
              </a:rPr>
              <a:t>Every one of these moves every month whether or not anything happened</a:t>
            </a:r>
          </a:p>
        </p:txBody>
      </p:sp>
      <p:sp>
        <p:nvSpPr>
          <p:cNvPr id="23" name="TextBox 22"/>
          <p:cNvSpPr txBox="1"/>
          <p:nvPr/>
        </p:nvSpPr>
        <p:spPr>
          <a:xfrm>
            <a:off x="1051560" y="4965192"/>
            <a:ext cx="10058400" cy="576072"/>
          </a:xfrm>
          <a:prstGeom prst="rect">
            <a:avLst/>
          </a:prstGeom>
          <a:noFill/>
        </p:spPr>
        <p:txBody>
          <a:bodyPr wrap="square" anchor="t">
            <a:spAutoFit/>
          </a:bodyPr>
          <a:lstStyle/>
          <a:p>
            <a:pPr algn="l">
              <a:lnSpc>
                <a:spcPct val="112000"/>
              </a:lnSpc>
            </a:pPr>
            <a:r>
              <a:rPr sz="1250" b="0" i="0">
                <a:solidFill>
                  <a:srgbClr val="475569"/>
                </a:solidFill>
                <a:latin typeface="Calibri"/>
              </a:rPr>
              <a:t>A number that changed is not news. The question is never "what is the number" — it is "how much does this number move when nothing is going on". Only the second question can tell you whether this month is worth a meeting.</a:t>
            </a:r>
          </a:p>
        </p:txBody>
      </p:sp>
      <p:sp>
        <p:nvSpPr>
          <p:cNvPr id="24" name="TextBox 2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5" name="TextBox 2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F47"/>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F2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828800"/>
            <a:ext cx="1463040" cy="54864"/>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240280"/>
            <a:ext cx="10972800" cy="731520"/>
          </a:xfrm>
          <a:prstGeom prst="rect">
            <a:avLst/>
          </a:prstGeom>
          <a:noFill/>
        </p:spPr>
        <p:txBody>
          <a:bodyPr wrap="square" anchor="t">
            <a:spAutoFit/>
          </a:bodyPr>
          <a:lstStyle/>
          <a:p>
            <a:pPr algn="l">
              <a:lnSpc>
                <a:spcPct val="100000"/>
              </a:lnSpc>
            </a:pPr>
            <a:r>
              <a:rPr sz="3800" b="1" i="0">
                <a:solidFill>
                  <a:srgbClr val="FFFFFF"/>
                </a:solidFill>
                <a:latin typeface="Calibri"/>
              </a:rPr>
              <a:t>Measurement gives you numbers.</a:t>
            </a:r>
          </a:p>
        </p:txBody>
      </p:sp>
      <p:sp>
        <p:nvSpPr>
          <p:cNvPr id="5" name="TextBox 4"/>
          <p:cNvSpPr txBox="1"/>
          <p:nvPr/>
        </p:nvSpPr>
        <p:spPr>
          <a:xfrm>
            <a:off x="777240" y="3063240"/>
            <a:ext cx="10972800" cy="731520"/>
          </a:xfrm>
          <a:prstGeom prst="rect">
            <a:avLst/>
          </a:prstGeom>
          <a:noFill/>
        </p:spPr>
        <p:txBody>
          <a:bodyPr wrap="square" anchor="t">
            <a:spAutoFit/>
          </a:bodyPr>
          <a:lstStyle/>
          <a:p>
            <a:pPr algn="l">
              <a:lnSpc>
                <a:spcPct val="100000"/>
              </a:lnSpc>
            </a:pPr>
            <a:r>
              <a:rPr sz="3800" b="1" i="0">
                <a:solidFill>
                  <a:srgbClr val="D4622F"/>
                </a:solidFill>
                <a:latin typeface="Calibri"/>
              </a:rPr>
              <a:t>It does not, in any way, separate signal from noise.</a:t>
            </a:r>
          </a:p>
        </p:txBody>
      </p:sp>
      <p:sp>
        <p:nvSpPr>
          <p:cNvPr id="6" name="TextBox 5"/>
          <p:cNvSpPr txBox="1"/>
          <p:nvPr/>
        </p:nvSpPr>
        <p:spPr>
          <a:xfrm>
            <a:off x="777240" y="4160520"/>
            <a:ext cx="9601200" cy="914400"/>
          </a:xfrm>
          <a:prstGeom prst="rect">
            <a:avLst/>
          </a:prstGeom>
          <a:noFill/>
        </p:spPr>
        <p:txBody>
          <a:bodyPr wrap="square" anchor="t">
            <a:spAutoFit/>
          </a:bodyPr>
          <a:lstStyle/>
          <a:p>
            <a:pPr algn="l">
              <a:lnSpc>
                <a:spcPct val="120000"/>
              </a:lnSpc>
            </a:pPr>
            <a:r>
              <a:rPr sz="1600" b="0" i="0">
                <a:solidFill>
                  <a:srgbClr val="C6DBEA"/>
                </a:solidFill>
                <a:latin typeface="Calibri"/>
              </a:rPr>
              <a:t>These are two different jobs. Doing the first well does nothing for the second — more precision in measuring a noisy quantity gives you a more precise noisy quantity.</a:t>
            </a:r>
          </a:p>
        </p:txBody>
      </p:sp>
      <p:sp>
        <p:nvSpPr>
          <p:cNvPr id="7" name="TextBox 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8" name="TextBox 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THE COST OF GETTING IT WRONG</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Two mistakes, both expensive</a:t>
            </a:r>
          </a:p>
        </p:txBody>
      </p:sp>
      <p:sp>
        <p:nvSpPr>
          <p:cNvPr id="4" name="Rectangle 3"/>
          <p:cNvSpPr/>
          <p:nvPr/>
        </p:nvSpPr>
        <p:spPr>
          <a:xfrm>
            <a:off x="777240" y="2103120"/>
            <a:ext cx="5120640" cy="2286000"/>
          </a:xfrm>
          <a:prstGeom prst="rect">
            <a:avLst/>
          </a:prstGeom>
          <a:solidFill>
            <a:srgbClr val="FDF0EE"/>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40279"/>
            <a:ext cx="4572000" cy="329184"/>
          </a:xfrm>
          <a:prstGeom prst="rect">
            <a:avLst/>
          </a:prstGeom>
          <a:noFill/>
        </p:spPr>
        <p:txBody>
          <a:bodyPr wrap="square" anchor="t">
            <a:spAutoFit/>
          </a:bodyPr>
          <a:lstStyle/>
          <a:p>
            <a:pPr algn="l">
              <a:lnSpc>
                <a:spcPct val="100000"/>
              </a:lnSpc>
            </a:pPr>
            <a:r>
              <a:rPr sz="1500" b="1" i="0">
                <a:solidFill>
                  <a:srgbClr val="C0392B"/>
                </a:solidFill>
                <a:latin typeface="Calibri"/>
              </a:rPr>
              <a:t>Treating noise as signal</a:t>
            </a:r>
          </a:p>
        </p:txBody>
      </p:sp>
      <p:sp>
        <p:nvSpPr>
          <p:cNvPr id="6" name="TextBox 5"/>
          <p:cNvSpPr txBox="1"/>
          <p:nvPr/>
        </p:nvSpPr>
        <p:spPr>
          <a:xfrm>
            <a:off x="1051560" y="2633472"/>
            <a:ext cx="4572000" cy="1627632"/>
          </a:xfrm>
          <a:prstGeom prst="rect">
            <a:avLst/>
          </a:prstGeom>
          <a:noFill/>
        </p:spPr>
        <p:txBody>
          <a:bodyPr wrap="square" anchor="t">
            <a:spAutoFit/>
          </a:bodyPr>
          <a:lstStyle/>
          <a:p>
            <a:pPr algn="l">
              <a:lnSpc>
                <a:spcPct val="112000"/>
              </a:lnSpc>
            </a:pPr>
            <a:r>
              <a:rPr sz="1250" b="0" i="0">
                <a:solidFill>
                  <a:srgbClr val="475569"/>
                </a:solidFill>
                <a:latin typeface="Calibri"/>
              </a:rPr>
              <a:t>Someone had a bad month, so you investigate, intervene, and reorganise. The measure returns to its usual range — it was always going to — and the intervention gets the credit. You have now learned something false and will do it again.
Deming called this tampering. It reliably makes the process worse.</a:t>
            </a:r>
          </a:p>
        </p:txBody>
      </p:sp>
      <p:sp>
        <p:nvSpPr>
          <p:cNvPr id="7" name="Rectangle 6"/>
          <p:cNvSpPr/>
          <p:nvPr/>
        </p:nvSpPr>
        <p:spPr>
          <a:xfrm>
            <a:off x="6263640" y="2103120"/>
            <a:ext cx="5120640" cy="228600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2240279"/>
            <a:ext cx="4572000" cy="329184"/>
          </a:xfrm>
          <a:prstGeom prst="rect">
            <a:avLst/>
          </a:prstGeom>
          <a:noFill/>
        </p:spPr>
        <p:txBody>
          <a:bodyPr wrap="square" anchor="t">
            <a:spAutoFit/>
          </a:bodyPr>
          <a:lstStyle/>
          <a:p>
            <a:pPr algn="l">
              <a:lnSpc>
                <a:spcPct val="100000"/>
              </a:lnSpc>
            </a:pPr>
            <a:r>
              <a:rPr sz="1500" b="1" i="0">
                <a:solidFill>
                  <a:srgbClr val="854D0E"/>
                </a:solidFill>
                <a:latin typeface="Calibri"/>
              </a:rPr>
              <a:t>Treating signal as noise</a:t>
            </a:r>
          </a:p>
        </p:txBody>
      </p:sp>
      <p:sp>
        <p:nvSpPr>
          <p:cNvPr id="9" name="TextBox 8"/>
          <p:cNvSpPr txBox="1"/>
          <p:nvPr/>
        </p:nvSpPr>
        <p:spPr>
          <a:xfrm>
            <a:off x="6537959" y="2633472"/>
            <a:ext cx="4572000" cy="1627632"/>
          </a:xfrm>
          <a:prstGeom prst="rect">
            <a:avLst/>
          </a:prstGeom>
          <a:noFill/>
        </p:spPr>
        <p:txBody>
          <a:bodyPr wrap="square" anchor="t">
            <a:spAutoFit/>
          </a:bodyPr>
          <a:lstStyle/>
          <a:p>
            <a:pPr algn="l">
              <a:lnSpc>
                <a:spcPct val="112000"/>
              </a:lnSpc>
            </a:pPr>
            <a:r>
              <a:rPr sz="1250" b="0" i="0">
                <a:solidFill>
                  <a:srgbClr val="475569"/>
                </a:solidFill>
                <a:latin typeface="Calibri"/>
              </a:rPr>
              <a:t>Something real changes and is dismissed as one of those months. By the time it is undeniable it has been running for a year, and the moment when you could have found the cause — while it was still a datable event — has passed.
Less discussed, and usually more costly.</a:t>
            </a:r>
          </a:p>
        </p:txBody>
      </p:sp>
      <p:sp>
        <p:nvSpPr>
          <p:cNvPr id="10" name="TextBox 9"/>
          <p:cNvSpPr txBox="1"/>
          <p:nvPr/>
        </p:nvSpPr>
        <p:spPr>
          <a:xfrm>
            <a:off x="777240" y="4846320"/>
            <a:ext cx="10607040" cy="548640"/>
          </a:xfrm>
          <a:prstGeom prst="rect">
            <a:avLst/>
          </a:prstGeom>
          <a:noFill/>
        </p:spPr>
        <p:txBody>
          <a:bodyPr wrap="square" anchor="t">
            <a:spAutoFit/>
          </a:bodyPr>
          <a:lstStyle/>
          <a:p>
            <a:pPr algn="ctr">
              <a:lnSpc>
                <a:spcPct val="100000"/>
              </a:lnSpc>
            </a:pPr>
            <a:r>
              <a:rPr sz="1900" b="1" i="0">
                <a:solidFill>
                  <a:srgbClr val="0F2F47"/>
                </a:solidFill>
                <a:latin typeface="Calibri"/>
              </a:rPr>
              <a:t>A chart is the only cheap way to stop doing either one. That is its entire purpose.</a:t>
            </a:r>
          </a:p>
        </p:txBody>
      </p:sp>
      <p:sp>
        <p:nvSpPr>
          <p:cNvPr id="11" name="TextBox 10"/>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2" name="TextBox 1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BELL LABS, 1924</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The method is unreasonably simple</a:t>
            </a:r>
          </a:p>
        </p:txBody>
      </p:sp>
      <p:sp>
        <p:nvSpPr>
          <p:cNvPr id="4" name="Rectangle 3"/>
          <p:cNvSpPr/>
          <p:nvPr/>
        </p:nvSpPr>
        <p:spPr>
          <a:xfrm>
            <a:off x="777240" y="2057400"/>
            <a:ext cx="566928" cy="566928"/>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57984"/>
            <a:ext cx="566928" cy="365760"/>
          </a:xfrm>
          <a:prstGeom prst="rect">
            <a:avLst/>
          </a:prstGeom>
          <a:noFill/>
        </p:spPr>
        <p:txBody>
          <a:bodyPr wrap="square" anchor="t">
            <a:spAutoFit/>
          </a:bodyPr>
          <a:lstStyle/>
          <a:p>
            <a:pPr algn="ctr">
              <a:lnSpc>
                <a:spcPct val="100000"/>
              </a:lnSpc>
            </a:pPr>
            <a:r>
              <a:rPr sz="1900" b="1" i="0">
                <a:solidFill>
                  <a:srgbClr val="FFFFFF"/>
                </a:solidFill>
                <a:latin typeface="Calibri"/>
              </a:rPr>
              <a:t>1</a:t>
            </a:r>
          </a:p>
        </p:txBody>
      </p:sp>
      <p:sp>
        <p:nvSpPr>
          <p:cNvPr id="6" name="TextBox 5"/>
          <p:cNvSpPr txBox="1"/>
          <p:nvPr/>
        </p:nvSpPr>
        <p:spPr>
          <a:xfrm>
            <a:off x="1536192" y="2075688"/>
            <a:ext cx="2926080" cy="365760"/>
          </a:xfrm>
          <a:prstGeom prst="rect">
            <a:avLst/>
          </a:prstGeom>
          <a:noFill/>
        </p:spPr>
        <p:txBody>
          <a:bodyPr wrap="square" anchor="t">
            <a:spAutoFit/>
          </a:bodyPr>
          <a:lstStyle/>
          <a:p>
            <a:pPr algn="l">
              <a:lnSpc>
                <a:spcPct val="100000"/>
              </a:lnSpc>
            </a:pPr>
            <a:r>
              <a:rPr sz="1600" b="1" i="0">
                <a:solidFill>
                  <a:srgbClr val="0F172A"/>
                </a:solidFill>
                <a:latin typeface="Calibri"/>
              </a:rPr>
              <a:t>Plot in time order</a:t>
            </a:r>
          </a:p>
        </p:txBody>
      </p:sp>
      <p:sp>
        <p:nvSpPr>
          <p:cNvPr id="7" name="TextBox 6"/>
          <p:cNvSpPr txBox="1"/>
          <p:nvPr/>
        </p:nvSpPr>
        <p:spPr>
          <a:xfrm>
            <a:off x="4572000" y="2075688"/>
            <a:ext cx="6766560" cy="822960"/>
          </a:xfrm>
          <a:prstGeom prst="rect">
            <a:avLst/>
          </a:prstGeom>
          <a:noFill/>
        </p:spPr>
        <p:txBody>
          <a:bodyPr wrap="square" anchor="t">
            <a:spAutoFit/>
          </a:bodyPr>
          <a:lstStyle/>
          <a:p>
            <a:pPr algn="l">
              <a:lnSpc>
                <a:spcPct val="110000"/>
              </a:lnSpc>
            </a:pPr>
            <a:r>
              <a:rPr sz="1300" b="0" i="0">
                <a:solidFill>
                  <a:srgbClr val="475569"/>
                </a:solidFill>
                <a:latin typeface="Calibri"/>
              </a:rPr>
              <a:t>Not sorted, not ranked, not aggregated. Time order or nothing.</a:t>
            </a:r>
          </a:p>
        </p:txBody>
      </p:sp>
      <p:sp>
        <p:nvSpPr>
          <p:cNvPr id="8" name="Rectangle 7"/>
          <p:cNvSpPr/>
          <p:nvPr/>
        </p:nvSpPr>
        <p:spPr>
          <a:xfrm>
            <a:off x="777240" y="3081528"/>
            <a:ext cx="566928" cy="566928"/>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182112"/>
            <a:ext cx="566928" cy="365760"/>
          </a:xfrm>
          <a:prstGeom prst="rect">
            <a:avLst/>
          </a:prstGeom>
          <a:noFill/>
        </p:spPr>
        <p:txBody>
          <a:bodyPr wrap="square" anchor="t">
            <a:spAutoFit/>
          </a:bodyPr>
          <a:lstStyle/>
          <a:p>
            <a:pPr algn="ctr">
              <a:lnSpc>
                <a:spcPct val="100000"/>
              </a:lnSpc>
            </a:pPr>
            <a:r>
              <a:rPr sz="1900" b="1" i="0">
                <a:solidFill>
                  <a:srgbClr val="FFFFFF"/>
                </a:solidFill>
                <a:latin typeface="Calibri"/>
              </a:rPr>
              <a:t>2</a:t>
            </a:r>
          </a:p>
        </p:txBody>
      </p:sp>
      <p:sp>
        <p:nvSpPr>
          <p:cNvPr id="10" name="TextBox 9"/>
          <p:cNvSpPr txBox="1"/>
          <p:nvPr/>
        </p:nvSpPr>
        <p:spPr>
          <a:xfrm>
            <a:off x="1536192" y="3099816"/>
            <a:ext cx="2926080" cy="365760"/>
          </a:xfrm>
          <a:prstGeom prst="rect">
            <a:avLst/>
          </a:prstGeom>
          <a:noFill/>
        </p:spPr>
        <p:txBody>
          <a:bodyPr wrap="square" anchor="t">
            <a:spAutoFit/>
          </a:bodyPr>
          <a:lstStyle/>
          <a:p>
            <a:pPr algn="l">
              <a:lnSpc>
                <a:spcPct val="100000"/>
              </a:lnSpc>
            </a:pPr>
            <a:r>
              <a:rPr sz="1600" b="1" i="0">
                <a:solidFill>
                  <a:srgbClr val="0F172A"/>
                </a:solidFill>
                <a:latin typeface="Calibri"/>
              </a:rPr>
              <a:t>Measure the wander</a:t>
            </a:r>
          </a:p>
        </p:txBody>
      </p:sp>
      <p:sp>
        <p:nvSpPr>
          <p:cNvPr id="11" name="TextBox 10"/>
          <p:cNvSpPr txBox="1"/>
          <p:nvPr/>
        </p:nvSpPr>
        <p:spPr>
          <a:xfrm>
            <a:off x="4572000" y="3099816"/>
            <a:ext cx="6766560" cy="822960"/>
          </a:xfrm>
          <a:prstGeom prst="rect">
            <a:avLst/>
          </a:prstGeom>
          <a:noFill/>
        </p:spPr>
        <p:txBody>
          <a:bodyPr wrap="square" anchor="t">
            <a:spAutoFit/>
          </a:bodyPr>
          <a:lstStyle/>
          <a:p>
            <a:pPr algn="l">
              <a:lnSpc>
                <a:spcPct val="110000"/>
              </a:lnSpc>
            </a:pPr>
            <a:r>
              <a:rPr sz="1300" b="0" i="0">
                <a:solidFill>
                  <a:srgbClr val="475569"/>
                </a:solidFill>
                <a:latin typeface="Calibri"/>
              </a:rPr>
              <a:t>Use the point-to-point movement itself to estimate how far this measure travels when nothing has changed.</a:t>
            </a:r>
          </a:p>
        </p:txBody>
      </p:sp>
      <p:sp>
        <p:nvSpPr>
          <p:cNvPr id="12" name="Rectangle 11"/>
          <p:cNvSpPr/>
          <p:nvPr/>
        </p:nvSpPr>
        <p:spPr>
          <a:xfrm>
            <a:off x="777240" y="4105656"/>
            <a:ext cx="566928" cy="566928"/>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206240"/>
            <a:ext cx="566928" cy="365760"/>
          </a:xfrm>
          <a:prstGeom prst="rect">
            <a:avLst/>
          </a:prstGeom>
          <a:noFill/>
        </p:spPr>
        <p:txBody>
          <a:bodyPr wrap="square" anchor="t">
            <a:spAutoFit/>
          </a:bodyPr>
          <a:lstStyle/>
          <a:p>
            <a:pPr algn="ctr">
              <a:lnSpc>
                <a:spcPct val="100000"/>
              </a:lnSpc>
            </a:pPr>
            <a:r>
              <a:rPr sz="1900" b="1" i="0">
                <a:solidFill>
                  <a:srgbClr val="FFFFFF"/>
                </a:solidFill>
                <a:latin typeface="Calibri"/>
              </a:rPr>
              <a:t>3</a:t>
            </a:r>
          </a:p>
        </p:txBody>
      </p:sp>
      <p:sp>
        <p:nvSpPr>
          <p:cNvPr id="14" name="TextBox 13"/>
          <p:cNvSpPr txBox="1"/>
          <p:nvPr/>
        </p:nvSpPr>
        <p:spPr>
          <a:xfrm>
            <a:off x="1536192" y="4123944"/>
            <a:ext cx="2926080" cy="365760"/>
          </a:xfrm>
          <a:prstGeom prst="rect">
            <a:avLst/>
          </a:prstGeom>
          <a:noFill/>
        </p:spPr>
        <p:txBody>
          <a:bodyPr wrap="square" anchor="t">
            <a:spAutoFit/>
          </a:bodyPr>
          <a:lstStyle/>
          <a:p>
            <a:pPr algn="l">
              <a:lnSpc>
                <a:spcPct val="100000"/>
              </a:lnSpc>
            </a:pPr>
            <a:r>
              <a:rPr sz="1600" b="1" i="0">
                <a:solidFill>
                  <a:srgbClr val="0F172A"/>
                </a:solidFill>
                <a:latin typeface="Calibri"/>
              </a:rPr>
              <a:t>Draw the bounds</a:t>
            </a:r>
          </a:p>
        </p:txBody>
      </p:sp>
      <p:sp>
        <p:nvSpPr>
          <p:cNvPr id="15" name="TextBox 14"/>
          <p:cNvSpPr txBox="1"/>
          <p:nvPr/>
        </p:nvSpPr>
        <p:spPr>
          <a:xfrm>
            <a:off x="4572000" y="4123944"/>
            <a:ext cx="6766560" cy="822960"/>
          </a:xfrm>
          <a:prstGeom prst="rect">
            <a:avLst/>
          </a:prstGeom>
          <a:noFill/>
        </p:spPr>
        <p:txBody>
          <a:bodyPr wrap="square" anchor="t">
            <a:spAutoFit/>
          </a:bodyPr>
          <a:lstStyle/>
          <a:p>
            <a:pPr algn="l">
              <a:lnSpc>
                <a:spcPct val="110000"/>
              </a:lnSpc>
            </a:pPr>
            <a:r>
              <a:rPr sz="1300" b="0" i="0">
                <a:solidFill>
                  <a:srgbClr val="475569"/>
                </a:solidFill>
                <a:latin typeface="Calibri"/>
              </a:rPr>
              <a:t>Three sigma either side of the centre — chosen as an economic tradeoff between the two mistakes, not as a probability claim.</a:t>
            </a:r>
          </a:p>
        </p:txBody>
      </p:sp>
      <p:sp>
        <p:nvSpPr>
          <p:cNvPr id="16" name="Rectangle 15"/>
          <p:cNvSpPr/>
          <p:nvPr/>
        </p:nvSpPr>
        <p:spPr>
          <a:xfrm>
            <a:off x="777240" y="5129784"/>
            <a:ext cx="566928" cy="566928"/>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230368"/>
            <a:ext cx="566928" cy="365760"/>
          </a:xfrm>
          <a:prstGeom prst="rect">
            <a:avLst/>
          </a:prstGeom>
          <a:noFill/>
        </p:spPr>
        <p:txBody>
          <a:bodyPr wrap="square" anchor="t">
            <a:spAutoFit/>
          </a:bodyPr>
          <a:lstStyle/>
          <a:p>
            <a:pPr algn="ctr">
              <a:lnSpc>
                <a:spcPct val="100000"/>
              </a:lnSpc>
            </a:pPr>
            <a:r>
              <a:rPr sz="1900" b="1" i="0">
                <a:solidFill>
                  <a:srgbClr val="FFFFFF"/>
                </a:solidFill>
                <a:latin typeface="Calibri"/>
              </a:rPr>
              <a:t>4</a:t>
            </a:r>
          </a:p>
        </p:txBody>
      </p:sp>
      <p:sp>
        <p:nvSpPr>
          <p:cNvPr id="18" name="TextBox 17"/>
          <p:cNvSpPr txBox="1"/>
          <p:nvPr/>
        </p:nvSpPr>
        <p:spPr>
          <a:xfrm>
            <a:off x="1536192" y="5148072"/>
            <a:ext cx="2926080" cy="365760"/>
          </a:xfrm>
          <a:prstGeom prst="rect">
            <a:avLst/>
          </a:prstGeom>
          <a:noFill/>
        </p:spPr>
        <p:txBody>
          <a:bodyPr wrap="square" anchor="t">
            <a:spAutoFit/>
          </a:bodyPr>
          <a:lstStyle/>
          <a:p>
            <a:pPr algn="l">
              <a:lnSpc>
                <a:spcPct val="100000"/>
              </a:lnSpc>
            </a:pPr>
            <a:r>
              <a:rPr sz="1600" b="1" i="0">
                <a:solidFill>
                  <a:srgbClr val="0F172A"/>
                </a:solidFill>
                <a:latin typeface="Calibri"/>
              </a:rPr>
              <a:t>Investigate what escapes</a:t>
            </a:r>
          </a:p>
        </p:txBody>
      </p:sp>
      <p:sp>
        <p:nvSpPr>
          <p:cNvPr id="19" name="TextBox 18"/>
          <p:cNvSpPr txBox="1"/>
          <p:nvPr/>
        </p:nvSpPr>
        <p:spPr>
          <a:xfrm>
            <a:off x="4572000" y="5148072"/>
            <a:ext cx="6766560" cy="822960"/>
          </a:xfrm>
          <a:prstGeom prst="rect">
            <a:avLst/>
          </a:prstGeom>
          <a:noFill/>
        </p:spPr>
        <p:txBody>
          <a:bodyPr wrap="square" anchor="t">
            <a:spAutoFit/>
          </a:bodyPr>
          <a:lstStyle/>
          <a:p>
            <a:pPr algn="l">
              <a:lnSpc>
                <a:spcPct val="110000"/>
              </a:lnSpc>
            </a:pPr>
            <a:r>
              <a:rPr sz="1300" b="0" i="0">
                <a:solidFill>
                  <a:srgbClr val="475569"/>
                </a:solidFill>
                <a:latin typeface="Calibri"/>
              </a:rPr>
              <a:t>A point outside, or a pattern too orderly for chance. Everything else is the process being itself.</a:t>
            </a:r>
          </a:p>
        </p:txBody>
      </p:sp>
      <p:sp>
        <p:nvSpPr>
          <p:cNvPr id="20" name="TextBox 19"/>
          <p:cNvSpPr txBox="1"/>
          <p:nvPr/>
        </p:nvSpPr>
        <p:spPr>
          <a:xfrm>
            <a:off x="777240" y="5806440"/>
            <a:ext cx="10607040" cy="365760"/>
          </a:xfrm>
          <a:prstGeom prst="rect">
            <a:avLst/>
          </a:prstGeom>
          <a:noFill/>
        </p:spPr>
        <p:txBody>
          <a:bodyPr wrap="square" anchor="t">
            <a:spAutoFit/>
          </a:bodyPr>
          <a:lstStyle/>
          <a:p>
            <a:pPr algn="l">
              <a:lnSpc>
                <a:spcPct val="100000"/>
              </a:lnSpc>
            </a:pPr>
            <a:r>
              <a:rPr sz="1300" b="0" i="1">
                <a:solidFill>
                  <a:srgbClr val="94A3B8"/>
                </a:solidFill>
                <a:latin typeface="Calibri"/>
              </a:rPr>
              <a:t>Finished in 1924. Nothing since has replaced it for this job.</a:t>
            </a:r>
          </a:p>
        </p:txBody>
      </p:sp>
      <p:sp>
        <p:nvSpPr>
          <p:cNvPr id="21" name="TextBox 20"/>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2" name="TextBox 2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DEFINITIONS WORTH BEING STRICT ABOUT</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A limit is not a target</a:t>
            </a:r>
          </a:p>
        </p:txBody>
      </p:sp>
      <p:sp>
        <p:nvSpPr>
          <p:cNvPr id="4" name="Rectangle 3"/>
          <p:cNvSpPr/>
          <p:nvPr/>
        </p:nvSpPr>
        <p:spPr>
          <a:xfrm>
            <a:off x="777240" y="2057400"/>
            <a:ext cx="10607040" cy="859536"/>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57400"/>
            <a:ext cx="50292" cy="8595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76272"/>
            <a:ext cx="2743200" cy="365760"/>
          </a:xfrm>
          <a:prstGeom prst="rect">
            <a:avLst/>
          </a:prstGeom>
          <a:noFill/>
        </p:spPr>
        <p:txBody>
          <a:bodyPr wrap="square" anchor="t">
            <a:spAutoFit/>
          </a:bodyPr>
          <a:lstStyle/>
          <a:p>
            <a:pPr algn="l">
              <a:lnSpc>
                <a:spcPct val="100000"/>
              </a:lnSpc>
            </a:pPr>
            <a:r>
              <a:rPr sz="1500" b="1" i="0">
                <a:solidFill>
                  <a:srgbClr val="0F172A"/>
                </a:solidFill>
                <a:latin typeface="Calibri"/>
              </a:rPr>
              <a:t>Not a target</a:t>
            </a:r>
          </a:p>
        </p:txBody>
      </p:sp>
      <p:sp>
        <p:nvSpPr>
          <p:cNvPr id="7" name="TextBox 6"/>
          <p:cNvSpPr txBox="1"/>
          <p:nvPr/>
        </p:nvSpPr>
        <p:spPr>
          <a:xfrm>
            <a:off x="3886200" y="2157984"/>
            <a:ext cx="7315200" cy="685800"/>
          </a:xfrm>
          <a:prstGeom prst="rect">
            <a:avLst/>
          </a:prstGeom>
          <a:noFill/>
        </p:spPr>
        <p:txBody>
          <a:bodyPr wrap="square" anchor="t">
            <a:spAutoFit/>
          </a:bodyPr>
          <a:lstStyle/>
          <a:p>
            <a:pPr algn="l">
              <a:lnSpc>
                <a:spcPct val="108000"/>
              </a:lnSpc>
            </a:pPr>
            <a:r>
              <a:rPr sz="1250" b="0" i="0">
                <a:solidFill>
                  <a:srgbClr val="475569"/>
                </a:solidFill>
                <a:latin typeface="Calibri"/>
              </a:rPr>
              <a:t>Limits describe what the process does, not what anyone wants. A process can sit entirely inside its limits and still be nowhere near acceptable — a specific and useful finding.</a:t>
            </a:r>
          </a:p>
        </p:txBody>
      </p:sp>
      <p:sp>
        <p:nvSpPr>
          <p:cNvPr id="8" name="Rectangle 7"/>
          <p:cNvSpPr/>
          <p:nvPr/>
        </p:nvSpPr>
        <p:spPr>
          <a:xfrm>
            <a:off x="777240" y="3044952"/>
            <a:ext cx="10607040" cy="859536"/>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044952"/>
            <a:ext cx="50292" cy="8595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163824"/>
            <a:ext cx="2743200" cy="365760"/>
          </a:xfrm>
          <a:prstGeom prst="rect">
            <a:avLst/>
          </a:prstGeom>
          <a:noFill/>
        </p:spPr>
        <p:txBody>
          <a:bodyPr wrap="square" anchor="t">
            <a:spAutoFit/>
          </a:bodyPr>
          <a:lstStyle/>
          <a:p>
            <a:pPr algn="l">
              <a:lnSpc>
                <a:spcPct val="100000"/>
              </a:lnSpc>
            </a:pPr>
            <a:r>
              <a:rPr sz="1500" b="1" i="0">
                <a:solidFill>
                  <a:srgbClr val="0F172A"/>
                </a:solidFill>
                <a:latin typeface="Calibri"/>
              </a:rPr>
              <a:t>Not a significance test</a:t>
            </a:r>
          </a:p>
        </p:txBody>
      </p:sp>
      <p:sp>
        <p:nvSpPr>
          <p:cNvPr id="11" name="TextBox 10"/>
          <p:cNvSpPr txBox="1"/>
          <p:nvPr/>
        </p:nvSpPr>
        <p:spPr>
          <a:xfrm>
            <a:off x="3886200" y="3145536"/>
            <a:ext cx="7315200" cy="685800"/>
          </a:xfrm>
          <a:prstGeom prst="rect">
            <a:avLst/>
          </a:prstGeom>
          <a:noFill/>
        </p:spPr>
        <p:txBody>
          <a:bodyPr wrap="square" anchor="t">
            <a:spAutoFit/>
          </a:bodyPr>
          <a:lstStyle/>
          <a:p>
            <a:pPr algn="l">
              <a:lnSpc>
                <a:spcPct val="108000"/>
              </a:lnSpc>
            </a:pPr>
            <a:r>
              <a:rPr sz="1250" b="0" i="0">
                <a:solidFill>
                  <a:srgbClr val="475569"/>
                </a:solidFill>
                <a:latin typeface="Calibri"/>
              </a:rPr>
              <a:t>No null hypothesis, no p-value being defended. Three sigma is an economic choice.</a:t>
            </a:r>
          </a:p>
        </p:txBody>
      </p:sp>
      <p:sp>
        <p:nvSpPr>
          <p:cNvPr id="12" name="Rectangle 11"/>
          <p:cNvSpPr/>
          <p:nvPr/>
        </p:nvSpPr>
        <p:spPr>
          <a:xfrm>
            <a:off x="777240" y="4032504"/>
            <a:ext cx="10607040" cy="859536"/>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32504"/>
            <a:ext cx="50292" cy="8595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151376"/>
            <a:ext cx="2743200" cy="365760"/>
          </a:xfrm>
          <a:prstGeom prst="rect">
            <a:avLst/>
          </a:prstGeom>
          <a:noFill/>
        </p:spPr>
        <p:txBody>
          <a:bodyPr wrap="square" anchor="t">
            <a:spAutoFit/>
          </a:bodyPr>
          <a:lstStyle/>
          <a:p>
            <a:pPr algn="l">
              <a:lnSpc>
                <a:spcPct val="100000"/>
              </a:lnSpc>
            </a:pPr>
            <a:r>
              <a:rPr sz="1500" b="1" i="0">
                <a:solidFill>
                  <a:srgbClr val="0F172A"/>
                </a:solidFill>
                <a:latin typeface="Calibri"/>
              </a:rPr>
              <a:t>Not a ranking</a:t>
            </a:r>
          </a:p>
        </p:txBody>
      </p:sp>
      <p:sp>
        <p:nvSpPr>
          <p:cNvPr id="15" name="TextBox 14"/>
          <p:cNvSpPr txBox="1"/>
          <p:nvPr/>
        </p:nvSpPr>
        <p:spPr>
          <a:xfrm>
            <a:off x="3886200" y="4133088"/>
            <a:ext cx="7315200" cy="685800"/>
          </a:xfrm>
          <a:prstGeom prst="rect">
            <a:avLst/>
          </a:prstGeom>
          <a:noFill/>
        </p:spPr>
        <p:txBody>
          <a:bodyPr wrap="square" anchor="t">
            <a:spAutoFit/>
          </a:bodyPr>
          <a:lstStyle/>
          <a:p>
            <a:pPr algn="l">
              <a:lnSpc>
                <a:spcPct val="108000"/>
              </a:lnSpc>
            </a:pPr>
            <a:r>
              <a:rPr sz="1250" b="0" i="0">
                <a:solidFill>
                  <a:srgbClr val="475569"/>
                </a:solidFill>
                <a:latin typeface="Calibri"/>
              </a:rPr>
              <a:t>League tables convert noise into a standing every quarter. The order reshuffles when nothing has changed, and people work hard to move on it.</a:t>
            </a:r>
          </a:p>
        </p:txBody>
      </p:sp>
      <p:sp>
        <p:nvSpPr>
          <p:cNvPr id="16" name="Rectangle 15"/>
          <p:cNvSpPr/>
          <p:nvPr/>
        </p:nvSpPr>
        <p:spPr>
          <a:xfrm>
            <a:off x="777240" y="5020056"/>
            <a:ext cx="10607040" cy="859536"/>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20056"/>
            <a:ext cx="50292" cy="8595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138928"/>
            <a:ext cx="2743200" cy="365760"/>
          </a:xfrm>
          <a:prstGeom prst="rect">
            <a:avLst/>
          </a:prstGeom>
          <a:noFill/>
        </p:spPr>
        <p:txBody>
          <a:bodyPr wrap="square" anchor="t">
            <a:spAutoFit/>
          </a:bodyPr>
          <a:lstStyle/>
          <a:p>
            <a:pPr algn="l">
              <a:lnSpc>
                <a:spcPct val="100000"/>
              </a:lnSpc>
            </a:pPr>
            <a:r>
              <a:rPr sz="1500" b="1" i="0">
                <a:solidFill>
                  <a:srgbClr val="0F172A"/>
                </a:solidFill>
                <a:latin typeface="Calibri"/>
              </a:rPr>
              <a:t>Not a verdict on people</a:t>
            </a:r>
          </a:p>
        </p:txBody>
      </p:sp>
      <p:sp>
        <p:nvSpPr>
          <p:cNvPr id="19" name="TextBox 18"/>
          <p:cNvSpPr txBox="1"/>
          <p:nvPr/>
        </p:nvSpPr>
        <p:spPr>
          <a:xfrm>
            <a:off x="3886200" y="5120640"/>
            <a:ext cx="7315200" cy="685800"/>
          </a:xfrm>
          <a:prstGeom prst="rect">
            <a:avLst/>
          </a:prstGeom>
          <a:noFill/>
        </p:spPr>
        <p:txBody>
          <a:bodyPr wrap="square" anchor="t">
            <a:spAutoFit/>
          </a:bodyPr>
          <a:lstStyle/>
          <a:p>
            <a:pPr algn="l">
              <a:lnSpc>
                <a:spcPct val="108000"/>
              </a:lnSpc>
            </a:pPr>
            <a:r>
              <a:rPr sz="1250" b="0" i="0">
                <a:solidFill>
                  <a:srgbClr val="475569"/>
                </a:solidFill>
                <a:latin typeface="Calibri"/>
              </a:rPr>
              <a:t>Most variation belongs to the system. Charting is how you find out which is which before deciding whom to talk to.</a:t>
            </a:r>
          </a:p>
        </p:txBody>
      </p:sp>
      <p:sp>
        <p:nvSpPr>
          <p:cNvPr id="20" name="TextBox 19"/>
          <p:cNvSpPr txBox="1"/>
          <p:nvPr/>
        </p:nvSpPr>
        <p:spPr>
          <a:xfrm>
            <a:off x="777240" y="5961888"/>
            <a:ext cx="10607040" cy="320040"/>
          </a:xfrm>
          <a:prstGeom prst="rect">
            <a:avLst/>
          </a:prstGeom>
          <a:noFill/>
        </p:spPr>
        <p:txBody>
          <a:bodyPr wrap="square" anchor="t">
            <a:spAutoFit/>
          </a:bodyPr>
          <a:lstStyle/>
          <a:p>
            <a:pPr algn="l">
              <a:lnSpc>
                <a:spcPct val="100000"/>
              </a:lnSpc>
            </a:pPr>
            <a:r>
              <a:rPr sz="1200" b="0" i="1">
                <a:solidFill>
                  <a:srgbClr val="94A3B8"/>
                </a:solidFill>
                <a:latin typeface="Calibri"/>
              </a:rPr>
              <a:t>The economic argument for three sigma: closer in and you tamper constantly; further out and you miss real change. Shewhart tried the alternatives.</a:t>
            </a:r>
          </a:p>
        </p:txBody>
      </p:sp>
      <p:sp>
        <p:nvSpPr>
          <p:cNvPr id="21" name="TextBox 20"/>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2" name="TextBox 2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A WORKED CASE · REFERRAL TURNAROUND, 24 MONTHS, TWO CLINICS</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Charted as collected: nothing to see</a:t>
            </a:r>
          </a:p>
        </p:txBody>
      </p:sp>
      <p:sp>
        <p:nvSpPr>
          <p:cNvPr id="4" name="Rectangle 3"/>
          <p:cNvSpPr/>
          <p:nvPr/>
        </p:nvSpPr>
        <p:spPr>
          <a:xfrm>
            <a:off x="777240" y="2011680"/>
            <a:ext cx="7589520" cy="3200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051560" y="2441448"/>
            <a:ext cx="6720840"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827264" y="2322576"/>
            <a:ext cx="868680" cy="237744"/>
          </a:xfrm>
          <a:prstGeom prst="rect">
            <a:avLst/>
          </a:prstGeom>
          <a:noFill/>
        </p:spPr>
        <p:txBody>
          <a:bodyPr wrap="square" anchor="t">
            <a:spAutoFit/>
          </a:bodyPr>
          <a:lstStyle/>
          <a:p>
            <a:pPr algn="l">
              <a:lnSpc>
                <a:spcPct val="100000"/>
              </a:lnSpc>
            </a:pPr>
            <a:r>
              <a:rPr sz="850" b="1" i="0">
                <a:solidFill>
                  <a:srgbClr val="C0392B"/>
                </a:solidFill>
                <a:latin typeface="Calibri"/>
              </a:rPr>
              <a:t>UNPL 25.7</a:t>
            </a:r>
          </a:p>
        </p:txBody>
      </p:sp>
      <p:cxnSp>
        <p:nvCxnSpPr>
          <p:cNvPr id="7" name="Connector 6"/>
          <p:cNvCxnSpPr/>
          <p:nvPr/>
        </p:nvCxnSpPr>
        <p:spPr>
          <a:xfrm>
            <a:off x="1051560" y="4727448"/>
            <a:ext cx="6720840"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827264" y="4608576"/>
            <a:ext cx="868680" cy="237744"/>
          </a:xfrm>
          <a:prstGeom prst="rect">
            <a:avLst/>
          </a:prstGeom>
          <a:noFill/>
        </p:spPr>
        <p:txBody>
          <a:bodyPr wrap="square" anchor="t">
            <a:spAutoFit/>
          </a:bodyPr>
          <a:lstStyle/>
          <a:p>
            <a:pPr algn="l">
              <a:lnSpc>
                <a:spcPct val="100000"/>
              </a:lnSpc>
            </a:pPr>
            <a:r>
              <a:rPr sz="850" b="1" i="0">
                <a:solidFill>
                  <a:srgbClr val="C0392B"/>
                </a:solidFill>
                <a:latin typeface="Calibri"/>
              </a:rPr>
              <a:t>LNPL −10.5</a:t>
            </a:r>
          </a:p>
        </p:txBody>
      </p:sp>
      <p:cxnSp>
        <p:nvCxnSpPr>
          <p:cNvPr id="9" name="Connector 8"/>
          <p:cNvCxnSpPr/>
          <p:nvPr/>
        </p:nvCxnSpPr>
        <p:spPr>
          <a:xfrm>
            <a:off x="1051560" y="3584448"/>
            <a:ext cx="6720840" cy="0"/>
          </a:xfrm>
          <a:prstGeom prst="line">
            <a:avLst/>
          </a:prstGeom>
          <a:ln w="13970">
            <a:solidFill>
              <a:srgbClr val="1E5F8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27264" y="3465576"/>
            <a:ext cx="868680" cy="237744"/>
          </a:xfrm>
          <a:prstGeom prst="rect">
            <a:avLst/>
          </a:prstGeom>
          <a:noFill/>
        </p:spPr>
        <p:txBody>
          <a:bodyPr wrap="square" anchor="t">
            <a:spAutoFit/>
          </a:bodyPr>
          <a:lstStyle/>
          <a:p>
            <a:pPr algn="l">
              <a:lnSpc>
                <a:spcPct val="100000"/>
              </a:lnSpc>
            </a:pPr>
            <a:r>
              <a:rPr sz="850" b="1" i="0">
                <a:solidFill>
                  <a:srgbClr val="1E5F8C"/>
                </a:solidFill>
                <a:latin typeface="Calibri"/>
              </a:rPr>
              <a:t>CL 7.58</a:t>
            </a:r>
          </a:p>
        </p:txBody>
      </p:sp>
      <p:cxnSp>
        <p:nvCxnSpPr>
          <p:cNvPr id="11" name="Connector 10"/>
          <p:cNvCxnSpPr/>
          <p:nvPr/>
        </p:nvCxnSpPr>
        <p:spPr>
          <a:xfrm flipV="1">
            <a:off x="1051560" y="3374792"/>
            <a:ext cx="142996" cy="42941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94556" y="3374792"/>
            <a:ext cx="142997" cy="44835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337553" y="3349533"/>
            <a:ext cx="142996" cy="47361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80549" y="3349533"/>
            <a:ext cx="142997" cy="42941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623546" y="3400052"/>
            <a:ext cx="142996" cy="37889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66542" y="3400052"/>
            <a:ext cx="142997" cy="39784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9539" y="3317958"/>
            <a:ext cx="142997" cy="47993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52536" y="3317958"/>
            <a:ext cx="142996" cy="49887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95532" y="3418997"/>
            <a:ext cx="142997" cy="39783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338529" y="3418997"/>
            <a:ext cx="142996" cy="35363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481525" y="3362162"/>
            <a:ext cx="142997" cy="41047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624522" y="3362162"/>
            <a:ext cx="142997" cy="44836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67519" y="3387422"/>
            <a:ext cx="142996" cy="4231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10515" y="3387422"/>
            <a:ext cx="142997" cy="4041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053512" y="3336903"/>
            <a:ext cx="142996" cy="45467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196508" y="3336903"/>
            <a:ext cx="142997" cy="49256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339505" y="3374792"/>
            <a:ext cx="142997" cy="45467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82502" y="3374792"/>
            <a:ext cx="142996" cy="41047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625498" y="3355848"/>
            <a:ext cx="142997" cy="42941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68495" y="3355848"/>
            <a:ext cx="142996" cy="44835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911491" y="3406367"/>
            <a:ext cx="142997" cy="39784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054488" y="3406367"/>
            <a:ext cx="142997" cy="35363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197485" y="3330588"/>
            <a:ext cx="142996" cy="42941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40481" y="3330588"/>
            <a:ext cx="142997" cy="48624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483478" y="3381107"/>
            <a:ext cx="142996" cy="43572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626474" y="3381107"/>
            <a:ext cx="142997" cy="41678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769471" y="3368477"/>
            <a:ext cx="142997" cy="42941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912468" y="3368477"/>
            <a:ext cx="142996" cy="41047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055464" y="3393737"/>
            <a:ext cx="142997" cy="38521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198461" y="3393737"/>
            <a:ext cx="142996" cy="41678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341457" y="3343218"/>
            <a:ext cx="142997" cy="46730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84454" y="3343218"/>
            <a:ext cx="142997" cy="47993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627451" y="3412682"/>
            <a:ext cx="142996" cy="4104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770447" y="3412682"/>
            <a:ext cx="142997" cy="37889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913444" y="3324273"/>
            <a:ext cx="142996" cy="46730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056440" y="3324273"/>
            <a:ext cx="142997" cy="44835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99437" y="3374792"/>
            <a:ext cx="142997" cy="39784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342434" y="3374792"/>
            <a:ext cx="142996" cy="42941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485430" y="3355848"/>
            <a:ext cx="142997" cy="44835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628427" y="3355848"/>
            <a:ext cx="142996" cy="46098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771423" y="3400052"/>
            <a:ext cx="142997" cy="41678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14420" y="3400052"/>
            <a:ext cx="142997" cy="38521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057417" y="3349533"/>
            <a:ext cx="142996" cy="43572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200413" y="3349533"/>
            <a:ext cx="142997" cy="44835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7343410" y="3381107"/>
            <a:ext cx="142996" cy="41678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486406" y="3381107"/>
            <a:ext cx="142997" cy="42941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629403" y="3362162"/>
            <a:ext cx="142997" cy="44836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17269" y="376991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60266" y="334050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303263" y="3788861"/>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446259" y="331524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89256" y="374465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732252" y="336576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875249" y="376360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018246" y="328366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161242" y="3782546"/>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304239" y="338470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447235" y="373834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590232" y="332787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733229" y="377623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876225" y="335313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019222" y="375728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162218" y="33026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05215" y="3795176"/>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448212" y="334050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591208" y="375097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734205" y="332155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877201" y="376991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020198" y="337207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163195" y="372571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306191" y="329629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449188" y="3782546"/>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592184" y="334681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735181" y="376360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878178" y="333418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021174" y="374465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164171" y="335944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307167" y="377623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450164" y="330892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593161" y="3788861"/>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736157" y="337839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5879154" y="375728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022150" y="328998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165147" y="373834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308144" y="334050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6451140" y="376991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6594137" y="332155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6737133" y="3782546"/>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6880130" y="336576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023127" y="375097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166123" y="331524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7309120" y="376360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452116" y="334681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595113" y="377623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738110" y="332787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686800" y="2011680"/>
            <a:ext cx="2697480" cy="3200400"/>
          </a:xfrm>
          <a:prstGeom prst="rect">
            <a:avLst/>
          </a:prstGeom>
          <a:solidFill>
            <a:srgbClr val="EEF7F0"/>
          </a:solidFill>
          <a:ln w="15875">
            <a:solidFill>
              <a:srgbClr val="2F6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961120" y="2148840"/>
            <a:ext cx="2148840" cy="329184"/>
          </a:xfrm>
          <a:prstGeom prst="rect">
            <a:avLst/>
          </a:prstGeom>
          <a:noFill/>
        </p:spPr>
        <p:txBody>
          <a:bodyPr wrap="square" anchor="t">
            <a:spAutoFit/>
          </a:bodyPr>
          <a:lstStyle/>
          <a:p>
            <a:pPr algn="l">
              <a:lnSpc>
                <a:spcPct val="100000"/>
              </a:lnSpc>
            </a:pPr>
            <a:r>
              <a:rPr sz="1500" b="1" i="0">
                <a:solidFill>
                  <a:srgbClr val="2F6B45"/>
                </a:solidFill>
                <a:latin typeface="Calibri"/>
              </a:rPr>
              <a:t>The chart says</a:t>
            </a:r>
          </a:p>
        </p:txBody>
      </p:sp>
      <p:sp>
        <p:nvSpPr>
          <p:cNvPr id="108" name="TextBox 107"/>
          <p:cNvSpPr txBox="1"/>
          <p:nvPr/>
        </p:nvSpPr>
        <p:spPr>
          <a:xfrm>
            <a:off x="8961120" y="2542032"/>
            <a:ext cx="2148840" cy="2542032"/>
          </a:xfrm>
          <a:prstGeom prst="rect">
            <a:avLst/>
          </a:prstGeom>
          <a:noFill/>
        </p:spPr>
        <p:txBody>
          <a:bodyPr wrap="square" anchor="t">
            <a:spAutoFit/>
          </a:bodyPr>
          <a:lstStyle/>
          <a:p>
            <a:pPr algn="l">
              <a:lnSpc>
                <a:spcPct val="112000"/>
              </a:lnSpc>
            </a:pPr>
            <a:r>
              <a:rPr sz="1250" b="0" i="0">
                <a:solidFill>
                  <a:srgbClr val="475569"/>
                </a:solidFill>
                <a:latin typeface="Calibri"/>
              </a:rPr>
              <a:t>Stable.
Predictable.
Zero signals in 48 months of data.
Limits run from −10.5 to +25.7 days — while the data never leaves 3.7 to 11.8.
A negative number of days is not a possible turnaround.</a:t>
            </a:r>
          </a:p>
        </p:txBody>
      </p:sp>
      <p:sp>
        <p:nvSpPr>
          <p:cNvPr id="109" name="TextBox 108"/>
          <p:cNvSpPr txBox="1"/>
          <p:nvPr/>
        </p:nvSpPr>
        <p:spPr>
          <a:xfrm>
            <a:off x="777240" y="5440680"/>
            <a:ext cx="10607040" cy="365760"/>
          </a:xfrm>
          <a:prstGeom prst="rect">
            <a:avLst/>
          </a:prstGeom>
          <a:noFill/>
        </p:spPr>
        <p:txBody>
          <a:bodyPr wrap="square" anchor="t">
            <a:spAutoFit/>
          </a:bodyPr>
          <a:lstStyle/>
          <a:p>
            <a:pPr algn="l">
              <a:lnSpc>
                <a:spcPct val="100000"/>
              </a:lnSpc>
            </a:pPr>
            <a:r>
              <a:rPr sz="1500" b="0" i="0">
                <a:solidFill>
                  <a:srgbClr val="475569"/>
                </a:solidFill>
                <a:latin typeface="Calibri"/>
              </a:rPr>
              <a:t>Nothing is missing from this data and nothing is miscomputed. The arithmetic is correct.</a:t>
            </a:r>
          </a:p>
        </p:txBody>
      </p:sp>
      <p:sp>
        <p:nvSpPr>
          <p:cNvPr id="110" name="TextBox 10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11" name="TextBox 11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SAME DATA · SUBGROUPED BY CLINIC</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Two processes sharing a spreadsheet</a:t>
            </a:r>
          </a:p>
        </p:txBody>
      </p:sp>
      <p:sp>
        <p:nvSpPr>
          <p:cNvPr id="4" name="Rectangle 3"/>
          <p:cNvSpPr/>
          <p:nvPr/>
        </p:nvSpPr>
        <p:spPr>
          <a:xfrm>
            <a:off x="777240" y="1965960"/>
            <a:ext cx="521208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051560" y="2948178"/>
            <a:ext cx="4343400"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51560" y="3161538"/>
            <a:ext cx="4343400"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51560" y="3054858"/>
            <a:ext cx="4343400" cy="0"/>
          </a:xfrm>
          <a:prstGeom prst="line">
            <a:avLst/>
          </a:prstGeom>
          <a:ln w="13970">
            <a:solidFill>
              <a:srgbClr val="1E5F8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49824" y="2935986"/>
            <a:ext cx="868680" cy="237744"/>
          </a:xfrm>
          <a:prstGeom prst="rect">
            <a:avLst/>
          </a:prstGeom>
          <a:noFill/>
        </p:spPr>
        <p:txBody>
          <a:bodyPr wrap="square" anchor="t">
            <a:spAutoFit/>
          </a:bodyPr>
          <a:lstStyle/>
          <a:p>
            <a:pPr algn="l">
              <a:lnSpc>
                <a:spcPct val="100000"/>
              </a:lnSpc>
            </a:pPr>
            <a:r>
              <a:rPr sz="850" b="1" i="0">
                <a:solidFill>
                  <a:srgbClr val="1E5F8C"/>
                </a:solidFill>
                <a:latin typeface="Calibri"/>
              </a:rPr>
              <a:t>4.18</a:t>
            </a:r>
          </a:p>
        </p:txBody>
      </p:sp>
      <p:cxnSp>
        <p:nvCxnSpPr>
          <p:cNvPr id="9" name="Connector 8"/>
          <p:cNvCxnSpPr/>
          <p:nvPr/>
        </p:nvCxnSpPr>
        <p:spPr>
          <a:xfrm>
            <a:off x="1051560" y="3062478"/>
            <a:ext cx="188843"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240403" y="3024378"/>
            <a:ext cx="188843" cy="666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429246" y="3024378"/>
            <a:ext cx="188844"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18090" y="3052953"/>
            <a:ext cx="188843"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806933" y="3014853"/>
            <a:ext cx="188844" cy="666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95777" y="3014853"/>
            <a:ext cx="188843" cy="571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184620" y="3043428"/>
            <a:ext cx="188844"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373464" y="3043428"/>
            <a:ext cx="188843" cy="571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562307" y="3033903"/>
            <a:ext cx="188844" cy="666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751151" y="3033903"/>
            <a:ext cx="188843"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939994" y="2995803"/>
            <a:ext cx="188844" cy="666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28838" y="2995803"/>
            <a:ext cx="188843" cy="857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317681" y="3052953"/>
            <a:ext cx="188844"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506525" y="3024378"/>
            <a:ext cx="188843"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95368" y="3024378"/>
            <a:ext cx="188844" cy="476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84212" y="3072003"/>
            <a:ext cx="188843" cy="190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073055" y="3043428"/>
            <a:ext cx="188844" cy="476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261899" y="3014853"/>
            <a:ext cx="188843"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50742" y="3014853"/>
            <a:ext cx="188844" cy="476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39586" y="3062478"/>
            <a:ext cx="188843" cy="190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4828429" y="3033903"/>
            <a:ext cx="188844" cy="476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017273" y="3033903"/>
            <a:ext cx="188843" cy="190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206116" y="3052953"/>
            <a:ext cx="188844" cy="190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017269" y="302818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206113" y="30567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94956" y="299008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583800" y="30186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772643" y="304723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961487" y="29805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150330" y="30377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339174" y="300913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528017" y="306628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716861" y="29996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905704" y="302818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094548" y="29615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283391" y="304723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472235" y="30186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661078" y="299008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849922" y="30377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038765" y="30567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227609" y="300913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416452" y="29805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05296" y="302818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794139" y="304723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982983" y="29996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171826" y="301866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360670" y="303771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8680" y="2029968"/>
            <a:ext cx="1828800" cy="274320"/>
          </a:xfrm>
          <a:prstGeom prst="rect">
            <a:avLst/>
          </a:prstGeom>
          <a:noFill/>
        </p:spPr>
        <p:txBody>
          <a:bodyPr wrap="square" anchor="t">
            <a:spAutoFit/>
          </a:bodyPr>
          <a:lstStyle/>
          <a:p>
            <a:pPr algn="l">
              <a:lnSpc>
                <a:spcPct val="100000"/>
              </a:lnSpc>
            </a:pPr>
            <a:r>
              <a:rPr sz="1200" b="1" i="0">
                <a:solidFill>
                  <a:srgbClr val="0F2F47"/>
                </a:solidFill>
                <a:latin typeface="Calibri"/>
              </a:rPr>
              <a:t>North Clinic</a:t>
            </a:r>
          </a:p>
        </p:txBody>
      </p:sp>
      <p:sp>
        <p:nvSpPr>
          <p:cNvPr id="57" name="Rectangle 56"/>
          <p:cNvSpPr/>
          <p:nvPr/>
        </p:nvSpPr>
        <p:spPr>
          <a:xfrm>
            <a:off x="777240" y="3703320"/>
            <a:ext cx="521208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1051560" y="4018787"/>
            <a:ext cx="4343400"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51560" y="4268343"/>
            <a:ext cx="4343400"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1560" y="4143565"/>
            <a:ext cx="4343400" cy="0"/>
          </a:xfrm>
          <a:prstGeom prst="line">
            <a:avLst/>
          </a:prstGeom>
          <a:ln w="13970">
            <a:solidFill>
              <a:srgbClr val="1E5F8C"/>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449824" y="4024693"/>
            <a:ext cx="868680" cy="237744"/>
          </a:xfrm>
          <a:prstGeom prst="rect">
            <a:avLst/>
          </a:prstGeom>
          <a:noFill/>
        </p:spPr>
        <p:txBody>
          <a:bodyPr wrap="square" anchor="t">
            <a:spAutoFit/>
          </a:bodyPr>
          <a:lstStyle/>
          <a:p>
            <a:pPr algn="l">
              <a:lnSpc>
                <a:spcPct val="100000"/>
              </a:lnSpc>
            </a:pPr>
            <a:r>
              <a:rPr sz="850" b="1" i="0">
                <a:solidFill>
                  <a:srgbClr val="1E5F8C"/>
                </a:solidFill>
                <a:latin typeface="Calibri"/>
              </a:rPr>
              <a:t>10.99</a:t>
            </a:r>
          </a:p>
        </p:txBody>
      </p:sp>
      <p:cxnSp>
        <p:nvCxnSpPr>
          <p:cNvPr id="62" name="Connector 61"/>
          <p:cNvCxnSpPr/>
          <p:nvPr/>
        </p:nvCxnSpPr>
        <p:spPr>
          <a:xfrm flipV="1">
            <a:off x="1051560" y="4114037"/>
            <a:ext cx="188843" cy="381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240403" y="4114037"/>
            <a:ext cx="188843" cy="762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429246" y="4066412"/>
            <a:ext cx="188844" cy="1238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618090" y="4066412"/>
            <a:ext cx="188843" cy="15240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806933" y="4133087"/>
            <a:ext cx="188844" cy="85726"/>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995777" y="4133087"/>
            <a:ext cx="188843" cy="3810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2184620" y="4094987"/>
            <a:ext cx="188844" cy="7620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373464" y="4094987"/>
            <a:ext cx="188843" cy="571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2562307" y="4123563"/>
            <a:ext cx="188844" cy="2857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2751151" y="4123563"/>
            <a:ext cx="188843" cy="762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2939994" y="4085463"/>
            <a:ext cx="188844" cy="1143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128838" y="4085463"/>
            <a:ext cx="188843" cy="7619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3317681" y="4142613"/>
            <a:ext cx="188844" cy="1904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06525" y="4142613"/>
            <a:ext cx="188843" cy="3809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695368" y="4104512"/>
            <a:ext cx="188844" cy="762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884212" y="4104512"/>
            <a:ext cx="188843" cy="1047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073055" y="4075937"/>
            <a:ext cx="188844" cy="13335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261899" y="4075937"/>
            <a:ext cx="188843" cy="762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450742" y="4123563"/>
            <a:ext cx="188844" cy="2857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39586" y="4123563"/>
            <a:ext cx="188843" cy="6667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828429" y="4114037"/>
            <a:ext cx="188844" cy="76200"/>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7273" y="4114037"/>
            <a:ext cx="188843" cy="4762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06116" y="4133087"/>
            <a:ext cx="188844" cy="2857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017269" y="411784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06113" y="407974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394956" y="415594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583800" y="403212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772643" y="418452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961487" y="409879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150330" y="413689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339174" y="406069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528017" y="411784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716861" y="408927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905704" y="416547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094548" y="405117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283391" y="412737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472235" y="410832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661078" y="4146422"/>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849922" y="407022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4038765" y="417499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227609" y="404164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416452" y="411784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605296" y="408927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794139" y="415594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982983" y="4079747"/>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5171826" y="4127373"/>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360670" y="4098798"/>
            <a:ext cx="68580" cy="68580"/>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68680" y="3767328"/>
            <a:ext cx="1828800" cy="274320"/>
          </a:xfrm>
          <a:prstGeom prst="rect">
            <a:avLst/>
          </a:prstGeom>
          <a:noFill/>
        </p:spPr>
        <p:txBody>
          <a:bodyPr wrap="square" anchor="t">
            <a:spAutoFit/>
          </a:bodyPr>
          <a:lstStyle/>
          <a:p>
            <a:pPr algn="l">
              <a:lnSpc>
                <a:spcPct val="100000"/>
              </a:lnSpc>
            </a:pPr>
            <a:r>
              <a:rPr sz="1200" b="1" i="0">
                <a:solidFill>
                  <a:srgbClr val="0F2F47"/>
                </a:solidFill>
                <a:latin typeface="Calibri"/>
              </a:rPr>
              <a:t>South Clinic</a:t>
            </a:r>
          </a:p>
        </p:txBody>
      </p:sp>
      <p:sp>
        <p:nvSpPr>
          <p:cNvPr id="110" name="Rectangle 109"/>
          <p:cNvSpPr/>
          <p:nvPr/>
        </p:nvSpPr>
        <p:spPr>
          <a:xfrm>
            <a:off x="6355080" y="1965960"/>
            <a:ext cx="5029200" cy="457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6355080" y="1965960"/>
            <a:ext cx="4999024" cy="45720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355080" y="2066543"/>
            <a:ext cx="4023360" cy="274320"/>
          </a:xfrm>
          <a:prstGeom prst="rect">
            <a:avLst/>
          </a:prstGeom>
          <a:noFill/>
        </p:spPr>
        <p:txBody>
          <a:bodyPr wrap="square" anchor="t">
            <a:spAutoFit/>
          </a:bodyPr>
          <a:lstStyle/>
          <a:p>
            <a:pPr algn="ctr">
              <a:lnSpc>
                <a:spcPct val="100000"/>
              </a:lnSpc>
            </a:pPr>
            <a:r>
              <a:rPr sz="1300" b="1" i="0">
                <a:solidFill>
                  <a:srgbClr val="FFFFFF"/>
                </a:solidFill>
                <a:latin typeface="Calibri"/>
              </a:rPr>
              <a:t>between clinics  99.4%</a:t>
            </a:r>
          </a:p>
        </p:txBody>
      </p:sp>
      <p:sp>
        <p:nvSpPr>
          <p:cNvPr id="113" name="TextBox 112"/>
          <p:cNvSpPr txBox="1"/>
          <p:nvPr/>
        </p:nvSpPr>
        <p:spPr>
          <a:xfrm>
            <a:off x="6355080" y="2514600"/>
            <a:ext cx="5029200" cy="457200"/>
          </a:xfrm>
          <a:prstGeom prst="rect">
            <a:avLst/>
          </a:prstGeom>
          <a:noFill/>
        </p:spPr>
        <p:txBody>
          <a:bodyPr wrap="square" anchor="t">
            <a:spAutoFit/>
          </a:bodyPr>
          <a:lstStyle/>
          <a:p>
            <a:pPr algn="l">
              <a:lnSpc>
                <a:spcPct val="100000"/>
              </a:lnSpc>
            </a:pPr>
            <a:r>
              <a:rPr sz="1150" b="0" i="0">
                <a:solidFill>
                  <a:srgbClr val="475569"/>
                </a:solidFill>
                <a:latin typeface="Calibri"/>
              </a:rPr>
              <a:t>Share of all variation that lives BETWEEN the clinics rather than within them</a:t>
            </a:r>
          </a:p>
        </p:txBody>
      </p:sp>
      <p:sp>
        <p:nvSpPr>
          <p:cNvPr id="114" name="Rectangle 113"/>
          <p:cNvSpPr/>
          <p:nvPr/>
        </p:nvSpPr>
        <p:spPr>
          <a:xfrm>
            <a:off x="6355080" y="3127248"/>
            <a:ext cx="2377440" cy="8686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519672" y="3218688"/>
            <a:ext cx="2011680" cy="228600"/>
          </a:xfrm>
          <a:prstGeom prst="rect">
            <a:avLst/>
          </a:prstGeom>
          <a:noFill/>
        </p:spPr>
        <p:txBody>
          <a:bodyPr wrap="square" anchor="t">
            <a:spAutoFit/>
          </a:bodyPr>
          <a:lstStyle/>
          <a:p>
            <a:pPr algn="l">
              <a:lnSpc>
                <a:spcPct val="100000"/>
              </a:lnSpc>
            </a:pPr>
            <a:r>
              <a:rPr sz="1000" b="1" i="0">
                <a:solidFill>
                  <a:srgbClr val="94A3B8"/>
                </a:solidFill>
                <a:latin typeface="Calibri"/>
              </a:rPr>
              <a:t>F(1, 46)</a:t>
            </a:r>
          </a:p>
        </p:txBody>
      </p:sp>
      <p:sp>
        <p:nvSpPr>
          <p:cNvPr id="116" name="TextBox 115"/>
          <p:cNvSpPr txBox="1"/>
          <p:nvPr/>
        </p:nvSpPr>
        <p:spPr>
          <a:xfrm>
            <a:off x="6519672" y="3438144"/>
            <a:ext cx="2011680" cy="365760"/>
          </a:xfrm>
          <a:prstGeom prst="rect">
            <a:avLst/>
          </a:prstGeom>
          <a:noFill/>
        </p:spPr>
        <p:txBody>
          <a:bodyPr wrap="square" anchor="t">
            <a:spAutoFit/>
          </a:bodyPr>
          <a:lstStyle/>
          <a:p>
            <a:pPr algn="l">
              <a:lnSpc>
                <a:spcPct val="100000"/>
              </a:lnSpc>
            </a:pPr>
            <a:r>
              <a:rPr sz="2000" b="1" i="0">
                <a:solidFill>
                  <a:srgbClr val="0F2F47"/>
                </a:solidFill>
                <a:latin typeface="Calibri"/>
              </a:rPr>
              <a:t>3957</a:t>
            </a:r>
          </a:p>
        </p:txBody>
      </p:sp>
      <p:sp>
        <p:nvSpPr>
          <p:cNvPr id="117" name="TextBox 116"/>
          <p:cNvSpPr txBox="1"/>
          <p:nvPr/>
        </p:nvSpPr>
        <p:spPr>
          <a:xfrm>
            <a:off x="6519672" y="3785615"/>
            <a:ext cx="2103120" cy="228600"/>
          </a:xfrm>
          <a:prstGeom prst="rect">
            <a:avLst/>
          </a:prstGeom>
          <a:noFill/>
        </p:spPr>
        <p:txBody>
          <a:bodyPr wrap="square" anchor="t">
            <a:spAutoFit/>
          </a:bodyPr>
          <a:lstStyle/>
          <a:p>
            <a:pPr algn="l">
              <a:lnSpc>
                <a:spcPct val="100000"/>
              </a:lnSpc>
            </a:pPr>
            <a:r>
              <a:rPr sz="1000" b="0" i="0">
                <a:solidFill>
                  <a:srgbClr val="94A3B8"/>
                </a:solidFill>
                <a:latin typeface="Calibri"/>
              </a:rPr>
              <a:t>p &lt; 0.0001</a:t>
            </a:r>
          </a:p>
        </p:txBody>
      </p:sp>
      <p:sp>
        <p:nvSpPr>
          <p:cNvPr id="118" name="Rectangle 117"/>
          <p:cNvSpPr/>
          <p:nvPr/>
        </p:nvSpPr>
        <p:spPr>
          <a:xfrm>
            <a:off x="8915400" y="3127248"/>
            <a:ext cx="2377440" cy="8686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079992" y="3218688"/>
            <a:ext cx="2011680" cy="228600"/>
          </a:xfrm>
          <a:prstGeom prst="rect">
            <a:avLst/>
          </a:prstGeom>
          <a:noFill/>
        </p:spPr>
        <p:txBody>
          <a:bodyPr wrap="square" anchor="t">
            <a:spAutoFit/>
          </a:bodyPr>
          <a:lstStyle/>
          <a:p>
            <a:pPr algn="l">
              <a:lnSpc>
                <a:spcPct val="100000"/>
              </a:lnSpc>
            </a:pPr>
            <a:r>
              <a:rPr sz="1000" b="1" i="0">
                <a:solidFill>
                  <a:srgbClr val="94A3B8"/>
                </a:solidFill>
                <a:latin typeface="Calibri"/>
              </a:rPr>
              <a:t>North</a:t>
            </a:r>
          </a:p>
        </p:txBody>
      </p:sp>
      <p:sp>
        <p:nvSpPr>
          <p:cNvPr id="120" name="TextBox 119"/>
          <p:cNvSpPr txBox="1"/>
          <p:nvPr/>
        </p:nvSpPr>
        <p:spPr>
          <a:xfrm>
            <a:off x="9079992" y="3438144"/>
            <a:ext cx="2011680" cy="365760"/>
          </a:xfrm>
          <a:prstGeom prst="rect">
            <a:avLst/>
          </a:prstGeom>
          <a:noFill/>
        </p:spPr>
        <p:txBody>
          <a:bodyPr wrap="square" anchor="t">
            <a:spAutoFit/>
          </a:bodyPr>
          <a:lstStyle/>
          <a:p>
            <a:pPr algn="l">
              <a:lnSpc>
                <a:spcPct val="100000"/>
              </a:lnSpc>
            </a:pPr>
            <a:r>
              <a:rPr sz="2000" b="1" i="0">
                <a:solidFill>
                  <a:srgbClr val="0F2F47"/>
                </a:solidFill>
                <a:latin typeface="Calibri"/>
              </a:rPr>
              <a:t>4.18 d</a:t>
            </a:r>
          </a:p>
        </p:txBody>
      </p:sp>
      <p:sp>
        <p:nvSpPr>
          <p:cNvPr id="121" name="TextBox 120"/>
          <p:cNvSpPr txBox="1"/>
          <p:nvPr/>
        </p:nvSpPr>
        <p:spPr>
          <a:xfrm>
            <a:off x="9079992" y="3785615"/>
            <a:ext cx="2103120" cy="228600"/>
          </a:xfrm>
          <a:prstGeom prst="rect">
            <a:avLst/>
          </a:prstGeom>
          <a:noFill/>
        </p:spPr>
        <p:txBody>
          <a:bodyPr wrap="square" anchor="t">
            <a:spAutoFit/>
          </a:bodyPr>
          <a:lstStyle/>
          <a:p>
            <a:pPr algn="l">
              <a:lnSpc>
                <a:spcPct val="100000"/>
              </a:lnSpc>
            </a:pPr>
            <a:r>
              <a:rPr sz="1000" b="0" i="0">
                <a:solidFill>
                  <a:srgbClr val="94A3B8"/>
                </a:solidFill>
                <a:latin typeface="Calibri"/>
              </a:rPr>
              <a:t>sigma 0.31</a:t>
            </a:r>
          </a:p>
        </p:txBody>
      </p:sp>
      <p:sp>
        <p:nvSpPr>
          <p:cNvPr id="122" name="Rectangle 121"/>
          <p:cNvSpPr/>
          <p:nvPr/>
        </p:nvSpPr>
        <p:spPr>
          <a:xfrm>
            <a:off x="6355080" y="4114800"/>
            <a:ext cx="2377440" cy="8686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519672" y="4206240"/>
            <a:ext cx="2011680" cy="228600"/>
          </a:xfrm>
          <a:prstGeom prst="rect">
            <a:avLst/>
          </a:prstGeom>
          <a:noFill/>
        </p:spPr>
        <p:txBody>
          <a:bodyPr wrap="square" anchor="t">
            <a:spAutoFit/>
          </a:bodyPr>
          <a:lstStyle/>
          <a:p>
            <a:pPr algn="l">
              <a:lnSpc>
                <a:spcPct val="100000"/>
              </a:lnSpc>
            </a:pPr>
            <a:r>
              <a:rPr sz="1000" b="1" i="0">
                <a:solidFill>
                  <a:srgbClr val="94A3B8"/>
                </a:solidFill>
                <a:latin typeface="Calibri"/>
              </a:rPr>
              <a:t>South</a:t>
            </a:r>
          </a:p>
        </p:txBody>
      </p:sp>
      <p:sp>
        <p:nvSpPr>
          <p:cNvPr id="124" name="TextBox 123"/>
          <p:cNvSpPr txBox="1"/>
          <p:nvPr/>
        </p:nvSpPr>
        <p:spPr>
          <a:xfrm>
            <a:off x="6519672" y="4425696"/>
            <a:ext cx="2011680" cy="365760"/>
          </a:xfrm>
          <a:prstGeom prst="rect">
            <a:avLst/>
          </a:prstGeom>
          <a:noFill/>
        </p:spPr>
        <p:txBody>
          <a:bodyPr wrap="square" anchor="t">
            <a:spAutoFit/>
          </a:bodyPr>
          <a:lstStyle/>
          <a:p>
            <a:pPr algn="l">
              <a:lnSpc>
                <a:spcPct val="100000"/>
              </a:lnSpc>
            </a:pPr>
            <a:r>
              <a:rPr sz="2000" b="1" i="0">
                <a:solidFill>
                  <a:srgbClr val="0F2F47"/>
                </a:solidFill>
                <a:latin typeface="Calibri"/>
              </a:rPr>
              <a:t>10.99 d</a:t>
            </a:r>
          </a:p>
        </p:txBody>
      </p:sp>
      <p:sp>
        <p:nvSpPr>
          <p:cNvPr id="125" name="TextBox 124"/>
          <p:cNvSpPr txBox="1"/>
          <p:nvPr/>
        </p:nvSpPr>
        <p:spPr>
          <a:xfrm>
            <a:off x="6519672" y="4773168"/>
            <a:ext cx="2103120" cy="228600"/>
          </a:xfrm>
          <a:prstGeom prst="rect">
            <a:avLst/>
          </a:prstGeom>
          <a:noFill/>
        </p:spPr>
        <p:txBody>
          <a:bodyPr wrap="square" anchor="t">
            <a:spAutoFit/>
          </a:bodyPr>
          <a:lstStyle/>
          <a:p>
            <a:pPr algn="l">
              <a:lnSpc>
                <a:spcPct val="100000"/>
              </a:lnSpc>
            </a:pPr>
            <a:r>
              <a:rPr sz="1000" b="0" i="0">
                <a:solidFill>
                  <a:srgbClr val="94A3B8"/>
                </a:solidFill>
                <a:latin typeface="Calibri"/>
              </a:rPr>
              <a:t>sigma 0.44</a:t>
            </a:r>
          </a:p>
        </p:txBody>
      </p:sp>
      <p:sp>
        <p:nvSpPr>
          <p:cNvPr id="126" name="Rectangle 125"/>
          <p:cNvSpPr/>
          <p:nvPr/>
        </p:nvSpPr>
        <p:spPr>
          <a:xfrm>
            <a:off x="8915400" y="4114800"/>
            <a:ext cx="2377440" cy="8686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079992" y="4206240"/>
            <a:ext cx="2011680" cy="228600"/>
          </a:xfrm>
          <a:prstGeom prst="rect">
            <a:avLst/>
          </a:prstGeom>
          <a:noFill/>
        </p:spPr>
        <p:txBody>
          <a:bodyPr wrap="square" anchor="t">
            <a:spAutoFit/>
          </a:bodyPr>
          <a:lstStyle/>
          <a:p>
            <a:pPr algn="l">
              <a:lnSpc>
                <a:spcPct val="100000"/>
              </a:lnSpc>
            </a:pPr>
            <a:r>
              <a:rPr sz="1000" b="1" i="0">
                <a:solidFill>
                  <a:srgbClr val="94A3B8"/>
                </a:solidFill>
                <a:latin typeface="Calibri"/>
              </a:rPr>
              <a:t>Gap</a:t>
            </a:r>
          </a:p>
        </p:txBody>
      </p:sp>
      <p:sp>
        <p:nvSpPr>
          <p:cNvPr id="128" name="TextBox 127"/>
          <p:cNvSpPr txBox="1"/>
          <p:nvPr/>
        </p:nvSpPr>
        <p:spPr>
          <a:xfrm>
            <a:off x="9079992" y="4425696"/>
            <a:ext cx="2011680" cy="365760"/>
          </a:xfrm>
          <a:prstGeom prst="rect">
            <a:avLst/>
          </a:prstGeom>
          <a:noFill/>
        </p:spPr>
        <p:txBody>
          <a:bodyPr wrap="square" anchor="t">
            <a:spAutoFit/>
          </a:bodyPr>
          <a:lstStyle/>
          <a:p>
            <a:pPr algn="l">
              <a:lnSpc>
                <a:spcPct val="100000"/>
              </a:lnSpc>
            </a:pPr>
            <a:r>
              <a:rPr sz="2000" b="1" i="0">
                <a:solidFill>
                  <a:srgbClr val="0F2F47"/>
                </a:solidFill>
                <a:latin typeface="Calibri"/>
              </a:rPr>
              <a:t>6.8 days</a:t>
            </a:r>
          </a:p>
        </p:txBody>
      </p:sp>
      <p:sp>
        <p:nvSpPr>
          <p:cNvPr id="129" name="TextBox 128"/>
          <p:cNvSpPr txBox="1"/>
          <p:nvPr/>
        </p:nvSpPr>
        <p:spPr>
          <a:xfrm>
            <a:off x="9079992" y="4773168"/>
            <a:ext cx="2103120" cy="228600"/>
          </a:xfrm>
          <a:prstGeom prst="rect">
            <a:avLst/>
          </a:prstGeom>
          <a:noFill/>
        </p:spPr>
        <p:txBody>
          <a:bodyPr wrap="square" anchor="t">
            <a:spAutoFit/>
          </a:bodyPr>
          <a:lstStyle/>
          <a:p>
            <a:pPr algn="l">
              <a:lnSpc>
                <a:spcPct val="100000"/>
              </a:lnSpc>
            </a:pPr>
            <a:r>
              <a:rPr sz="1000" b="0" i="0">
                <a:solidFill>
                  <a:srgbClr val="94A3B8"/>
                </a:solidFill>
                <a:latin typeface="Calibri"/>
              </a:rPr>
              <a:t>invisible when pooled</a:t>
            </a:r>
          </a:p>
        </p:txBody>
      </p:sp>
      <p:sp>
        <p:nvSpPr>
          <p:cNvPr id="130" name="Rectangle 129"/>
          <p:cNvSpPr/>
          <p:nvPr/>
        </p:nvSpPr>
        <p:spPr>
          <a:xfrm>
            <a:off x="6355080" y="5138928"/>
            <a:ext cx="5029200" cy="1005840"/>
          </a:xfrm>
          <a:prstGeom prst="rect">
            <a:avLst/>
          </a:prstGeom>
          <a:solidFill>
            <a:srgbClr val="FDF0EE"/>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629400" y="5276088"/>
            <a:ext cx="4480560" cy="329184"/>
          </a:xfrm>
          <a:prstGeom prst="rect">
            <a:avLst/>
          </a:prstGeom>
          <a:noFill/>
        </p:spPr>
        <p:txBody>
          <a:bodyPr wrap="square" anchor="t">
            <a:spAutoFit/>
          </a:bodyPr>
          <a:lstStyle/>
          <a:p>
            <a:pPr algn="l">
              <a:lnSpc>
                <a:spcPct val="100000"/>
              </a:lnSpc>
            </a:pPr>
            <a:r>
              <a:rPr sz="1500" b="1" i="0">
                <a:solidFill>
                  <a:srgbClr val="C0392B"/>
                </a:solidFill>
                <a:latin typeface="Calibri"/>
              </a:rPr>
              <a:t>Shewhart called this a mixture</a:t>
            </a:r>
          </a:p>
        </p:txBody>
      </p:sp>
      <p:sp>
        <p:nvSpPr>
          <p:cNvPr id="132" name="TextBox 131"/>
          <p:cNvSpPr txBox="1"/>
          <p:nvPr/>
        </p:nvSpPr>
        <p:spPr>
          <a:xfrm>
            <a:off x="6629400" y="5669280"/>
            <a:ext cx="4480560" cy="347472"/>
          </a:xfrm>
          <a:prstGeom prst="rect">
            <a:avLst/>
          </a:prstGeom>
          <a:noFill/>
        </p:spPr>
        <p:txBody>
          <a:bodyPr wrap="square" anchor="t">
            <a:spAutoFit/>
          </a:bodyPr>
          <a:lstStyle/>
          <a:p>
            <a:pPr algn="l">
              <a:lnSpc>
                <a:spcPct val="112000"/>
              </a:lnSpc>
            </a:pPr>
            <a:r>
              <a:rPr sz="1150" b="0" i="0">
                <a:solidFill>
                  <a:srgbClr val="475569"/>
                </a:solidFill>
                <a:latin typeface="Calibri"/>
              </a:rPr>
              <a:t>Alternating sources inflate the movement the limits are built from, so the chart goes quiet exactly when it should not.</a:t>
            </a:r>
          </a:p>
        </p:txBody>
      </p:sp>
      <p:sp>
        <p:nvSpPr>
          <p:cNvPr id="133" name="TextBox 132"/>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34" name="TextBox 13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F47"/>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F2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822960"/>
            <a:ext cx="10058400" cy="320040"/>
          </a:xfrm>
          <a:prstGeom prst="rect">
            <a:avLst/>
          </a:prstGeom>
          <a:noFill/>
        </p:spPr>
        <p:txBody>
          <a:bodyPr wrap="square" anchor="t">
            <a:spAutoFit/>
          </a:bodyPr>
          <a:lstStyle/>
          <a:p>
            <a:pPr algn="l">
              <a:lnSpc>
                <a:spcPct val="100000"/>
              </a:lnSpc>
            </a:pPr>
            <a:r>
              <a:rPr sz="1200" b="1" i="0">
                <a:solidFill>
                  <a:srgbClr val="7BA7C7"/>
                </a:solidFill>
                <a:latin typeface="Calibri"/>
              </a:rPr>
              <a:t>RATIONAL SUBGROUPING</a:t>
            </a:r>
          </a:p>
        </p:txBody>
      </p:sp>
      <p:sp>
        <p:nvSpPr>
          <p:cNvPr id="4" name="TextBox 3"/>
          <p:cNvSpPr txBox="1"/>
          <p:nvPr/>
        </p:nvSpPr>
        <p:spPr>
          <a:xfrm>
            <a:off x="777240" y="1371600"/>
            <a:ext cx="10607040" cy="1463040"/>
          </a:xfrm>
          <a:prstGeom prst="rect">
            <a:avLst/>
          </a:prstGeom>
          <a:noFill/>
        </p:spPr>
        <p:txBody>
          <a:bodyPr wrap="square" anchor="t">
            <a:spAutoFit/>
          </a:bodyPr>
          <a:lstStyle/>
          <a:p>
            <a:pPr algn="l">
              <a:lnSpc>
                <a:spcPct val="105000"/>
              </a:lnSpc>
            </a:pPr>
            <a:r>
              <a:rPr sz="3400" b="1" i="0">
                <a:solidFill>
                  <a:srgbClr val="FFFFFF"/>
                </a:solidFill>
                <a:latin typeface="Calibri"/>
              </a:rPr>
              <a:t>Choosing a subgroup is a claim about cause,
not a display option</a:t>
            </a:r>
          </a:p>
        </p:txBody>
      </p:sp>
      <p:sp>
        <p:nvSpPr>
          <p:cNvPr id="5" name="TextBox 4"/>
          <p:cNvSpPr txBox="1"/>
          <p:nvPr/>
        </p:nvSpPr>
        <p:spPr>
          <a:xfrm>
            <a:off x="777240" y="3108960"/>
            <a:ext cx="10241280" cy="1005840"/>
          </a:xfrm>
          <a:prstGeom prst="rect">
            <a:avLst/>
          </a:prstGeom>
          <a:noFill/>
        </p:spPr>
        <p:txBody>
          <a:bodyPr wrap="square" anchor="t">
            <a:spAutoFit/>
          </a:bodyPr>
          <a:lstStyle/>
          <a:p>
            <a:pPr algn="l">
              <a:lnSpc>
                <a:spcPct val="125000"/>
              </a:lnSpc>
            </a:pPr>
            <a:r>
              <a:rPr sz="1700" b="0" i="0">
                <a:solidFill>
                  <a:srgbClr val="C6DBEA"/>
                </a:solidFill>
                <a:latin typeface="Calibri"/>
              </a:rPr>
              <a:t>When you group observations you are declaring that the variation INSIDE a group is noise. That becomes the yardstick the limits are built from. Anything you want the chart to detect has to be forced to appear BETWEEN groups instead.</a:t>
            </a:r>
          </a:p>
        </p:txBody>
      </p:sp>
      <p:sp>
        <p:nvSpPr>
          <p:cNvPr id="6" name="Rectangle 5"/>
          <p:cNvSpPr/>
          <p:nvPr/>
        </p:nvSpPr>
        <p:spPr>
          <a:xfrm>
            <a:off x="777240" y="4343400"/>
            <a:ext cx="10607040" cy="50292"/>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572000"/>
            <a:ext cx="10607040" cy="457200"/>
          </a:xfrm>
          <a:prstGeom prst="rect">
            <a:avLst/>
          </a:prstGeom>
          <a:noFill/>
        </p:spPr>
        <p:txBody>
          <a:bodyPr wrap="square" anchor="t">
            <a:spAutoFit/>
          </a:bodyPr>
          <a:lstStyle/>
          <a:p>
            <a:pPr algn="l">
              <a:lnSpc>
                <a:spcPct val="100000"/>
              </a:lnSpc>
            </a:pPr>
            <a:r>
              <a:rPr sz="2100" b="1" i="0">
                <a:solidFill>
                  <a:srgbClr val="D4622F"/>
                </a:solidFill>
                <a:latin typeface="Calibri"/>
              </a:rPr>
              <a:t>Change the grouping and you change what the chart is capable of seeing.</a:t>
            </a:r>
          </a:p>
        </p:txBody>
      </p:sp>
      <p:sp>
        <p:nvSpPr>
          <p:cNvPr id="8" name="TextBox 7"/>
          <p:cNvSpPr txBox="1"/>
          <p:nvPr/>
        </p:nvSpPr>
        <p:spPr>
          <a:xfrm>
            <a:off x="777240" y="5212080"/>
            <a:ext cx="10241280" cy="914400"/>
          </a:xfrm>
          <a:prstGeom prst="rect">
            <a:avLst/>
          </a:prstGeom>
          <a:noFill/>
        </p:spPr>
        <p:txBody>
          <a:bodyPr wrap="square" anchor="t">
            <a:spAutoFit/>
          </a:bodyPr>
          <a:lstStyle/>
          <a:p>
            <a:pPr algn="l">
              <a:lnSpc>
                <a:spcPct val="120000"/>
              </a:lnSpc>
            </a:pPr>
            <a:r>
              <a:rPr sz="1350" b="0" i="0">
                <a:solidFill>
                  <a:srgbClr val="8FB4CD"/>
                </a:solidFill>
                <a:latin typeface="Calibri"/>
              </a:rPr>
              <a:t>This is why the tool puts the subgrouping panel ABOVE the chart, states what fraction of the variation your choice has just reclassified as noise, and says so in words. Most software defaults to "subgroup size 5, consecutive rows" and never mentions it again.</a:t>
            </a:r>
          </a:p>
        </p:txBody>
      </p:sp>
      <p:sp>
        <p:nvSpPr>
          <p:cNvPr id="9" name="TextBox 8"/>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0" name="TextBox 9"/>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TWO FAILURE MODES WORTH RECOGNISING ON SIGHT</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Both of these look like good news</a:t>
            </a:r>
          </a:p>
        </p:txBody>
      </p:sp>
      <p:sp>
        <p:nvSpPr>
          <p:cNvPr id="4" name="Rectangle 3"/>
          <p:cNvSpPr/>
          <p:nvPr/>
        </p:nvSpPr>
        <p:spPr>
          <a:xfrm>
            <a:off x="777240" y="2057400"/>
            <a:ext cx="5120640" cy="1965960"/>
          </a:xfrm>
          <a:prstGeom prst="rect">
            <a:avLst/>
          </a:prstGeom>
          <a:solidFill>
            <a:srgbClr val="FDF0EE"/>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94560"/>
            <a:ext cx="4572000" cy="329184"/>
          </a:xfrm>
          <a:prstGeom prst="rect">
            <a:avLst/>
          </a:prstGeom>
          <a:noFill/>
        </p:spPr>
        <p:txBody>
          <a:bodyPr wrap="square" anchor="t">
            <a:spAutoFit/>
          </a:bodyPr>
          <a:lstStyle/>
          <a:p>
            <a:pPr algn="l">
              <a:lnSpc>
                <a:spcPct val="100000"/>
              </a:lnSpc>
            </a:pPr>
            <a:r>
              <a:rPr sz="1500" b="1" i="0">
                <a:solidFill>
                  <a:srgbClr val="C0392B"/>
                </a:solidFill>
                <a:latin typeface="Calibri"/>
              </a:rPr>
              <a:t>Mixture</a:t>
            </a:r>
          </a:p>
        </p:txBody>
      </p:sp>
      <p:sp>
        <p:nvSpPr>
          <p:cNvPr id="6" name="TextBox 5"/>
          <p:cNvSpPr txBox="1"/>
          <p:nvPr/>
        </p:nvSpPr>
        <p:spPr>
          <a:xfrm>
            <a:off x="1051560" y="2587752"/>
            <a:ext cx="4572000" cy="1307592"/>
          </a:xfrm>
          <a:prstGeom prst="rect">
            <a:avLst/>
          </a:prstGeom>
          <a:noFill/>
        </p:spPr>
        <p:txBody>
          <a:bodyPr wrap="square" anchor="t">
            <a:spAutoFit/>
          </a:bodyPr>
          <a:lstStyle/>
          <a:p>
            <a:pPr algn="l">
              <a:lnSpc>
                <a:spcPct val="112000"/>
              </a:lnSpc>
            </a:pPr>
            <a:r>
              <a:rPr sz="1250" b="0" i="0">
                <a:solidFill>
                  <a:srgbClr val="475569"/>
                </a:solidFill>
                <a:latin typeface="Calibri"/>
              </a:rPr>
              <a:t>Two sources alternating in one series. Point-to-point movement is huge, so the limits are enormous and nothing ever signals.
Symptom: points scattered widely inside limits that feel far too generous.
Caught by: Nelson rule 8.</a:t>
            </a:r>
          </a:p>
        </p:txBody>
      </p:sp>
      <p:sp>
        <p:nvSpPr>
          <p:cNvPr id="7" name="Rectangle 6"/>
          <p:cNvSpPr/>
          <p:nvPr/>
        </p:nvSpPr>
        <p:spPr>
          <a:xfrm>
            <a:off x="6263640" y="2057400"/>
            <a:ext cx="5120640" cy="196596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2194560"/>
            <a:ext cx="4572000" cy="329184"/>
          </a:xfrm>
          <a:prstGeom prst="rect">
            <a:avLst/>
          </a:prstGeom>
          <a:noFill/>
        </p:spPr>
        <p:txBody>
          <a:bodyPr wrap="square" anchor="t">
            <a:spAutoFit/>
          </a:bodyPr>
          <a:lstStyle/>
          <a:p>
            <a:pPr algn="l">
              <a:lnSpc>
                <a:spcPct val="100000"/>
              </a:lnSpc>
            </a:pPr>
            <a:r>
              <a:rPr sz="1500" b="1" i="0">
                <a:solidFill>
                  <a:srgbClr val="854D0E"/>
                </a:solidFill>
                <a:latin typeface="Calibri"/>
              </a:rPr>
              <a:t>Stratification</a:t>
            </a:r>
          </a:p>
        </p:txBody>
      </p:sp>
      <p:sp>
        <p:nvSpPr>
          <p:cNvPr id="9" name="TextBox 8"/>
          <p:cNvSpPr txBox="1"/>
          <p:nvPr/>
        </p:nvSpPr>
        <p:spPr>
          <a:xfrm>
            <a:off x="6537959" y="2587752"/>
            <a:ext cx="4572000" cy="1307592"/>
          </a:xfrm>
          <a:prstGeom prst="rect">
            <a:avLst/>
          </a:prstGeom>
          <a:noFill/>
        </p:spPr>
        <p:txBody>
          <a:bodyPr wrap="square" anchor="t">
            <a:spAutoFit/>
          </a:bodyPr>
          <a:lstStyle/>
          <a:p>
            <a:pPr algn="l">
              <a:lnSpc>
                <a:spcPct val="112000"/>
              </a:lnSpc>
            </a:pPr>
            <a:r>
              <a:rPr sz="1250" b="0" i="0">
                <a:solidFill>
                  <a:srgbClr val="475569"/>
                </a:solidFill>
                <a:latin typeface="Calibri"/>
              </a:rPr>
              <a:t>The subgroup straddles two sources in a way that inflates the WITHIN estimate. Limits come out too wide and points cling to the centre line.
Symptom: everything in the middle third, nothing near a limit.
Caught by: Nelson rule 7.</a:t>
            </a:r>
          </a:p>
        </p:txBody>
      </p:sp>
      <p:sp>
        <p:nvSpPr>
          <p:cNvPr id="10" name="Rectangle 9"/>
          <p:cNvSpPr/>
          <p:nvPr/>
        </p:nvSpPr>
        <p:spPr>
          <a:xfrm>
            <a:off x="777240" y="4343400"/>
            <a:ext cx="10607040" cy="1188720"/>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480560"/>
            <a:ext cx="10058400" cy="329184"/>
          </a:xfrm>
          <a:prstGeom prst="rect">
            <a:avLst/>
          </a:prstGeom>
          <a:noFill/>
        </p:spPr>
        <p:txBody>
          <a:bodyPr wrap="square" anchor="t">
            <a:spAutoFit/>
          </a:bodyPr>
          <a:lstStyle/>
          <a:p>
            <a:pPr algn="l">
              <a:lnSpc>
                <a:spcPct val="100000"/>
              </a:lnSpc>
            </a:pPr>
            <a:r>
              <a:rPr sz="1500" b="1" i="0">
                <a:solidFill>
                  <a:srgbClr val="0F2F47"/>
                </a:solidFill>
                <a:latin typeface="Calibri"/>
              </a:rPr>
              <a:t>Which is why "no signals" is never enough on its own</a:t>
            </a:r>
          </a:p>
        </p:txBody>
      </p:sp>
      <p:sp>
        <p:nvSpPr>
          <p:cNvPr id="12" name="TextBox 11"/>
          <p:cNvSpPr txBox="1"/>
          <p:nvPr/>
        </p:nvSpPr>
        <p:spPr>
          <a:xfrm>
            <a:off x="1051560" y="4873752"/>
            <a:ext cx="10058400" cy="530352"/>
          </a:xfrm>
          <a:prstGeom prst="rect">
            <a:avLst/>
          </a:prstGeom>
          <a:noFill/>
        </p:spPr>
        <p:txBody>
          <a:bodyPr wrap="square" anchor="t">
            <a:spAutoFit/>
          </a:bodyPr>
          <a:lstStyle/>
          <a:p>
            <a:pPr algn="l">
              <a:lnSpc>
                <a:spcPct val="112000"/>
              </a:lnSpc>
            </a:pPr>
            <a:r>
              <a:rPr sz="1250" b="0" i="0">
                <a:solidFill>
                  <a:srgbClr val="475569"/>
                </a:solidFill>
                <a:latin typeface="Calibri"/>
              </a:rPr>
              <a:t>A quiet chart is either a stable process or a subgrouping failure, and the two are indistinguishable from the picture alone. Check the subgrouping panel before you believe it.</a:t>
            </a:r>
          </a:p>
        </p:txBody>
      </p:sp>
      <p:sp>
        <p:nvSpPr>
          <p:cNvPr id="13" name="TextBox 12"/>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4" name="TextBox 1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THE TRAP SPECIFIC TO HEALTH CARE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Big denominators break the standard p chart</a:t>
            </a:r>
          </a:p>
        </p:txBody>
      </p:sp>
      <p:sp>
        <p:nvSpPr>
          <p:cNvPr id="4" name="TextBox 3"/>
          <p:cNvSpPr txBox="1"/>
          <p:nvPr/>
        </p:nvSpPr>
        <p:spPr>
          <a:xfrm>
            <a:off x="777240" y="1920240"/>
            <a:ext cx="10607040" cy="320040"/>
          </a:xfrm>
          <a:prstGeom prst="rect">
            <a:avLst/>
          </a:prstGeom>
          <a:noFill/>
        </p:spPr>
        <p:txBody>
          <a:bodyPr wrap="square" anchor="t">
            <a:spAutoFit/>
          </a:bodyPr>
          <a:lstStyle/>
          <a:p>
            <a:pPr algn="l">
              <a:lnSpc>
                <a:spcPct val="100000"/>
              </a:lnSpc>
            </a:pPr>
            <a:r>
              <a:rPr sz="1500" b="0" i="0">
                <a:solidFill>
                  <a:srgbClr val="475569"/>
                </a:solidFill>
                <a:latin typeface="Calibri"/>
              </a:rPr>
              <a:t>Care plan completion across ~1,200 enrolled members, 18 months.</a:t>
            </a:r>
          </a:p>
        </p:txBody>
      </p:sp>
      <p:sp>
        <p:nvSpPr>
          <p:cNvPr id="5" name="Rectangle 4"/>
          <p:cNvSpPr/>
          <p:nvPr/>
        </p:nvSpPr>
        <p:spPr>
          <a:xfrm>
            <a:off x="777240" y="2377440"/>
            <a:ext cx="3337560" cy="1600200"/>
          </a:xfrm>
          <a:prstGeom prst="rect">
            <a:avLst/>
          </a:prstGeom>
          <a:solidFill>
            <a:srgbClr val="FDF0EE"/>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514600"/>
            <a:ext cx="2926080" cy="274320"/>
          </a:xfrm>
          <a:prstGeom prst="rect">
            <a:avLst/>
          </a:prstGeom>
          <a:noFill/>
        </p:spPr>
        <p:txBody>
          <a:bodyPr wrap="square" anchor="t">
            <a:spAutoFit/>
          </a:bodyPr>
          <a:lstStyle/>
          <a:p>
            <a:pPr algn="l">
              <a:lnSpc>
                <a:spcPct val="100000"/>
              </a:lnSpc>
            </a:pPr>
            <a:r>
              <a:rPr sz="1200" b="1" i="0">
                <a:solidFill>
                  <a:srgbClr val="C0392B"/>
                </a:solidFill>
                <a:latin typeface="Calibri"/>
              </a:rPr>
              <a:t>Classical p chart</a:t>
            </a:r>
          </a:p>
        </p:txBody>
      </p:sp>
      <p:sp>
        <p:nvSpPr>
          <p:cNvPr id="7" name="TextBox 6"/>
          <p:cNvSpPr txBox="1"/>
          <p:nvPr/>
        </p:nvSpPr>
        <p:spPr>
          <a:xfrm>
            <a:off x="1005840" y="2816352"/>
            <a:ext cx="2926080" cy="548640"/>
          </a:xfrm>
          <a:prstGeom prst="rect">
            <a:avLst/>
          </a:prstGeom>
          <a:noFill/>
        </p:spPr>
        <p:txBody>
          <a:bodyPr wrap="square" anchor="t">
            <a:spAutoFit/>
          </a:bodyPr>
          <a:lstStyle/>
          <a:p>
            <a:pPr algn="l">
              <a:lnSpc>
                <a:spcPct val="100000"/>
              </a:lnSpc>
            </a:pPr>
            <a:r>
              <a:rPr sz="3200" b="1" i="0">
                <a:solidFill>
                  <a:srgbClr val="0F172A"/>
                </a:solidFill>
                <a:latin typeface="Calibri"/>
              </a:rPr>
              <a:t>8 of 18</a:t>
            </a:r>
          </a:p>
        </p:txBody>
      </p:sp>
      <p:sp>
        <p:nvSpPr>
          <p:cNvPr id="8" name="TextBox 7"/>
          <p:cNvSpPr txBox="1"/>
          <p:nvPr/>
        </p:nvSpPr>
        <p:spPr>
          <a:xfrm>
            <a:off x="1005840" y="3401568"/>
            <a:ext cx="2926080" cy="502920"/>
          </a:xfrm>
          <a:prstGeom prst="rect">
            <a:avLst/>
          </a:prstGeom>
          <a:noFill/>
        </p:spPr>
        <p:txBody>
          <a:bodyPr wrap="square" anchor="t">
            <a:spAutoFit/>
          </a:bodyPr>
          <a:lstStyle/>
          <a:p>
            <a:pPr algn="l">
              <a:lnSpc>
                <a:spcPct val="110000"/>
              </a:lnSpc>
            </a:pPr>
            <a:r>
              <a:rPr sz="1150" b="0" i="0">
                <a:solidFill>
                  <a:srgbClr val="475569"/>
                </a:solidFill>
                <a:latin typeface="Calibri"/>
              </a:rPr>
              <a:t>months flagged as special cause</a:t>
            </a:r>
          </a:p>
        </p:txBody>
      </p:sp>
      <p:sp>
        <p:nvSpPr>
          <p:cNvPr id="9" name="Rectangle 8"/>
          <p:cNvSpPr/>
          <p:nvPr/>
        </p:nvSpPr>
        <p:spPr>
          <a:xfrm>
            <a:off x="4389120" y="2377440"/>
            <a:ext cx="3337560" cy="1600200"/>
          </a:xfrm>
          <a:prstGeom prst="rect">
            <a:avLst/>
          </a:prstGeom>
          <a:solidFill>
            <a:srgbClr val="FFFFFF"/>
          </a:solidFill>
          <a:ln w="15875">
            <a:solidFill>
              <a:srgbClr val="D46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514600"/>
            <a:ext cx="2926080" cy="274320"/>
          </a:xfrm>
          <a:prstGeom prst="rect">
            <a:avLst/>
          </a:prstGeom>
          <a:noFill/>
        </p:spPr>
        <p:txBody>
          <a:bodyPr wrap="square" anchor="t">
            <a:spAutoFit/>
          </a:bodyPr>
          <a:lstStyle/>
          <a:p>
            <a:pPr algn="l">
              <a:lnSpc>
                <a:spcPct val="100000"/>
              </a:lnSpc>
            </a:pPr>
            <a:r>
              <a:rPr sz="1200" b="1" i="0">
                <a:solidFill>
                  <a:srgbClr val="D4622F"/>
                </a:solidFill>
                <a:latin typeface="Calibri"/>
              </a:rPr>
              <a:t>Sigma z</a:t>
            </a:r>
          </a:p>
        </p:txBody>
      </p:sp>
      <p:sp>
        <p:nvSpPr>
          <p:cNvPr id="11" name="TextBox 10"/>
          <p:cNvSpPr txBox="1"/>
          <p:nvPr/>
        </p:nvSpPr>
        <p:spPr>
          <a:xfrm>
            <a:off x="4617720" y="2816352"/>
            <a:ext cx="2926080" cy="548640"/>
          </a:xfrm>
          <a:prstGeom prst="rect">
            <a:avLst/>
          </a:prstGeom>
          <a:noFill/>
        </p:spPr>
        <p:txBody>
          <a:bodyPr wrap="square" anchor="t">
            <a:spAutoFit/>
          </a:bodyPr>
          <a:lstStyle/>
          <a:p>
            <a:pPr algn="l">
              <a:lnSpc>
                <a:spcPct val="100000"/>
              </a:lnSpc>
            </a:pPr>
            <a:r>
              <a:rPr sz="3200" b="1" i="0">
                <a:solidFill>
                  <a:srgbClr val="0F172A"/>
                </a:solidFill>
                <a:latin typeface="Calibri"/>
              </a:rPr>
              <a:t>2.37</a:t>
            </a:r>
          </a:p>
        </p:txBody>
      </p:sp>
      <p:sp>
        <p:nvSpPr>
          <p:cNvPr id="12" name="TextBox 11"/>
          <p:cNvSpPr txBox="1"/>
          <p:nvPr/>
        </p:nvSpPr>
        <p:spPr>
          <a:xfrm>
            <a:off x="4617720" y="3401568"/>
            <a:ext cx="2926080" cy="502920"/>
          </a:xfrm>
          <a:prstGeom prst="rect">
            <a:avLst/>
          </a:prstGeom>
          <a:noFill/>
        </p:spPr>
        <p:txBody>
          <a:bodyPr wrap="square" anchor="t">
            <a:spAutoFit/>
          </a:bodyPr>
          <a:lstStyle/>
          <a:p>
            <a:pPr algn="l">
              <a:lnSpc>
                <a:spcPct val="110000"/>
              </a:lnSpc>
            </a:pPr>
            <a:r>
              <a:rPr sz="1150" b="0" i="0">
                <a:solidFill>
                  <a:srgbClr val="475569"/>
                </a:solidFill>
                <a:latin typeface="Calibri"/>
              </a:rPr>
              <a:t>months move 2.4× more than binomial allows</a:t>
            </a:r>
          </a:p>
        </p:txBody>
      </p:sp>
      <p:sp>
        <p:nvSpPr>
          <p:cNvPr id="13" name="Rectangle 12"/>
          <p:cNvSpPr/>
          <p:nvPr/>
        </p:nvSpPr>
        <p:spPr>
          <a:xfrm>
            <a:off x="8001000" y="2377440"/>
            <a:ext cx="3337560" cy="1600200"/>
          </a:xfrm>
          <a:prstGeom prst="rect">
            <a:avLst/>
          </a:prstGeom>
          <a:solidFill>
            <a:srgbClr val="EEF7F0"/>
          </a:solidFill>
          <a:ln w="15875">
            <a:solidFill>
              <a:srgbClr val="2F6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514600"/>
            <a:ext cx="2926080" cy="274320"/>
          </a:xfrm>
          <a:prstGeom prst="rect">
            <a:avLst/>
          </a:prstGeom>
          <a:noFill/>
        </p:spPr>
        <p:txBody>
          <a:bodyPr wrap="square" anchor="t">
            <a:spAutoFit/>
          </a:bodyPr>
          <a:lstStyle/>
          <a:p>
            <a:pPr algn="l">
              <a:lnSpc>
                <a:spcPct val="100000"/>
              </a:lnSpc>
            </a:pPr>
            <a:r>
              <a:rPr sz="1200" b="1" i="0">
                <a:solidFill>
                  <a:srgbClr val="2F6B45"/>
                </a:solidFill>
                <a:latin typeface="Calibri"/>
              </a:rPr>
              <a:t>Laney p′ corrected</a:t>
            </a:r>
          </a:p>
        </p:txBody>
      </p:sp>
      <p:sp>
        <p:nvSpPr>
          <p:cNvPr id="15" name="TextBox 14"/>
          <p:cNvSpPr txBox="1"/>
          <p:nvPr/>
        </p:nvSpPr>
        <p:spPr>
          <a:xfrm>
            <a:off x="8229600" y="2816352"/>
            <a:ext cx="2926080" cy="548640"/>
          </a:xfrm>
          <a:prstGeom prst="rect">
            <a:avLst/>
          </a:prstGeom>
          <a:noFill/>
        </p:spPr>
        <p:txBody>
          <a:bodyPr wrap="square" anchor="t">
            <a:spAutoFit/>
          </a:bodyPr>
          <a:lstStyle/>
          <a:p>
            <a:pPr algn="l">
              <a:lnSpc>
                <a:spcPct val="100000"/>
              </a:lnSpc>
            </a:pPr>
            <a:r>
              <a:rPr sz="3200" b="1" i="0">
                <a:solidFill>
                  <a:srgbClr val="0F172A"/>
                </a:solidFill>
                <a:latin typeface="Calibri"/>
              </a:rPr>
              <a:t>1 of 18</a:t>
            </a:r>
          </a:p>
        </p:txBody>
      </p:sp>
      <p:sp>
        <p:nvSpPr>
          <p:cNvPr id="16" name="TextBox 15"/>
          <p:cNvSpPr txBox="1"/>
          <p:nvPr/>
        </p:nvSpPr>
        <p:spPr>
          <a:xfrm>
            <a:off x="8229600" y="3401568"/>
            <a:ext cx="2926080" cy="502920"/>
          </a:xfrm>
          <a:prstGeom prst="rect">
            <a:avLst/>
          </a:prstGeom>
          <a:noFill/>
        </p:spPr>
        <p:txBody>
          <a:bodyPr wrap="square" anchor="t">
            <a:spAutoFit/>
          </a:bodyPr>
          <a:lstStyle/>
          <a:p>
            <a:pPr algn="l">
              <a:lnSpc>
                <a:spcPct val="110000"/>
              </a:lnSpc>
            </a:pPr>
            <a:r>
              <a:rPr sz="1150" b="0" i="0">
                <a:solidFill>
                  <a:srgbClr val="475569"/>
                </a:solidFill>
                <a:latin typeface="Calibri"/>
              </a:rPr>
              <a:t>and that one is worth a phone call</a:t>
            </a:r>
          </a:p>
        </p:txBody>
      </p:sp>
      <p:sp>
        <p:nvSpPr>
          <p:cNvPr id="17" name="Rectangle 16"/>
          <p:cNvSpPr/>
          <p:nvPr/>
        </p:nvSpPr>
        <p:spPr>
          <a:xfrm>
            <a:off x="777240" y="4251960"/>
            <a:ext cx="10607040" cy="1546860"/>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89120"/>
            <a:ext cx="10058400" cy="329184"/>
          </a:xfrm>
          <a:prstGeom prst="rect">
            <a:avLst/>
          </a:prstGeom>
          <a:noFill/>
        </p:spPr>
        <p:txBody>
          <a:bodyPr wrap="square" anchor="t">
            <a:spAutoFit/>
          </a:bodyPr>
          <a:lstStyle/>
          <a:p>
            <a:pPr algn="l">
              <a:lnSpc>
                <a:spcPct val="100000"/>
              </a:lnSpc>
            </a:pPr>
            <a:r>
              <a:rPr sz="1500" b="1" i="0">
                <a:solidFill>
                  <a:srgbClr val="0F2F47"/>
                </a:solidFill>
                <a:latin typeface="Calibri"/>
              </a:rPr>
              <a:t>Nothing was wrong with those clinics — the model was wrong</a:t>
            </a:r>
          </a:p>
        </p:txBody>
      </p:sp>
      <p:sp>
        <p:nvSpPr>
          <p:cNvPr id="19" name="TextBox 18"/>
          <p:cNvSpPr txBox="1"/>
          <p:nvPr/>
        </p:nvSpPr>
        <p:spPr>
          <a:xfrm>
            <a:off x="1051560" y="4782312"/>
            <a:ext cx="10058400" cy="888492"/>
          </a:xfrm>
          <a:prstGeom prst="rect">
            <a:avLst/>
          </a:prstGeom>
          <a:noFill/>
        </p:spPr>
        <p:txBody>
          <a:bodyPr wrap="square" anchor="t">
            <a:spAutoFit/>
          </a:bodyPr>
          <a:lstStyle/>
          <a:p>
            <a:pPr algn="l">
              <a:lnSpc>
                <a:spcPct val="112000"/>
              </a:lnSpc>
            </a:pPr>
            <a:r>
              <a:rPr sz="1250" b="0" i="0">
                <a:solidFill>
                  <a:srgbClr val="475569"/>
                </a:solidFill>
                <a:latin typeface="Calibri"/>
              </a:rPr>
              <a:t>The binomial assumption says a proportion built on 1,200 people can only wobble about 1.4 percentage points. Real months wobble five or ten, for entirely ordinary reasons: case mix, staffing, who was on holiday. When the assumption fails the limits are far too tight and the chart flags almost everything.
The tool detects this automatically, names it, and offers the correction. If the data really were binomial, sigma z lands near 1 and the correction changes nothing.</a:t>
            </a:r>
          </a:p>
        </p:txBody>
      </p:sp>
      <p:sp>
        <p:nvSpPr>
          <p:cNvPr id="20" name="TextBox 1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1" name="TextBox 2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A SECOND WORKED CASE · CHW HOME VISITS PER WEEK</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When you change the process, say so</a:t>
            </a:r>
          </a:p>
        </p:txBody>
      </p:sp>
      <p:sp>
        <p:nvSpPr>
          <p:cNvPr id="4" name="Rectangle 3"/>
          <p:cNvSpPr/>
          <p:nvPr/>
        </p:nvSpPr>
        <p:spPr>
          <a:xfrm>
            <a:off x="777240" y="1965960"/>
            <a:ext cx="5257800" cy="18288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051560" y="2450907"/>
            <a:ext cx="4389119"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51560" y="3266772"/>
            <a:ext cx="4389119"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51560" y="2860810"/>
            <a:ext cx="4389119" cy="0"/>
          </a:xfrm>
          <a:prstGeom prst="line">
            <a:avLst/>
          </a:prstGeom>
          <a:ln w="13970">
            <a:solidFill>
              <a:srgbClr val="1E5F8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95543" y="2741938"/>
            <a:ext cx="868680" cy="237744"/>
          </a:xfrm>
          <a:prstGeom prst="rect">
            <a:avLst/>
          </a:prstGeom>
          <a:noFill/>
        </p:spPr>
        <p:txBody>
          <a:bodyPr wrap="square" anchor="t">
            <a:spAutoFit/>
          </a:bodyPr>
          <a:lstStyle/>
          <a:p>
            <a:pPr algn="l">
              <a:lnSpc>
                <a:spcPct val="100000"/>
              </a:lnSpc>
            </a:pPr>
            <a:r>
              <a:rPr sz="850" b="1" i="0">
                <a:solidFill>
                  <a:srgbClr val="1E5F8C"/>
                </a:solidFill>
                <a:latin typeface="Calibri"/>
              </a:rPr>
              <a:t>CL 47.3</a:t>
            </a:r>
          </a:p>
        </p:txBody>
      </p:sp>
      <p:cxnSp>
        <p:nvCxnSpPr>
          <p:cNvPr id="9" name="Connector 8"/>
          <p:cNvCxnSpPr/>
          <p:nvPr/>
        </p:nvCxnSpPr>
        <p:spPr>
          <a:xfrm flipV="1">
            <a:off x="1051560" y="2990876"/>
            <a:ext cx="151348"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02908" y="2990876"/>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354257" y="3030290"/>
            <a:ext cx="151349" cy="1576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05606" y="2951462"/>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56955" y="2951462"/>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08304" y="3148531"/>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59653" y="2990876"/>
            <a:ext cx="151349" cy="23648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11002" y="2990876"/>
            <a:ext cx="151349" cy="78827"/>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262351" y="2912048"/>
            <a:ext cx="151349" cy="1576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413700" y="2912048"/>
            <a:ext cx="151349" cy="275897"/>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565049" y="3109117"/>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716398" y="3030290"/>
            <a:ext cx="151349" cy="78827"/>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67747" y="3030290"/>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019096" y="2951462"/>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70445" y="2951462"/>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321794" y="3069703"/>
            <a:ext cx="151349" cy="157656"/>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473143" y="2990876"/>
            <a:ext cx="151349" cy="23648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624492" y="2636152"/>
            <a:ext cx="151349" cy="35472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75841" y="2517910"/>
            <a:ext cx="151349" cy="11824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927190" y="2517910"/>
            <a:ext cx="151349" cy="1576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4078539" y="2439083"/>
            <a:ext cx="151349" cy="23648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229888" y="2439083"/>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381237" y="2478496"/>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32586" y="2478496"/>
            <a:ext cx="151349" cy="11824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683935" y="2399669"/>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835284" y="2399669"/>
            <a:ext cx="151349" cy="23648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986633" y="2517910"/>
            <a:ext cx="151349" cy="11824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137982" y="2517910"/>
            <a:ext cx="151349" cy="3941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289331" y="2439083"/>
            <a:ext cx="151348"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024127" y="3081685"/>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75476" y="296344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26825" y="3160513"/>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478174" y="300285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629523" y="292403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780872" y="3121099"/>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932221" y="3199927"/>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083570" y="296344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234919" y="3042271"/>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386268" y="2884616"/>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537617" y="3160513"/>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688966" y="3081685"/>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840315" y="300285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991664" y="3121099"/>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143013" y="292403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294362" y="3042271"/>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445711" y="3199927"/>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597060" y="296344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748409" y="260872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899758" y="249047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051107" y="2648133"/>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188740" y="2397935"/>
            <a:ext cx="82296" cy="82296"/>
          </a:xfrm>
          <a:prstGeom prst="ellipse">
            <a:avLst/>
          </a:prstGeom>
          <a:solidFill>
            <a:srgbClr val="C0392B"/>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353805" y="2529892"/>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505154" y="245106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656503" y="2569306"/>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794136" y="2358521"/>
            <a:ext cx="82296" cy="82296"/>
          </a:xfrm>
          <a:prstGeom prst="ellipse">
            <a:avLst/>
          </a:prstGeom>
          <a:solidFill>
            <a:srgbClr val="C0392B"/>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959201" y="260872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110550" y="249047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5261899" y="2529892"/>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399531" y="2397935"/>
            <a:ext cx="82296" cy="82296"/>
          </a:xfrm>
          <a:prstGeom prst="ellipse">
            <a:avLst/>
          </a:prstGeom>
          <a:solidFill>
            <a:srgbClr val="C0392B"/>
          </a:solid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8680" y="3886200"/>
            <a:ext cx="5029200" cy="274320"/>
          </a:xfrm>
          <a:prstGeom prst="rect">
            <a:avLst/>
          </a:prstGeom>
          <a:noFill/>
        </p:spPr>
        <p:txBody>
          <a:bodyPr wrap="square" anchor="t">
            <a:spAutoFit/>
          </a:bodyPr>
          <a:lstStyle/>
          <a:p>
            <a:pPr algn="l">
              <a:lnSpc>
                <a:spcPct val="100000"/>
              </a:lnSpc>
            </a:pPr>
            <a:r>
              <a:rPr sz="1300" b="1" i="0">
                <a:solidFill>
                  <a:srgbClr val="C0392B"/>
                </a:solidFill>
                <a:latin typeface="Calibri"/>
              </a:rPr>
              <a:t>Charted as one process  →  3 points flagged</a:t>
            </a:r>
          </a:p>
        </p:txBody>
      </p:sp>
      <p:sp>
        <p:nvSpPr>
          <p:cNvPr id="69" name="Rectangle 68"/>
          <p:cNvSpPr/>
          <p:nvPr/>
        </p:nvSpPr>
        <p:spPr>
          <a:xfrm>
            <a:off x="6172200" y="1965960"/>
            <a:ext cx="5257800" cy="18288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6446520" y="2671624"/>
            <a:ext cx="2572932"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46520" y="3475665"/>
            <a:ext cx="2572932"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46520" y="3073645"/>
            <a:ext cx="2572932" cy="0"/>
          </a:xfrm>
          <a:prstGeom prst="line">
            <a:avLst/>
          </a:prstGeom>
          <a:ln w="13970">
            <a:solidFill>
              <a:srgbClr val="1E5F8C"/>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336174" y="2566468"/>
            <a:ext cx="713232" cy="182880"/>
          </a:xfrm>
          <a:prstGeom prst="rect">
            <a:avLst/>
          </a:prstGeom>
          <a:noFill/>
        </p:spPr>
        <p:txBody>
          <a:bodyPr wrap="none" lIns="0" rIns="0" tIns="0" bIns="0">
            <a:spAutoFit/>
          </a:bodyPr>
          <a:lstStyle/>
          <a:p>
            <a:pPr algn="r"/>
            <a:r>
              <a:rPr sz="700" b="1">
                <a:solidFill>
                  <a:srgbClr val="C0392B"/>
                </a:solidFill>
                <a:latin typeface="Calibri"/>
              </a:rPr>
              <a:t>UNPL 52.1</a:t>
            </a:r>
          </a:p>
        </p:txBody>
      </p:sp>
      <p:sp>
        <p:nvSpPr>
          <p:cNvPr id="74" name="TextBox 73"/>
          <p:cNvSpPr txBox="1"/>
          <p:nvPr/>
        </p:nvSpPr>
        <p:spPr>
          <a:xfrm>
            <a:off x="8336174" y="3489381"/>
            <a:ext cx="713232" cy="182880"/>
          </a:xfrm>
          <a:prstGeom prst="rect">
            <a:avLst/>
          </a:prstGeom>
          <a:noFill/>
        </p:spPr>
        <p:txBody>
          <a:bodyPr wrap="none" lIns="0" rIns="0" tIns="0" bIns="0">
            <a:spAutoFit/>
          </a:bodyPr>
          <a:lstStyle/>
          <a:p>
            <a:pPr algn="r"/>
            <a:r>
              <a:rPr sz="700" b="1">
                <a:solidFill>
                  <a:srgbClr val="C0392B"/>
                </a:solidFill>
                <a:latin typeface="Calibri"/>
              </a:rPr>
              <a:t>LNPL 31.7</a:t>
            </a:r>
          </a:p>
        </p:txBody>
      </p:sp>
      <p:sp>
        <p:nvSpPr>
          <p:cNvPr id="75" name="TextBox 74"/>
          <p:cNvSpPr txBox="1"/>
          <p:nvPr/>
        </p:nvSpPr>
        <p:spPr>
          <a:xfrm>
            <a:off x="8336174" y="2968489"/>
            <a:ext cx="713232" cy="182880"/>
          </a:xfrm>
          <a:prstGeom prst="rect">
            <a:avLst/>
          </a:prstGeom>
          <a:noFill/>
        </p:spPr>
        <p:txBody>
          <a:bodyPr wrap="none" lIns="0" rIns="0" tIns="0" bIns="0">
            <a:spAutoFit/>
          </a:bodyPr>
          <a:lstStyle/>
          <a:p>
            <a:pPr algn="r"/>
            <a:r>
              <a:rPr sz="700" b="1">
                <a:solidFill>
                  <a:srgbClr val="1E5F8C"/>
                </a:solidFill>
                <a:latin typeface="Calibri"/>
              </a:rPr>
              <a:t>CL 41.9</a:t>
            </a:r>
          </a:p>
        </p:txBody>
      </p:sp>
      <p:cxnSp>
        <p:nvCxnSpPr>
          <p:cNvPr id="76" name="Connector 75"/>
          <p:cNvCxnSpPr/>
          <p:nvPr/>
        </p:nvCxnSpPr>
        <p:spPr>
          <a:xfrm>
            <a:off x="9170801" y="2167128"/>
            <a:ext cx="1664839"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170801" y="2908107"/>
            <a:ext cx="1664839" cy="0"/>
          </a:xfrm>
          <a:prstGeom prst="line">
            <a:avLst/>
          </a:prstGeom>
          <a:ln w="1397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170801" y="2537617"/>
            <a:ext cx="1664839" cy="0"/>
          </a:xfrm>
          <a:prstGeom prst="line">
            <a:avLst/>
          </a:prstGeom>
          <a:ln w="13970">
            <a:solidFill>
              <a:srgbClr val="1E5F8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095126" y="2167128"/>
            <a:ext cx="0" cy="1371600"/>
          </a:xfrm>
          <a:prstGeom prst="line">
            <a:avLst/>
          </a:prstGeom>
          <a:ln w="17780">
            <a:solidFill>
              <a:srgbClr val="7A4FA0"/>
            </a:solidFill>
            <a:prstDash val="dash"/>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9017402" y="2171700"/>
            <a:ext cx="155448" cy="155448"/>
          </a:xfrm>
          <a:prstGeom prst="ellipse">
            <a:avLst/>
          </a:prstGeom>
          <a:solidFill>
            <a:srgbClr val="7A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017402" y="2171700"/>
            <a:ext cx="155448" cy="155448"/>
          </a:xfrm>
          <a:prstGeom prst="rect">
            <a:avLst/>
          </a:prstGeom>
          <a:noFill/>
        </p:spPr>
        <p:txBody>
          <a:bodyPr wrap="square" anchor="t">
            <a:spAutoFit/>
          </a:bodyPr>
          <a:lstStyle/>
          <a:p>
            <a:pPr algn="ctr">
              <a:lnSpc>
                <a:spcPct val="100000"/>
              </a:lnSpc>
            </a:pPr>
            <a:r>
              <a:rPr sz="800" b="1" i="0">
                <a:solidFill>
                  <a:srgbClr val="FFFFFF"/>
                </a:solidFill>
                <a:latin typeface="Calibri"/>
              </a:rPr>
              <a:t>1</a:t>
            </a:r>
          </a:p>
        </p:txBody>
      </p:sp>
      <p:sp>
        <p:nvSpPr>
          <p:cNvPr id="82" name="TextBox 81"/>
          <p:cNvSpPr txBox="1"/>
          <p:nvPr/>
        </p:nvSpPr>
        <p:spPr>
          <a:xfrm>
            <a:off x="10881360" y="2107692"/>
            <a:ext cx="777240" cy="182880"/>
          </a:xfrm>
          <a:prstGeom prst="rect">
            <a:avLst/>
          </a:prstGeom>
          <a:noFill/>
        </p:spPr>
        <p:txBody>
          <a:bodyPr wrap="none" lIns="0" rIns="0" tIns="0" bIns="0">
            <a:spAutoFit/>
          </a:bodyPr>
          <a:lstStyle/>
          <a:p>
            <a:pPr algn="l"/>
            <a:r>
              <a:rPr sz="750" b="1">
                <a:solidFill>
                  <a:srgbClr val="C0392B"/>
                </a:solidFill>
                <a:latin typeface="Calibri"/>
              </a:rPr>
              <a:t>UNPL 64.9</a:t>
            </a:r>
          </a:p>
        </p:txBody>
      </p:sp>
      <p:sp>
        <p:nvSpPr>
          <p:cNvPr id="83" name="TextBox 82"/>
          <p:cNvSpPr txBox="1"/>
          <p:nvPr/>
        </p:nvSpPr>
        <p:spPr>
          <a:xfrm>
            <a:off x="10881360" y="2848671"/>
            <a:ext cx="777240" cy="182880"/>
          </a:xfrm>
          <a:prstGeom prst="rect">
            <a:avLst/>
          </a:prstGeom>
          <a:noFill/>
        </p:spPr>
        <p:txBody>
          <a:bodyPr wrap="none" lIns="0" rIns="0" tIns="0" bIns="0">
            <a:spAutoFit/>
          </a:bodyPr>
          <a:lstStyle/>
          <a:p>
            <a:pPr algn="l"/>
            <a:r>
              <a:rPr sz="750" b="1">
                <a:solidFill>
                  <a:srgbClr val="C0392B"/>
                </a:solidFill>
                <a:latin typeface="Calibri"/>
              </a:rPr>
              <a:t>LNPL 46.1</a:t>
            </a:r>
          </a:p>
        </p:txBody>
      </p:sp>
      <p:sp>
        <p:nvSpPr>
          <p:cNvPr id="84" name="TextBox 83"/>
          <p:cNvSpPr txBox="1"/>
          <p:nvPr/>
        </p:nvSpPr>
        <p:spPr>
          <a:xfrm>
            <a:off x="10881360" y="2478181"/>
            <a:ext cx="777240" cy="182880"/>
          </a:xfrm>
          <a:prstGeom prst="rect">
            <a:avLst/>
          </a:prstGeom>
          <a:noFill/>
        </p:spPr>
        <p:txBody>
          <a:bodyPr wrap="none" lIns="0" rIns="0" tIns="0" bIns="0">
            <a:spAutoFit/>
          </a:bodyPr>
          <a:lstStyle/>
          <a:p>
            <a:pPr algn="l"/>
            <a:r>
              <a:rPr sz="750" b="1">
                <a:solidFill>
                  <a:srgbClr val="1E5F8C"/>
                </a:solidFill>
                <a:latin typeface="Calibri"/>
              </a:rPr>
              <a:t>CL 55.5</a:t>
            </a:r>
          </a:p>
        </p:txBody>
      </p:sp>
      <p:cxnSp>
        <p:nvCxnSpPr>
          <p:cNvPr id="85" name="Connector 84"/>
          <p:cNvCxnSpPr/>
          <p:nvPr/>
        </p:nvCxnSpPr>
        <p:spPr>
          <a:xfrm flipV="1">
            <a:off x="6446520" y="2990876"/>
            <a:ext cx="151348"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597868" y="2990876"/>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749217" y="3030290"/>
            <a:ext cx="151349" cy="1576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900566" y="2951462"/>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051915" y="2951462"/>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203264" y="3148531"/>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7354613" y="2990876"/>
            <a:ext cx="151349" cy="23648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505962" y="2990876"/>
            <a:ext cx="151349" cy="78827"/>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657311" y="2912048"/>
            <a:ext cx="151349" cy="1576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808660" y="2912048"/>
            <a:ext cx="151349" cy="275897"/>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960009" y="3109117"/>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111358" y="3030290"/>
            <a:ext cx="151349" cy="78827"/>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262707" y="3030290"/>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8414056" y="2951462"/>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565405" y="2951462"/>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16754" y="3069703"/>
            <a:ext cx="151349" cy="157656"/>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8868103" y="2990876"/>
            <a:ext cx="151349" cy="23648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9019452" y="2636152"/>
            <a:ext cx="151349" cy="35472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9170801" y="2517910"/>
            <a:ext cx="151349" cy="11824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322150" y="2517910"/>
            <a:ext cx="151349" cy="157655"/>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9473499" y="2439083"/>
            <a:ext cx="151349" cy="23648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624848" y="2439083"/>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9776197" y="2478496"/>
            <a:ext cx="151349" cy="78828"/>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927546" y="2478496"/>
            <a:ext cx="151349" cy="11824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0078895" y="2399669"/>
            <a:ext cx="151349" cy="197069"/>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0230244" y="2399669"/>
            <a:ext cx="151349" cy="236483"/>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0381593" y="2517910"/>
            <a:ext cx="151349" cy="118242"/>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532942" y="2517910"/>
            <a:ext cx="151349" cy="39414"/>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0684291" y="2439083"/>
            <a:ext cx="151349" cy="118241"/>
          </a:xfrm>
          <a:prstGeom prst="line">
            <a:avLst/>
          </a:prstGeom>
          <a:ln w="11430">
            <a:solidFill>
              <a:srgbClr val="0F2F47"/>
            </a:solidFill>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6419088" y="3081685"/>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6570436" y="296344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721785" y="3160513"/>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873134" y="300285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024483" y="292403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175832" y="3121099"/>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7327181" y="3199927"/>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478530" y="296344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629879" y="3042271"/>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781228" y="2884616"/>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7932577" y="3160513"/>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8083926" y="3081685"/>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235275" y="300285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386624" y="3121099"/>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537973" y="292403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689322" y="3042271"/>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8840671" y="3199927"/>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992020" y="296344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9143369" y="260872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9294718" y="249047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446067" y="2648133"/>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9597416" y="2411651"/>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748765" y="2529892"/>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900114" y="2451064"/>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0051463" y="2569306"/>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0202812" y="2372237"/>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10354161" y="2608720"/>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10505510" y="2490478"/>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10656859" y="2529892"/>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10808208" y="2411651"/>
            <a:ext cx="54864" cy="54864"/>
          </a:xfrm>
          <a:prstGeom prst="ellipse">
            <a:avLst/>
          </a:prstGeom>
          <a:solidFill>
            <a:srgbClr val="FFFFFF"/>
          </a:solidFill>
          <a:ln w="13970">
            <a:solidFill>
              <a:srgbClr val="0F2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263640" y="4133087"/>
            <a:ext cx="5029200" cy="256032"/>
          </a:xfrm>
          <a:prstGeom prst="rect">
            <a:avLst/>
          </a:prstGeom>
          <a:noFill/>
        </p:spPr>
        <p:txBody>
          <a:bodyPr wrap="square" anchor="t">
            <a:spAutoFit/>
          </a:bodyPr>
          <a:lstStyle/>
          <a:p>
            <a:pPr algn="l">
              <a:lnSpc>
                <a:spcPct val="100000"/>
              </a:lnSpc>
            </a:pPr>
            <a:r>
              <a:rPr sz="1100" b="0" i="1">
                <a:solidFill>
                  <a:srgbClr val="94A3B8"/>
                </a:solidFill>
                <a:latin typeface="Calibri"/>
              </a:rPr>
              <a:t>Each phase reports its own centre line and limits, on the chart.</a:t>
            </a:r>
          </a:p>
        </p:txBody>
      </p:sp>
      <p:sp>
        <p:nvSpPr>
          <p:cNvPr id="145" name="TextBox 144"/>
          <p:cNvSpPr txBox="1"/>
          <p:nvPr/>
        </p:nvSpPr>
        <p:spPr>
          <a:xfrm>
            <a:off x="6263640" y="3886200"/>
            <a:ext cx="5029200" cy="274320"/>
          </a:xfrm>
          <a:prstGeom prst="rect">
            <a:avLst/>
          </a:prstGeom>
          <a:noFill/>
        </p:spPr>
        <p:txBody>
          <a:bodyPr wrap="square" anchor="t">
            <a:spAutoFit/>
          </a:bodyPr>
          <a:lstStyle/>
          <a:p>
            <a:pPr algn="l">
              <a:lnSpc>
                <a:spcPct val="100000"/>
              </a:lnSpc>
            </a:pPr>
            <a:r>
              <a:rPr sz="1300" b="1" i="0">
                <a:solidFill>
                  <a:srgbClr val="2F6B45"/>
                </a:solidFill>
                <a:latin typeface="Calibri"/>
              </a:rPr>
              <a:t>Change marked at week 19  →  nothing flagged</a:t>
            </a:r>
          </a:p>
        </p:txBody>
      </p:sp>
      <p:sp>
        <p:nvSpPr>
          <p:cNvPr id="146" name="Rectangle 145"/>
          <p:cNvSpPr/>
          <p:nvPr/>
        </p:nvSpPr>
        <p:spPr>
          <a:xfrm>
            <a:off x="777240" y="4389120"/>
            <a:ext cx="10652760" cy="1365504"/>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51560" y="4526280"/>
            <a:ext cx="10104120" cy="329184"/>
          </a:xfrm>
          <a:prstGeom prst="rect">
            <a:avLst/>
          </a:prstGeom>
          <a:noFill/>
        </p:spPr>
        <p:txBody>
          <a:bodyPr wrap="square" anchor="t">
            <a:spAutoFit/>
          </a:bodyPr>
          <a:lstStyle/>
          <a:p>
            <a:pPr algn="l">
              <a:lnSpc>
                <a:spcPct val="100000"/>
              </a:lnSpc>
            </a:pPr>
            <a:r>
              <a:rPr sz="1500" b="1" i="0">
                <a:solidFill>
                  <a:srgbClr val="0F2F47"/>
                </a:solidFill>
                <a:latin typeface="Calibri"/>
              </a:rPr>
              <a:t>A second CHW joined at week 19. Both charts are arithmetically correct.</a:t>
            </a:r>
          </a:p>
        </p:txBody>
      </p:sp>
      <p:sp>
        <p:nvSpPr>
          <p:cNvPr id="148" name="TextBox 147"/>
          <p:cNvSpPr txBox="1"/>
          <p:nvPr/>
        </p:nvSpPr>
        <p:spPr>
          <a:xfrm>
            <a:off x="1051560" y="4919472"/>
            <a:ext cx="10104120" cy="707136"/>
          </a:xfrm>
          <a:prstGeom prst="rect">
            <a:avLst/>
          </a:prstGeom>
          <a:noFill/>
        </p:spPr>
        <p:txBody>
          <a:bodyPr wrap="square" anchor="t">
            <a:spAutoFit/>
          </a:bodyPr>
          <a:lstStyle/>
          <a:p>
            <a:pPr algn="l">
              <a:lnSpc>
                <a:spcPct val="112000"/>
              </a:lnSpc>
            </a:pPr>
            <a:r>
              <a:rPr sz="1250" b="0" i="0">
                <a:solidFill>
                  <a:srgbClr val="475569"/>
                </a:solidFill>
                <a:latin typeface="Calibri"/>
              </a:rPr>
              <a:t>Zero is the number to look at. Once the change is accounted for, each phase is stable on its own — predictable before, predictable after, and the jump between them was the thing you did.
The single-process chart is worse than useless: its centre line of 47.3 describes a level the process never ran at, and it flags three weeks that were entirely ordinary for the period they belong to. Mark as many changes as the series really had.</a:t>
            </a:r>
          </a:p>
        </p:txBody>
      </p:sp>
      <p:sp>
        <p:nvSpPr>
          <p:cNvPr id="149" name="TextBox 148"/>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50" name="TextBox 149"/>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AND RECORD WHY</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A marked change with no reason attached is half a record</a:t>
            </a:r>
          </a:p>
        </p:txBody>
      </p:sp>
      <p:sp>
        <p:nvSpPr>
          <p:cNvPr id="4" name="TextBox 3"/>
          <p:cNvSpPr txBox="1"/>
          <p:nvPr/>
        </p:nvSpPr>
        <p:spPr>
          <a:xfrm>
            <a:off x="777240" y="1965960"/>
            <a:ext cx="10607040" cy="457200"/>
          </a:xfrm>
          <a:prstGeom prst="rect">
            <a:avLst/>
          </a:prstGeom>
          <a:noFill/>
        </p:spPr>
        <p:txBody>
          <a:bodyPr wrap="square" anchor="t">
            <a:spAutoFit/>
          </a:bodyPr>
          <a:lstStyle/>
          <a:p>
            <a:pPr algn="l">
              <a:lnSpc>
                <a:spcPct val="100000"/>
              </a:lnSpc>
            </a:pPr>
            <a:r>
              <a:rPr sz="1600" b="0" i="0">
                <a:solidFill>
                  <a:srgbClr val="475569"/>
                </a:solidFill>
                <a:latin typeface="Calibri"/>
              </a:rPr>
              <a:t>Six months later nobody remembers what happened at week 19, and the boundary becomes an unexplainable kink in the data.</a:t>
            </a:r>
          </a:p>
        </p:txBody>
      </p:sp>
      <p:sp>
        <p:nvSpPr>
          <p:cNvPr id="5" name="Rectangle 4"/>
          <p:cNvSpPr/>
          <p:nvPr/>
        </p:nvSpPr>
        <p:spPr>
          <a:xfrm>
            <a:off x="777240" y="2606040"/>
            <a:ext cx="333756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606040"/>
            <a:ext cx="50292" cy="1600200"/>
          </a:xfrm>
          <a:prstGeom prst="rect">
            <a:avLst/>
          </a:prstGeom>
          <a:solidFill>
            <a:srgbClr val="7A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743200"/>
            <a:ext cx="2926080" cy="365760"/>
          </a:xfrm>
          <a:prstGeom prst="rect">
            <a:avLst/>
          </a:prstGeom>
          <a:noFill/>
        </p:spPr>
        <p:txBody>
          <a:bodyPr wrap="square" anchor="t">
            <a:spAutoFit/>
          </a:bodyPr>
          <a:lstStyle/>
          <a:p>
            <a:pPr algn="l">
              <a:lnSpc>
                <a:spcPct val="100000"/>
              </a:lnSpc>
            </a:pPr>
            <a:r>
              <a:rPr sz="1500" b="1" i="0">
                <a:solidFill>
                  <a:srgbClr val="0F172A"/>
                </a:solidFill>
                <a:latin typeface="Calibri"/>
              </a:rPr>
              <a:t>Click and type</a:t>
            </a:r>
          </a:p>
        </p:txBody>
      </p:sp>
      <p:sp>
        <p:nvSpPr>
          <p:cNvPr id="8" name="TextBox 7"/>
          <p:cNvSpPr txBox="1"/>
          <p:nvPr/>
        </p:nvSpPr>
        <p:spPr>
          <a:xfrm>
            <a:off x="1033271" y="3200400"/>
            <a:ext cx="2971800" cy="914400"/>
          </a:xfrm>
          <a:prstGeom prst="rect">
            <a:avLst/>
          </a:prstGeom>
          <a:noFill/>
        </p:spPr>
        <p:txBody>
          <a:bodyPr wrap="square" anchor="t">
            <a:spAutoFit/>
          </a:bodyPr>
          <a:lstStyle/>
          <a:p>
            <a:pPr algn="l">
              <a:lnSpc>
                <a:spcPct val="112000"/>
              </a:lnSpc>
            </a:pPr>
            <a:r>
              <a:rPr sz="1150" b="0" i="0">
                <a:solidFill>
                  <a:srgbClr val="475569"/>
                </a:solidFill>
                <a:latin typeface="Calibri"/>
              </a:rPr>
              <a:t>Click the chart where the change happened. The note field takes focus straight away, so the reason gets written while you still remember it.</a:t>
            </a:r>
          </a:p>
        </p:txBody>
      </p:sp>
      <p:sp>
        <p:nvSpPr>
          <p:cNvPr id="9" name="Rectangle 8"/>
          <p:cNvSpPr/>
          <p:nvPr/>
        </p:nvSpPr>
        <p:spPr>
          <a:xfrm>
            <a:off x="4389120" y="2606040"/>
            <a:ext cx="333756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606040"/>
            <a:ext cx="50292" cy="1600200"/>
          </a:xfrm>
          <a:prstGeom prst="rect">
            <a:avLst/>
          </a:prstGeom>
          <a:solidFill>
            <a:srgbClr val="7A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5152" y="2743200"/>
            <a:ext cx="2926080" cy="365760"/>
          </a:xfrm>
          <a:prstGeom prst="rect">
            <a:avLst/>
          </a:prstGeom>
          <a:noFill/>
        </p:spPr>
        <p:txBody>
          <a:bodyPr wrap="square" anchor="t">
            <a:spAutoFit/>
          </a:bodyPr>
          <a:lstStyle/>
          <a:p>
            <a:pPr algn="l">
              <a:lnSpc>
                <a:spcPct val="100000"/>
              </a:lnSpc>
            </a:pPr>
            <a:r>
              <a:rPr sz="1500" b="1" i="0">
                <a:solidFill>
                  <a:srgbClr val="0F172A"/>
                </a:solidFill>
                <a:latin typeface="Calibri"/>
              </a:rPr>
              <a:t>Attach the record</a:t>
            </a:r>
          </a:p>
        </p:txBody>
      </p:sp>
      <p:sp>
        <p:nvSpPr>
          <p:cNvPr id="12" name="TextBox 11"/>
          <p:cNvSpPr txBox="1"/>
          <p:nvPr/>
        </p:nvSpPr>
        <p:spPr>
          <a:xfrm>
            <a:off x="4645152" y="3200400"/>
            <a:ext cx="2971800" cy="914400"/>
          </a:xfrm>
          <a:prstGeom prst="rect">
            <a:avLst/>
          </a:prstGeom>
          <a:noFill/>
        </p:spPr>
        <p:txBody>
          <a:bodyPr wrap="square" anchor="t">
            <a:spAutoFit/>
          </a:bodyPr>
          <a:lstStyle/>
          <a:p>
            <a:pPr algn="l">
              <a:lnSpc>
                <a:spcPct val="112000"/>
              </a:lnSpc>
            </a:pPr>
            <a:r>
              <a:rPr sz="1150" b="0" i="0">
                <a:solidFill>
                  <a:srgbClr val="475569"/>
                </a:solidFill>
                <a:latin typeface="Calibri"/>
              </a:rPr>
              <a:t>An optional link to the minutes, the ticket, the wiki page — whatever documents the decision.</a:t>
            </a:r>
          </a:p>
        </p:txBody>
      </p:sp>
      <p:sp>
        <p:nvSpPr>
          <p:cNvPr id="13" name="Rectangle 12"/>
          <p:cNvSpPr/>
          <p:nvPr/>
        </p:nvSpPr>
        <p:spPr>
          <a:xfrm>
            <a:off x="8001000" y="2606040"/>
            <a:ext cx="333756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2606040"/>
            <a:ext cx="50292" cy="1600200"/>
          </a:xfrm>
          <a:prstGeom prst="rect">
            <a:avLst/>
          </a:prstGeom>
          <a:solidFill>
            <a:srgbClr val="7A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743200"/>
            <a:ext cx="2926080" cy="365760"/>
          </a:xfrm>
          <a:prstGeom prst="rect">
            <a:avLst/>
          </a:prstGeom>
          <a:noFill/>
        </p:spPr>
        <p:txBody>
          <a:bodyPr wrap="square" anchor="t">
            <a:spAutoFit/>
          </a:bodyPr>
          <a:lstStyle/>
          <a:p>
            <a:pPr algn="l">
              <a:lnSpc>
                <a:spcPct val="100000"/>
              </a:lnSpc>
            </a:pPr>
            <a:r>
              <a:rPr sz="1500" b="1" i="0">
                <a:solidFill>
                  <a:srgbClr val="0F172A"/>
                </a:solidFill>
                <a:latin typeface="Calibri"/>
              </a:rPr>
              <a:t>It is drawn INTO the chart</a:t>
            </a:r>
          </a:p>
        </p:txBody>
      </p:sp>
      <p:sp>
        <p:nvSpPr>
          <p:cNvPr id="16" name="TextBox 15"/>
          <p:cNvSpPr txBox="1"/>
          <p:nvPr/>
        </p:nvSpPr>
        <p:spPr>
          <a:xfrm>
            <a:off x="8257031" y="3200400"/>
            <a:ext cx="2971800" cy="914400"/>
          </a:xfrm>
          <a:prstGeom prst="rect">
            <a:avLst/>
          </a:prstGeom>
          <a:noFill/>
        </p:spPr>
        <p:txBody>
          <a:bodyPr wrap="square" anchor="t">
            <a:spAutoFit/>
          </a:bodyPr>
          <a:lstStyle/>
          <a:p>
            <a:pPr algn="l">
              <a:lnSpc>
                <a:spcPct val="112000"/>
              </a:lnSpc>
            </a:pPr>
            <a:r>
              <a:rPr sz="1150" b="0" i="0">
                <a:solidFill>
                  <a:srgbClr val="475569"/>
                </a:solidFill>
                <a:latin typeface="Calibri"/>
              </a:rPr>
              <a:t>Not in the page around it. A numbered block sits below the plot, so the note survives export to SVG, PNG, a slide, or paper.</a:t>
            </a:r>
          </a:p>
        </p:txBody>
      </p:sp>
      <p:sp>
        <p:nvSpPr>
          <p:cNvPr id="17" name="Rectangle 16"/>
          <p:cNvSpPr/>
          <p:nvPr/>
        </p:nvSpPr>
        <p:spPr>
          <a:xfrm>
            <a:off x="777240" y="4526280"/>
            <a:ext cx="10652760" cy="1143000"/>
          </a:xfrm>
          <a:prstGeom prst="rect">
            <a:avLst/>
          </a:prstGeom>
          <a:solidFill>
            <a:srgbClr val="F3EBF8"/>
          </a:solidFill>
          <a:ln w="15875">
            <a:solidFill>
              <a:srgbClr val="7A4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1" y="4736592"/>
            <a:ext cx="219456" cy="219456"/>
          </a:xfrm>
          <a:prstGeom prst="ellipse">
            <a:avLst/>
          </a:prstGeom>
          <a:solidFill>
            <a:srgbClr val="7A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1" y="4745736"/>
            <a:ext cx="219456" cy="219456"/>
          </a:xfrm>
          <a:prstGeom prst="rect">
            <a:avLst/>
          </a:prstGeom>
          <a:noFill/>
        </p:spPr>
        <p:txBody>
          <a:bodyPr wrap="square" anchor="t">
            <a:spAutoFit/>
          </a:bodyPr>
          <a:lstStyle/>
          <a:p>
            <a:pPr algn="ctr">
              <a:lnSpc>
                <a:spcPct val="100000"/>
              </a:lnSpc>
            </a:pPr>
            <a:r>
              <a:rPr sz="1000" b="1" i="0">
                <a:solidFill>
                  <a:srgbClr val="FFFFFF"/>
                </a:solidFill>
                <a:latin typeface="Calibri"/>
              </a:rPr>
              <a:t>1</a:t>
            </a:r>
          </a:p>
        </p:txBody>
      </p:sp>
      <p:sp>
        <p:nvSpPr>
          <p:cNvPr id="20" name="TextBox 19"/>
          <p:cNvSpPr txBox="1"/>
          <p:nvPr/>
        </p:nvSpPr>
        <p:spPr>
          <a:xfrm>
            <a:off x="1371600" y="4727448"/>
            <a:ext cx="9692640" cy="274320"/>
          </a:xfrm>
          <a:prstGeom prst="rect">
            <a:avLst/>
          </a:prstGeom>
          <a:noFill/>
        </p:spPr>
        <p:txBody>
          <a:bodyPr wrap="square" anchor="t">
            <a:spAutoFit/>
          </a:bodyPr>
          <a:lstStyle/>
          <a:p>
            <a:pPr algn="l">
              <a:lnSpc>
                <a:spcPct val="100000"/>
              </a:lnSpc>
            </a:pPr>
            <a:r>
              <a:rPr sz="1300" b="1" i="0">
                <a:solidFill>
                  <a:srgbClr val="0F2F47"/>
                </a:solidFill>
                <a:latin typeface="Calibri"/>
              </a:rPr>
              <a:t>Second CHW joined the team  ·  https://ndcgroup.relocalizecreativity.net/chw-staffing</a:t>
            </a:r>
          </a:p>
        </p:txBody>
      </p:sp>
      <p:sp>
        <p:nvSpPr>
          <p:cNvPr id="21" name="TextBox 20"/>
          <p:cNvSpPr txBox="1"/>
          <p:nvPr/>
        </p:nvSpPr>
        <p:spPr>
          <a:xfrm>
            <a:off x="1371600" y="5074920"/>
            <a:ext cx="9692640" cy="457200"/>
          </a:xfrm>
          <a:prstGeom prst="rect">
            <a:avLst/>
          </a:prstGeom>
          <a:noFill/>
        </p:spPr>
        <p:txBody>
          <a:bodyPr wrap="square" anchor="t">
            <a:spAutoFit/>
          </a:bodyPr>
          <a:lstStyle/>
          <a:p>
            <a:pPr algn="l">
              <a:lnSpc>
                <a:spcPct val="100000"/>
              </a:lnSpc>
            </a:pPr>
            <a:r>
              <a:rPr sz="1150" b="0" i="0">
                <a:solidFill>
                  <a:srgbClr val="475569"/>
                </a:solidFill>
                <a:latin typeface="Calibri"/>
              </a:rPr>
              <a:t>What the exported chart carries. The link is printed as readable text as well as being clickable — a printed link that is not spelled out is no link at all.</a:t>
            </a:r>
          </a:p>
        </p:txBody>
      </p:sp>
      <p:sp>
        <p:nvSpPr>
          <p:cNvPr id="22" name="TextBox 21"/>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3" name="TextBox 22"/>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SCOPE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Four chart types, and that is deliberate</a:t>
            </a:r>
          </a:p>
        </p:txBody>
      </p:sp>
      <p:sp>
        <p:nvSpPr>
          <p:cNvPr id="4" name="Rectangle 3"/>
          <p:cNvSpPr/>
          <p:nvPr/>
        </p:nvSpPr>
        <p:spPr>
          <a:xfrm>
            <a:off x="777240" y="2057400"/>
            <a:ext cx="2514600" cy="14630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57400"/>
            <a:ext cx="50292" cy="14630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240280"/>
            <a:ext cx="2057400" cy="365760"/>
          </a:xfrm>
          <a:prstGeom prst="rect">
            <a:avLst/>
          </a:prstGeom>
          <a:noFill/>
        </p:spPr>
        <p:txBody>
          <a:bodyPr wrap="square" anchor="t">
            <a:spAutoFit/>
          </a:bodyPr>
          <a:lstStyle/>
          <a:p>
            <a:pPr algn="l">
              <a:lnSpc>
                <a:spcPct val="100000"/>
              </a:lnSpc>
            </a:pPr>
            <a:r>
              <a:rPr sz="1600" b="1" i="0">
                <a:solidFill>
                  <a:srgbClr val="0F172A"/>
                </a:solidFill>
                <a:latin typeface="Calibri"/>
              </a:rPr>
              <a:t>XmR</a:t>
            </a:r>
          </a:p>
        </p:txBody>
      </p:sp>
      <p:sp>
        <p:nvSpPr>
          <p:cNvPr id="7" name="TextBox 6"/>
          <p:cNvSpPr txBox="1"/>
          <p:nvPr/>
        </p:nvSpPr>
        <p:spPr>
          <a:xfrm>
            <a:off x="1033271" y="2715768"/>
            <a:ext cx="2057400" cy="640080"/>
          </a:xfrm>
          <a:prstGeom prst="rect">
            <a:avLst/>
          </a:prstGeom>
          <a:noFill/>
        </p:spPr>
        <p:txBody>
          <a:bodyPr wrap="square" anchor="t">
            <a:spAutoFit/>
          </a:bodyPr>
          <a:lstStyle/>
          <a:p>
            <a:pPr algn="l">
              <a:lnSpc>
                <a:spcPct val="110000"/>
              </a:lnSpc>
            </a:pPr>
            <a:r>
              <a:rPr sz="1150" b="0" i="0">
                <a:solidFill>
                  <a:srgbClr val="475569"/>
                </a:solidFill>
                <a:latin typeface="Calibri"/>
              </a:rPr>
              <a:t>One number per period. The workhorse — use it unless there is a specific reason not to.</a:t>
            </a:r>
          </a:p>
        </p:txBody>
      </p:sp>
      <p:sp>
        <p:nvSpPr>
          <p:cNvPr id="8" name="Rectangle 7"/>
          <p:cNvSpPr/>
          <p:nvPr/>
        </p:nvSpPr>
        <p:spPr>
          <a:xfrm>
            <a:off x="3502152" y="2057400"/>
            <a:ext cx="2514600" cy="14630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02152" y="2057400"/>
            <a:ext cx="50292" cy="14630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58184" y="2240280"/>
            <a:ext cx="2057400" cy="365760"/>
          </a:xfrm>
          <a:prstGeom prst="rect">
            <a:avLst/>
          </a:prstGeom>
          <a:noFill/>
        </p:spPr>
        <p:txBody>
          <a:bodyPr wrap="square" anchor="t">
            <a:spAutoFit/>
          </a:bodyPr>
          <a:lstStyle/>
          <a:p>
            <a:pPr algn="l">
              <a:lnSpc>
                <a:spcPct val="100000"/>
              </a:lnSpc>
            </a:pPr>
            <a:r>
              <a:rPr sz="1600" b="1" i="0">
                <a:solidFill>
                  <a:srgbClr val="0F172A"/>
                </a:solidFill>
                <a:latin typeface="Calibri"/>
              </a:rPr>
              <a:t>p chart</a:t>
            </a:r>
          </a:p>
        </p:txBody>
      </p:sp>
      <p:sp>
        <p:nvSpPr>
          <p:cNvPr id="11" name="TextBox 10"/>
          <p:cNvSpPr txBox="1"/>
          <p:nvPr/>
        </p:nvSpPr>
        <p:spPr>
          <a:xfrm>
            <a:off x="3758184" y="2715768"/>
            <a:ext cx="2057400" cy="640080"/>
          </a:xfrm>
          <a:prstGeom prst="rect">
            <a:avLst/>
          </a:prstGeom>
          <a:noFill/>
        </p:spPr>
        <p:txBody>
          <a:bodyPr wrap="square" anchor="t">
            <a:spAutoFit/>
          </a:bodyPr>
          <a:lstStyle/>
          <a:p>
            <a:pPr algn="l">
              <a:lnSpc>
                <a:spcPct val="110000"/>
              </a:lnSpc>
            </a:pPr>
            <a:r>
              <a:rPr sz="1150" b="0" i="0">
                <a:solidFill>
                  <a:srgbClr val="475569"/>
                </a:solidFill>
                <a:latin typeface="Calibri"/>
              </a:rPr>
              <a:t>A proportion whose denominator moves every period. Limits step to match.</a:t>
            </a:r>
          </a:p>
        </p:txBody>
      </p:sp>
      <p:sp>
        <p:nvSpPr>
          <p:cNvPr id="12" name="Rectangle 11"/>
          <p:cNvSpPr/>
          <p:nvPr/>
        </p:nvSpPr>
        <p:spPr>
          <a:xfrm>
            <a:off x="6227064" y="2057400"/>
            <a:ext cx="2514600" cy="14630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7064" y="2057400"/>
            <a:ext cx="50292" cy="14630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2240280"/>
            <a:ext cx="2057400" cy="365760"/>
          </a:xfrm>
          <a:prstGeom prst="rect">
            <a:avLst/>
          </a:prstGeom>
          <a:noFill/>
        </p:spPr>
        <p:txBody>
          <a:bodyPr wrap="square" anchor="t">
            <a:spAutoFit/>
          </a:bodyPr>
          <a:lstStyle/>
          <a:p>
            <a:pPr algn="l">
              <a:lnSpc>
                <a:spcPct val="100000"/>
              </a:lnSpc>
            </a:pPr>
            <a:r>
              <a:rPr sz="1600" b="1" i="0">
                <a:solidFill>
                  <a:srgbClr val="0F172A"/>
                </a:solidFill>
                <a:latin typeface="Calibri"/>
              </a:rPr>
              <a:t>u chart</a:t>
            </a:r>
          </a:p>
        </p:txBody>
      </p:sp>
      <p:sp>
        <p:nvSpPr>
          <p:cNvPr id="15" name="TextBox 14"/>
          <p:cNvSpPr txBox="1"/>
          <p:nvPr/>
        </p:nvSpPr>
        <p:spPr>
          <a:xfrm>
            <a:off x="6483096" y="2715768"/>
            <a:ext cx="2057400" cy="640080"/>
          </a:xfrm>
          <a:prstGeom prst="rect">
            <a:avLst/>
          </a:prstGeom>
          <a:noFill/>
        </p:spPr>
        <p:txBody>
          <a:bodyPr wrap="square" anchor="t">
            <a:spAutoFit/>
          </a:bodyPr>
          <a:lstStyle/>
          <a:p>
            <a:pPr algn="l">
              <a:lnSpc>
                <a:spcPct val="110000"/>
              </a:lnSpc>
            </a:pPr>
            <a:r>
              <a:rPr sz="1150" b="0" i="0">
                <a:solidFill>
                  <a:srgbClr val="475569"/>
                </a:solidFill>
                <a:latin typeface="Calibri"/>
              </a:rPr>
              <a:t>Counts over a varying area of opportunity — per 1,000 member-months.</a:t>
            </a:r>
          </a:p>
        </p:txBody>
      </p:sp>
      <p:sp>
        <p:nvSpPr>
          <p:cNvPr id="16" name="Rectangle 15"/>
          <p:cNvSpPr/>
          <p:nvPr/>
        </p:nvSpPr>
        <p:spPr>
          <a:xfrm>
            <a:off x="8951976" y="2057400"/>
            <a:ext cx="2514600" cy="14630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51976" y="2057400"/>
            <a:ext cx="50292" cy="146304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08007" y="2240280"/>
            <a:ext cx="2057400" cy="365760"/>
          </a:xfrm>
          <a:prstGeom prst="rect">
            <a:avLst/>
          </a:prstGeom>
          <a:noFill/>
        </p:spPr>
        <p:txBody>
          <a:bodyPr wrap="square" anchor="t">
            <a:spAutoFit/>
          </a:bodyPr>
          <a:lstStyle/>
          <a:p>
            <a:pPr algn="l">
              <a:lnSpc>
                <a:spcPct val="100000"/>
              </a:lnSpc>
            </a:pPr>
            <a:r>
              <a:rPr sz="1600" b="1" i="0">
                <a:solidFill>
                  <a:srgbClr val="0F172A"/>
                </a:solidFill>
                <a:latin typeface="Calibri"/>
              </a:rPr>
              <a:t>Run chart</a:t>
            </a:r>
          </a:p>
        </p:txBody>
      </p:sp>
      <p:sp>
        <p:nvSpPr>
          <p:cNvPr id="19" name="TextBox 18"/>
          <p:cNvSpPr txBox="1"/>
          <p:nvPr/>
        </p:nvSpPr>
        <p:spPr>
          <a:xfrm>
            <a:off x="9208007" y="2715768"/>
            <a:ext cx="2057400" cy="640080"/>
          </a:xfrm>
          <a:prstGeom prst="rect">
            <a:avLst/>
          </a:prstGeom>
          <a:noFill/>
        </p:spPr>
        <p:txBody>
          <a:bodyPr wrap="square" anchor="t">
            <a:spAutoFit/>
          </a:bodyPr>
          <a:lstStyle/>
          <a:p>
            <a:pPr algn="l">
              <a:lnSpc>
                <a:spcPct val="110000"/>
              </a:lnSpc>
            </a:pPr>
            <a:r>
              <a:rPr sz="1150" b="0" i="0">
                <a:solidFill>
                  <a:srgbClr val="475569"/>
                </a:solidFill>
                <a:latin typeface="Calibri"/>
              </a:rPr>
              <a:t>Median line, no limits. Fewer assumptions, less power. Good for short series.</a:t>
            </a:r>
          </a:p>
        </p:txBody>
      </p:sp>
      <p:sp>
        <p:nvSpPr>
          <p:cNvPr id="20" name="TextBox 19"/>
          <p:cNvSpPr txBox="1"/>
          <p:nvPr/>
        </p:nvSpPr>
        <p:spPr>
          <a:xfrm>
            <a:off x="777240" y="3886200"/>
            <a:ext cx="10607040" cy="365760"/>
          </a:xfrm>
          <a:prstGeom prst="rect">
            <a:avLst/>
          </a:prstGeom>
          <a:noFill/>
        </p:spPr>
        <p:txBody>
          <a:bodyPr wrap="square" anchor="t">
            <a:spAutoFit/>
          </a:bodyPr>
          <a:lstStyle/>
          <a:p>
            <a:pPr algn="l">
              <a:lnSpc>
                <a:spcPct val="100000"/>
              </a:lnSpc>
            </a:pPr>
            <a:r>
              <a:rPr sz="1400" b="1" i="0">
                <a:solidFill>
                  <a:srgbClr val="475569"/>
                </a:solidFill>
                <a:latin typeface="Calibri"/>
              </a:rPr>
              <a:t>Left out on purpose:  X̄–R and X̄–S · CUSUM · EWMA · Cp/Cpk capability · ANOM · funnel plots</a:t>
            </a:r>
          </a:p>
        </p:txBody>
      </p:sp>
      <p:sp>
        <p:nvSpPr>
          <p:cNvPr id="21" name="Rectangle 20"/>
          <p:cNvSpPr/>
          <p:nvPr/>
        </p:nvSpPr>
        <p:spPr>
          <a:xfrm>
            <a:off x="777240" y="4389120"/>
            <a:ext cx="10607040" cy="1365504"/>
          </a:xfrm>
          <a:prstGeom prst="rect">
            <a:avLst/>
          </a:prstGeom>
          <a:solidFill>
            <a:srgbClr val="EEF2F6"/>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526280"/>
            <a:ext cx="10058400" cy="329184"/>
          </a:xfrm>
          <a:prstGeom prst="rect">
            <a:avLst/>
          </a:prstGeom>
          <a:noFill/>
        </p:spPr>
        <p:txBody>
          <a:bodyPr wrap="square" anchor="t">
            <a:spAutoFit/>
          </a:bodyPr>
          <a:lstStyle/>
          <a:p>
            <a:pPr algn="l">
              <a:lnSpc>
                <a:spcPct val="100000"/>
              </a:lnSpc>
            </a:pPr>
            <a:r>
              <a:rPr sz="1500" b="1" i="0">
                <a:solidFill>
                  <a:srgbClr val="0F172A"/>
                </a:solidFill>
                <a:latin typeface="Calibri"/>
              </a:rPr>
              <a:t>Every added chart type is vocabulary the co-op has to learn</a:t>
            </a:r>
          </a:p>
        </p:txBody>
      </p:sp>
      <p:sp>
        <p:nvSpPr>
          <p:cNvPr id="23" name="TextBox 22"/>
          <p:cNvSpPr txBox="1"/>
          <p:nvPr/>
        </p:nvSpPr>
        <p:spPr>
          <a:xfrm>
            <a:off x="1051560" y="4919472"/>
            <a:ext cx="10058400" cy="707136"/>
          </a:xfrm>
          <a:prstGeom prst="rect">
            <a:avLst/>
          </a:prstGeom>
          <a:noFill/>
        </p:spPr>
        <p:txBody>
          <a:bodyPr wrap="square" anchor="t">
            <a:spAutoFit/>
          </a:bodyPr>
          <a:lstStyle/>
          <a:p>
            <a:pPr algn="l">
              <a:lnSpc>
                <a:spcPct val="112000"/>
              </a:lnSpc>
            </a:pPr>
            <a:r>
              <a:rPr sz="1250" b="0" i="0">
                <a:solidFill>
                  <a:srgbClr val="475569"/>
                </a:solidFill>
                <a:latin typeface="Calibri"/>
              </a:rPr>
              <a:t>All of those are legitimate and some are excellent. They are absent because the first version of a tool should be the version a board will actually read, and unlearned vocabulary is how a tool ends up used by one person and trusted by none. The subgrouping panel already does the diagnostic work X̄–R and capability indices are usually reached for.
When a real need appears — fourteen clinics compared at once genuinely wants a funnel plot — that is the moment to add one.</a:t>
            </a:r>
          </a:p>
        </p:txBody>
      </p:sp>
      <p:sp>
        <p:nvSpPr>
          <p:cNvPr id="24" name="TextBox 2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5" name="TextBox 2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WHAT TO EXPECT</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Where our numbers will lie to us</a:t>
            </a:r>
          </a:p>
        </p:txBody>
      </p:sp>
      <p:sp>
        <p:nvSpPr>
          <p:cNvPr id="4" name="Rectangle 3"/>
          <p:cNvSpPr/>
          <p:nvPr/>
        </p:nvSpPr>
        <p:spPr>
          <a:xfrm>
            <a:off x="777240" y="2011680"/>
            <a:ext cx="10607040" cy="731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11680"/>
            <a:ext cx="50292" cy="73152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93976"/>
            <a:ext cx="4480560" cy="548640"/>
          </a:xfrm>
          <a:prstGeom prst="rect">
            <a:avLst/>
          </a:prstGeom>
          <a:noFill/>
        </p:spPr>
        <p:txBody>
          <a:bodyPr wrap="square" anchor="t">
            <a:spAutoFit/>
          </a:bodyPr>
          <a:lstStyle/>
          <a:p>
            <a:pPr algn="l">
              <a:lnSpc>
                <a:spcPct val="100000"/>
              </a:lnSpc>
            </a:pPr>
            <a:r>
              <a:rPr sz="1350" b="1" i="0">
                <a:solidFill>
                  <a:srgbClr val="0F172A"/>
                </a:solidFill>
                <a:latin typeface="Calibri"/>
              </a:rPr>
              <a:t>Any measure split by clinic, CHW, or provider</a:t>
            </a:r>
          </a:p>
        </p:txBody>
      </p:sp>
      <p:sp>
        <p:nvSpPr>
          <p:cNvPr id="7" name="TextBox 6"/>
          <p:cNvSpPr txBox="1"/>
          <p:nvPr/>
        </p:nvSpPr>
        <p:spPr>
          <a:xfrm>
            <a:off x="5669280" y="2093976"/>
            <a:ext cx="5577840" cy="594360"/>
          </a:xfrm>
          <a:prstGeom prst="rect">
            <a:avLst/>
          </a:prstGeom>
          <a:noFill/>
        </p:spPr>
        <p:txBody>
          <a:bodyPr wrap="square" anchor="t">
            <a:spAutoFit/>
          </a:bodyPr>
          <a:lstStyle/>
          <a:p>
            <a:pPr algn="l">
              <a:lnSpc>
                <a:spcPct val="105000"/>
              </a:lnSpc>
            </a:pPr>
            <a:r>
              <a:rPr sz="1200" b="0" i="0">
                <a:solidFill>
                  <a:srgbClr val="475569"/>
                </a:solidFill>
                <a:latin typeface="Calibri"/>
              </a:rPr>
              <a:t>Almost certainly a mixture. Check the share between before pooling anything.</a:t>
            </a:r>
          </a:p>
        </p:txBody>
      </p:sp>
      <p:sp>
        <p:nvSpPr>
          <p:cNvPr id="8" name="Rectangle 7"/>
          <p:cNvSpPr/>
          <p:nvPr/>
        </p:nvSpPr>
        <p:spPr>
          <a:xfrm>
            <a:off x="777240" y="2852928"/>
            <a:ext cx="10607040" cy="731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852928"/>
            <a:ext cx="50292" cy="73152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935224"/>
            <a:ext cx="4480560" cy="548640"/>
          </a:xfrm>
          <a:prstGeom prst="rect">
            <a:avLst/>
          </a:prstGeom>
          <a:noFill/>
        </p:spPr>
        <p:txBody>
          <a:bodyPr wrap="square" anchor="t">
            <a:spAutoFit/>
          </a:bodyPr>
          <a:lstStyle/>
          <a:p>
            <a:pPr algn="l">
              <a:lnSpc>
                <a:spcPct val="100000"/>
              </a:lnSpc>
            </a:pPr>
            <a:r>
              <a:rPr sz="1350" b="1" i="0">
                <a:solidFill>
                  <a:srgbClr val="0F172A"/>
                </a:solidFill>
                <a:latin typeface="Calibri"/>
              </a:rPr>
              <a:t>Any rate over a large population</a:t>
            </a:r>
          </a:p>
        </p:txBody>
      </p:sp>
      <p:sp>
        <p:nvSpPr>
          <p:cNvPr id="11" name="TextBox 10"/>
          <p:cNvSpPr txBox="1"/>
          <p:nvPr/>
        </p:nvSpPr>
        <p:spPr>
          <a:xfrm>
            <a:off x="5669280" y="2935224"/>
            <a:ext cx="5577840" cy="594360"/>
          </a:xfrm>
          <a:prstGeom prst="rect">
            <a:avLst/>
          </a:prstGeom>
          <a:noFill/>
        </p:spPr>
        <p:txBody>
          <a:bodyPr wrap="square" anchor="t">
            <a:spAutoFit/>
          </a:bodyPr>
          <a:lstStyle/>
          <a:p>
            <a:pPr algn="l">
              <a:lnSpc>
                <a:spcPct val="105000"/>
              </a:lnSpc>
            </a:pPr>
            <a:r>
              <a:rPr sz="1200" b="0" i="0">
                <a:solidFill>
                  <a:srgbClr val="475569"/>
                </a:solidFill>
                <a:latin typeface="Calibri"/>
              </a:rPr>
              <a:t>Overdispersed. A textbook p chart will flag most months and none of it will be real.</a:t>
            </a:r>
          </a:p>
        </p:txBody>
      </p:sp>
      <p:sp>
        <p:nvSpPr>
          <p:cNvPr id="12" name="Rectangle 11"/>
          <p:cNvSpPr/>
          <p:nvPr/>
        </p:nvSpPr>
        <p:spPr>
          <a:xfrm>
            <a:off x="777240" y="3694176"/>
            <a:ext cx="10607040" cy="731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94176"/>
            <a:ext cx="50292" cy="73152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776472"/>
            <a:ext cx="4480560" cy="548640"/>
          </a:xfrm>
          <a:prstGeom prst="rect">
            <a:avLst/>
          </a:prstGeom>
          <a:noFill/>
        </p:spPr>
        <p:txBody>
          <a:bodyPr wrap="square" anchor="t">
            <a:spAutoFit/>
          </a:bodyPr>
          <a:lstStyle/>
          <a:p>
            <a:pPr algn="l">
              <a:lnSpc>
                <a:spcPct val="100000"/>
              </a:lnSpc>
            </a:pPr>
            <a:r>
              <a:rPr sz="1350" b="1" i="0">
                <a:solidFill>
                  <a:srgbClr val="0F172A"/>
                </a:solidFill>
                <a:latin typeface="Calibri"/>
              </a:rPr>
              <a:t>Anything already averaged before it reaches us</a:t>
            </a:r>
          </a:p>
        </p:txBody>
      </p:sp>
      <p:sp>
        <p:nvSpPr>
          <p:cNvPr id="15" name="TextBox 14"/>
          <p:cNvSpPr txBox="1"/>
          <p:nvPr/>
        </p:nvSpPr>
        <p:spPr>
          <a:xfrm>
            <a:off x="5669280" y="3776472"/>
            <a:ext cx="5577840" cy="594360"/>
          </a:xfrm>
          <a:prstGeom prst="rect">
            <a:avLst/>
          </a:prstGeom>
          <a:noFill/>
        </p:spPr>
        <p:txBody>
          <a:bodyPr wrap="square" anchor="t">
            <a:spAutoFit/>
          </a:bodyPr>
          <a:lstStyle/>
          <a:p>
            <a:pPr algn="l">
              <a:lnSpc>
                <a:spcPct val="105000"/>
              </a:lnSpc>
            </a:pPr>
            <a:r>
              <a:rPr sz="1200" b="0" i="0">
                <a:solidFill>
                  <a:srgbClr val="475569"/>
                </a:solidFill>
                <a:latin typeface="Calibri"/>
              </a:rPr>
              <a:t>Underlying variation has been thrown away; limits come out far too tight.</a:t>
            </a:r>
          </a:p>
        </p:txBody>
      </p:sp>
      <p:sp>
        <p:nvSpPr>
          <p:cNvPr id="16" name="Rectangle 15"/>
          <p:cNvSpPr/>
          <p:nvPr/>
        </p:nvSpPr>
        <p:spPr>
          <a:xfrm>
            <a:off x="777240" y="4535424"/>
            <a:ext cx="10607040" cy="731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535424"/>
            <a:ext cx="50292" cy="73152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617720"/>
            <a:ext cx="4480560" cy="548640"/>
          </a:xfrm>
          <a:prstGeom prst="rect">
            <a:avLst/>
          </a:prstGeom>
          <a:noFill/>
        </p:spPr>
        <p:txBody>
          <a:bodyPr wrap="square" anchor="t">
            <a:spAutoFit/>
          </a:bodyPr>
          <a:lstStyle/>
          <a:p>
            <a:pPr algn="l">
              <a:lnSpc>
                <a:spcPct val="100000"/>
              </a:lnSpc>
            </a:pPr>
            <a:r>
              <a:rPr sz="1350" b="1" i="0">
                <a:solidFill>
                  <a:srgbClr val="0F172A"/>
                </a:solidFill>
                <a:latin typeface="Calibri"/>
              </a:rPr>
              <a:t>Anything with momentum — census, wait times, backlogs</a:t>
            </a:r>
          </a:p>
        </p:txBody>
      </p:sp>
      <p:sp>
        <p:nvSpPr>
          <p:cNvPr id="19" name="TextBox 18"/>
          <p:cNvSpPr txBox="1"/>
          <p:nvPr/>
        </p:nvSpPr>
        <p:spPr>
          <a:xfrm>
            <a:off x="5669280" y="4617720"/>
            <a:ext cx="5577840" cy="594360"/>
          </a:xfrm>
          <a:prstGeom prst="rect">
            <a:avLst/>
          </a:prstGeom>
          <a:noFill/>
        </p:spPr>
        <p:txBody>
          <a:bodyPr wrap="square" anchor="t">
            <a:spAutoFit/>
          </a:bodyPr>
          <a:lstStyle/>
          <a:p>
            <a:pPr algn="l">
              <a:lnSpc>
                <a:spcPct val="105000"/>
              </a:lnSpc>
            </a:pPr>
            <a:r>
              <a:rPr sz="1200" b="0" i="0">
                <a:solidFill>
                  <a:srgbClr val="475569"/>
                </a:solidFill>
                <a:latin typeface="Calibri"/>
              </a:rPr>
              <a:t>Autocorrelated. Today depends on yesterday, the independence assumption fails, limits are too tight. The tool does not catch this one; we have to.</a:t>
            </a:r>
          </a:p>
        </p:txBody>
      </p:sp>
      <p:sp>
        <p:nvSpPr>
          <p:cNvPr id="20" name="Rectangle 19"/>
          <p:cNvSpPr/>
          <p:nvPr/>
        </p:nvSpPr>
        <p:spPr>
          <a:xfrm>
            <a:off x="777240" y="5376672"/>
            <a:ext cx="10607040" cy="731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76672"/>
            <a:ext cx="50292" cy="73152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458968"/>
            <a:ext cx="4480560" cy="548640"/>
          </a:xfrm>
          <a:prstGeom prst="rect">
            <a:avLst/>
          </a:prstGeom>
          <a:noFill/>
        </p:spPr>
        <p:txBody>
          <a:bodyPr wrap="square" anchor="t">
            <a:spAutoFit/>
          </a:bodyPr>
          <a:lstStyle/>
          <a:p>
            <a:pPr algn="l">
              <a:lnSpc>
                <a:spcPct val="100000"/>
              </a:lnSpc>
            </a:pPr>
            <a:r>
              <a:rPr sz="1350" b="1" i="0">
                <a:solidFill>
                  <a:srgbClr val="0F172A"/>
                </a:solidFill>
                <a:latin typeface="Calibri"/>
              </a:rPr>
              <a:t>Any quarterly comparison of units against each other</a:t>
            </a:r>
          </a:p>
        </p:txBody>
      </p:sp>
      <p:sp>
        <p:nvSpPr>
          <p:cNvPr id="23" name="TextBox 22"/>
          <p:cNvSpPr txBox="1"/>
          <p:nvPr/>
        </p:nvSpPr>
        <p:spPr>
          <a:xfrm>
            <a:off x="5669280" y="5458968"/>
            <a:ext cx="5577840" cy="594360"/>
          </a:xfrm>
          <a:prstGeom prst="rect">
            <a:avLst/>
          </a:prstGeom>
          <a:noFill/>
        </p:spPr>
        <p:txBody>
          <a:bodyPr wrap="square" anchor="t">
            <a:spAutoFit/>
          </a:bodyPr>
          <a:lstStyle/>
          <a:p>
            <a:pPr algn="l">
              <a:lnSpc>
                <a:spcPct val="105000"/>
              </a:lnSpc>
            </a:pPr>
            <a:r>
              <a:rPr sz="1200" b="0" i="0">
                <a:solidFill>
                  <a:srgbClr val="475569"/>
                </a:solidFill>
                <a:latin typeface="Calibri"/>
              </a:rPr>
              <a:t>A league table. It will produce a stable-looking ranking that mostly reshuffles on noise.</a:t>
            </a:r>
          </a:p>
        </p:txBody>
      </p:sp>
      <p:sp>
        <p:nvSpPr>
          <p:cNvPr id="24" name="TextBox 2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25" name="TextBox 2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WHAT EXISTS TODAY</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One HTML file, no install, nothing leaves your machine</a:t>
            </a:r>
          </a:p>
        </p:txBody>
      </p:sp>
      <p:sp>
        <p:nvSpPr>
          <p:cNvPr id="4" name="Rectangle 3"/>
          <p:cNvSpPr/>
          <p:nvPr/>
        </p:nvSpPr>
        <p:spPr>
          <a:xfrm>
            <a:off x="777240" y="2057400"/>
            <a:ext cx="3337560" cy="14173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57400"/>
            <a:ext cx="50292" cy="14173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240280"/>
            <a:ext cx="2880360" cy="365760"/>
          </a:xfrm>
          <a:prstGeom prst="rect">
            <a:avLst/>
          </a:prstGeom>
          <a:noFill/>
        </p:spPr>
        <p:txBody>
          <a:bodyPr wrap="square" anchor="t">
            <a:spAutoFit/>
          </a:bodyPr>
          <a:lstStyle/>
          <a:p>
            <a:pPr algn="l">
              <a:lnSpc>
                <a:spcPct val="100000"/>
              </a:lnSpc>
            </a:pPr>
            <a:r>
              <a:rPr sz="1400" b="1" i="0">
                <a:solidFill>
                  <a:srgbClr val="0F172A"/>
                </a:solidFill>
                <a:latin typeface="Calibri"/>
              </a:rPr>
              <a:t>Subgrouping panel</a:t>
            </a:r>
          </a:p>
        </p:txBody>
      </p:sp>
      <p:sp>
        <p:nvSpPr>
          <p:cNvPr id="7" name="TextBox 6"/>
          <p:cNvSpPr txBox="1"/>
          <p:nvPr/>
        </p:nvSpPr>
        <p:spPr>
          <a:xfrm>
            <a:off x="1033271" y="2715768"/>
            <a:ext cx="2880360" cy="594360"/>
          </a:xfrm>
          <a:prstGeom prst="rect">
            <a:avLst/>
          </a:prstGeom>
          <a:noFill/>
        </p:spPr>
        <p:txBody>
          <a:bodyPr wrap="square" anchor="t">
            <a:spAutoFit/>
          </a:bodyPr>
          <a:lstStyle/>
          <a:p>
            <a:pPr algn="l">
              <a:lnSpc>
                <a:spcPct val="110000"/>
              </a:lnSpc>
            </a:pPr>
            <a:r>
              <a:rPr sz="1100" b="0" i="0">
                <a:solidFill>
                  <a:srgbClr val="475569"/>
                </a:solidFill>
                <a:latin typeface="Calibri"/>
              </a:rPr>
              <a:t>Renders above the chart. Reports sigma within, sigma overall, F, and the share of variation between groups — in words, with a verdict.</a:t>
            </a:r>
          </a:p>
        </p:txBody>
      </p:sp>
      <p:sp>
        <p:nvSpPr>
          <p:cNvPr id="8" name="Rectangle 7"/>
          <p:cNvSpPr/>
          <p:nvPr/>
        </p:nvSpPr>
        <p:spPr>
          <a:xfrm>
            <a:off x="4389120" y="2057400"/>
            <a:ext cx="3337560" cy="14173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2057400"/>
            <a:ext cx="50292" cy="14173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2240280"/>
            <a:ext cx="2880360" cy="365760"/>
          </a:xfrm>
          <a:prstGeom prst="rect">
            <a:avLst/>
          </a:prstGeom>
          <a:noFill/>
        </p:spPr>
        <p:txBody>
          <a:bodyPr wrap="square" anchor="t">
            <a:spAutoFit/>
          </a:bodyPr>
          <a:lstStyle/>
          <a:p>
            <a:pPr algn="l">
              <a:lnSpc>
                <a:spcPct val="100000"/>
              </a:lnSpc>
            </a:pPr>
            <a:r>
              <a:rPr sz="1400" b="1" i="0">
                <a:solidFill>
                  <a:srgbClr val="0F172A"/>
                </a:solidFill>
                <a:latin typeface="Calibri"/>
              </a:rPr>
              <a:t>Correct varying limits</a:t>
            </a:r>
          </a:p>
        </p:txBody>
      </p:sp>
      <p:sp>
        <p:nvSpPr>
          <p:cNvPr id="11" name="TextBox 10"/>
          <p:cNvSpPr txBox="1"/>
          <p:nvPr/>
        </p:nvSpPr>
        <p:spPr>
          <a:xfrm>
            <a:off x="4645152" y="2715768"/>
            <a:ext cx="2880360" cy="594360"/>
          </a:xfrm>
          <a:prstGeom prst="rect">
            <a:avLst/>
          </a:prstGeom>
          <a:noFill/>
        </p:spPr>
        <p:txBody>
          <a:bodyPr wrap="square" anchor="t">
            <a:spAutoFit/>
          </a:bodyPr>
          <a:lstStyle/>
          <a:p>
            <a:pPr algn="l">
              <a:lnSpc>
                <a:spcPct val="110000"/>
              </a:lnSpc>
            </a:pPr>
            <a:r>
              <a:rPr sz="1100" b="0" i="0">
                <a:solidFill>
                  <a:srgbClr val="475569"/>
                </a:solidFill>
                <a:latin typeface="Calibri"/>
              </a:rPr>
              <a:t>p and u limits recomputed at every point from that point's own denominator. Pooled centre line, not the mean of the rates.</a:t>
            </a:r>
          </a:p>
        </p:txBody>
      </p:sp>
      <p:sp>
        <p:nvSpPr>
          <p:cNvPr id="12" name="Rectangle 11"/>
          <p:cNvSpPr/>
          <p:nvPr/>
        </p:nvSpPr>
        <p:spPr>
          <a:xfrm>
            <a:off x="8001000" y="2057400"/>
            <a:ext cx="3337560" cy="14173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2057400"/>
            <a:ext cx="50292" cy="14173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240280"/>
            <a:ext cx="2880360" cy="365760"/>
          </a:xfrm>
          <a:prstGeom prst="rect">
            <a:avLst/>
          </a:prstGeom>
          <a:noFill/>
        </p:spPr>
        <p:txBody>
          <a:bodyPr wrap="square" anchor="t">
            <a:spAutoFit/>
          </a:bodyPr>
          <a:lstStyle/>
          <a:p>
            <a:pPr algn="l">
              <a:lnSpc>
                <a:spcPct val="100000"/>
              </a:lnSpc>
            </a:pPr>
            <a:r>
              <a:rPr sz="1400" b="1" i="0">
                <a:solidFill>
                  <a:srgbClr val="0F172A"/>
                </a:solidFill>
                <a:latin typeface="Calibri"/>
              </a:rPr>
              <a:t>Overdispersion detection</a:t>
            </a:r>
          </a:p>
        </p:txBody>
      </p:sp>
      <p:sp>
        <p:nvSpPr>
          <p:cNvPr id="15" name="TextBox 14"/>
          <p:cNvSpPr txBox="1"/>
          <p:nvPr/>
        </p:nvSpPr>
        <p:spPr>
          <a:xfrm>
            <a:off x="8257031" y="2715768"/>
            <a:ext cx="2880360" cy="594360"/>
          </a:xfrm>
          <a:prstGeom prst="rect">
            <a:avLst/>
          </a:prstGeom>
          <a:noFill/>
        </p:spPr>
        <p:txBody>
          <a:bodyPr wrap="square" anchor="t">
            <a:spAutoFit/>
          </a:bodyPr>
          <a:lstStyle/>
          <a:p>
            <a:pPr algn="l">
              <a:lnSpc>
                <a:spcPct val="110000"/>
              </a:lnSpc>
            </a:pPr>
            <a:r>
              <a:rPr sz="1100" b="0" i="0">
                <a:solidFill>
                  <a:srgbClr val="475569"/>
                </a:solidFill>
                <a:latin typeface="Calibri"/>
              </a:rPr>
              <a:t>Sigma z on every attribute chart, with the Laney p′/u′ correction one checkbox away.</a:t>
            </a:r>
          </a:p>
        </p:txBody>
      </p:sp>
      <p:sp>
        <p:nvSpPr>
          <p:cNvPr id="16" name="Rectangle 15"/>
          <p:cNvSpPr/>
          <p:nvPr/>
        </p:nvSpPr>
        <p:spPr>
          <a:xfrm>
            <a:off x="777240" y="3657600"/>
            <a:ext cx="3337560" cy="14173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57600"/>
            <a:ext cx="50292" cy="14173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1" y="3840480"/>
            <a:ext cx="2880360" cy="365760"/>
          </a:xfrm>
          <a:prstGeom prst="rect">
            <a:avLst/>
          </a:prstGeom>
          <a:noFill/>
        </p:spPr>
        <p:txBody>
          <a:bodyPr wrap="square" anchor="t">
            <a:spAutoFit/>
          </a:bodyPr>
          <a:lstStyle/>
          <a:p>
            <a:pPr algn="l">
              <a:lnSpc>
                <a:spcPct val="100000"/>
              </a:lnSpc>
            </a:pPr>
            <a:r>
              <a:rPr sz="1400" b="1" i="0">
                <a:solidFill>
                  <a:srgbClr val="0F172A"/>
                </a:solidFill>
                <a:latin typeface="Calibri"/>
              </a:rPr>
              <a:t>Change points</a:t>
            </a:r>
          </a:p>
        </p:txBody>
      </p:sp>
      <p:sp>
        <p:nvSpPr>
          <p:cNvPr id="19" name="TextBox 18"/>
          <p:cNvSpPr txBox="1"/>
          <p:nvPr/>
        </p:nvSpPr>
        <p:spPr>
          <a:xfrm>
            <a:off x="1033271" y="4315968"/>
            <a:ext cx="2880360" cy="594360"/>
          </a:xfrm>
          <a:prstGeom prst="rect">
            <a:avLst/>
          </a:prstGeom>
          <a:noFill/>
        </p:spPr>
        <p:txBody>
          <a:bodyPr wrap="square" anchor="t">
            <a:spAutoFit/>
          </a:bodyPr>
          <a:lstStyle/>
          <a:p>
            <a:pPr algn="l">
              <a:lnSpc>
                <a:spcPct val="110000"/>
              </a:lnSpc>
            </a:pPr>
            <a:r>
              <a:rPr sz="900" b="0" i="0">
                <a:solidFill>
                  <a:srgbClr val="475569"/>
                </a:solidFill>
                <a:latin typeface="Calibri"/>
              </a:rPr>
              <a:t>Mark where the process changed. Each phase gets its own centre line and limits — reported on the chart, not buried in a table — run rules restart, and the note and link you attach are drawn in alongside them.</a:t>
            </a:r>
          </a:p>
        </p:txBody>
      </p:sp>
      <p:sp>
        <p:nvSpPr>
          <p:cNvPr id="20" name="Rectangle 19"/>
          <p:cNvSpPr/>
          <p:nvPr/>
        </p:nvSpPr>
        <p:spPr>
          <a:xfrm>
            <a:off x="4389120" y="3657600"/>
            <a:ext cx="3337560" cy="14173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0" y="3657600"/>
            <a:ext cx="50292" cy="14173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5152" y="3840480"/>
            <a:ext cx="2880360" cy="365760"/>
          </a:xfrm>
          <a:prstGeom prst="rect">
            <a:avLst/>
          </a:prstGeom>
          <a:noFill/>
        </p:spPr>
        <p:txBody>
          <a:bodyPr wrap="square" anchor="t">
            <a:spAutoFit/>
          </a:bodyPr>
          <a:lstStyle/>
          <a:p>
            <a:pPr algn="l">
              <a:lnSpc>
                <a:spcPct val="100000"/>
              </a:lnSpc>
            </a:pPr>
            <a:r>
              <a:rPr sz="1400" b="1" i="0">
                <a:solidFill>
                  <a:srgbClr val="0F172A"/>
                </a:solidFill>
                <a:latin typeface="Calibri"/>
              </a:rPr>
              <a:t>Nelson rules 1–8</a:t>
            </a:r>
          </a:p>
        </p:txBody>
      </p:sp>
      <p:sp>
        <p:nvSpPr>
          <p:cNvPr id="23" name="TextBox 22"/>
          <p:cNvSpPr txBox="1"/>
          <p:nvPr/>
        </p:nvSpPr>
        <p:spPr>
          <a:xfrm>
            <a:off x="4645152" y="4315968"/>
            <a:ext cx="2880360" cy="594360"/>
          </a:xfrm>
          <a:prstGeom prst="rect">
            <a:avLst/>
          </a:prstGeom>
          <a:noFill/>
        </p:spPr>
        <p:txBody>
          <a:bodyPr wrap="square" anchor="t">
            <a:spAutoFit/>
          </a:bodyPr>
          <a:lstStyle/>
          <a:p>
            <a:pPr algn="l">
              <a:lnSpc>
                <a:spcPct val="110000"/>
              </a:lnSpc>
            </a:pPr>
            <a:r>
              <a:rPr sz="1100" b="0" i="0">
                <a:solidFill>
                  <a:srgbClr val="475569"/>
                </a:solidFill>
                <a:latin typeface="Calibri"/>
              </a:rPr>
              <a:t>Optional, with the false-alarm cost stated rather than hidden.</a:t>
            </a:r>
          </a:p>
        </p:txBody>
      </p:sp>
      <p:sp>
        <p:nvSpPr>
          <p:cNvPr id="24" name="Rectangle 23"/>
          <p:cNvSpPr/>
          <p:nvPr/>
        </p:nvSpPr>
        <p:spPr>
          <a:xfrm>
            <a:off x="8001000" y="3657600"/>
            <a:ext cx="3337560" cy="14173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01000" y="3657600"/>
            <a:ext cx="50292" cy="1417320"/>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7031" y="3840480"/>
            <a:ext cx="2880360" cy="365760"/>
          </a:xfrm>
          <a:prstGeom prst="rect">
            <a:avLst/>
          </a:prstGeom>
          <a:noFill/>
        </p:spPr>
        <p:txBody>
          <a:bodyPr wrap="square" anchor="t">
            <a:spAutoFit/>
          </a:bodyPr>
          <a:lstStyle/>
          <a:p>
            <a:pPr algn="l">
              <a:lnSpc>
                <a:spcPct val="100000"/>
              </a:lnSpc>
            </a:pPr>
            <a:r>
              <a:rPr sz="1400" b="1" i="0">
                <a:solidFill>
                  <a:srgbClr val="0F172A"/>
                </a:solidFill>
                <a:latin typeface="Calibri"/>
              </a:rPr>
              <a:t>SVG / PNG / JSON export</a:t>
            </a:r>
          </a:p>
        </p:txBody>
      </p:sp>
      <p:sp>
        <p:nvSpPr>
          <p:cNvPr id="27" name="TextBox 26"/>
          <p:cNvSpPr txBox="1"/>
          <p:nvPr/>
        </p:nvSpPr>
        <p:spPr>
          <a:xfrm>
            <a:off x="8257031" y="4315968"/>
            <a:ext cx="2880360" cy="594360"/>
          </a:xfrm>
          <a:prstGeom prst="rect">
            <a:avLst/>
          </a:prstGeom>
          <a:noFill/>
        </p:spPr>
        <p:txBody>
          <a:bodyPr wrap="square" anchor="t">
            <a:spAutoFit/>
          </a:bodyPr>
          <a:lstStyle/>
          <a:p>
            <a:pPr algn="l">
              <a:lnSpc>
                <a:spcPct val="110000"/>
              </a:lnSpc>
            </a:pPr>
            <a:r>
              <a:rPr sz="1100" b="0" i="0">
                <a:solidFill>
                  <a:srgbClr val="475569"/>
                </a:solidFill>
                <a:latin typeface="Calibri"/>
              </a:rPr>
              <a:t>Charts for slides; full session state for reproducibility.</a:t>
            </a:r>
          </a:p>
        </p:txBody>
      </p:sp>
      <p:sp>
        <p:nvSpPr>
          <p:cNvPr id="28" name="TextBox 27"/>
          <p:cNvSpPr txBox="1"/>
          <p:nvPr/>
        </p:nvSpPr>
        <p:spPr>
          <a:xfrm>
            <a:off x="777240" y="5440680"/>
            <a:ext cx="10607040" cy="365760"/>
          </a:xfrm>
          <a:prstGeom prst="rect">
            <a:avLst/>
          </a:prstGeom>
          <a:noFill/>
        </p:spPr>
        <p:txBody>
          <a:bodyPr wrap="square" anchor="t">
            <a:spAutoFit/>
          </a:bodyPr>
          <a:lstStyle/>
          <a:p>
            <a:pPr algn="l">
              <a:lnSpc>
                <a:spcPct val="100000"/>
              </a:lnSpc>
            </a:pPr>
            <a:r>
              <a:rPr sz="1300" b="0" i="1">
                <a:solidFill>
                  <a:srgbClr val="94A3B8"/>
                </a:solidFill>
                <a:latin typeface="Calibri"/>
              </a:rPr>
              <a:t>tools/rcn-spc.html  ·  with an introduction and a full user manual beside it</a:t>
            </a:r>
          </a:p>
        </p:txBody>
      </p:sp>
      <p:sp>
        <p:nvSpPr>
          <p:cNvPr id="29" name="TextBox 28"/>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30" name="TextBox 29"/>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WHERE THE METHOD COMES FROM</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This is not new here. It is coming back.</a:t>
            </a:r>
          </a:p>
        </p:txBody>
      </p:sp>
      <p:sp>
        <p:nvSpPr>
          <p:cNvPr id="4" name="Rectangle 3"/>
          <p:cNvSpPr/>
          <p:nvPr/>
        </p:nvSpPr>
        <p:spPr>
          <a:xfrm>
            <a:off x="777240" y="2194560"/>
            <a:ext cx="2514600" cy="2286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194560"/>
            <a:ext cx="2514600" cy="50292"/>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377440"/>
            <a:ext cx="2103120" cy="274320"/>
          </a:xfrm>
          <a:prstGeom prst="rect">
            <a:avLst/>
          </a:prstGeom>
          <a:noFill/>
        </p:spPr>
        <p:txBody>
          <a:bodyPr wrap="square" anchor="t">
            <a:spAutoFit/>
          </a:bodyPr>
          <a:lstStyle/>
          <a:p>
            <a:pPr algn="l">
              <a:lnSpc>
                <a:spcPct val="100000"/>
              </a:lnSpc>
            </a:pPr>
            <a:r>
              <a:rPr sz="1200" b="1" i="0">
                <a:solidFill>
                  <a:srgbClr val="1E5F8C"/>
                </a:solidFill>
                <a:latin typeface="Calibri"/>
              </a:rPr>
              <a:t>1924</a:t>
            </a:r>
          </a:p>
        </p:txBody>
      </p:sp>
      <p:sp>
        <p:nvSpPr>
          <p:cNvPr id="7" name="TextBox 6"/>
          <p:cNvSpPr txBox="1"/>
          <p:nvPr/>
        </p:nvSpPr>
        <p:spPr>
          <a:xfrm>
            <a:off x="978408" y="2697480"/>
            <a:ext cx="2148840" cy="731520"/>
          </a:xfrm>
          <a:prstGeom prst="rect">
            <a:avLst/>
          </a:prstGeom>
          <a:noFill/>
        </p:spPr>
        <p:txBody>
          <a:bodyPr wrap="square" anchor="t">
            <a:spAutoFit/>
          </a:bodyPr>
          <a:lstStyle/>
          <a:p>
            <a:pPr algn="l">
              <a:lnSpc>
                <a:spcPct val="100000"/>
              </a:lnSpc>
            </a:pPr>
            <a:r>
              <a:rPr sz="1500" b="1" i="0">
                <a:solidFill>
                  <a:srgbClr val="0F172A"/>
                </a:solidFill>
                <a:latin typeface="Calibri"/>
              </a:rPr>
              <a:t>Walter Shewhart</a:t>
            </a:r>
          </a:p>
        </p:txBody>
      </p:sp>
      <p:sp>
        <p:nvSpPr>
          <p:cNvPr id="8" name="TextBox 7"/>
          <p:cNvSpPr txBox="1"/>
          <p:nvPr/>
        </p:nvSpPr>
        <p:spPr>
          <a:xfrm>
            <a:off x="978408" y="3429000"/>
            <a:ext cx="2148840" cy="960120"/>
          </a:xfrm>
          <a:prstGeom prst="rect">
            <a:avLst/>
          </a:prstGeom>
          <a:noFill/>
        </p:spPr>
        <p:txBody>
          <a:bodyPr wrap="square" anchor="t">
            <a:spAutoFit/>
          </a:bodyPr>
          <a:lstStyle/>
          <a:p>
            <a:pPr algn="l">
              <a:lnSpc>
                <a:spcPct val="110000"/>
              </a:lnSpc>
            </a:pPr>
            <a:r>
              <a:rPr sz="1100" b="0" i="0">
                <a:solidFill>
                  <a:srgbClr val="475569"/>
                </a:solidFill>
                <a:latin typeface="Calibri"/>
              </a:rPr>
              <a:t>Bell Labs. Invents the control chart to tell chance causes from assignable ones.</a:t>
            </a:r>
          </a:p>
        </p:txBody>
      </p:sp>
      <p:cxnSp>
        <p:nvCxnSpPr>
          <p:cNvPr id="9" name="Connector 8"/>
          <p:cNvCxnSpPr/>
          <p:nvPr/>
        </p:nvCxnSpPr>
        <p:spPr>
          <a:xfrm>
            <a:off x="3319272" y="3337560"/>
            <a:ext cx="173736" cy="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520440" y="2194560"/>
            <a:ext cx="2514600" cy="2286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2194560"/>
            <a:ext cx="2514600" cy="50292"/>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2377440"/>
            <a:ext cx="2103120" cy="274320"/>
          </a:xfrm>
          <a:prstGeom prst="rect">
            <a:avLst/>
          </a:prstGeom>
          <a:noFill/>
        </p:spPr>
        <p:txBody>
          <a:bodyPr wrap="square" anchor="t">
            <a:spAutoFit/>
          </a:bodyPr>
          <a:lstStyle/>
          <a:p>
            <a:pPr algn="l">
              <a:lnSpc>
                <a:spcPct val="100000"/>
              </a:lnSpc>
            </a:pPr>
            <a:r>
              <a:rPr sz="1200" b="1" i="0">
                <a:solidFill>
                  <a:srgbClr val="1E5F8C"/>
                </a:solidFill>
                <a:latin typeface="Calibri"/>
              </a:rPr>
              <a:t>1950s</a:t>
            </a:r>
          </a:p>
        </p:txBody>
      </p:sp>
      <p:sp>
        <p:nvSpPr>
          <p:cNvPr id="13" name="TextBox 12"/>
          <p:cNvSpPr txBox="1"/>
          <p:nvPr/>
        </p:nvSpPr>
        <p:spPr>
          <a:xfrm>
            <a:off x="3721608" y="2697480"/>
            <a:ext cx="2148840" cy="731520"/>
          </a:xfrm>
          <a:prstGeom prst="rect">
            <a:avLst/>
          </a:prstGeom>
          <a:noFill/>
        </p:spPr>
        <p:txBody>
          <a:bodyPr wrap="square" anchor="t">
            <a:spAutoFit/>
          </a:bodyPr>
          <a:lstStyle/>
          <a:p>
            <a:pPr algn="l">
              <a:lnSpc>
                <a:spcPct val="100000"/>
              </a:lnSpc>
            </a:pPr>
            <a:r>
              <a:rPr sz="1500" b="1" i="0">
                <a:solidFill>
                  <a:srgbClr val="0F172A"/>
                </a:solidFill>
                <a:latin typeface="Calibri"/>
              </a:rPr>
              <a:t>W. Edwards Deming</a:t>
            </a:r>
          </a:p>
        </p:txBody>
      </p:sp>
      <p:sp>
        <p:nvSpPr>
          <p:cNvPr id="14" name="TextBox 13"/>
          <p:cNvSpPr txBox="1"/>
          <p:nvPr/>
        </p:nvSpPr>
        <p:spPr>
          <a:xfrm>
            <a:off x="3721608" y="3429000"/>
            <a:ext cx="2148840" cy="960120"/>
          </a:xfrm>
          <a:prstGeom prst="rect">
            <a:avLst/>
          </a:prstGeom>
          <a:noFill/>
        </p:spPr>
        <p:txBody>
          <a:bodyPr wrap="square" anchor="t">
            <a:spAutoFit/>
          </a:bodyPr>
          <a:lstStyle/>
          <a:p>
            <a:pPr algn="l">
              <a:lnSpc>
                <a:spcPct val="110000"/>
              </a:lnSpc>
            </a:pPr>
            <a:r>
              <a:rPr sz="1100" b="0" i="0">
                <a:solidFill>
                  <a:srgbClr val="475569"/>
                </a:solidFill>
                <a:latin typeface="Calibri"/>
              </a:rPr>
              <a:t>Carries it into management and into Japan. Names tampering as a management disease.</a:t>
            </a:r>
          </a:p>
        </p:txBody>
      </p:sp>
      <p:cxnSp>
        <p:nvCxnSpPr>
          <p:cNvPr id="15" name="Connector 14"/>
          <p:cNvCxnSpPr/>
          <p:nvPr/>
        </p:nvCxnSpPr>
        <p:spPr>
          <a:xfrm>
            <a:off x="6062472" y="3337560"/>
            <a:ext cx="173736" cy="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263640" y="2194560"/>
            <a:ext cx="2514600" cy="2286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94560"/>
            <a:ext cx="2514600" cy="50292"/>
          </a:xfrm>
          <a:prstGeom prst="rect">
            <a:avLst/>
          </a:prstGeom>
          <a:solidFill>
            <a:srgbClr val="1E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2377440"/>
            <a:ext cx="2103120" cy="274320"/>
          </a:xfrm>
          <a:prstGeom prst="rect">
            <a:avLst/>
          </a:prstGeom>
          <a:noFill/>
        </p:spPr>
        <p:txBody>
          <a:bodyPr wrap="square" anchor="t">
            <a:spAutoFit/>
          </a:bodyPr>
          <a:lstStyle/>
          <a:p>
            <a:pPr algn="l">
              <a:lnSpc>
                <a:spcPct val="100000"/>
              </a:lnSpc>
            </a:pPr>
            <a:r>
              <a:rPr sz="1200" b="1" i="0">
                <a:solidFill>
                  <a:srgbClr val="1E5F8C"/>
                </a:solidFill>
                <a:latin typeface="Calibri"/>
              </a:rPr>
              <a:t>2002</a:t>
            </a:r>
          </a:p>
        </p:txBody>
      </p:sp>
      <p:sp>
        <p:nvSpPr>
          <p:cNvPr id="19" name="TextBox 18"/>
          <p:cNvSpPr txBox="1"/>
          <p:nvPr/>
        </p:nvSpPr>
        <p:spPr>
          <a:xfrm>
            <a:off x="6464807" y="2697480"/>
            <a:ext cx="2148840" cy="731520"/>
          </a:xfrm>
          <a:prstGeom prst="rect">
            <a:avLst/>
          </a:prstGeom>
          <a:noFill/>
        </p:spPr>
        <p:txBody>
          <a:bodyPr wrap="square" anchor="t">
            <a:spAutoFit/>
          </a:bodyPr>
          <a:lstStyle/>
          <a:p>
            <a:pPr algn="l">
              <a:lnSpc>
                <a:spcPct val="100000"/>
              </a:lnSpc>
            </a:pPr>
            <a:r>
              <a:rPr sz="1500" b="1" i="0">
                <a:solidFill>
                  <a:srgbClr val="0F172A"/>
                </a:solidFill>
                <a:latin typeface="Calibri"/>
              </a:rPr>
              <a:t>Marilyn K. Hart
Robert F. Hart</a:t>
            </a:r>
          </a:p>
        </p:txBody>
      </p:sp>
      <p:sp>
        <p:nvSpPr>
          <p:cNvPr id="20" name="TextBox 19"/>
          <p:cNvSpPr txBox="1"/>
          <p:nvPr/>
        </p:nvSpPr>
        <p:spPr>
          <a:xfrm>
            <a:off x="6464807" y="3429000"/>
            <a:ext cx="2148840" cy="960120"/>
          </a:xfrm>
          <a:prstGeom prst="rect">
            <a:avLst/>
          </a:prstGeom>
          <a:noFill/>
        </p:spPr>
        <p:txBody>
          <a:bodyPr wrap="square" anchor="t">
            <a:spAutoFit/>
          </a:bodyPr>
          <a:lstStyle/>
          <a:p>
            <a:pPr algn="l">
              <a:lnSpc>
                <a:spcPct val="110000"/>
              </a:lnSpc>
            </a:pPr>
            <a:r>
              <a:rPr sz="1100" b="0" i="0">
                <a:solidFill>
                  <a:srgbClr val="475569"/>
                </a:solidFill>
                <a:latin typeface="Calibri"/>
              </a:rPr>
              <a:t>Statistical Process Control for Health Care. Both mathematicians; they advised the major SPC software vendors on getting the arithmetic right.</a:t>
            </a:r>
          </a:p>
        </p:txBody>
      </p:sp>
      <p:cxnSp>
        <p:nvCxnSpPr>
          <p:cNvPr id="21" name="Connector 20"/>
          <p:cNvCxnSpPr/>
          <p:nvPr/>
        </p:nvCxnSpPr>
        <p:spPr>
          <a:xfrm>
            <a:off x="8805672" y="3337560"/>
            <a:ext cx="173736" cy="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006840" y="2194560"/>
            <a:ext cx="2514600" cy="2286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2194560"/>
            <a:ext cx="2514600" cy="50292"/>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08008" y="2377440"/>
            <a:ext cx="2103120" cy="274320"/>
          </a:xfrm>
          <a:prstGeom prst="rect">
            <a:avLst/>
          </a:prstGeom>
          <a:noFill/>
        </p:spPr>
        <p:txBody>
          <a:bodyPr wrap="square" anchor="t">
            <a:spAutoFit/>
          </a:bodyPr>
          <a:lstStyle/>
          <a:p>
            <a:pPr algn="l">
              <a:lnSpc>
                <a:spcPct val="100000"/>
              </a:lnSpc>
            </a:pPr>
            <a:r>
              <a:rPr sz="1200" b="1" i="0">
                <a:solidFill>
                  <a:srgbClr val="D4622F"/>
                </a:solidFill>
                <a:latin typeface="Calibri"/>
              </a:rPr>
              <a:t>Then</a:t>
            </a:r>
          </a:p>
        </p:txBody>
      </p:sp>
      <p:sp>
        <p:nvSpPr>
          <p:cNvPr id="25" name="TextBox 24"/>
          <p:cNvSpPr txBox="1"/>
          <p:nvPr/>
        </p:nvSpPr>
        <p:spPr>
          <a:xfrm>
            <a:off x="9208008" y="2697480"/>
            <a:ext cx="2148840" cy="731520"/>
          </a:xfrm>
          <a:prstGeom prst="rect">
            <a:avLst/>
          </a:prstGeom>
          <a:noFill/>
        </p:spPr>
        <p:txBody>
          <a:bodyPr wrap="square" anchor="t">
            <a:spAutoFit/>
          </a:bodyPr>
          <a:lstStyle/>
          <a:p>
            <a:pPr algn="l">
              <a:lnSpc>
                <a:spcPct val="100000"/>
              </a:lnSpc>
            </a:pPr>
            <a:r>
              <a:rPr sz="1500" b="1" i="0">
                <a:solidFill>
                  <a:srgbClr val="0F172A"/>
                </a:solidFill>
                <a:latin typeface="Calibri"/>
              </a:rPr>
              <a:t>Whatcom County</a:t>
            </a:r>
          </a:p>
        </p:txBody>
      </p:sp>
      <p:sp>
        <p:nvSpPr>
          <p:cNvPr id="26" name="TextBox 25"/>
          <p:cNvSpPr txBox="1"/>
          <p:nvPr/>
        </p:nvSpPr>
        <p:spPr>
          <a:xfrm>
            <a:off x="9208008" y="3429000"/>
            <a:ext cx="2148840" cy="960120"/>
          </a:xfrm>
          <a:prstGeom prst="rect">
            <a:avLst/>
          </a:prstGeom>
          <a:noFill/>
        </p:spPr>
        <p:txBody>
          <a:bodyPr wrap="square" anchor="t">
            <a:spAutoFit/>
          </a:bodyPr>
          <a:lstStyle/>
          <a:p>
            <a:pPr algn="l">
              <a:lnSpc>
                <a:spcPct val="110000"/>
              </a:lnSpc>
            </a:pPr>
            <a:r>
              <a:rPr sz="1100" b="0" i="0">
                <a:solidFill>
                  <a:srgbClr val="475569"/>
                </a:solidFill>
                <a:latin typeface="Calibri"/>
              </a:rPr>
              <a:t>The Harts worked here for more than a year. Whatcom appears in the book.</a:t>
            </a:r>
          </a:p>
        </p:txBody>
      </p:sp>
      <p:sp>
        <p:nvSpPr>
          <p:cNvPr id="27" name="Rectangle 26"/>
          <p:cNvSpPr/>
          <p:nvPr/>
        </p:nvSpPr>
        <p:spPr>
          <a:xfrm>
            <a:off x="777240" y="4800600"/>
            <a:ext cx="10607040" cy="1184148"/>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4937760"/>
            <a:ext cx="10058400" cy="329184"/>
          </a:xfrm>
          <a:prstGeom prst="rect">
            <a:avLst/>
          </a:prstGeom>
          <a:noFill/>
        </p:spPr>
        <p:txBody>
          <a:bodyPr wrap="square" anchor="t">
            <a:spAutoFit/>
          </a:bodyPr>
          <a:lstStyle/>
          <a:p>
            <a:pPr algn="l">
              <a:lnSpc>
                <a:spcPct val="100000"/>
              </a:lnSpc>
            </a:pPr>
            <a:r>
              <a:rPr sz="1500" b="1" i="0">
                <a:solidFill>
                  <a:srgbClr val="0F2F47"/>
                </a:solidFill>
                <a:latin typeface="Calibri"/>
              </a:rPr>
              <a:t>Why the Harts matter for our case specifically</a:t>
            </a:r>
          </a:p>
        </p:txBody>
      </p:sp>
      <p:sp>
        <p:nvSpPr>
          <p:cNvPr id="29" name="TextBox 28"/>
          <p:cNvSpPr txBox="1"/>
          <p:nvPr/>
        </p:nvSpPr>
        <p:spPr>
          <a:xfrm>
            <a:off x="1051560" y="5330952"/>
            <a:ext cx="10058400" cy="525780"/>
          </a:xfrm>
          <a:prstGeom prst="rect">
            <a:avLst/>
          </a:prstGeom>
          <a:noFill/>
        </p:spPr>
        <p:txBody>
          <a:bodyPr wrap="square" anchor="t">
            <a:spAutoFit/>
          </a:bodyPr>
          <a:lstStyle/>
          <a:p>
            <a:pPr algn="l">
              <a:lnSpc>
                <a:spcPct val="112000"/>
              </a:lnSpc>
            </a:pPr>
            <a:r>
              <a:rPr sz="1250" b="0" i="0">
                <a:solidFill>
                  <a:srgbClr val="475569"/>
                </a:solidFill>
                <a:latin typeface="Calibri"/>
              </a:rPr>
              <a:t>Their treatment of the varying denominator is unusually careful — which is what you would expect from people writing the spec a software vendor codes against, rather than teaching a seminar. Health care lives in the varying-denominator case; manufacturing textbooks treat it as an afterthought.</a:t>
            </a:r>
          </a:p>
        </p:txBody>
      </p:sp>
      <p:sp>
        <p:nvSpPr>
          <p:cNvPr id="30" name="TextBox 2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31" name="TextBox 3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E5F8C"/>
                </a:solidFill>
                <a:latin typeface="Calibri"/>
              </a:rPr>
              <a:t>HONEST EXPECTATIONS</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What adopting this actually feels like</a:t>
            </a:r>
          </a:p>
        </p:txBody>
      </p:sp>
      <p:sp>
        <p:nvSpPr>
          <p:cNvPr id="4" name="Rectangle 3"/>
          <p:cNvSpPr/>
          <p:nvPr/>
        </p:nvSpPr>
        <p:spPr>
          <a:xfrm>
            <a:off x="777240" y="2057400"/>
            <a:ext cx="10607040" cy="1234440"/>
          </a:xfrm>
          <a:prstGeom prst="rect">
            <a:avLst/>
          </a:prstGeom>
          <a:solidFill>
            <a:srgbClr val="EEF7F0"/>
          </a:solidFill>
          <a:ln w="15875">
            <a:solidFill>
              <a:srgbClr val="2F6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94560"/>
            <a:ext cx="10058400" cy="329184"/>
          </a:xfrm>
          <a:prstGeom prst="rect">
            <a:avLst/>
          </a:prstGeom>
          <a:noFill/>
        </p:spPr>
        <p:txBody>
          <a:bodyPr wrap="square" anchor="t">
            <a:spAutoFit/>
          </a:bodyPr>
          <a:lstStyle/>
          <a:p>
            <a:pPr algn="l">
              <a:lnSpc>
                <a:spcPct val="100000"/>
              </a:lnSpc>
            </a:pPr>
            <a:r>
              <a:rPr sz="1500" b="1" i="0">
                <a:solidFill>
                  <a:srgbClr val="2F6B45"/>
                </a:solidFill>
                <a:latin typeface="Calibri"/>
              </a:rPr>
              <a:t>Most measures will come back stable and unsatisfactory</a:t>
            </a:r>
          </a:p>
        </p:txBody>
      </p:sp>
      <p:sp>
        <p:nvSpPr>
          <p:cNvPr id="6" name="TextBox 5"/>
          <p:cNvSpPr txBox="1"/>
          <p:nvPr/>
        </p:nvSpPr>
        <p:spPr>
          <a:xfrm>
            <a:off x="1051560" y="2587752"/>
            <a:ext cx="10058400" cy="576072"/>
          </a:xfrm>
          <a:prstGeom prst="rect">
            <a:avLst/>
          </a:prstGeom>
          <a:noFill/>
        </p:spPr>
        <p:txBody>
          <a:bodyPr wrap="square" anchor="t">
            <a:spAutoFit/>
          </a:bodyPr>
          <a:lstStyle/>
          <a:p>
            <a:pPr algn="l">
              <a:lnSpc>
                <a:spcPct val="112000"/>
              </a:lnSpc>
            </a:pPr>
            <a:r>
              <a:rPr sz="1250" b="0" i="0">
                <a:solidFill>
                  <a:srgbClr val="475569"/>
                </a:solidFill>
                <a:latin typeface="Calibri"/>
              </a:rPr>
              <a:t>No signals, and the average is nowhere near where anyone wants it. This is the most common finding and the most useful one: it moves the conversation from "who had a bad month" to "what would have to change about how we work". Nothing short of a system change will move a stable process.</a:t>
            </a:r>
          </a:p>
        </p:txBody>
      </p:sp>
      <p:sp>
        <p:nvSpPr>
          <p:cNvPr id="7" name="Rectangle 6"/>
          <p:cNvSpPr/>
          <p:nvPr/>
        </p:nvSpPr>
        <p:spPr>
          <a:xfrm>
            <a:off x="777240" y="3520440"/>
            <a:ext cx="10607040" cy="109728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657600"/>
            <a:ext cx="10058400" cy="329184"/>
          </a:xfrm>
          <a:prstGeom prst="rect">
            <a:avLst/>
          </a:prstGeom>
          <a:noFill/>
        </p:spPr>
        <p:txBody>
          <a:bodyPr wrap="square" anchor="t">
            <a:spAutoFit/>
          </a:bodyPr>
          <a:lstStyle/>
          <a:p>
            <a:pPr algn="l">
              <a:lnSpc>
                <a:spcPct val="100000"/>
              </a:lnSpc>
            </a:pPr>
            <a:r>
              <a:rPr sz="1500" b="1" i="0">
                <a:solidFill>
                  <a:srgbClr val="854D0E"/>
                </a:solidFill>
                <a:latin typeface="Calibri"/>
              </a:rPr>
              <a:t>The first honest chart will be unpopular</a:t>
            </a:r>
          </a:p>
        </p:txBody>
      </p:sp>
      <p:sp>
        <p:nvSpPr>
          <p:cNvPr id="9" name="TextBox 8"/>
          <p:cNvSpPr txBox="1"/>
          <p:nvPr/>
        </p:nvSpPr>
        <p:spPr>
          <a:xfrm>
            <a:off x="1051560" y="4050791"/>
            <a:ext cx="10058400" cy="438912"/>
          </a:xfrm>
          <a:prstGeom prst="rect">
            <a:avLst/>
          </a:prstGeom>
          <a:noFill/>
        </p:spPr>
        <p:txBody>
          <a:bodyPr wrap="square" anchor="t">
            <a:spAutoFit/>
          </a:bodyPr>
          <a:lstStyle/>
          <a:p>
            <a:pPr algn="l">
              <a:lnSpc>
                <a:spcPct val="112000"/>
              </a:lnSpc>
            </a:pPr>
            <a:r>
              <a:rPr sz="1250" b="0" i="0">
                <a:solidFill>
                  <a:srgbClr val="475569"/>
                </a:solidFill>
                <a:latin typeface="Calibri"/>
              </a:rPr>
              <a:t>It will retire a story someone is attached to — usually a quarterly improvement that was noise, or a problem clinic that turns out to be a subgrouping artifact. Plan for that conversation rather than being surprised by it.</a:t>
            </a:r>
          </a:p>
        </p:txBody>
      </p:sp>
      <p:sp>
        <p:nvSpPr>
          <p:cNvPr id="10" name="Rectangle 9"/>
          <p:cNvSpPr/>
          <p:nvPr/>
        </p:nvSpPr>
        <p:spPr>
          <a:xfrm>
            <a:off x="777240" y="4846320"/>
            <a:ext cx="10607040" cy="1097280"/>
          </a:xfrm>
          <a:prstGeom prst="rect">
            <a:avLst/>
          </a:prstGeom>
          <a:solidFill>
            <a:srgbClr val="DBEAF6"/>
          </a:solidFill>
          <a:ln w="15875">
            <a:solidFill>
              <a:srgbClr val="1E5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983480"/>
            <a:ext cx="10058400" cy="329184"/>
          </a:xfrm>
          <a:prstGeom prst="rect">
            <a:avLst/>
          </a:prstGeom>
          <a:noFill/>
        </p:spPr>
        <p:txBody>
          <a:bodyPr wrap="square" anchor="t">
            <a:spAutoFit/>
          </a:bodyPr>
          <a:lstStyle/>
          <a:p>
            <a:pPr algn="l">
              <a:lnSpc>
                <a:spcPct val="100000"/>
              </a:lnSpc>
            </a:pPr>
            <a:r>
              <a:rPr sz="1500" b="1" i="0">
                <a:solidFill>
                  <a:srgbClr val="0F2F47"/>
                </a:solidFill>
                <a:latin typeface="Calibri"/>
              </a:rPr>
              <a:t>And the charts will be readable by everyone in the room</a:t>
            </a:r>
          </a:p>
        </p:txBody>
      </p:sp>
      <p:sp>
        <p:nvSpPr>
          <p:cNvPr id="12" name="TextBox 11"/>
          <p:cNvSpPr txBox="1"/>
          <p:nvPr/>
        </p:nvSpPr>
        <p:spPr>
          <a:xfrm>
            <a:off x="1051560" y="5376672"/>
            <a:ext cx="10058400" cy="438912"/>
          </a:xfrm>
          <a:prstGeom prst="rect">
            <a:avLst/>
          </a:prstGeom>
          <a:noFill/>
        </p:spPr>
        <p:txBody>
          <a:bodyPr wrap="square" anchor="t">
            <a:spAutoFit/>
          </a:bodyPr>
          <a:lstStyle/>
          <a:p>
            <a:pPr algn="l">
              <a:lnSpc>
                <a:spcPct val="112000"/>
              </a:lnSpc>
            </a:pPr>
            <a:r>
              <a:rPr sz="1250" b="0" i="0">
                <a:solidFill>
                  <a:srgbClr val="475569"/>
                </a:solidFill>
                <a:latin typeface="Calibri"/>
              </a:rPr>
              <a:t>That is the design goal above all others: a picture a group can gather around, point at, and argue about with no training at all. A control chart may be the best one ever invented for that, and it was finished in 1924.</a:t>
            </a:r>
          </a:p>
        </p:txBody>
      </p:sp>
      <p:sp>
        <p:nvSpPr>
          <p:cNvPr id="13" name="TextBox 12"/>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Process Behavior Charts</a:t>
            </a:r>
          </a:p>
        </p:txBody>
      </p:sp>
      <p:sp>
        <p:nvSpPr>
          <p:cNvPr id="14" name="TextBox 1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F47"/>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F2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371600"/>
            <a:ext cx="1463040" cy="54864"/>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058400" cy="731520"/>
          </a:xfrm>
          <a:prstGeom prst="rect">
            <a:avLst/>
          </a:prstGeom>
          <a:noFill/>
        </p:spPr>
        <p:txBody>
          <a:bodyPr wrap="square" anchor="t">
            <a:spAutoFit/>
          </a:bodyPr>
          <a:lstStyle/>
          <a:p>
            <a:pPr algn="l">
              <a:lnSpc>
                <a:spcPct val="100000"/>
              </a:lnSpc>
            </a:pPr>
            <a:r>
              <a:rPr sz="3400" b="1" i="0">
                <a:solidFill>
                  <a:srgbClr val="FFFFFF"/>
                </a:solidFill>
                <a:latin typeface="Calibri"/>
              </a:rPr>
              <a:t>What we would need from you</a:t>
            </a:r>
          </a:p>
        </p:txBody>
      </p:sp>
      <p:sp>
        <p:nvSpPr>
          <p:cNvPr id="5" name="Rectangle 4"/>
          <p:cNvSpPr/>
          <p:nvPr/>
        </p:nvSpPr>
        <p:spPr>
          <a:xfrm>
            <a:off x="777240" y="2606040"/>
            <a:ext cx="50292" cy="86868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62432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Three real measures</a:t>
            </a:r>
          </a:p>
        </p:txBody>
      </p:sp>
      <p:sp>
        <p:nvSpPr>
          <p:cNvPr id="7" name="TextBox 6"/>
          <p:cNvSpPr txBox="1"/>
          <p:nvPr/>
        </p:nvSpPr>
        <p:spPr>
          <a:xfrm>
            <a:off x="4846320" y="26060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Whichever three the co-op is most likely to be judged on. Long format, one row per observation, denominators included.</a:t>
            </a:r>
          </a:p>
        </p:txBody>
      </p:sp>
      <p:sp>
        <p:nvSpPr>
          <p:cNvPr id="8" name="Rectangle 7"/>
          <p:cNvSpPr/>
          <p:nvPr/>
        </p:nvSpPr>
        <p:spPr>
          <a:xfrm>
            <a:off x="777240" y="3520440"/>
            <a:ext cx="50292" cy="86868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53872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The grouping columns</a:t>
            </a:r>
          </a:p>
        </p:txBody>
      </p:sp>
      <p:sp>
        <p:nvSpPr>
          <p:cNvPr id="10" name="TextBox 9"/>
          <p:cNvSpPr txBox="1"/>
          <p:nvPr/>
        </p:nvSpPr>
        <p:spPr>
          <a:xfrm>
            <a:off x="4846320" y="35204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Clinic, CHW, provider, shift — whatever the data can be split by. Without these the subgrouping panel has nothing to work with.</a:t>
            </a:r>
          </a:p>
        </p:txBody>
      </p:sp>
      <p:sp>
        <p:nvSpPr>
          <p:cNvPr id="11" name="Rectangle 10"/>
          <p:cNvSpPr/>
          <p:nvPr/>
        </p:nvSpPr>
        <p:spPr>
          <a:xfrm>
            <a:off x="777240" y="4434840"/>
            <a:ext cx="50292" cy="86868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5312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What you changed, and when</a:t>
            </a:r>
          </a:p>
        </p:txBody>
      </p:sp>
      <p:sp>
        <p:nvSpPr>
          <p:cNvPr id="13" name="TextBox 12"/>
          <p:cNvSpPr txBox="1"/>
          <p:nvPr/>
        </p:nvSpPr>
        <p:spPr>
          <a:xfrm>
            <a:off x="4846320" y="44348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Every deliberate change to those processes with its date — new staff, new forms, new locations. Without it we will read your improvements as instability.</a:t>
            </a:r>
          </a:p>
        </p:txBody>
      </p:sp>
      <p:sp>
        <p:nvSpPr>
          <p:cNvPr id="14" name="Rectangle 13"/>
          <p:cNvSpPr/>
          <p:nvPr/>
        </p:nvSpPr>
        <p:spPr>
          <a:xfrm>
            <a:off x="777240" y="5349240"/>
            <a:ext cx="50292" cy="868680"/>
          </a:xfrm>
          <a:prstGeom prst="rect">
            <a:avLst/>
          </a:prstGeom>
          <a:solidFill>
            <a:srgbClr val="D4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36752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One thing you already believe</a:t>
            </a:r>
          </a:p>
        </p:txBody>
      </p:sp>
      <p:sp>
        <p:nvSpPr>
          <p:cNvPr id="16" name="TextBox 15"/>
          <p:cNvSpPr txBox="1"/>
          <p:nvPr/>
        </p:nvSpPr>
        <p:spPr>
          <a:xfrm>
            <a:off x="4846320" y="5349240"/>
            <a:ext cx="6492240" cy="868680"/>
          </a:xfrm>
          <a:prstGeom prst="rect">
            <a:avLst/>
          </a:prstGeom>
          <a:noFill/>
        </p:spPr>
        <p:txBody>
          <a:bodyPr wrap="square" anchor="t">
            <a:spAutoFit/>
          </a:bodyPr>
          <a:lstStyle/>
          <a:p>
            <a:pPr algn="l">
              <a:lnSpc>
                <a:spcPct val="115000"/>
              </a:lnSpc>
            </a:pPr>
            <a:r>
              <a:rPr sz="1300" b="0" i="0">
                <a:solidFill>
                  <a:srgbClr val="C6DBEA"/>
                </a:solidFill>
                <a:latin typeface="Calibri"/>
              </a:rPr>
              <a:t>A conclusion someone has drawn from the numbers. Charting it is the fastest way to find out whether the method earns its keep.</a:t>
            </a:r>
          </a:p>
        </p:txBody>
      </p:sp>
      <p:sp>
        <p:nvSpPr>
          <p:cNvPr id="17" name="TextBox 16"/>
          <p:cNvSpPr txBox="1"/>
          <p:nvPr/>
        </p:nvSpPr>
        <p:spPr>
          <a:xfrm>
            <a:off x="777240" y="6355080"/>
            <a:ext cx="10058400" cy="320040"/>
          </a:xfrm>
          <a:prstGeom prst="rect">
            <a:avLst/>
          </a:prstGeom>
          <a:noFill/>
        </p:spPr>
        <p:txBody>
          <a:bodyPr wrap="square" anchor="t">
            <a:spAutoFit/>
          </a:bodyPr>
          <a:lstStyle/>
          <a:p>
            <a:pPr algn="l">
              <a:lnSpc>
                <a:spcPct val="100000"/>
              </a:lnSpc>
            </a:pPr>
            <a:r>
              <a:rPr sz="1300" b="0" i="1">
                <a:solidFill>
                  <a:srgbClr val="7BA7C7"/>
                </a:solidFill>
                <a:latin typeface="Calibri"/>
              </a:rPr>
              <a:t>The tool, an introduction, and a full user manual are ready to try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