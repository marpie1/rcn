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3"/>
  </p:normalViewPr>
  <p:slideViewPr>
    <p:cSldViewPr snapToGrid="0" snapToObjects="1">
      <p:cViewPr>
        <p:scale>
          <a:sx n="121" d="100"/>
          <a:sy n="121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1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9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9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9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9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0A9E1-755C-5842-A5D0-DEA425D67EAB}" type="datetimeFigureOut">
              <a:rPr lang="en-US" smtClean="0"/>
              <a:t>2/24/16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2B20-B8D3-3E45-B8B1-CC9432D62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3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VSM—Linkage Maps—Idealized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 Logic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46" y="365125"/>
            <a:ext cx="3037488" cy="28825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QBS, Interactive Planning &amp; VSM</a:t>
            </a:r>
            <a:br>
              <a:rPr lang="en-US" dirty="0" smtClean="0"/>
            </a:br>
            <a:r>
              <a:rPr lang="en-US" dirty="0" smtClean="0"/>
              <a:t>Integrated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221" y="-310420"/>
            <a:ext cx="5801710" cy="7508096"/>
          </a:xfrm>
        </p:spPr>
      </p:pic>
    </p:spTree>
    <p:extLst>
      <p:ext uri="{BB962C8B-B14F-4D97-AF65-F5344CB8AC3E}">
        <p14:creationId xmlns:p14="http://schemas.microsoft.com/office/powerpoint/2010/main" val="1220389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WILL END UP WITH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/>
              <a:t>understandable </a:t>
            </a:r>
            <a:r>
              <a:rPr lang="en-US" dirty="0" smtClean="0"/>
              <a:t>picture of </a:t>
            </a:r>
            <a:r>
              <a:rPr lang="en-US" u="sng" dirty="0" smtClean="0"/>
              <a:t>our whole </a:t>
            </a:r>
            <a:r>
              <a:rPr lang="en-US" u="sng" dirty="0" smtClean="0"/>
              <a:t>system of </a:t>
            </a:r>
            <a:r>
              <a:rPr lang="en-US" u="sng" dirty="0" smtClean="0"/>
              <a:t>health</a:t>
            </a:r>
          </a:p>
          <a:p>
            <a:pPr lvl="1"/>
            <a:r>
              <a:rPr lang="en-US" dirty="0" smtClean="0"/>
              <a:t>So that we can </a:t>
            </a:r>
            <a:r>
              <a:rPr lang="en-US" u="sng" dirty="0" smtClean="0"/>
              <a:t>systematically improve </a:t>
            </a:r>
            <a:r>
              <a:rPr lang="en-US" dirty="0" smtClean="0"/>
              <a:t>the way we create and maintain health</a:t>
            </a:r>
          </a:p>
          <a:p>
            <a:r>
              <a:rPr lang="en-US" dirty="0" smtClean="0"/>
              <a:t>A cooperative way of </a:t>
            </a:r>
            <a:r>
              <a:rPr lang="en-US" u="sng" dirty="0" smtClean="0"/>
              <a:t>making decisions</a:t>
            </a:r>
            <a:r>
              <a:rPr lang="en-US" dirty="0" smtClean="0"/>
              <a:t> on what to improve together</a:t>
            </a:r>
          </a:p>
          <a:p>
            <a:pPr lvl="1"/>
            <a:r>
              <a:rPr lang="en-US" dirty="0" smtClean="0"/>
              <a:t>Jointly </a:t>
            </a:r>
            <a:r>
              <a:rPr lang="en-US" u="sng" dirty="0" smtClean="0"/>
              <a:t>prioritized improvements </a:t>
            </a:r>
            <a:r>
              <a:rPr lang="en-US" dirty="0" smtClean="0"/>
              <a:t>that we commit to</a:t>
            </a:r>
          </a:p>
          <a:p>
            <a:r>
              <a:rPr lang="en-US" dirty="0" smtClean="0"/>
              <a:t>Shared </a:t>
            </a:r>
            <a:r>
              <a:rPr lang="en-US" u="sng" dirty="0" smtClean="0"/>
              <a:t>learning and coordination</a:t>
            </a:r>
            <a:r>
              <a:rPr lang="en-US" dirty="0" smtClean="0"/>
              <a:t> resources for ongoing improvement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03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IS AN EMERGENT PROPERTY 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Families, Friends &amp; Peers</a:t>
            </a:r>
          </a:p>
          <a:p>
            <a:r>
              <a:rPr lang="en-US" dirty="0" smtClean="0"/>
              <a:t>Neighbors &amp; Neighborhoods</a:t>
            </a:r>
          </a:p>
          <a:p>
            <a:r>
              <a:rPr lang="en-US" dirty="0" smtClean="0"/>
              <a:t>Communities &amp; Associations</a:t>
            </a:r>
          </a:p>
          <a:p>
            <a:r>
              <a:rPr lang="en-US" dirty="0" smtClean="0"/>
              <a:t>Institutions</a:t>
            </a:r>
          </a:p>
          <a:p>
            <a:pPr lvl="1"/>
            <a:r>
              <a:rPr lang="en-US" dirty="0" smtClean="0"/>
              <a:t>Schools</a:t>
            </a:r>
          </a:p>
          <a:p>
            <a:pPr lvl="1"/>
            <a:r>
              <a:rPr lang="en-US" dirty="0" smtClean="0"/>
              <a:t>Work</a:t>
            </a:r>
          </a:p>
          <a:p>
            <a:pPr lvl="1"/>
            <a:r>
              <a:rPr lang="en-US" dirty="0" smtClean="0"/>
              <a:t>Faith-based</a:t>
            </a:r>
          </a:p>
          <a:p>
            <a:pPr lvl="1"/>
            <a:r>
              <a:rPr lang="en-US" dirty="0" smtClean="0"/>
              <a:t>Government</a:t>
            </a:r>
          </a:p>
          <a:p>
            <a:pPr lvl="1"/>
            <a:r>
              <a:rPr lang="en-US" dirty="0" smtClean="0"/>
              <a:t>NGOs</a:t>
            </a:r>
          </a:p>
          <a:p>
            <a:pPr lvl="1"/>
            <a:r>
              <a:rPr lang="en-US" dirty="0" smtClean="0"/>
              <a:t>Medical Services</a:t>
            </a:r>
          </a:p>
          <a:p>
            <a:pPr lvl="1"/>
            <a:r>
              <a:rPr lang="en-US" dirty="0" smtClean="0"/>
              <a:t>Social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4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SYSTEMS AND SUBSYSTEMS INTERACT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Health and illness emerge from a complex interplay of</a:t>
            </a:r>
          </a:p>
          <a:p>
            <a:pPr lvl="1"/>
            <a:r>
              <a:rPr lang="en-US" dirty="0" smtClean="0"/>
              <a:t>Culture</a:t>
            </a:r>
            <a:r>
              <a:rPr lang="en-US" dirty="0" smtClean="0"/>
              <a:t>—</a:t>
            </a:r>
            <a:r>
              <a:rPr lang="en-US" dirty="0" smtClean="0"/>
              <a:t>Community—Social Services—Medical Services</a:t>
            </a:r>
          </a:p>
          <a:p>
            <a:r>
              <a:rPr lang="en-US" dirty="0" smtClean="0"/>
              <a:t>The connections and interactions are at least as important</a:t>
            </a:r>
            <a:r>
              <a:rPr lang="en-US" dirty="0" smtClean="0"/>
              <a:t> as the individual performance of the parts taken together.</a:t>
            </a:r>
          </a:p>
          <a:p>
            <a:r>
              <a:rPr lang="en-US" dirty="0" smtClean="0"/>
              <a:t>To understand the interactions and improve them we must be able to see them: </a:t>
            </a:r>
          </a:p>
          <a:p>
            <a:pPr lvl="1"/>
            <a:r>
              <a:rPr lang="en-US" dirty="0" smtClean="0"/>
              <a:t>LINKAGE MAPPING.</a:t>
            </a:r>
          </a:p>
          <a:p>
            <a:r>
              <a:rPr lang="en-US" dirty="0" smtClean="0"/>
              <a:t>How to organize the parts and connections into useful “maps” of related parts?</a:t>
            </a:r>
          </a:p>
          <a:p>
            <a:pPr lvl="1"/>
            <a:r>
              <a:rPr lang="en-US" dirty="0" smtClean="0"/>
              <a:t>Mainstay</a:t>
            </a:r>
            <a:r>
              <a:rPr lang="en-US" dirty="0" smtClean="0"/>
              <a:t>—</a:t>
            </a:r>
            <a:r>
              <a:rPr lang="en-US" dirty="0" smtClean="0"/>
              <a:t>Client’s perspective (for service delivery)</a:t>
            </a:r>
          </a:p>
          <a:p>
            <a:pPr lvl="1"/>
            <a:r>
              <a:rPr lang="en-US" dirty="0" smtClean="0"/>
              <a:t>Support</a:t>
            </a:r>
            <a:r>
              <a:rPr lang="en-US" dirty="0" smtClean="0"/>
              <a:t>—</a:t>
            </a:r>
            <a:r>
              <a:rPr lang="en-US" dirty="0" smtClean="0"/>
              <a:t>Staff’s perspective (for supporting both planning and service delivery functions)</a:t>
            </a:r>
          </a:p>
          <a:p>
            <a:pPr lvl="1"/>
            <a:r>
              <a:rPr lang="en-US" dirty="0" smtClean="0"/>
              <a:t>Driver</a:t>
            </a:r>
            <a:r>
              <a:rPr lang="en-US" dirty="0" smtClean="0"/>
              <a:t>—</a:t>
            </a:r>
            <a:r>
              <a:rPr lang="en-US" dirty="0" smtClean="0"/>
              <a:t>Stakeholder’s perspective (for overall planning)</a:t>
            </a:r>
          </a:p>
        </p:txBody>
      </p:sp>
    </p:spTree>
    <p:extLst>
      <p:ext uri="{BB962C8B-B14F-4D97-AF65-F5344CB8AC3E}">
        <p14:creationId xmlns:p14="http://schemas.microsoft.com/office/powerpoint/2010/main" val="183338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THE MAINSTAY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LIST THE PARTS, and then</a:t>
            </a:r>
          </a:p>
          <a:p>
            <a:endParaRPr lang="en-US" dirty="0" smtClean="0"/>
          </a:p>
          <a:p>
            <a:r>
              <a:rPr lang="en-US" dirty="0" smtClean="0"/>
              <a:t>PROCESS 1</a:t>
            </a:r>
          </a:p>
          <a:p>
            <a:pPr lvl="1"/>
            <a:r>
              <a:rPr lang="en-US" dirty="0" smtClean="0"/>
              <a:t>Start with institutional pain points between institutions</a:t>
            </a:r>
          </a:p>
          <a:p>
            <a:pPr lvl="1"/>
            <a:r>
              <a:rPr lang="en-US" dirty="0" smtClean="0"/>
              <a:t>Work with other institutions to improve the flow between institutions</a:t>
            </a:r>
          </a:p>
          <a:p>
            <a:pPr lvl="2"/>
            <a:r>
              <a:rPr lang="en-US" dirty="0" smtClean="0"/>
              <a:t>Flow included: Clients, Information, Materials</a:t>
            </a:r>
          </a:p>
          <a:p>
            <a:r>
              <a:rPr lang="en-US" dirty="0" smtClean="0"/>
              <a:t>PROCESS 2</a:t>
            </a:r>
          </a:p>
          <a:p>
            <a:pPr lvl="1"/>
            <a:r>
              <a:rPr lang="en-US" dirty="0" smtClean="0"/>
              <a:t>Start with specific clients’ needs (Service Line concept)</a:t>
            </a:r>
          </a:p>
          <a:p>
            <a:pPr lvl="1"/>
            <a:r>
              <a:rPr lang="en-US" dirty="0" smtClean="0"/>
              <a:t>Align them into a system(s)</a:t>
            </a:r>
          </a:p>
          <a:p>
            <a:pPr lvl="1"/>
            <a:r>
              <a:rPr lang="en-US" dirty="0" smtClean="0"/>
              <a:t>Work to improve the flow (sequence) of services needed</a:t>
            </a:r>
          </a:p>
          <a:p>
            <a:pPr lvl="1"/>
            <a:r>
              <a:rPr lang="en-US" dirty="0" smtClean="0"/>
              <a:t>Provide continuity between episodic interactions with the system </a:t>
            </a:r>
          </a:p>
          <a:p>
            <a:r>
              <a:rPr lang="en-US" dirty="0" smtClean="0"/>
              <a:t>PROCESS 3</a:t>
            </a:r>
          </a:p>
          <a:p>
            <a:pPr lvl="1"/>
            <a:r>
              <a:rPr lang="en-US" dirty="0" smtClean="0"/>
              <a:t>Design what you really wish you had and then create that </a:t>
            </a:r>
          </a:p>
          <a:p>
            <a:pPr lvl="2"/>
            <a:r>
              <a:rPr lang="en-US" dirty="0" smtClean="0"/>
              <a:t>(IDEALIZED DESIGN)</a:t>
            </a:r>
          </a:p>
        </p:txBody>
      </p:sp>
    </p:spTree>
    <p:extLst>
      <p:ext uri="{BB962C8B-B14F-4D97-AF65-F5344CB8AC3E}">
        <p14:creationId xmlns:p14="http://schemas.microsoft.com/office/powerpoint/2010/main" val="63210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DESIGNING THE MAINSTAY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39097" cy="4351338"/>
          </a:xfrm>
        </p:spPr>
        <p:txBody>
          <a:bodyPr>
            <a:normAutofit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 mainstay consists of the many processes that deliver services to primary clients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(inhabitants, patients, members, eligible recipients, etc.)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Option 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Current “service lines”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React to problems as they occur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Option 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Design the processes as you wish they were (Idealized Design)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Move toward that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59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DRIVER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Come together based upon shared purposes in a shared complex environment</a:t>
            </a:r>
          </a:p>
          <a:p>
            <a:r>
              <a:rPr lang="en-US" dirty="0" smtClean="0"/>
              <a:t>Plan for important improvements of the interactions between the parts</a:t>
            </a:r>
          </a:p>
          <a:p>
            <a:r>
              <a:rPr lang="en-US" dirty="0" smtClean="0"/>
              <a:t>Develop shared resources based upon value</a:t>
            </a:r>
          </a:p>
          <a:p>
            <a:r>
              <a:rPr lang="en-US" dirty="0" smtClean="0"/>
              <a:t>Manage the plans for improvement to their completion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3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THE SUPPORT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(Important coordination functions for the Mainstay and Driver levels)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E.g.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Information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Improvement support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Grant and program support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Technology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1902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IDEALIZED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What you really wished you had today! No constraints. No history.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u="sng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 smtClean="0"/>
              <a:t>Your</a:t>
            </a:r>
            <a:r>
              <a:rPr lang="en-US" dirty="0" smtClean="0"/>
              <a:t> Design Building Blocks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Design Concepts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Design Requirements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Design Principles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Design Components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WHY (are we doing this together)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FOR WHOM &amp; WHERE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HOW (will we get it accomplished)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WHAT SERVICES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305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Transparency</a:t>
            </a:r>
            <a:r>
              <a:rPr lang="en-US" dirty="0" smtClean="0"/>
              <a:t>—</a:t>
            </a:r>
            <a:r>
              <a:rPr lang="en-US" dirty="0" smtClean="0"/>
              <a:t>Understandability - Meaningful</a:t>
            </a:r>
          </a:p>
          <a:p>
            <a:r>
              <a:rPr lang="en-US" dirty="0" smtClean="0"/>
              <a:t>Safe</a:t>
            </a:r>
          </a:p>
          <a:p>
            <a:r>
              <a:rPr lang="en-US" dirty="0" smtClean="0"/>
              <a:t>Connected</a:t>
            </a:r>
            <a:r>
              <a:rPr lang="en-US" dirty="0" smtClean="0"/>
              <a:t>—</a:t>
            </a:r>
            <a:r>
              <a:rPr lang="en-US" dirty="0" smtClean="0"/>
              <a:t>It is a System</a:t>
            </a:r>
          </a:p>
          <a:p>
            <a:r>
              <a:rPr lang="en-US" dirty="0" smtClean="0"/>
              <a:t>Progress &amp; Continuity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2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EVERY DESIGN SHOULD ADDRESS/CONSIDER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Age-life stages</a:t>
            </a:r>
          </a:p>
          <a:p>
            <a:r>
              <a:rPr lang="en-US" dirty="0" smtClean="0"/>
              <a:t>Barriers</a:t>
            </a:r>
          </a:p>
          <a:p>
            <a:r>
              <a:rPr lang="en-US" dirty="0" smtClean="0"/>
              <a:t>Communication</a:t>
            </a:r>
          </a:p>
          <a:p>
            <a:r>
              <a:rPr lang="en-US" dirty="0" smtClean="0"/>
              <a:t>Place</a:t>
            </a:r>
          </a:p>
          <a:p>
            <a:r>
              <a:rPr lang="en-US" dirty="0" smtClean="0"/>
              <a:t>Time (of day and week)</a:t>
            </a:r>
          </a:p>
          <a:p>
            <a:r>
              <a:rPr lang="en-US" dirty="0" smtClean="0"/>
              <a:t>Transportation</a:t>
            </a:r>
          </a:p>
          <a:p>
            <a:r>
              <a:rPr lang="en-US" dirty="0" smtClean="0"/>
              <a:t>Professional—Client Relationship</a:t>
            </a:r>
          </a:p>
        </p:txBody>
      </p:sp>
    </p:spTree>
    <p:extLst>
      <p:ext uri="{BB962C8B-B14F-4D97-AF65-F5344CB8AC3E}">
        <p14:creationId xmlns:p14="http://schemas.microsoft.com/office/powerpoint/2010/main" val="654929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HUMANIZING 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Human</a:t>
            </a:r>
            <a:r>
              <a:rPr lang="en-US" dirty="0" smtClean="0"/>
              <a:t>—</a:t>
            </a:r>
            <a:r>
              <a:rPr lang="en-US" dirty="0" smtClean="0"/>
              <a:t>Personal</a:t>
            </a:r>
          </a:p>
          <a:p>
            <a:r>
              <a:rPr lang="en-US" dirty="0" smtClean="0"/>
              <a:t>Convenient</a:t>
            </a:r>
          </a:p>
          <a:p>
            <a:r>
              <a:rPr lang="en-US" dirty="0" smtClean="0"/>
              <a:t>Comprehensive</a:t>
            </a:r>
          </a:p>
          <a:p>
            <a:r>
              <a:rPr lang="en-US" dirty="0" smtClean="0"/>
              <a:t>Teamwork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2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/ PARTS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</a:t>
            </a:r>
          </a:p>
          <a:p>
            <a:pPr lvl="1"/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Experience of care</a:t>
            </a:r>
          </a:p>
          <a:p>
            <a:r>
              <a:rPr lang="en-US" dirty="0" smtClean="0"/>
              <a:t>WHO &amp; WHERE</a:t>
            </a:r>
          </a:p>
          <a:p>
            <a:pPr lvl="1"/>
            <a:r>
              <a:rPr lang="en-US" dirty="0" smtClean="0"/>
              <a:t>Whole Family</a:t>
            </a:r>
          </a:p>
          <a:p>
            <a:pPr lvl="1"/>
            <a:r>
              <a:rPr lang="en-US" dirty="0" smtClean="0"/>
              <a:t>Place matters</a:t>
            </a:r>
          </a:p>
          <a:p>
            <a:pPr lvl="1"/>
            <a:r>
              <a:rPr lang="en-US" dirty="0" smtClean="0"/>
              <a:t>Role of government</a:t>
            </a:r>
          </a:p>
          <a:p>
            <a:r>
              <a:rPr lang="en-US" dirty="0" smtClean="0"/>
              <a:t>WHAT SERVICES</a:t>
            </a:r>
          </a:p>
          <a:p>
            <a:pPr lvl="1"/>
            <a:r>
              <a:rPr lang="en-US" dirty="0" smtClean="0"/>
              <a:t>Basic Needs</a:t>
            </a:r>
          </a:p>
          <a:p>
            <a:pPr lvl="1"/>
            <a:r>
              <a:rPr lang="en-US" dirty="0" smtClean="0"/>
              <a:t>Medical Care</a:t>
            </a:r>
          </a:p>
        </p:txBody>
      </p:sp>
    </p:spTree>
    <p:extLst>
      <p:ext uri="{BB962C8B-B14F-4D97-AF65-F5344CB8AC3E}">
        <p14:creationId xmlns:p14="http://schemas.microsoft.com/office/powerpoint/2010/main" val="1230860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/ PARTS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will it get accomplished</a:t>
            </a:r>
          </a:p>
          <a:p>
            <a:pPr lvl="1"/>
            <a:r>
              <a:rPr lang="en-US" dirty="0" smtClean="0"/>
              <a:t>Expenses and Funding have to match</a:t>
            </a:r>
          </a:p>
          <a:p>
            <a:pPr lvl="1"/>
            <a:r>
              <a:rPr lang="en-US" dirty="0" smtClean="0"/>
              <a:t>Planning</a:t>
            </a:r>
          </a:p>
          <a:p>
            <a:pPr lvl="1"/>
            <a:r>
              <a:rPr lang="en-US" dirty="0" smtClean="0"/>
              <a:t>Organizing</a:t>
            </a:r>
          </a:p>
          <a:p>
            <a:pPr lvl="1"/>
            <a:r>
              <a:rPr lang="en-US" dirty="0" smtClean="0"/>
              <a:t>Communication</a:t>
            </a:r>
          </a:p>
          <a:p>
            <a:pPr lvl="1"/>
            <a:r>
              <a:rPr lang="en-US" dirty="0" smtClean="0"/>
              <a:t>Knowledge &amp; Skills</a:t>
            </a:r>
          </a:p>
          <a:p>
            <a:pPr lvl="1"/>
            <a:r>
              <a:rPr lang="en-US" dirty="0" smtClean="0"/>
              <a:t>Access</a:t>
            </a:r>
          </a:p>
          <a:p>
            <a:pPr lvl="1"/>
            <a:r>
              <a:rPr lang="en-US" dirty="0" smtClean="0"/>
              <a:t>Coordination</a:t>
            </a:r>
          </a:p>
          <a:p>
            <a:pPr lvl="1"/>
            <a:r>
              <a:rPr lang="en-US" dirty="0" smtClean="0"/>
              <a:t>Shared Care Plan</a:t>
            </a:r>
          </a:p>
        </p:txBody>
      </p:sp>
    </p:spTree>
    <p:extLst>
      <p:ext uri="{BB962C8B-B14F-4D97-AF65-F5344CB8AC3E}">
        <p14:creationId xmlns:p14="http://schemas.microsoft.com/office/powerpoint/2010/main" val="687856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TIMELINE OF A LIFE </a:t>
            </a:r>
            <a:br>
              <a:rPr lang="en-US" dirty="0" smtClean="0"/>
            </a:br>
            <a:r>
              <a:rPr lang="en-US" dirty="0" smtClean="0"/>
              <a:t>(as a reminder, situational awareness)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0425"/>
            <a:ext cx="10515600" cy="4351338"/>
          </a:xfrm>
        </p:spPr>
        <p:txBody>
          <a:bodyPr/>
          <a:lstStyle/>
          <a:p>
            <a:r>
              <a:rPr lang="en-US" dirty="0" smtClean="0"/>
              <a:t>Pre-conception</a:t>
            </a:r>
          </a:p>
          <a:p>
            <a:r>
              <a:rPr lang="en-US" dirty="0" smtClean="0"/>
              <a:t>Pregnancy-gestation</a:t>
            </a:r>
          </a:p>
          <a:p>
            <a:r>
              <a:rPr lang="en-US" dirty="0" smtClean="0"/>
              <a:t>Birth</a:t>
            </a:r>
          </a:p>
          <a:p>
            <a:r>
              <a:rPr lang="en-US" dirty="0" smtClean="0"/>
              <a:t>Infancy</a:t>
            </a:r>
          </a:p>
          <a:p>
            <a:r>
              <a:rPr lang="en-US" dirty="0" smtClean="0"/>
              <a:t>Early childhood</a:t>
            </a:r>
          </a:p>
          <a:p>
            <a:r>
              <a:rPr lang="en-US" dirty="0" smtClean="0"/>
              <a:t>Working/Raising Family</a:t>
            </a:r>
          </a:p>
          <a:p>
            <a:r>
              <a:rPr lang="en-US" dirty="0" smtClean="0"/>
              <a:t>Senior</a:t>
            </a:r>
          </a:p>
          <a:p>
            <a:r>
              <a:rPr lang="en-US" dirty="0" smtClean="0"/>
              <a:t>End-of-life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93733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2852</TotalTime>
  <Words>511</Words>
  <Application>Microsoft Macintosh PowerPoint</Application>
  <PresentationFormat>Widescreen</PresentationFormat>
  <Paragraphs>129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 Light</vt:lpstr>
      <vt:lpstr>Arial</vt:lpstr>
      <vt:lpstr>Calibri</vt:lpstr>
      <vt:lpstr>Office Theme</vt:lpstr>
      <vt:lpstr>VSM—Linkage Maps—Idealized Design</vt:lpstr>
      <vt:lpstr>QBS, Interactive Planning &amp; VSM Integrated</vt:lpstr>
      <vt:lpstr>WE WILL END UP WITH</vt:lpstr>
      <vt:lpstr>HEALTH IS AN EMERGENT PROPERTY OF</vt:lpstr>
      <vt:lpstr>SYSTEMS AND SUBSYSTEMS INTERACT</vt:lpstr>
      <vt:lpstr>MAPPING THE MAINSTAY</vt:lpstr>
      <vt:lpstr>DESIGNING THE MAINSTAY</vt:lpstr>
      <vt:lpstr>MAPPING DRIVER LEVEL</vt:lpstr>
      <vt:lpstr>MAPPING THE SUPPORT LEVEL</vt:lpstr>
      <vt:lpstr>IDEALIZED DESIGN</vt:lpstr>
      <vt:lpstr>DESIGN CONCEPTS</vt:lpstr>
      <vt:lpstr>EVERY DESIGN SHOULD ADDRESS/CONSIDER</vt:lpstr>
      <vt:lpstr>HUMANIZING DESIGN PRINCIPLES</vt:lpstr>
      <vt:lpstr>COMPONENTS / PARTS</vt:lpstr>
      <vt:lpstr>COMPONENTS / PARTS cont.</vt:lpstr>
      <vt:lpstr>TIMELINE OF A LIFE  (as a reminder, situational awareness)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VSM—Linkage Maps—Idealized Design</dc:title>
  <dc:creator>Marc Pierson</dc:creator>
  <cp:lastModifiedBy>Marc Pierson</cp:lastModifiedBy>
  <cp:revision>21</cp:revision>
  <dcterms:created xsi:type="dcterms:W3CDTF">2016-02-24T14:08:03Z</dcterms:created>
  <dcterms:modified xsi:type="dcterms:W3CDTF">2016-02-26T13:41:01Z</dcterms:modified>
</cp:coreProperties>
</file>