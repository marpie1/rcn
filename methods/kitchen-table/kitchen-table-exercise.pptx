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D18"/>
        </a:solidFill>
        <a:effectLst/>
      </p:bgPr>
    </p:bg>
    <p:spTree>
      <p:nvGrpSpPr>
        <p:cNvPr id="1" name=""/>
        <p:cNvGrpSpPr/>
        <p:nvPr/>
      </p:nvGrpSpPr>
      <p:grpSpPr/>
      <p:sp>
        <p:nvSpPr>
          <p:cNvPr id="2" name="TextBox 1"/>
          <p:cNvSpPr txBox="1"/>
          <p:nvPr/>
        </p:nvSpPr>
        <p:spPr>
          <a:xfrm>
            <a:off x="777240" y="1600200"/>
            <a:ext cx="10058400" cy="292608"/>
          </a:xfrm>
          <a:prstGeom prst="rect">
            <a:avLst/>
          </a:prstGeom>
          <a:noFill/>
        </p:spPr>
        <p:txBody>
          <a:bodyPr wrap="square" anchor="t">
            <a:spAutoFit/>
          </a:bodyPr>
          <a:lstStyle/>
          <a:p>
            <a:pPr algn="l">
              <a:lnSpc>
                <a:spcPct val="100000"/>
              </a:lnSpc>
            </a:pPr>
            <a:r>
              <a:rPr sz="1200" b="1" i="0">
                <a:solidFill>
                  <a:srgbClr val="A8A296"/>
                </a:solidFill>
                <a:latin typeface="Calibri"/>
              </a:rPr>
              <a:t>AN RCN METHOD</a:t>
            </a:r>
          </a:p>
        </p:txBody>
      </p:sp>
      <p:sp>
        <p:nvSpPr>
          <p:cNvPr id="3" name="TextBox 2"/>
          <p:cNvSpPr txBox="1"/>
          <p:nvPr/>
        </p:nvSpPr>
        <p:spPr>
          <a:xfrm>
            <a:off x="777240" y="2103120"/>
            <a:ext cx="10058400" cy="1828800"/>
          </a:xfrm>
          <a:prstGeom prst="rect">
            <a:avLst/>
          </a:prstGeom>
          <a:noFill/>
        </p:spPr>
        <p:txBody>
          <a:bodyPr wrap="square" anchor="t">
            <a:spAutoFit/>
          </a:bodyPr>
          <a:lstStyle/>
          <a:p>
            <a:pPr algn="l">
              <a:lnSpc>
                <a:spcPct val="95000"/>
              </a:lnSpc>
            </a:pPr>
            <a:r>
              <a:rPr sz="5400" b="1" i="0">
                <a:solidFill>
                  <a:srgbClr val="FFFFFF"/>
                </a:solidFill>
                <a:latin typeface="Calibri"/>
              </a:rPr>
              <a:t>The Kitchen Table
Exercise</a:t>
            </a:r>
          </a:p>
        </p:txBody>
      </p:sp>
      <p:sp>
        <p:nvSpPr>
          <p:cNvPr id="4" name="TextBox 3"/>
          <p:cNvSpPr txBox="1"/>
          <p:nvPr/>
        </p:nvSpPr>
        <p:spPr>
          <a:xfrm>
            <a:off x="777240" y="4069080"/>
            <a:ext cx="10058400" cy="457200"/>
          </a:xfrm>
          <a:prstGeom prst="rect">
            <a:avLst/>
          </a:prstGeom>
          <a:noFill/>
        </p:spPr>
        <p:txBody>
          <a:bodyPr wrap="square" anchor="t">
            <a:spAutoFit/>
          </a:bodyPr>
          <a:lstStyle/>
          <a:p>
            <a:pPr algn="l">
              <a:lnSpc>
                <a:spcPct val="100000"/>
              </a:lnSpc>
            </a:pPr>
            <a:r>
              <a:rPr sz="2100" b="0" i="0">
                <a:solidFill>
                  <a:srgbClr val="E3DFD6"/>
                </a:solidFill>
                <a:latin typeface="Calibri"/>
              </a:rPr>
              <a:t>One hour. Paper and a pencil. Nobody helps you.</a:t>
            </a:r>
          </a:p>
        </p:txBody>
      </p:sp>
      <p:sp>
        <p:nvSpPr>
          <p:cNvPr id="5" name="Rectangle 4"/>
          <p:cNvSpPr/>
          <p:nvPr/>
        </p:nvSpPr>
        <p:spPr>
          <a:xfrm>
            <a:off x="777240" y="4800600"/>
            <a:ext cx="3108960" cy="18288"/>
          </a:xfrm>
          <a:prstGeom prst="rect">
            <a:avLst/>
          </a:prstGeom>
          <a:solidFill>
            <a:srgbClr val="A8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074920"/>
            <a:ext cx="7863840" cy="1005840"/>
          </a:xfrm>
          <a:prstGeom prst="rect">
            <a:avLst/>
          </a:prstGeom>
          <a:noFill/>
        </p:spPr>
        <p:txBody>
          <a:bodyPr wrap="square" anchor="t">
            <a:spAutoFit/>
          </a:bodyPr>
          <a:lstStyle/>
          <a:p>
            <a:pPr algn="l">
              <a:lnSpc>
                <a:spcPct val="120000"/>
              </a:lnSpc>
            </a:pPr>
            <a:r>
              <a:rPr sz="1350" b="0" i="0">
                <a:solidFill>
                  <a:srgbClr val="A8A296"/>
                </a:solidFill>
                <a:latin typeface="Calibri"/>
              </a:rPr>
              <a:t>Eleven steps, then an hour of looking back at them. At the end you will have made a clear sparse visual story about something you care about, out of nothing but your own mind and your own experience.</a:t>
            </a:r>
          </a:p>
        </p:txBody>
      </p:sp>
      <p:sp>
        <p:nvSpPr>
          <p:cNvPr id="7" name="TextBox 6"/>
          <p:cNvSpPr txBox="1"/>
          <p:nvPr/>
        </p:nvSpPr>
        <p:spPr>
          <a:xfrm>
            <a:off x="777240" y="6263640"/>
            <a:ext cx="7863840" cy="292608"/>
          </a:xfrm>
          <a:prstGeom prst="rect">
            <a:avLst/>
          </a:prstGeom>
          <a:noFill/>
        </p:spPr>
        <p:txBody>
          <a:bodyPr wrap="square" anchor="t">
            <a:spAutoFit/>
          </a:bodyPr>
          <a:lstStyle/>
          <a:p>
            <a:pPr algn="l">
              <a:lnSpc>
                <a:spcPct val="100000"/>
              </a:lnSpc>
            </a:pPr>
            <a:r>
              <a:rPr sz="1100" b="0" i="0">
                <a:solidFill>
                  <a:srgbClr val="A8A296"/>
                </a:solidFill>
                <a:latin typeface="Calibri"/>
              </a:rPr>
              <a:t>Marc Pierson and Claude Opus 5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WHAT HAPPENS</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100" b="1" i="0">
                <a:solidFill>
                  <a:srgbClr val="14130F"/>
                </a:solidFill>
                <a:latin typeface="Calibri"/>
              </a:rPr>
              <a:t>In about an hour you will have made a diagram
you can read out loud</a:t>
            </a:r>
          </a:p>
        </p:txBody>
      </p:sp>
      <p:sp>
        <p:nvSpPr>
          <p:cNvPr id="4" name="TextBox 3"/>
          <p:cNvSpPr txBox="1"/>
          <p:nvPr/>
        </p:nvSpPr>
        <p:spPr>
          <a:xfrm>
            <a:off x="777240" y="2743200"/>
            <a:ext cx="10332720" cy="2194560"/>
          </a:xfrm>
          <a:prstGeom prst="rect">
            <a:avLst/>
          </a:prstGeom>
          <a:noFill/>
        </p:spPr>
        <p:txBody>
          <a:bodyPr wrap="square">
            <a:spAutoFit/>
          </a:bodyPr>
          <a:lstStyle/>
          <a:p>
            <a:pPr>
              <a:lnSpc>
                <a:spcPct val="118000"/>
              </a:lnSpc>
              <a:spcAft>
                <a:spcPts val="1100"/>
              </a:spcAft>
            </a:pPr>
            <a:r>
              <a:rPr sz="1750" b="0">
                <a:solidFill>
                  <a:srgbClr val="4A4740"/>
                </a:solidFill>
                <a:latin typeface="Calibri"/>
              </a:rPr>
              <a:t>—  You will choose what it is about. Nobody else will.</a:t>
            </a:r>
          </a:p>
          <a:p>
            <a:pPr>
              <a:lnSpc>
                <a:spcPct val="118000"/>
              </a:lnSpc>
              <a:spcAft>
                <a:spcPts val="1100"/>
              </a:spcAft>
            </a:pPr>
            <a:r>
              <a:rPr sz="1750" b="0">
                <a:solidFill>
                  <a:srgbClr val="4A4740"/>
                </a:solidFill>
                <a:latin typeface="Calibri"/>
              </a:rPr>
              <a:t>—  You will not be taught anything, and nothing will be marked.</a:t>
            </a:r>
          </a:p>
          <a:p>
            <a:pPr>
              <a:lnSpc>
                <a:spcPct val="118000"/>
              </a:lnSpc>
              <a:spcAft>
                <a:spcPts val="1100"/>
              </a:spcAft>
            </a:pPr>
            <a:r>
              <a:rPr sz="1750" b="0">
                <a:solidFill>
                  <a:srgbClr val="4A4740"/>
                </a:solidFill>
                <a:latin typeface="Calibri"/>
              </a:rPr>
              <a:t>—  No example will be shown to you, on purpose.</a:t>
            </a:r>
          </a:p>
          <a:p>
            <a:pPr>
              <a:lnSpc>
                <a:spcPct val="118000"/>
              </a:lnSpc>
              <a:spcAft>
                <a:spcPts val="1100"/>
              </a:spcAft>
            </a:pPr>
            <a:r>
              <a:rPr sz="1750" b="0">
                <a:solidFill>
                  <a:srgbClr val="4A4740"/>
                </a:solidFill>
                <a:latin typeface="Calibri"/>
              </a:rPr>
              <a:t>—  Then you will spend about the same time again writing down how each step felt.</a:t>
            </a:r>
          </a:p>
        </p:txBody>
      </p:sp>
      <p:sp>
        <p:nvSpPr>
          <p:cNvPr id="5" name="Rectangle 4"/>
          <p:cNvSpPr/>
          <p:nvPr/>
        </p:nvSpPr>
        <p:spPr>
          <a:xfrm>
            <a:off x="777240" y="5257800"/>
            <a:ext cx="10607040" cy="868680"/>
          </a:xfrm>
          <a:prstGeom prst="rect">
            <a:avLst/>
          </a:prstGeom>
          <a:solidFill>
            <a:srgbClr val="E4EBEF"/>
          </a:solidFill>
          <a:ln w="15875">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486400"/>
            <a:ext cx="10058400" cy="457200"/>
          </a:xfrm>
          <a:prstGeom prst="rect">
            <a:avLst/>
          </a:prstGeom>
          <a:noFill/>
        </p:spPr>
        <p:txBody>
          <a:bodyPr wrap="square" anchor="t">
            <a:spAutoFit/>
          </a:bodyPr>
          <a:lstStyle/>
          <a:p>
            <a:pPr algn="l">
              <a:lnSpc>
                <a:spcPct val="100000"/>
              </a:lnSpc>
            </a:pPr>
            <a:r>
              <a:rPr sz="1600" b="1" i="0">
                <a:solidFill>
                  <a:srgbClr val="3D5A6C"/>
                </a:solidFill>
                <a:latin typeface="Calibri"/>
              </a:rPr>
              <a:t>The second hour is where most of the learning is. Do not skip it.</a:t>
            </a:r>
          </a:p>
        </p:txBody>
      </p:sp>
      <p:sp>
        <p:nvSpPr>
          <p:cNvPr id="7" name="TextBox 6"/>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8" name="TextBox 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BEFORE YOU BEGIN</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What you need</a:t>
            </a:r>
          </a:p>
        </p:txBody>
      </p:sp>
      <p:sp>
        <p:nvSpPr>
          <p:cNvPr id="4" name="Rectangle 3"/>
          <p:cNvSpPr/>
          <p:nvPr/>
        </p:nvSpPr>
        <p:spPr>
          <a:xfrm>
            <a:off x="777240" y="2514600"/>
            <a:ext cx="3337560" cy="228600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1" y="2679192"/>
            <a:ext cx="2880360" cy="365760"/>
          </a:xfrm>
          <a:prstGeom prst="rect">
            <a:avLst/>
          </a:prstGeom>
          <a:noFill/>
        </p:spPr>
        <p:txBody>
          <a:bodyPr wrap="square" anchor="t">
            <a:spAutoFit/>
          </a:bodyPr>
          <a:lstStyle/>
          <a:p>
            <a:pPr algn="l">
              <a:lnSpc>
                <a:spcPct val="100000"/>
              </a:lnSpc>
            </a:pPr>
            <a:r>
              <a:rPr sz="1500" b="1" i="0">
                <a:solidFill>
                  <a:srgbClr val="14130F"/>
                </a:solidFill>
                <a:latin typeface="Calibri"/>
              </a:rPr>
              <a:t>An hour, and then another</a:t>
            </a:r>
          </a:p>
        </p:txBody>
      </p:sp>
      <p:sp>
        <p:nvSpPr>
          <p:cNvPr id="6" name="TextBox 5"/>
          <p:cNvSpPr txBox="1"/>
          <p:nvPr/>
        </p:nvSpPr>
        <p:spPr>
          <a:xfrm>
            <a:off x="1033271" y="3136392"/>
            <a:ext cx="2880360" cy="1499616"/>
          </a:xfrm>
          <a:prstGeom prst="rect">
            <a:avLst/>
          </a:prstGeom>
          <a:noFill/>
        </p:spPr>
        <p:txBody>
          <a:bodyPr wrap="square" anchor="t">
            <a:spAutoFit/>
          </a:bodyPr>
          <a:lstStyle/>
          <a:p>
            <a:pPr algn="l">
              <a:lnSpc>
                <a:spcPct val="112000"/>
              </a:lnSpc>
            </a:pPr>
            <a:r>
              <a:rPr sz="1250" b="0" i="0">
                <a:solidFill>
                  <a:srgbClr val="4A4740"/>
                </a:solidFill>
                <a:latin typeface="Calibri"/>
              </a:rPr>
              <a:t>One hour for the drawing, and roughly the same again for the looking back. They do not have to be the same day, but do not leave a long gap.</a:t>
            </a:r>
          </a:p>
        </p:txBody>
      </p:sp>
      <p:sp>
        <p:nvSpPr>
          <p:cNvPr id="7" name="Rectangle 6"/>
          <p:cNvSpPr/>
          <p:nvPr/>
        </p:nvSpPr>
        <p:spPr>
          <a:xfrm>
            <a:off x="4389120" y="2514600"/>
            <a:ext cx="3337560" cy="228600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2679192"/>
            <a:ext cx="2880360" cy="365760"/>
          </a:xfrm>
          <a:prstGeom prst="rect">
            <a:avLst/>
          </a:prstGeom>
          <a:noFill/>
        </p:spPr>
        <p:txBody>
          <a:bodyPr wrap="square" anchor="t">
            <a:spAutoFit/>
          </a:bodyPr>
          <a:lstStyle/>
          <a:p>
            <a:pPr algn="l">
              <a:lnSpc>
                <a:spcPct val="100000"/>
              </a:lnSpc>
            </a:pPr>
            <a:r>
              <a:rPr sz="1500" b="1" i="0">
                <a:solidFill>
                  <a:srgbClr val="14130F"/>
                </a:solidFill>
                <a:latin typeface="Calibri"/>
              </a:rPr>
              <a:t>Paper, a pencil, an eraser</a:t>
            </a:r>
          </a:p>
        </p:txBody>
      </p:sp>
      <p:sp>
        <p:nvSpPr>
          <p:cNvPr id="9" name="TextBox 8"/>
          <p:cNvSpPr txBox="1"/>
          <p:nvPr/>
        </p:nvSpPr>
        <p:spPr>
          <a:xfrm>
            <a:off x="4645152" y="3136392"/>
            <a:ext cx="2880360" cy="1499616"/>
          </a:xfrm>
          <a:prstGeom prst="rect">
            <a:avLst/>
          </a:prstGeom>
          <a:noFill/>
        </p:spPr>
        <p:txBody>
          <a:bodyPr wrap="square" anchor="t">
            <a:spAutoFit/>
          </a:bodyPr>
          <a:lstStyle/>
          <a:p>
            <a:pPr algn="l">
              <a:lnSpc>
                <a:spcPct val="112000"/>
              </a:lnSpc>
            </a:pPr>
            <a:r>
              <a:rPr sz="1250" b="0" i="0">
                <a:solidFill>
                  <a:srgbClr val="4A4740"/>
                </a:solidFill>
                <a:latin typeface="Calibri"/>
              </a:rPr>
              <a:t>Three or four clean sheets. The eraser matters more than you would think. No software, no licence, nothing to install.</a:t>
            </a:r>
          </a:p>
        </p:txBody>
      </p:sp>
      <p:sp>
        <p:nvSpPr>
          <p:cNvPr id="10" name="Rectangle 9"/>
          <p:cNvSpPr/>
          <p:nvPr/>
        </p:nvSpPr>
        <p:spPr>
          <a:xfrm>
            <a:off x="8001000" y="2514600"/>
            <a:ext cx="3337560" cy="228600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1" y="2679192"/>
            <a:ext cx="2880360" cy="365760"/>
          </a:xfrm>
          <a:prstGeom prst="rect">
            <a:avLst/>
          </a:prstGeom>
          <a:noFill/>
        </p:spPr>
        <p:txBody>
          <a:bodyPr wrap="square" anchor="t">
            <a:spAutoFit/>
          </a:bodyPr>
          <a:lstStyle/>
          <a:p>
            <a:pPr algn="l">
              <a:lnSpc>
                <a:spcPct val="100000"/>
              </a:lnSpc>
            </a:pPr>
            <a:r>
              <a:rPr sz="1500" b="1" i="0">
                <a:solidFill>
                  <a:srgbClr val="14130F"/>
                </a:solidFill>
                <a:latin typeface="Calibri"/>
              </a:rPr>
              <a:t>Somewhere you will not be interrupted</a:t>
            </a:r>
          </a:p>
        </p:txBody>
      </p:sp>
      <p:sp>
        <p:nvSpPr>
          <p:cNvPr id="12" name="TextBox 11"/>
          <p:cNvSpPr txBox="1"/>
          <p:nvPr/>
        </p:nvSpPr>
        <p:spPr>
          <a:xfrm>
            <a:off x="8257031" y="3136392"/>
            <a:ext cx="2880360" cy="1499616"/>
          </a:xfrm>
          <a:prstGeom prst="rect">
            <a:avLst/>
          </a:prstGeom>
          <a:noFill/>
        </p:spPr>
        <p:txBody>
          <a:bodyPr wrap="square" anchor="t">
            <a:spAutoFit/>
          </a:bodyPr>
          <a:lstStyle/>
          <a:p>
            <a:pPr algn="l">
              <a:lnSpc>
                <a:spcPct val="112000"/>
              </a:lnSpc>
            </a:pPr>
            <a:r>
              <a:rPr sz="1250" b="0" i="0">
                <a:solidFill>
                  <a:srgbClr val="4A4740"/>
                </a:solidFill>
                <a:latin typeface="Calibri"/>
              </a:rPr>
              <a:t>Alone. If you are doing this in a room with other people, you are still working on your own paper and nobody is looking at it.</a:t>
            </a:r>
          </a:p>
        </p:txBody>
      </p:sp>
      <p:sp>
        <p:nvSpPr>
          <p:cNvPr id="13" name="TextBox 12"/>
          <p:cNvSpPr txBox="1"/>
          <p:nvPr/>
        </p:nvSpPr>
        <p:spPr>
          <a:xfrm>
            <a:off x="777240" y="5120640"/>
            <a:ext cx="10332720" cy="457200"/>
          </a:xfrm>
          <a:prstGeom prst="rect">
            <a:avLst/>
          </a:prstGeom>
          <a:noFill/>
        </p:spPr>
        <p:txBody>
          <a:bodyPr wrap="square" anchor="t">
            <a:spAutoFit/>
          </a:bodyPr>
          <a:lstStyle/>
          <a:p>
            <a:pPr algn="l">
              <a:lnSpc>
                <a:spcPct val="100000"/>
              </a:lnSpc>
            </a:pPr>
            <a:r>
              <a:rPr sz="1400" b="0" i="1">
                <a:solidFill>
                  <a:srgbClr val="4A4740"/>
                </a:solidFill>
                <a:latin typeface="Calibri"/>
              </a:rPr>
              <a:t>If you would rather keep your notes on paper than on a screen, print the Notes Sheet before you start.</a:t>
            </a:r>
          </a:p>
        </p:txBody>
      </p:sp>
      <p:sp>
        <p:nvSpPr>
          <p:cNvPr id="14" name="TextBox 13"/>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15" name="TextBox 1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BEFORE YOU BEGIN</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Three rules</a:t>
            </a:r>
          </a:p>
        </p:txBody>
      </p:sp>
      <p:sp>
        <p:nvSpPr>
          <p:cNvPr id="4" name="Oval 3"/>
          <p:cNvSpPr/>
          <p:nvPr/>
        </p:nvSpPr>
        <p:spPr>
          <a:xfrm>
            <a:off x="813815" y="2505456"/>
            <a:ext cx="566928" cy="566928"/>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5" y="2647188"/>
            <a:ext cx="566928" cy="310896"/>
          </a:xfrm>
          <a:prstGeom prst="rect">
            <a:avLst/>
          </a:prstGeom>
          <a:noFill/>
        </p:spPr>
        <p:txBody>
          <a:bodyPr wrap="square" anchor="t">
            <a:spAutoFit/>
          </a:bodyPr>
          <a:lstStyle/>
          <a:p>
            <a:pPr algn="ctr">
              <a:lnSpc>
                <a:spcPct val="100000"/>
              </a:lnSpc>
            </a:pPr>
            <a:r>
              <a:rPr sz="1700" b="1" i="0">
                <a:solidFill>
                  <a:srgbClr val="3D5A6C"/>
                </a:solidFill>
                <a:latin typeface="Calibri"/>
              </a:rPr>
              <a:t>1</a:t>
            </a:r>
          </a:p>
        </p:txBody>
      </p:sp>
      <p:sp>
        <p:nvSpPr>
          <p:cNvPr id="6" name="TextBox 5"/>
          <p:cNvSpPr txBox="1"/>
          <p:nvPr/>
        </p:nvSpPr>
        <p:spPr>
          <a:xfrm>
            <a:off x="1691640" y="2432304"/>
            <a:ext cx="3291840" cy="411480"/>
          </a:xfrm>
          <a:prstGeom prst="rect">
            <a:avLst/>
          </a:prstGeom>
          <a:noFill/>
        </p:spPr>
        <p:txBody>
          <a:bodyPr wrap="square" anchor="t">
            <a:spAutoFit/>
          </a:bodyPr>
          <a:lstStyle/>
          <a:p>
            <a:pPr algn="l">
              <a:lnSpc>
                <a:spcPct val="100000"/>
              </a:lnSpc>
            </a:pPr>
            <a:r>
              <a:rPr sz="1900" b="1" i="0">
                <a:solidFill>
                  <a:srgbClr val="14130F"/>
                </a:solidFill>
                <a:latin typeface="Calibri"/>
              </a:rPr>
              <a:t>Do it alone</a:t>
            </a:r>
          </a:p>
        </p:txBody>
      </p:sp>
      <p:sp>
        <p:nvSpPr>
          <p:cNvPr id="7" name="TextBox 6"/>
          <p:cNvSpPr txBox="1"/>
          <p:nvPr/>
        </p:nvSpPr>
        <p:spPr>
          <a:xfrm>
            <a:off x="5029200" y="2395728"/>
            <a:ext cx="6400800" cy="914400"/>
          </a:xfrm>
          <a:prstGeom prst="rect">
            <a:avLst/>
          </a:prstGeom>
          <a:noFill/>
        </p:spPr>
        <p:txBody>
          <a:bodyPr wrap="square" anchor="t">
            <a:spAutoFit/>
          </a:bodyPr>
          <a:lstStyle/>
          <a:p>
            <a:pPr algn="l">
              <a:lnSpc>
                <a:spcPct val="115000"/>
              </a:lnSpc>
            </a:pPr>
            <a:r>
              <a:rPr sz="1400" b="0" i="0">
                <a:solidFill>
                  <a:srgbClr val="4A4740"/>
                </a:solidFill>
                <a:latin typeface="Calibri"/>
              </a:rPr>
              <a:t>Even in a full room. Your paper is yours and nobody reads it unless you decide to show them.</a:t>
            </a:r>
          </a:p>
        </p:txBody>
      </p:sp>
      <p:sp>
        <p:nvSpPr>
          <p:cNvPr id="8" name="Oval 7"/>
          <p:cNvSpPr/>
          <p:nvPr/>
        </p:nvSpPr>
        <p:spPr>
          <a:xfrm>
            <a:off x="813815" y="3712464"/>
            <a:ext cx="566928" cy="566928"/>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5" y="3854196"/>
            <a:ext cx="566928" cy="310896"/>
          </a:xfrm>
          <a:prstGeom prst="rect">
            <a:avLst/>
          </a:prstGeom>
          <a:noFill/>
        </p:spPr>
        <p:txBody>
          <a:bodyPr wrap="square" anchor="t">
            <a:spAutoFit/>
          </a:bodyPr>
          <a:lstStyle/>
          <a:p>
            <a:pPr algn="ctr">
              <a:lnSpc>
                <a:spcPct val="100000"/>
              </a:lnSpc>
            </a:pPr>
            <a:r>
              <a:rPr sz="1700" b="1" i="0">
                <a:solidFill>
                  <a:srgbClr val="3D5A6C"/>
                </a:solidFill>
                <a:latin typeface="Calibri"/>
              </a:rPr>
              <a:t>2</a:t>
            </a:r>
          </a:p>
        </p:txBody>
      </p:sp>
      <p:sp>
        <p:nvSpPr>
          <p:cNvPr id="10" name="TextBox 9"/>
          <p:cNvSpPr txBox="1"/>
          <p:nvPr/>
        </p:nvSpPr>
        <p:spPr>
          <a:xfrm>
            <a:off x="1691640" y="3639312"/>
            <a:ext cx="3291840" cy="411480"/>
          </a:xfrm>
          <a:prstGeom prst="rect">
            <a:avLst/>
          </a:prstGeom>
          <a:noFill/>
        </p:spPr>
        <p:txBody>
          <a:bodyPr wrap="square" anchor="t">
            <a:spAutoFit/>
          </a:bodyPr>
          <a:lstStyle/>
          <a:p>
            <a:pPr algn="l">
              <a:lnSpc>
                <a:spcPct val="100000"/>
              </a:lnSpc>
            </a:pPr>
            <a:r>
              <a:rPr sz="1900" b="1" i="0">
                <a:solidFill>
                  <a:srgbClr val="14130F"/>
                </a:solidFill>
                <a:latin typeface="Calibri"/>
              </a:rPr>
              <a:t>Do not read ahead</a:t>
            </a:r>
          </a:p>
        </p:txBody>
      </p:sp>
      <p:sp>
        <p:nvSpPr>
          <p:cNvPr id="11" name="TextBox 10"/>
          <p:cNvSpPr txBox="1"/>
          <p:nvPr/>
        </p:nvSpPr>
        <p:spPr>
          <a:xfrm>
            <a:off x="5029200" y="3602736"/>
            <a:ext cx="6400800" cy="914400"/>
          </a:xfrm>
          <a:prstGeom prst="rect">
            <a:avLst/>
          </a:prstGeom>
          <a:noFill/>
        </p:spPr>
        <p:txBody>
          <a:bodyPr wrap="square" anchor="t">
            <a:spAutoFit/>
          </a:bodyPr>
          <a:lstStyle/>
          <a:p>
            <a:pPr algn="l">
              <a:lnSpc>
                <a:spcPct val="115000"/>
              </a:lnSpc>
            </a:pPr>
            <a:r>
              <a:rPr sz="1400" b="0" i="0">
                <a:solidFill>
                  <a:srgbClr val="4A4740"/>
                </a:solidFill>
                <a:latin typeface="Calibri"/>
              </a:rPr>
              <a:t>One step at a time, in order. The exercise stops working if you skip forward, because you start aiming at what is coming.</a:t>
            </a:r>
          </a:p>
        </p:txBody>
      </p:sp>
      <p:sp>
        <p:nvSpPr>
          <p:cNvPr id="12" name="Oval 11"/>
          <p:cNvSpPr/>
          <p:nvPr/>
        </p:nvSpPr>
        <p:spPr>
          <a:xfrm>
            <a:off x="813815" y="4919472"/>
            <a:ext cx="566928" cy="566928"/>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 y="5061204"/>
            <a:ext cx="566928" cy="310896"/>
          </a:xfrm>
          <a:prstGeom prst="rect">
            <a:avLst/>
          </a:prstGeom>
          <a:noFill/>
        </p:spPr>
        <p:txBody>
          <a:bodyPr wrap="square" anchor="t">
            <a:spAutoFit/>
          </a:bodyPr>
          <a:lstStyle/>
          <a:p>
            <a:pPr algn="ctr">
              <a:lnSpc>
                <a:spcPct val="100000"/>
              </a:lnSpc>
            </a:pPr>
            <a:r>
              <a:rPr sz="1700" b="1" i="0">
                <a:solidFill>
                  <a:srgbClr val="3D5A6C"/>
                </a:solidFill>
                <a:latin typeface="Calibri"/>
              </a:rPr>
              <a:t>3</a:t>
            </a:r>
          </a:p>
        </p:txBody>
      </p:sp>
      <p:sp>
        <p:nvSpPr>
          <p:cNvPr id="14" name="TextBox 13"/>
          <p:cNvSpPr txBox="1"/>
          <p:nvPr/>
        </p:nvSpPr>
        <p:spPr>
          <a:xfrm>
            <a:off x="1691640" y="4846320"/>
            <a:ext cx="3291840" cy="411480"/>
          </a:xfrm>
          <a:prstGeom prst="rect">
            <a:avLst/>
          </a:prstGeom>
          <a:noFill/>
        </p:spPr>
        <p:txBody>
          <a:bodyPr wrap="square" anchor="t">
            <a:spAutoFit/>
          </a:bodyPr>
          <a:lstStyle/>
          <a:p>
            <a:pPr algn="l">
              <a:lnSpc>
                <a:spcPct val="100000"/>
              </a:lnSpc>
            </a:pPr>
            <a:r>
              <a:rPr sz="1900" b="1" i="0">
                <a:solidFill>
                  <a:srgbClr val="14130F"/>
                </a:solidFill>
                <a:latin typeface="Calibri"/>
              </a:rPr>
              <a:t>Nothing here will help you</a:t>
            </a:r>
          </a:p>
        </p:txBody>
      </p:sp>
      <p:sp>
        <p:nvSpPr>
          <p:cNvPr id="15" name="TextBox 14"/>
          <p:cNvSpPr txBox="1"/>
          <p:nvPr/>
        </p:nvSpPr>
        <p:spPr>
          <a:xfrm>
            <a:off x="5029200" y="4809744"/>
            <a:ext cx="6400800" cy="914400"/>
          </a:xfrm>
          <a:prstGeom prst="rect">
            <a:avLst/>
          </a:prstGeom>
          <a:noFill/>
        </p:spPr>
        <p:txBody>
          <a:bodyPr wrap="square" anchor="t">
            <a:spAutoFit/>
          </a:bodyPr>
          <a:lstStyle/>
          <a:p>
            <a:pPr algn="l">
              <a:lnSpc>
                <a:spcPct val="115000"/>
              </a:lnSpc>
            </a:pPr>
            <a:r>
              <a:rPr sz="1400" b="0" i="0">
                <a:solidFill>
                  <a:srgbClr val="4A4740"/>
                </a:solidFill>
                <a:latin typeface="Calibri"/>
              </a:rPr>
              <a:t>There is no worked example and no answer. If you find yourself wanting someone to check, notice that, and keep going.</a:t>
            </a:r>
          </a:p>
        </p:txBody>
      </p:sp>
      <p:sp>
        <p:nvSpPr>
          <p:cNvPr id="16" name="Rectangle 15"/>
          <p:cNvSpPr/>
          <p:nvPr/>
        </p:nvSpPr>
        <p:spPr>
          <a:xfrm>
            <a:off x="777240" y="5943600"/>
            <a:ext cx="10607040" cy="18288"/>
          </a:xfrm>
          <a:prstGeom prst="rect">
            <a:avLst/>
          </a:prstGeom>
          <a:solidFill>
            <a:srgbClr val="DDD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18" name="TextBox 1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1D18"/>
        </a:solidFill>
        <a:effectLst/>
      </p:bgPr>
    </p:bg>
    <p:spTree>
      <p:nvGrpSpPr>
        <p:cNvPr id="1" name=""/>
        <p:cNvGrpSpPr/>
        <p:nvPr/>
      </p:nvGrpSpPr>
      <p:grpSpPr/>
      <p:sp>
        <p:nvSpPr>
          <p:cNvPr id="2" name="TextBox 1"/>
          <p:cNvSpPr txBox="1"/>
          <p:nvPr/>
        </p:nvSpPr>
        <p:spPr>
          <a:xfrm>
            <a:off x="777240" y="1371600"/>
            <a:ext cx="10058400" cy="292608"/>
          </a:xfrm>
          <a:prstGeom prst="rect">
            <a:avLst/>
          </a:prstGeom>
          <a:noFill/>
        </p:spPr>
        <p:txBody>
          <a:bodyPr wrap="square" anchor="t">
            <a:spAutoFit/>
          </a:bodyPr>
          <a:lstStyle/>
          <a:p>
            <a:pPr algn="l">
              <a:lnSpc>
                <a:spcPct val="100000"/>
              </a:lnSpc>
            </a:pPr>
            <a:r>
              <a:rPr sz="1200" b="1" i="0">
                <a:solidFill>
                  <a:srgbClr val="A33B2A"/>
                </a:solidFill>
                <a:latin typeface="Calibri"/>
              </a:rPr>
              <a:t>SAID PLAINLY, IN ADVANCE</a:t>
            </a:r>
          </a:p>
        </p:txBody>
      </p:sp>
      <p:sp>
        <p:nvSpPr>
          <p:cNvPr id="3" name="TextBox 2"/>
          <p:cNvSpPr txBox="1"/>
          <p:nvPr/>
        </p:nvSpPr>
        <p:spPr>
          <a:xfrm>
            <a:off x="777240" y="1874519"/>
            <a:ext cx="10058400" cy="1737360"/>
          </a:xfrm>
          <a:prstGeom prst="rect">
            <a:avLst/>
          </a:prstGeom>
          <a:noFill/>
        </p:spPr>
        <p:txBody>
          <a:bodyPr wrap="square" anchor="t">
            <a:spAutoFit/>
          </a:bodyPr>
          <a:lstStyle/>
          <a:p>
            <a:pPr algn="l">
              <a:lnSpc>
                <a:spcPct val="98000"/>
              </a:lnSpc>
            </a:pPr>
            <a:r>
              <a:rPr sz="4600" b="1" i="0">
                <a:solidFill>
                  <a:srgbClr val="FFFFFF"/>
                </a:solidFill>
                <a:latin typeface="Calibri"/>
              </a:rPr>
              <a:t>This deck will not
help you.</a:t>
            </a:r>
          </a:p>
        </p:txBody>
      </p:sp>
      <p:sp>
        <p:nvSpPr>
          <p:cNvPr id="4" name="TextBox 3"/>
          <p:cNvSpPr txBox="1"/>
          <p:nvPr/>
        </p:nvSpPr>
        <p:spPr>
          <a:xfrm>
            <a:off x="777240" y="3794760"/>
            <a:ext cx="7589520" cy="1188720"/>
          </a:xfrm>
          <a:prstGeom prst="rect">
            <a:avLst/>
          </a:prstGeom>
          <a:noFill/>
        </p:spPr>
        <p:txBody>
          <a:bodyPr wrap="square" anchor="t">
            <a:spAutoFit/>
          </a:bodyPr>
          <a:lstStyle/>
          <a:p>
            <a:pPr algn="l">
              <a:lnSpc>
                <a:spcPct val="125000"/>
              </a:lnSpc>
            </a:pPr>
            <a:r>
              <a:rPr sz="1600" b="0" i="0">
                <a:solidFill>
                  <a:srgbClr val="E3DFD6"/>
                </a:solidFill>
                <a:latin typeface="Calibri"/>
              </a:rPr>
              <a:t>It will give you one instruction at a time and nothing else. It will not show you what a good answer looks like, tell you whether yours is any good, or explain what a step was for until you have done all eleven.</a:t>
            </a:r>
          </a:p>
        </p:txBody>
      </p:sp>
      <p:sp>
        <p:nvSpPr>
          <p:cNvPr id="5" name="TextBox 4"/>
          <p:cNvSpPr txBox="1"/>
          <p:nvPr/>
        </p:nvSpPr>
        <p:spPr>
          <a:xfrm>
            <a:off x="777240" y="5074920"/>
            <a:ext cx="7589520" cy="731520"/>
          </a:xfrm>
          <a:prstGeom prst="rect">
            <a:avLst/>
          </a:prstGeom>
          <a:noFill/>
        </p:spPr>
        <p:txBody>
          <a:bodyPr wrap="square" anchor="t">
            <a:spAutoFit/>
          </a:bodyPr>
          <a:lstStyle/>
          <a:p>
            <a:pPr algn="l">
              <a:lnSpc>
                <a:spcPct val="120000"/>
              </a:lnSpc>
            </a:pPr>
            <a:r>
              <a:rPr sz="1400" b="0" i="1">
                <a:solidFill>
                  <a:srgbClr val="A8A296"/>
                </a:solidFill>
                <a:latin typeface="Calibri"/>
              </a:rPr>
              <a:t>That is the method, not a shortage of material. The reason is on the last few slides, where it will make sense.</a:t>
            </a:r>
          </a:p>
        </p:txBody>
      </p:sp>
      <p:sp>
        <p:nvSpPr>
          <p:cNvPr id="6" name="Rectangle 5"/>
          <p:cNvSpPr/>
          <p:nvPr/>
        </p:nvSpPr>
        <p:spPr>
          <a:xfrm>
            <a:off x="8778240" y="1874519"/>
            <a:ext cx="2606040" cy="2788920"/>
          </a:xfrm>
          <a:prstGeom prst="rect">
            <a:avLst/>
          </a:prstGeom>
          <a:noFill/>
          <a:ln w="20320">
            <a:solidFill>
              <a:srgbClr val="A33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0" y="2194560"/>
            <a:ext cx="2194560" cy="3017520"/>
          </a:xfrm>
          <a:prstGeom prst="rect">
            <a:avLst/>
          </a:prstGeom>
          <a:noFill/>
        </p:spPr>
        <p:txBody>
          <a:bodyPr wrap="square" anchor="t">
            <a:spAutoFit/>
          </a:bodyPr>
          <a:lstStyle/>
          <a:p>
            <a:pPr algn="l">
              <a:lnSpc>
                <a:spcPct val="130000"/>
              </a:lnSpc>
            </a:pPr>
            <a:r>
              <a:rPr sz="1450" b="0" i="0">
                <a:solidFill>
                  <a:srgbClr val="FFFFFF"/>
                </a:solidFill>
                <a:latin typeface="Calibri"/>
              </a:rPr>
              <a:t>Some steps
may feel
uncomfortable.
That is common,
and it is not a
sign that you
are doing it
wrong.</a:t>
            </a:r>
          </a:p>
        </p:txBody>
      </p:sp>
      <p:sp>
        <p:nvSpPr>
          <p:cNvPr id="8" name="TextBox 7"/>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A8A296"/>
                </a:solidFill>
                <a:latin typeface="Calibri"/>
              </a:rPr>
              <a:t>RCN method  ·  Kitchen Table Exercise</a:t>
            </a:r>
          </a:p>
        </p:txBody>
      </p:sp>
      <p:sp>
        <p:nvSpPr>
          <p:cNvPr id="9" name="TextBox 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A8A296"/>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2743200"/>
            <a:ext cx="10607040" cy="731520"/>
          </a:xfrm>
          <a:prstGeom prst="rect">
            <a:avLst/>
          </a:prstGeom>
          <a:noFill/>
        </p:spPr>
        <p:txBody>
          <a:bodyPr wrap="square" anchor="t">
            <a:spAutoFit/>
          </a:bodyPr>
          <a:lstStyle/>
          <a:p>
            <a:pPr algn="ctr">
              <a:lnSpc>
                <a:spcPct val="100000"/>
              </a:lnSpc>
            </a:pPr>
            <a:r>
              <a:rPr sz="3000" b="1" i="0">
                <a:solidFill>
                  <a:srgbClr val="14130F"/>
                </a:solidFill>
                <a:latin typeface="Calibri"/>
              </a:rPr>
              <a:t>Turn the page when you are ready.</a:t>
            </a:r>
          </a:p>
        </p:txBody>
      </p:sp>
      <p:sp>
        <p:nvSpPr>
          <p:cNvPr id="3" name="TextBox 2"/>
          <p:cNvSpPr txBox="1"/>
          <p:nvPr/>
        </p:nvSpPr>
        <p:spPr>
          <a:xfrm>
            <a:off x="777240" y="3611880"/>
            <a:ext cx="10607040" cy="457200"/>
          </a:xfrm>
          <a:prstGeom prst="rect">
            <a:avLst/>
          </a:prstGeom>
          <a:noFill/>
        </p:spPr>
        <p:txBody>
          <a:bodyPr wrap="square" anchor="t">
            <a:spAutoFit/>
          </a:bodyPr>
          <a:lstStyle/>
          <a:p>
            <a:pPr algn="ctr">
              <a:lnSpc>
                <a:spcPct val="100000"/>
              </a:lnSpc>
            </a:pPr>
            <a:r>
              <a:rPr sz="1600" b="0" i="0">
                <a:solidFill>
                  <a:srgbClr val="4A4740"/>
                </a:solidFill>
                <a:latin typeface="Calibri"/>
              </a:rPr>
              <a:t>From here on, one step per slide. Do the step, then advance.</a:t>
            </a:r>
          </a:p>
        </p:txBody>
      </p:sp>
      <p:sp>
        <p:nvSpPr>
          <p:cNvPr id="4" name="TextBox 3"/>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5" name="TextBox 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1</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1</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Think of some area of present concern and care.</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800" b="0" i="0">
                <a:solidFill>
                  <a:srgbClr val="4A4740"/>
                </a:solidFill>
                <a:latin typeface="Calibri"/>
              </a:rPr>
              <a:t>It does not matter what the area is, only that it is really meaningful to you personally.
Take your time. Be sure it is a big deal to you.</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2</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2</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Make a list of anything that comes to mind when you think about that topic.</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800" b="0" i="0">
                <a:solidFill>
                  <a:srgbClr val="4A4740"/>
                </a:solidFill>
                <a:latin typeface="Calibri"/>
              </a:rPr>
              <a:t>It is a list, not an essay. Feel free to list anything — an idea, a person, a place, a thing, any thing — that comes to your mind.
Be sure there are at least fifteen items. Do not go further than what can be written on a single sheet of paper.
Take your time. Take a break if you like.</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3</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3</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Choose about eight of the items from your list. You choose.</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800" b="0" i="0">
                <a:solidFill>
                  <a:srgbClr val="4A4740"/>
                </a:solidFill>
                <a:latin typeface="Calibri"/>
              </a:rPr>
              <a:t>Write each of these onto another clean sheet of paper. Spread them out, leaving lots of white space.
Enclose each of the items separately — some sort of border around each one.</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4</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4</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Draw lines connecting some of the items from Step 3.</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800" b="0" i="0">
                <a:solidFill>
                  <a:srgbClr val="4A4740"/>
                </a:solidFill>
                <a:latin typeface="Calibri"/>
              </a:rPr>
              <a:t>Do this in ways that make sense to you.
The connections must matter to you.</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5</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5</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Label the connecting lines.</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800" b="0" i="0">
                <a:solidFill>
                  <a:srgbClr val="4A4740"/>
                </a:solidFill>
                <a:latin typeface="Calibri"/>
              </a:rPr>
              <a:t>What does the line mean?</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6</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6</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Add arrowheads to the lines.</a:t>
            </a:r>
          </a:p>
        </p:txBody>
      </p:sp>
      <p:sp>
        <p:nvSpPr>
          <p:cNvPr id="5" name="TextBox 4"/>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6" name="TextBox 5"/>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7</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7</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If you have more than one arrowhead on a line, erase one of the two.</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800" b="0" i="0">
                <a:solidFill>
                  <a:srgbClr val="4A4740"/>
                </a:solidFill>
                <a:latin typeface="Calibri"/>
              </a:rPr>
              <a:t>Draw another line to hold the extra arrowhead.</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8</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8</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Make sure every label on a line is a verb which conveys action or change.</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750" b="0" i="0">
                <a:solidFill>
                  <a:srgbClr val="4A4740"/>
                </a:solidFill>
                <a:latin typeface="Calibri"/>
              </a:rPr>
              <a:t>Typically a word ending in "-ing".
You will probably need to spend some time on this step, and to erase some of the initial labels.
By the way, you can change the labels on the items themselves any time you like. This is your graph, your drawing, about something that you care about.</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9</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9</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Read the graph. Out loud. Say only what is written on the page.</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800" b="0" i="0">
                <a:solidFill>
                  <a:srgbClr val="4A4740"/>
                </a:solidFill>
                <a:latin typeface="Calibri"/>
              </a:rPr>
              <a:t>I promise you that you can do this if you have used verbs on the connecting lines. If you have not done that, you will find the verbs when you try to read the graph.</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10</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10</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Now recall how you felt when you were asked to do Step 1.</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650" b="0" i="0">
                <a:solidFill>
                  <a:srgbClr val="4A4740"/>
                </a:solidFill>
                <a:latin typeface="Calibri"/>
              </a:rPr>
              <a:t>Really get back in touch with what was going on for you in that moment. Say it out loud. Listen to what you say. Write down what you have just heard yourself say.
Then do the same for Step 2, and Step 3, and every step through Step 9.
It typically takes as much time and thought as it took to do each step in the first place. This is where the big learning is.</a:t>
            </a:r>
          </a:p>
        </p:txBody>
      </p:sp>
      <p:sp>
        <p:nvSpPr>
          <p:cNvPr id="6" name="Rectangle 5"/>
          <p:cNvSpPr/>
          <p:nvPr/>
        </p:nvSpPr>
        <p:spPr>
          <a:xfrm>
            <a:off x="777240" y="5897880"/>
            <a:ext cx="7680960" cy="18288"/>
          </a:xfrm>
          <a:prstGeom prst="rect">
            <a:avLst/>
          </a:prstGeom>
          <a:solidFill>
            <a:srgbClr val="DDD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989320"/>
            <a:ext cx="7315200" cy="320040"/>
          </a:xfrm>
          <a:prstGeom prst="rect">
            <a:avLst/>
          </a:prstGeom>
          <a:noFill/>
        </p:spPr>
        <p:txBody>
          <a:bodyPr wrap="square" anchor="t">
            <a:spAutoFit/>
          </a:bodyPr>
          <a:lstStyle/>
          <a:p>
            <a:pPr algn="l">
              <a:lnSpc>
                <a:spcPct val="100000"/>
              </a:lnSpc>
            </a:pPr>
            <a:r>
              <a:rPr sz="1300" b="0" i="1">
                <a:solidFill>
                  <a:srgbClr val="918C82"/>
                </a:solidFill>
                <a:latin typeface="Calibri"/>
              </a:rPr>
              <a:t>Take a few minutes first. Relax.</a:t>
            </a:r>
          </a:p>
        </p:txBody>
      </p:sp>
      <p:sp>
        <p:nvSpPr>
          <p:cNvPr id="8" name="TextBox 7"/>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9" name="TextBox 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9052560" y="640080"/>
            <a:ext cx="2377440" cy="2377440"/>
          </a:xfrm>
          <a:prstGeom prst="rect">
            <a:avLst/>
          </a:prstGeom>
          <a:noFill/>
        </p:spPr>
        <p:txBody>
          <a:bodyPr wrap="square" anchor="t">
            <a:spAutoFit/>
          </a:bodyPr>
          <a:lstStyle/>
          <a:p>
            <a:pPr algn="r">
              <a:lnSpc>
                <a:spcPct val="100000"/>
              </a:lnSpc>
            </a:pPr>
            <a:r>
              <a:rPr sz="15000" b="1" i="0">
                <a:solidFill>
                  <a:srgbClr val="E3DFD6"/>
                </a:solidFill>
                <a:latin typeface="Calibri"/>
              </a:rPr>
              <a:t>11</a:t>
            </a:r>
          </a:p>
        </p:txBody>
      </p:sp>
      <p:sp>
        <p:nvSpPr>
          <p:cNvPr id="3" name="TextBox 2"/>
          <p:cNvSpPr txBox="1"/>
          <p:nvPr/>
        </p:nvSpPr>
        <p:spPr>
          <a:xfrm>
            <a:off x="777240" y="960120"/>
            <a:ext cx="5486400" cy="292608"/>
          </a:xfrm>
          <a:prstGeom prst="rect">
            <a:avLst/>
          </a:prstGeom>
          <a:noFill/>
        </p:spPr>
        <p:txBody>
          <a:bodyPr wrap="square" anchor="t">
            <a:spAutoFit/>
          </a:bodyPr>
          <a:lstStyle/>
          <a:p>
            <a:pPr algn="l">
              <a:lnSpc>
                <a:spcPct val="100000"/>
              </a:lnSpc>
            </a:pPr>
            <a:r>
              <a:rPr sz="1200" b="1" i="0">
                <a:solidFill>
                  <a:srgbClr val="3D5A6C"/>
                </a:solidFill>
                <a:latin typeface="Calibri"/>
              </a:rPr>
              <a:t>STEP 11</a:t>
            </a:r>
          </a:p>
        </p:txBody>
      </p:sp>
      <p:sp>
        <p:nvSpPr>
          <p:cNvPr id="4" name="TextBox 3"/>
          <p:cNvSpPr txBox="1"/>
          <p:nvPr/>
        </p:nvSpPr>
        <p:spPr>
          <a:xfrm>
            <a:off x="777240" y="1417320"/>
            <a:ext cx="7680960" cy="1828800"/>
          </a:xfrm>
          <a:prstGeom prst="rect">
            <a:avLst/>
          </a:prstGeom>
          <a:noFill/>
        </p:spPr>
        <p:txBody>
          <a:bodyPr wrap="square" anchor="t">
            <a:spAutoFit/>
          </a:bodyPr>
          <a:lstStyle/>
          <a:p>
            <a:pPr algn="l">
              <a:lnSpc>
                <a:spcPct val="100000"/>
              </a:lnSpc>
            </a:pPr>
            <a:r>
              <a:rPr sz="3400" b="1" i="0">
                <a:solidFill>
                  <a:srgbClr val="14130F"/>
                </a:solidFill>
                <a:latin typeface="Calibri"/>
              </a:rPr>
              <a:t>Make sure every step has a note saying how it felt and what you understood there.</a:t>
            </a:r>
          </a:p>
        </p:txBody>
      </p:sp>
      <p:sp>
        <p:nvSpPr>
          <p:cNvPr id="5" name="TextBox 4"/>
          <p:cNvSpPr txBox="1"/>
          <p:nvPr/>
        </p:nvSpPr>
        <p:spPr>
          <a:xfrm>
            <a:off x="777240" y="3429000"/>
            <a:ext cx="7680960" cy="2468880"/>
          </a:xfrm>
          <a:prstGeom prst="rect">
            <a:avLst/>
          </a:prstGeom>
          <a:noFill/>
        </p:spPr>
        <p:txBody>
          <a:bodyPr wrap="square" anchor="t">
            <a:spAutoFit/>
          </a:bodyPr>
          <a:lstStyle/>
          <a:p>
            <a:pPr algn="l">
              <a:lnSpc>
                <a:spcPct val="130000"/>
              </a:lnSpc>
            </a:pPr>
            <a:r>
              <a:rPr sz="1800" b="0" i="0">
                <a:solidFill>
                  <a:srgbClr val="4A4740"/>
                </a:solidFill>
                <a:latin typeface="Calibri"/>
              </a:rPr>
              <a:t>Then write down your answers to these three.
What have you learned?
What could you do with this little graph?
Was this interesting? Fun? Useful?</a:t>
            </a:r>
          </a:p>
        </p:txBody>
      </p:sp>
      <p:sp>
        <p:nvSpPr>
          <p:cNvPr id="6" name="TextBox 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7" name="TextBox 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1D18"/>
        </a:solidFill>
        <a:effectLst/>
      </p:bgPr>
    </p:bg>
    <p:spTree>
      <p:nvGrpSpPr>
        <p:cNvPr id="1" name=""/>
        <p:cNvGrpSpPr/>
        <p:nvPr/>
      </p:nvGrpSpPr>
      <p:grpSpPr/>
      <p:sp>
        <p:nvSpPr>
          <p:cNvPr id="2" name="TextBox 1"/>
          <p:cNvSpPr txBox="1"/>
          <p:nvPr/>
        </p:nvSpPr>
        <p:spPr>
          <a:xfrm>
            <a:off x="777240" y="1463040"/>
            <a:ext cx="10607040" cy="1097280"/>
          </a:xfrm>
          <a:prstGeom prst="rect">
            <a:avLst/>
          </a:prstGeom>
          <a:noFill/>
        </p:spPr>
        <p:txBody>
          <a:bodyPr wrap="square" anchor="t">
            <a:spAutoFit/>
          </a:bodyPr>
          <a:lstStyle/>
          <a:p>
            <a:pPr algn="ctr">
              <a:lnSpc>
                <a:spcPct val="100000"/>
              </a:lnSpc>
            </a:pPr>
            <a:r>
              <a:rPr sz="5800" b="1" i="0">
                <a:solidFill>
                  <a:srgbClr val="A33B2A"/>
                </a:solidFill>
                <a:latin typeface="Calibri"/>
              </a:rPr>
              <a:t>STOP</a:t>
            </a:r>
          </a:p>
        </p:txBody>
      </p:sp>
      <p:sp>
        <p:nvSpPr>
          <p:cNvPr id="3" name="TextBox 2"/>
          <p:cNvSpPr txBox="1"/>
          <p:nvPr/>
        </p:nvSpPr>
        <p:spPr>
          <a:xfrm>
            <a:off x="2194560" y="2834640"/>
            <a:ext cx="7772400" cy="822960"/>
          </a:xfrm>
          <a:prstGeom prst="rect">
            <a:avLst/>
          </a:prstGeom>
          <a:noFill/>
        </p:spPr>
        <p:txBody>
          <a:bodyPr wrap="square" anchor="t">
            <a:spAutoFit/>
          </a:bodyPr>
          <a:lstStyle/>
          <a:p>
            <a:pPr algn="ctr">
              <a:lnSpc>
                <a:spcPct val="120000"/>
              </a:lnSpc>
            </a:pPr>
            <a:r>
              <a:rPr sz="2100" b="0" i="0">
                <a:solidFill>
                  <a:srgbClr val="FFFFFF"/>
                </a:solidFill>
                <a:latin typeface="Calibri"/>
              </a:rPr>
              <a:t>Everything after this slide assumes you have finished all eleven steps and written your notes.</a:t>
            </a:r>
          </a:p>
        </p:txBody>
      </p:sp>
      <p:sp>
        <p:nvSpPr>
          <p:cNvPr id="4" name="TextBox 3"/>
          <p:cNvSpPr txBox="1"/>
          <p:nvPr/>
        </p:nvSpPr>
        <p:spPr>
          <a:xfrm>
            <a:off x="2651760" y="3931920"/>
            <a:ext cx="6858000" cy="1097280"/>
          </a:xfrm>
          <a:prstGeom prst="rect">
            <a:avLst/>
          </a:prstGeom>
          <a:noFill/>
        </p:spPr>
        <p:txBody>
          <a:bodyPr wrap="square" anchor="t">
            <a:spAutoFit/>
          </a:bodyPr>
          <a:lstStyle/>
          <a:p>
            <a:pPr algn="ctr">
              <a:lnSpc>
                <a:spcPct val="125000"/>
              </a:lnSpc>
            </a:pPr>
            <a:r>
              <a:rPr sz="1500" b="0" i="0">
                <a:solidFill>
                  <a:srgbClr val="A8A296"/>
                </a:solidFill>
                <a:latin typeface="Calibri"/>
              </a:rPr>
              <a:t>Reading it first will not make the exercise easier. It will make it not work, because you will spend the hour producing what you have been told to expect.</a:t>
            </a:r>
          </a:p>
        </p:txBody>
      </p:sp>
      <p:sp>
        <p:nvSpPr>
          <p:cNvPr id="5" name="TextBox 4"/>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A8A296"/>
                </a:solidFill>
                <a:latin typeface="Calibri"/>
              </a:rPr>
              <a:t>RCN method  ·  Kitchen Table Exercise</a:t>
            </a:r>
          </a:p>
        </p:txBody>
      </p:sp>
      <p:sp>
        <p:nvSpPr>
          <p:cNvPr id="6" name="TextBox 5"/>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A8A296"/>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AFTER YOU HAVE FINISHED</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What you just did</a:t>
            </a:r>
          </a:p>
        </p:txBody>
      </p:sp>
      <p:sp>
        <p:nvSpPr>
          <p:cNvPr id="4" name="TextBox 3"/>
          <p:cNvSpPr txBox="1"/>
          <p:nvPr/>
        </p:nvSpPr>
        <p:spPr>
          <a:xfrm>
            <a:off x="777240" y="1965960"/>
            <a:ext cx="10058400" cy="365760"/>
          </a:xfrm>
          <a:prstGeom prst="rect">
            <a:avLst/>
          </a:prstGeom>
          <a:noFill/>
        </p:spPr>
        <p:txBody>
          <a:bodyPr wrap="square" anchor="t">
            <a:spAutoFit/>
          </a:bodyPr>
          <a:lstStyle/>
          <a:p>
            <a:pPr algn="l">
              <a:lnSpc>
                <a:spcPct val="100000"/>
              </a:lnSpc>
            </a:pPr>
            <a:r>
              <a:rPr sz="1500" b="0" i="0">
                <a:solidFill>
                  <a:srgbClr val="4A4740"/>
                </a:solidFill>
                <a:latin typeface="Calibri"/>
              </a:rPr>
              <a:t>The list that was kept out of sight until now.</a:t>
            </a:r>
          </a:p>
        </p:txBody>
      </p:sp>
      <p:sp>
        <p:nvSpPr>
          <p:cNvPr id="5" name="Oval 4"/>
          <p:cNvSpPr/>
          <p:nvPr/>
        </p:nvSpPr>
        <p:spPr>
          <a:xfrm>
            <a:off x="786383" y="251460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3" y="260146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1</a:t>
            </a:r>
          </a:p>
        </p:txBody>
      </p:sp>
      <p:sp>
        <p:nvSpPr>
          <p:cNvPr id="7" name="TextBox 6"/>
          <p:cNvSpPr txBox="1"/>
          <p:nvPr/>
        </p:nvSpPr>
        <p:spPr>
          <a:xfrm>
            <a:off x="1344168" y="250545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Focusing</a:t>
            </a:r>
          </a:p>
        </p:txBody>
      </p:sp>
      <p:sp>
        <p:nvSpPr>
          <p:cNvPr id="8" name="Oval 7"/>
          <p:cNvSpPr/>
          <p:nvPr/>
        </p:nvSpPr>
        <p:spPr>
          <a:xfrm>
            <a:off x="4398264" y="251460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98264" y="260146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2</a:t>
            </a:r>
          </a:p>
        </p:txBody>
      </p:sp>
      <p:sp>
        <p:nvSpPr>
          <p:cNvPr id="10" name="TextBox 9"/>
          <p:cNvSpPr txBox="1"/>
          <p:nvPr/>
        </p:nvSpPr>
        <p:spPr>
          <a:xfrm>
            <a:off x="4956048" y="250545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Listing</a:t>
            </a:r>
          </a:p>
        </p:txBody>
      </p:sp>
      <p:sp>
        <p:nvSpPr>
          <p:cNvPr id="11" name="TextBox 10"/>
          <p:cNvSpPr txBox="1"/>
          <p:nvPr/>
        </p:nvSpPr>
        <p:spPr>
          <a:xfrm>
            <a:off x="4956048" y="2852928"/>
            <a:ext cx="2926080" cy="457200"/>
          </a:xfrm>
          <a:prstGeom prst="rect">
            <a:avLst/>
          </a:prstGeom>
          <a:noFill/>
        </p:spPr>
        <p:txBody>
          <a:bodyPr wrap="square" anchor="t">
            <a:spAutoFit/>
          </a:bodyPr>
          <a:lstStyle/>
          <a:p>
            <a:pPr algn="l">
              <a:lnSpc>
                <a:spcPct val="110000"/>
              </a:lnSpc>
            </a:pPr>
            <a:r>
              <a:rPr sz="1150" b="0" i="0">
                <a:solidFill>
                  <a:srgbClr val="918C82"/>
                </a:solidFill>
                <a:latin typeface="Calibri"/>
              </a:rPr>
              <a:t>looking about, imagining, naming, limiting</a:t>
            </a:r>
          </a:p>
        </p:txBody>
      </p:sp>
      <p:sp>
        <p:nvSpPr>
          <p:cNvPr id="12" name="Oval 11"/>
          <p:cNvSpPr/>
          <p:nvPr/>
        </p:nvSpPr>
        <p:spPr>
          <a:xfrm>
            <a:off x="8010144" y="251460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0144" y="260146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3</a:t>
            </a:r>
          </a:p>
        </p:txBody>
      </p:sp>
      <p:sp>
        <p:nvSpPr>
          <p:cNvPr id="14" name="TextBox 13"/>
          <p:cNvSpPr txBox="1"/>
          <p:nvPr/>
        </p:nvSpPr>
        <p:spPr>
          <a:xfrm>
            <a:off x="8567928" y="250545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Culling</a:t>
            </a:r>
          </a:p>
        </p:txBody>
      </p:sp>
      <p:sp>
        <p:nvSpPr>
          <p:cNvPr id="15" name="TextBox 14"/>
          <p:cNvSpPr txBox="1"/>
          <p:nvPr/>
        </p:nvSpPr>
        <p:spPr>
          <a:xfrm>
            <a:off x="8567928" y="2852928"/>
            <a:ext cx="2926080" cy="457200"/>
          </a:xfrm>
          <a:prstGeom prst="rect">
            <a:avLst/>
          </a:prstGeom>
          <a:noFill/>
        </p:spPr>
        <p:txBody>
          <a:bodyPr wrap="square" anchor="t">
            <a:spAutoFit/>
          </a:bodyPr>
          <a:lstStyle/>
          <a:p>
            <a:pPr algn="l">
              <a:lnSpc>
                <a:spcPct val="110000"/>
              </a:lnSpc>
            </a:pPr>
            <a:r>
              <a:rPr sz="1150" b="0" i="0">
                <a:solidFill>
                  <a:srgbClr val="918C82"/>
                </a:solidFill>
                <a:latin typeface="Calibri"/>
              </a:rPr>
              <a:t>narrowing, selecting</a:t>
            </a:r>
          </a:p>
        </p:txBody>
      </p:sp>
      <p:sp>
        <p:nvSpPr>
          <p:cNvPr id="16" name="Oval 15"/>
          <p:cNvSpPr/>
          <p:nvPr/>
        </p:nvSpPr>
        <p:spPr>
          <a:xfrm>
            <a:off x="786383" y="352044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3" y="360730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4</a:t>
            </a:r>
          </a:p>
        </p:txBody>
      </p:sp>
      <p:sp>
        <p:nvSpPr>
          <p:cNvPr id="18" name="TextBox 17"/>
          <p:cNvSpPr txBox="1"/>
          <p:nvPr/>
        </p:nvSpPr>
        <p:spPr>
          <a:xfrm>
            <a:off x="1344168" y="351129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Arraying</a:t>
            </a:r>
          </a:p>
        </p:txBody>
      </p:sp>
      <p:sp>
        <p:nvSpPr>
          <p:cNvPr id="19" name="TextBox 18"/>
          <p:cNvSpPr txBox="1"/>
          <p:nvPr/>
        </p:nvSpPr>
        <p:spPr>
          <a:xfrm>
            <a:off x="1344168" y="3858768"/>
            <a:ext cx="2926080" cy="457200"/>
          </a:xfrm>
          <a:prstGeom prst="rect">
            <a:avLst/>
          </a:prstGeom>
          <a:noFill/>
        </p:spPr>
        <p:txBody>
          <a:bodyPr wrap="square" anchor="t">
            <a:spAutoFit/>
          </a:bodyPr>
          <a:lstStyle/>
          <a:p>
            <a:pPr algn="l">
              <a:lnSpc>
                <a:spcPct val="110000"/>
              </a:lnSpc>
            </a:pPr>
            <a:r>
              <a:rPr sz="1150" b="0" i="0">
                <a:solidFill>
                  <a:srgbClr val="918C82"/>
                </a:solidFill>
                <a:latin typeface="Calibri"/>
              </a:rPr>
              <a:t>spatial organising</a:t>
            </a:r>
          </a:p>
        </p:txBody>
      </p:sp>
      <p:sp>
        <p:nvSpPr>
          <p:cNvPr id="20" name="Oval 19"/>
          <p:cNvSpPr/>
          <p:nvPr/>
        </p:nvSpPr>
        <p:spPr>
          <a:xfrm>
            <a:off x="4398264" y="352044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98264" y="360730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5</a:t>
            </a:r>
          </a:p>
        </p:txBody>
      </p:sp>
      <p:sp>
        <p:nvSpPr>
          <p:cNvPr id="22" name="TextBox 21"/>
          <p:cNvSpPr txBox="1"/>
          <p:nvPr/>
        </p:nvSpPr>
        <p:spPr>
          <a:xfrm>
            <a:off x="4956048" y="351129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Connecting</a:t>
            </a:r>
          </a:p>
        </p:txBody>
      </p:sp>
      <p:sp>
        <p:nvSpPr>
          <p:cNvPr id="23" name="TextBox 22"/>
          <p:cNvSpPr txBox="1"/>
          <p:nvPr/>
        </p:nvSpPr>
        <p:spPr>
          <a:xfrm>
            <a:off x="4956048" y="3858768"/>
            <a:ext cx="2926080" cy="457200"/>
          </a:xfrm>
          <a:prstGeom prst="rect">
            <a:avLst/>
          </a:prstGeom>
          <a:noFill/>
        </p:spPr>
        <p:txBody>
          <a:bodyPr wrap="square" anchor="t">
            <a:spAutoFit/>
          </a:bodyPr>
          <a:lstStyle/>
          <a:p>
            <a:pPr algn="l">
              <a:lnSpc>
                <a:spcPct val="110000"/>
              </a:lnSpc>
            </a:pPr>
            <a:r>
              <a:rPr sz="1150" b="0" i="0">
                <a:solidFill>
                  <a:srgbClr val="918C82"/>
                </a:solidFill>
                <a:latin typeface="Calibri"/>
              </a:rPr>
              <a:t>formally relating</a:t>
            </a:r>
          </a:p>
        </p:txBody>
      </p:sp>
      <p:sp>
        <p:nvSpPr>
          <p:cNvPr id="24" name="Oval 23"/>
          <p:cNvSpPr/>
          <p:nvPr/>
        </p:nvSpPr>
        <p:spPr>
          <a:xfrm>
            <a:off x="8010144" y="352044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0144" y="360730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6</a:t>
            </a:r>
          </a:p>
        </p:txBody>
      </p:sp>
      <p:sp>
        <p:nvSpPr>
          <p:cNvPr id="26" name="TextBox 25"/>
          <p:cNvSpPr txBox="1"/>
          <p:nvPr/>
        </p:nvSpPr>
        <p:spPr>
          <a:xfrm>
            <a:off x="8567928" y="351129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Assigning direction</a:t>
            </a:r>
          </a:p>
        </p:txBody>
      </p:sp>
      <p:sp>
        <p:nvSpPr>
          <p:cNvPr id="27" name="TextBox 26"/>
          <p:cNvSpPr txBox="1"/>
          <p:nvPr/>
        </p:nvSpPr>
        <p:spPr>
          <a:xfrm>
            <a:off x="8567928" y="3858768"/>
            <a:ext cx="2926080" cy="457200"/>
          </a:xfrm>
          <a:prstGeom prst="rect">
            <a:avLst/>
          </a:prstGeom>
          <a:noFill/>
        </p:spPr>
        <p:txBody>
          <a:bodyPr wrap="square" anchor="t">
            <a:spAutoFit/>
          </a:bodyPr>
          <a:lstStyle/>
          <a:p>
            <a:pPr algn="l">
              <a:lnSpc>
                <a:spcPct val="110000"/>
              </a:lnSpc>
            </a:pPr>
            <a:r>
              <a:rPr sz="1150" b="0" i="0">
                <a:solidFill>
                  <a:srgbClr val="918C82"/>
                </a:solidFill>
                <a:latin typeface="Calibri"/>
              </a:rPr>
              <a:t>vectoring</a:t>
            </a:r>
          </a:p>
        </p:txBody>
      </p:sp>
      <p:sp>
        <p:nvSpPr>
          <p:cNvPr id="28" name="Oval 27"/>
          <p:cNvSpPr/>
          <p:nvPr/>
        </p:nvSpPr>
        <p:spPr>
          <a:xfrm>
            <a:off x="786383" y="452628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3" y="461314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7</a:t>
            </a:r>
          </a:p>
        </p:txBody>
      </p:sp>
      <p:sp>
        <p:nvSpPr>
          <p:cNvPr id="30" name="TextBox 29"/>
          <p:cNvSpPr txBox="1"/>
          <p:nvPr/>
        </p:nvSpPr>
        <p:spPr>
          <a:xfrm>
            <a:off x="1344168" y="451713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Labelling</a:t>
            </a:r>
          </a:p>
        </p:txBody>
      </p:sp>
      <p:sp>
        <p:nvSpPr>
          <p:cNvPr id="31" name="TextBox 30"/>
          <p:cNvSpPr txBox="1"/>
          <p:nvPr/>
        </p:nvSpPr>
        <p:spPr>
          <a:xfrm>
            <a:off x="1344168" y="4864608"/>
            <a:ext cx="2926080" cy="457200"/>
          </a:xfrm>
          <a:prstGeom prst="rect">
            <a:avLst/>
          </a:prstGeom>
          <a:noFill/>
        </p:spPr>
        <p:txBody>
          <a:bodyPr wrap="square" anchor="t">
            <a:spAutoFit/>
          </a:bodyPr>
          <a:lstStyle/>
          <a:p>
            <a:pPr algn="l">
              <a:lnSpc>
                <a:spcPct val="110000"/>
              </a:lnSpc>
            </a:pPr>
            <a:r>
              <a:rPr sz="1150" b="0" i="0">
                <a:solidFill>
                  <a:srgbClr val="918C82"/>
                </a:solidFill>
                <a:latin typeface="Calibri"/>
              </a:rPr>
              <a:t>clarifying</a:t>
            </a:r>
          </a:p>
        </p:txBody>
      </p:sp>
      <p:sp>
        <p:nvSpPr>
          <p:cNvPr id="32" name="Oval 31"/>
          <p:cNvSpPr/>
          <p:nvPr/>
        </p:nvSpPr>
        <p:spPr>
          <a:xfrm>
            <a:off x="4398264" y="452628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98264" y="461314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8</a:t>
            </a:r>
          </a:p>
        </p:txBody>
      </p:sp>
      <p:sp>
        <p:nvSpPr>
          <p:cNvPr id="34" name="TextBox 33"/>
          <p:cNvSpPr txBox="1"/>
          <p:nvPr/>
        </p:nvSpPr>
        <p:spPr>
          <a:xfrm>
            <a:off x="4956048" y="451713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Narrating</a:t>
            </a:r>
          </a:p>
        </p:txBody>
      </p:sp>
      <p:sp>
        <p:nvSpPr>
          <p:cNvPr id="35" name="TextBox 34"/>
          <p:cNvSpPr txBox="1"/>
          <p:nvPr/>
        </p:nvSpPr>
        <p:spPr>
          <a:xfrm>
            <a:off x="4956048" y="4864608"/>
            <a:ext cx="2926080" cy="457200"/>
          </a:xfrm>
          <a:prstGeom prst="rect">
            <a:avLst/>
          </a:prstGeom>
          <a:noFill/>
        </p:spPr>
        <p:txBody>
          <a:bodyPr wrap="square" anchor="t">
            <a:spAutoFit/>
          </a:bodyPr>
          <a:lstStyle/>
          <a:p>
            <a:pPr algn="l">
              <a:lnSpc>
                <a:spcPct val="110000"/>
              </a:lnSpc>
            </a:pPr>
            <a:r>
              <a:rPr sz="1150" b="0" i="0">
                <a:solidFill>
                  <a:srgbClr val="918C82"/>
                </a:solidFill>
                <a:latin typeface="Calibri"/>
              </a:rPr>
              <a:t>telling the story</a:t>
            </a:r>
          </a:p>
        </p:txBody>
      </p:sp>
      <p:sp>
        <p:nvSpPr>
          <p:cNvPr id="36" name="Oval 35"/>
          <p:cNvSpPr/>
          <p:nvPr/>
        </p:nvSpPr>
        <p:spPr>
          <a:xfrm>
            <a:off x="8010144" y="4526280"/>
            <a:ext cx="457200" cy="457200"/>
          </a:xfrm>
          <a:prstGeom prst="ellipse">
            <a:avLst/>
          </a:prstGeom>
          <a:solidFill>
            <a:srgbClr val="E4EBEF"/>
          </a:solidFill>
          <a:ln w="13970">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10144" y="4613148"/>
            <a:ext cx="457200" cy="310896"/>
          </a:xfrm>
          <a:prstGeom prst="rect">
            <a:avLst/>
          </a:prstGeom>
          <a:noFill/>
        </p:spPr>
        <p:txBody>
          <a:bodyPr wrap="square" anchor="t">
            <a:spAutoFit/>
          </a:bodyPr>
          <a:lstStyle/>
          <a:p>
            <a:pPr algn="ctr">
              <a:lnSpc>
                <a:spcPct val="100000"/>
              </a:lnSpc>
            </a:pPr>
            <a:r>
              <a:rPr sz="1300" b="1" i="0">
                <a:solidFill>
                  <a:srgbClr val="3D5A6C"/>
                </a:solidFill>
                <a:latin typeface="Calibri"/>
              </a:rPr>
              <a:t>9</a:t>
            </a:r>
          </a:p>
        </p:txBody>
      </p:sp>
      <p:sp>
        <p:nvSpPr>
          <p:cNvPr id="38" name="TextBox 37"/>
          <p:cNvSpPr txBox="1"/>
          <p:nvPr/>
        </p:nvSpPr>
        <p:spPr>
          <a:xfrm>
            <a:off x="8567928" y="4517136"/>
            <a:ext cx="2926080" cy="329184"/>
          </a:xfrm>
          <a:prstGeom prst="rect">
            <a:avLst/>
          </a:prstGeom>
          <a:noFill/>
        </p:spPr>
        <p:txBody>
          <a:bodyPr wrap="square" anchor="t">
            <a:spAutoFit/>
          </a:bodyPr>
          <a:lstStyle/>
          <a:p>
            <a:pPr algn="l">
              <a:lnSpc>
                <a:spcPct val="100000"/>
              </a:lnSpc>
            </a:pPr>
            <a:r>
              <a:rPr sz="1500" b="1" i="0">
                <a:solidFill>
                  <a:srgbClr val="14130F"/>
                </a:solidFill>
                <a:latin typeface="Calibri"/>
              </a:rPr>
              <a:t>Reflecting and synthesising</a:t>
            </a:r>
          </a:p>
        </p:txBody>
      </p:sp>
      <p:sp>
        <p:nvSpPr>
          <p:cNvPr id="39" name="Rectangle 38"/>
          <p:cNvSpPr/>
          <p:nvPr/>
        </p:nvSpPr>
        <p:spPr>
          <a:xfrm>
            <a:off x="777240" y="5486400"/>
            <a:ext cx="10607040" cy="731520"/>
          </a:xfrm>
          <a:prstGeom prst="rect">
            <a:avLst/>
          </a:prstGeom>
          <a:solidFill>
            <a:srgbClr val="E4EBEF"/>
          </a:solidFill>
          <a:ln w="15875">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5650992"/>
            <a:ext cx="10058400" cy="457200"/>
          </a:xfrm>
          <a:prstGeom prst="rect">
            <a:avLst/>
          </a:prstGeom>
          <a:noFill/>
        </p:spPr>
        <p:txBody>
          <a:bodyPr wrap="square" anchor="t">
            <a:spAutoFit/>
          </a:bodyPr>
          <a:lstStyle/>
          <a:p>
            <a:pPr algn="l">
              <a:lnSpc>
                <a:spcPct val="115000"/>
              </a:lnSpc>
            </a:pPr>
            <a:r>
              <a:rPr sz="1350" b="1" i="0">
                <a:solidFill>
                  <a:srgbClr val="3D5A6C"/>
                </a:solidFill>
                <a:latin typeface="Calibri"/>
              </a:rPr>
              <a:t>Every one of these is something you were already doing before anybody taught you anything. The exercise did not install a skill. It named one you had.</a:t>
            </a:r>
          </a:p>
        </p:txBody>
      </p:sp>
      <p:sp>
        <p:nvSpPr>
          <p:cNvPr id="41" name="TextBox 40"/>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42" name="TextBox 4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AFTER YOU HAVE FINISHED</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Why that list was hidden until now</a:t>
            </a:r>
          </a:p>
        </p:txBody>
      </p:sp>
      <p:sp>
        <p:nvSpPr>
          <p:cNvPr id="4" name="TextBox 3"/>
          <p:cNvSpPr txBox="1"/>
          <p:nvPr/>
        </p:nvSpPr>
        <p:spPr>
          <a:xfrm>
            <a:off x="777240" y="2286000"/>
            <a:ext cx="7863840" cy="1280160"/>
          </a:xfrm>
          <a:prstGeom prst="rect">
            <a:avLst/>
          </a:prstGeom>
          <a:noFill/>
        </p:spPr>
        <p:txBody>
          <a:bodyPr wrap="square" anchor="t">
            <a:spAutoFit/>
          </a:bodyPr>
          <a:lstStyle/>
          <a:p>
            <a:pPr algn="l">
              <a:lnSpc>
                <a:spcPct val="130000"/>
              </a:lnSpc>
            </a:pPr>
            <a:r>
              <a:rPr sz="2000" b="0" i="0">
                <a:solidFill>
                  <a:srgbClr val="4A4740"/>
                </a:solidFill>
                <a:latin typeface="Calibri"/>
              </a:rPr>
              <a:t>Being told in advance what you are about to demonstrate turns it into a target. You would have spent the hour aiming at the list instead of thinking about your own concern.</a:t>
            </a:r>
          </a:p>
        </p:txBody>
      </p:sp>
      <p:sp>
        <p:nvSpPr>
          <p:cNvPr id="5" name="TextBox 4"/>
          <p:cNvSpPr txBox="1"/>
          <p:nvPr/>
        </p:nvSpPr>
        <p:spPr>
          <a:xfrm>
            <a:off x="777240" y="3794760"/>
            <a:ext cx="7863840" cy="1280160"/>
          </a:xfrm>
          <a:prstGeom prst="rect">
            <a:avLst/>
          </a:prstGeom>
          <a:noFill/>
        </p:spPr>
        <p:txBody>
          <a:bodyPr wrap="square" anchor="t">
            <a:spAutoFit/>
          </a:bodyPr>
          <a:lstStyle/>
          <a:p>
            <a:pPr algn="l">
              <a:lnSpc>
                <a:spcPct val="130000"/>
              </a:lnSpc>
            </a:pPr>
            <a:r>
              <a:rPr sz="2000" b="0" i="0">
                <a:solidFill>
                  <a:srgbClr val="4A4740"/>
                </a:solidFill>
                <a:latin typeface="Calibri"/>
              </a:rPr>
              <a:t>It is the same reason there was no example. A worked example is a hint about what a good answer looks like, which puts a judge back in the room in written form.</a:t>
            </a:r>
          </a:p>
        </p:txBody>
      </p:sp>
      <p:sp>
        <p:nvSpPr>
          <p:cNvPr id="6" name="Rectangle 5"/>
          <p:cNvSpPr/>
          <p:nvPr/>
        </p:nvSpPr>
        <p:spPr>
          <a:xfrm>
            <a:off x="777240" y="5440680"/>
            <a:ext cx="10607040" cy="18288"/>
          </a:xfrm>
          <a:prstGeom prst="rect">
            <a:avLst/>
          </a:prstGeom>
          <a:solidFill>
            <a:srgbClr val="DDD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577840"/>
            <a:ext cx="10332720" cy="457200"/>
          </a:xfrm>
          <a:prstGeom prst="rect">
            <a:avLst/>
          </a:prstGeom>
          <a:noFill/>
        </p:spPr>
        <p:txBody>
          <a:bodyPr wrap="square" anchor="t">
            <a:spAutoFit/>
          </a:bodyPr>
          <a:lstStyle/>
          <a:p>
            <a:pPr algn="l">
              <a:lnSpc>
                <a:spcPct val="100000"/>
              </a:lnSpc>
            </a:pPr>
            <a:r>
              <a:rPr sz="1400" b="0" i="1">
                <a:solidFill>
                  <a:srgbClr val="918C82"/>
                </a:solidFill>
                <a:latin typeface="Calibri"/>
              </a:rPr>
              <a:t>This is also why the person whose kitchen table it was did not look at anybody's paper.</a:t>
            </a:r>
          </a:p>
        </p:txBody>
      </p:sp>
      <p:sp>
        <p:nvSpPr>
          <p:cNvPr id="8" name="TextBox 7"/>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9" name="TextBox 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33B2A"/>
                </a:solidFill>
                <a:latin typeface="Calibri"/>
              </a:rPr>
              <a:t>AFTER YOU HAVE FINISHED</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One account of why some of it was hard</a:t>
            </a:r>
          </a:p>
        </p:txBody>
      </p:sp>
      <p:sp>
        <p:nvSpPr>
          <p:cNvPr id="4" name="Rectangle 3"/>
          <p:cNvSpPr/>
          <p:nvPr/>
        </p:nvSpPr>
        <p:spPr>
          <a:xfrm>
            <a:off x="777240" y="1965960"/>
            <a:ext cx="10607040" cy="868680"/>
          </a:xfrm>
          <a:prstGeom prst="rect">
            <a:avLst/>
          </a:prstGeom>
          <a:solidFill>
            <a:srgbClr val="F7E9E5"/>
          </a:solidFill>
          <a:ln w="15875">
            <a:solidFill>
              <a:srgbClr val="A33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130552"/>
            <a:ext cx="10058400" cy="640080"/>
          </a:xfrm>
          <a:prstGeom prst="rect">
            <a:avLst/>
          </a:prstGeom>
          <a:noFill/>
        </p:spPr>
        <p:txBody>
          <a:bodyPr wrap="square" anchor="t">
            <a:spAutoFit/>
          </a:bodyPr>
          <a:lstStyle/>
          <a:p>
            <a:pPr algn="l">
              <a:lnSpc>
                <a:spcPct val="120000"/>
              </a:lnSpc>
            </a:pPr>
            <a:r>
              <a:rPr sz="1400" b="0" i="0">
                <a:solidFill>
                  <a:srgbClr val="A33B2A"/>
                </a:solidFill>
                <a:latin typeface="Calibri"/>
              </a:rPr>
              <a:t>This is a pattern observed across the people who have done this. It is not a diagnosis of you. Your own notes are better evidence about your hour than this slide is — if they disagree, trust your notes.</a:t>
            </a:r>
          </a:p>
        </p:txBody>
      </p:sp>
      <p:sp>
        <p:nvSpPr>
          <p:cNvPr id="6" name="TextBox 5"/>
          <p:cNvSpPr txBox="1"/>
          <p:nvPr/>
        </p:nvSpPr>
        <p:spPr>
          <a:xfrm>
            <a:off x="777240" y="3154680"/>
            <a:ext cx="10332720" cy="822960"/>
          </a:xfrm>
          <a:prstGeom prst="rect">
            <a:avLst/>
          </a:prstGeom>
          <a:noFill/>
        </p:spPr>
        <p:txBody>
          <a:bodyPr wrap="square" anchor="t">
            <a:spAutoFit/>
          </a:bodyPr>
          <a:lstStyle/>
          <a:p>
            <a:pPr algn="l">
              <a:lnSpc>
                <a:spcPct val="115000"/>
              </a:lnSpc>
            </a:pPr>
            <a:r>
              <a:rPr sz="2400" b="1" i="0">
                <a:solidFill>
                  <a:srgbClr val="14130F"/>
                </a:solidFill>
                <a:latin typeface="Calibri"/>
              </a:rPr>
              <a:t>The difficulty does not fall evenly. It concentrates wherever nobody is telling you whether you are right.</a:t>
            </a:r>
          </a:p>
        </p:txBody>
      </p:sp>
      <p:sp>
        <p:nvSpPr>
          <p:cNvPr id="7" name="TextBox 6"/>
          <p:cNvSpPr txBox="1"/>
          <p:nvPr/>
        </p:nvSpPr>
        <p:spPr>
          <a:xfrm>
            <a:off x="777240" y="4114800"/>
            <a:ext cx="10332720" cy="2011680"/>
          </a:xfrm>
          <a:prstGeom prst="rect">
            <a:avLst/>
          </a:prstGeom>
          <a:noFill/>
        </p:spPr>
        <p:txBody>
          <a:bodyPr wrap="square">
            <a:spAutoFit/>
          </a:bodyPr>
          <a:lstStyle/>
          <a:p>
            <a:pPr>
              <a:lnSpc>
                <a:spcPct val="118000"/>
              </a:lnSpc>
              <a:spcAft>
                <a:spcPts val="1100"/>
              </a:spcAft>
            </a:pPr>
            <a:r>
              <a:rPr sz="1550" b="0">
                <a:solidFill>
                  <a:srgbClr val="4A4740"/>
                </a:solidFill>
                <a:latin typeface="Calibri"/>
              </a:rPr>
              <a:t>—  Most of us learned to work in places where somebody else says whether it counts.</a:t>
            </a:r>
          </a:p>
          <a:p>
            <a:pPr>
              <a:lnSpc>
                <a:spcPct val="118000"/>
              </a:lnSpc>
              <a:spcAft>
                <a:spcPts val="1100"/>
              </a:spcAft>
            </a:pPr>
            <a:r>
              <a:rPr sz="1550" b="0">
                <a:solidFill>
                  <a:srgbClr val="4A4740"/>
                </a:solidFill>
                <a:latin typeface="Calibri"/>
              </a:rPr>
              <a:t>—  This exercise removes that at every single step, and what people feel is the removal.</a:t>
            </a:r>
          </a:p>
          <a:p>
            <a:pPr>
              <a:lnSpc>
                <a:spcPct val="118000"/>
              </a:lnSpc>
              <a:spcAft>
                <a:spcPts val="1100"/>
              </a:spcAft>
            </a:pPr>
            <a:r>
              <a:rPr sz="1550" b="0">
                <a:solidFill>
                  <a:srgbClr val="4A4740"/>
                </a:solidFill>
                <a:latin typeface="Calibri"/>
              </a:rPr>
              <a:t>—  The useful sentence is not "I am bad at this". It is "I was trained to need something that is not in this room".</a:t>
            </a:r>
          </a:p>
          <a:p>
            <a:pPr>
              <a:lnSpc>
                <a:spcPct val="118000"/>
              </a:lnSpc>
              <a:spcAft>
                <a:spcPts val="1100"/>
              </a:spcAft>
            </a:pPr>
            <a:r>
              <a:rPr sz="1550" b="0">
                <a:solidFill>
                  <a:srgbClr val="4A4740"/>
                </a:solidFill>
                <a:latin typeface="Calibri"/>
              </a:rPr>
              <a:t>—  It is adaptive, not damage. It was a reasonable strategy where it was learned. It does not transfer here.</a:t>
            </a:r>
          </a:p>
        </p:txBody>
      </p:sp>
      <p:sp>
        <p:nvSpPr>
          <p:cNvPr id="8" name="TextBox 7"/>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9" name="TextBox 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33B2A"/>
                </a:solidFill>
                <a:latin typeface="Calibri"/>
              </a:rPr>
              <a:t>AFTER YOU HAVE FINISHED</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14130F"/>
                </a:solidFill>
                <a:latin typeface="Calibri"/>
              </a:rPr>
              <a:t>Where people tend to feel it</a:t>
            </a:r>
          </a:p>
        </p:txBody>
      </p:sp>
      <p:sp>
        <p:nvSpPr>
          <p:cNvPr id="4" name="Rectangle 3"/>
          <p:cNvSpPr/>
          <p:nvPr/>
        </p:nvSpPr>
        <p:spPr>
          <a:xfrm>
            <a:off x="777240" y="2057400"/>
            <a:ext cx="5166360" cy="123444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1" y="2221992"/>
            <a:ext cx="4709160" cy="365760"/>
          </a:xfrm>
          <a:prstGeom prst="rect">
            <a:avLst/>
          </a:prstGeom>
          <a:noFill/>
        </p:spPr>
        <p:txBody>
          <a:bodyPr wrap="square" anchor="t">
            <a:spAutoFit/>
          </a:bodyPr>
          <a:lstStyle/>
          <a:p>
            <a:pPr algn="l">
              <a:lnSpc>
                <a:spcPct val="100000"/>
              </a:lnSpc>
            </a:pPr>
            <a:r>
              <a:rPr sz="1400" b="1" i="0">
                <a:solidFill>
                  <a:srgbClr val="14130F"/>
                </a:solidFill>
                <a:latin typeface="Calibri"/>
              </a:rPr>
              <a:t>Step 1</a:t>
            </a:r>
          </a:p>
        </p:txBody>
      </p:sp>
      <p:sp>
        <p:nvSpPr>
          <p:cNvPr id="6" name="TextBox 5"/>
          <p:cNvSpPr txBox="1"/>
          <p:nvPr/>
        </p:nvSpPr>
        <p:spPr>
          <a:xfrm>
            <a:off x="1033271" y="2679192"/>
            <a:ext cx="4709160" cy="448056"/>
          </a:xfrm>
          <a:prstGeom prst="rect">
            <a:avLst/>
          </a:prstGeom>
          <a:noFill/>
        </p:spPr>
        <p:txBody>
          <a:bodyPr wrap="square" anchor="t">
            <a:spAutoFit/>
          </a:bodyPr>
          <a:lstStyle/>
          <a:p>
            <a:pPr algn="l">
              <a:lnSpc>
                <a:spcPct val="112000"/>
              </a:lnSpc>
            </a:pPr>
            <a:r>
              <a:rPr sz="1200" b="0" i="0">
                <a:solidFill>
                  <a:srgbClr val="4A4740"/>
                </a:solidFill>
                <a:latin typeface="Calibri"/>
              </a:rPr>
              <a:t>Many people have not been asked in years what they actually care about — and whatever you choose exposes something.</a:t>
            </a:r>
          </a:p>
        </p:txBody>
      </p:sp>
      <p:sp>
        <p:nvSpPr>
          <p:cNvPr id="7" name="Rectangle 6"/>
          <p:cNvSpPr/>
          <p:nvPr/>
        </p:nvSpPr>
        <p:spPr>
          <a:xfrm>
            <a:off x="6217920" y="2057400"/>
            <a:ext cx="5166360" cy="123444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2221992"/>
            <a:ext cx="4709160" cy="365760"/>
          </a:xfrm>
          <a:prstGeom prst="rect">
            <a:avLst/>
          </a:prstGeom>
          <a:noFill/>
        </p:spPr>
        <p:txBody>
          <a:bodyPr wrap="square" anchor="t">
            <a:spAutoFit/>
          </a:bodyPr>
          <a:lstStyle/>
          <a:p>
            <a:pPr algn="l">
              <a:lnSpc>
                <a:spcPct val="100000"/>
              </a:lnSpc>
            </a:pPr>
            <a:r>
              <a:rPr sz="1400" b="1" i="0">
                <a:solidFill>
                  <a:srgbClr val="14130F"/>
                </a:solidFill>
                <a:latin typeface="Calibri"/>
              </a:rPr>
              <a:t>Step 2</a:t>
            </a:r>
          </a:p>
        </p:txBody>
      </p:sp>
      <p:sp>
        <p:nvSpPr>
          <p:cNvPr id="9" name="TextBox 8"/>
          <p:cNvSpPr txBox="1"/>
          <p:nvPr/>
        </p:nvSpPr>
        <p:spPr>
          <a:xfrm>
            <a:off x="6473952" y="2679192"/>
            <a:ext cx="4709160" cy="448056"/>
          </a:xfrm>
          <a:prstGeom prst="rect">
            <a:avLst/>
          </a:prstGeom>
          <a:noFill/>
        </p:spPr>
        <p:txBody>
          <a:bodyPr wrap="square" anchor="t">
            <a:spAutoFit/>
          </a:bodyPr>
          <a:lstStyle/>
          <a:p>
            <a:pPr algn="l">
              <a:lnSpc>
                <a:spcPct val="112000"/>
              </a:lnSpc>
            </a:pPr>
            <a:r>
              <a:rPr sz="1150" b="0" i="0">
                <a:solidFill>
                  <a:srgbClr val="4A4740"/>
                </a:solidFill>
                <a:latin typeface="Calibri"/>
              </a:rPr>
              <a:t>The floor of fifteen pushes past where you would have stopped. Items eight to fifteen are the ones you were not going to admit to.</a:t>
            </a:r>
          </a:p>
        </p:txBody>
      </p:sp>
      <p:sp>
        <p:nvSpPr>
          <p:cNvPr id="10" name="Rectangle 9"/>
          <p:cNvSpPr/>
          <p:nvPr/>
        </p:nvSpPr>
        <p:spPr>
          <a:xfrm>
            <a:off x="777240" y="3429000"/>
            <a:ext cx="5166360" cy="123444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3593592"/>
            <a:ext cx="4709160" cy="365760"/>
          </a:xfrm>
          <a:prstGeom prst="rect">
            <a:avLst/>
          </a:prstGeom>
          <a:noFill/>
        </p:spPr>
        <p:txBody>
          <a:bodyPr wrap="square" anchor="t">
            <a:spAutoFit/>
          </a:bodyPr>
          <a:lstStyle/>
          <a:p>
            <a:pPr algn="l">
              <a:lnSpc>
                <a:spcPct val="100000"/>
              </a:lnSpc>
            </a:pPr>
            <a:r>
              <a:rPr sz="1400" b="1" i="0">
                <a:solidFill>
                  <a:srgbClr val="14130F"/>
                </a:solidFill>
                <a:latin typeface="Calibri"/>
              </a:rPr>
              <a:t>Step 3</a:t>
            </a:r>
          </a:p>
        </p:txBody>
      </p:sp>
      <p:sp>
        <p:nvSpPr>
          <p:cNvPr id="12" name="TextBox 11"/>
          <p:cNvSpPr txBox="1"/>
          <p:nvPr/>
        </p:nvSpPr>
        <p:spPr>
          <a:xfrm>
            <a:off x="1033271" y="4050791"/>
            <a:ext cx="4709160" cy="448056"/>
          </a:xfrm>
          <a:prstGeom prst="rect">
            <a:avLst/>
          </a:prstGeom>
          <a:noFill/>
        </p:spPr>
        <p:txBody>
          <a:bodyPr wrap="square" anchor="t">
            <a:spAutoFit/>
          </a:bodyPr>
          <a:lstStyle/>
          <a:p>
            <a:pPr algn="l">
              <a:lnSpc>
                <a:spcPct val="112000"/>
              </a:lnSpc>
            </a:pPr>
            <a:r>
              <a:rPr sz="1200" b="0" i="0">
                <a:solidFill>
                  <a:srgbClr val="4A4740"/>
                </a:solidFill>
                <a:latin typeface="Calibri"/>
              </a:rPr>
              <a:t>You select without being asked to justify it, and can spend the whole step bracing for a question that never comes.</a:t>
            </a:r>
          </a:p>
        </p:txBody>
      </p:sp>
      <p:sp>
        <p:nvSpPr>
          <p:cNvPr id="13" name="Rectangle 12"/>
          <p:cNvSpPr/>
          <p:nvPr/>
        </p:nvSpPr>
        <p:spPr>
          <a:xfrm>
            <a:off x="6217920" y="3429000"/>
            <a:ext cx="5166360" cy="123444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3593592"/>
            <a:ext cx="4709160" cy="365760"/>
          </a:xfrm>
          <a:prstGeom prst="rect">
            <a:avLst/>
          </a:prstGeom>
          <a:noFill/>
        </p:spPr>
        <p:txBody>
          <a:bodyPr wrap="square" anchor="t">
            <a:spAutoFit/>
          </a:bodyPr>
          <a:lstStyle/>
          <a:p>
            <a:pPr algn="l">
              <a:lnSpc>
                <a:spcPct val="100000"/>
              </a:lnSpc>
            </a:pPr>
            <a:r>
              <a:rPr sz="1400" b="1" i="0">
                <a:solidFill>
                  <a:srgbClr val="14130F"/>
                </a:solidFill>
                <a:latin typeface="Calibri"/>
              </a:rPr>
              <a:t>Step 5</a:t>
            </a:r>
          </a:p>
        </p:txBody>
      </p:sp>
      <p:sp>
        <p:nvSpPr>
          <p:cNvPr id="15" name="TextBox 14"/>
          <p:cNvSpPr txBox="1"/>
          <p:nvPr/>
        </p:nvSpPr>
        <p:spPr>
          <a:xfrm>
            <a:off x="6473952" y="4050791"/>
            <a:ext cx="4709160" cy="448056"/>
          </a:xfrm>
          <a:prstGeom prst="rect">
            <a:avLst/>
          </a:prstGeom>
          <a:noFill/>
        </p:spPr>
        <p:txBody>
          <a:bodyPr wrap="square" anchor="t">
            <a:spAutoFit/>
          </a:bodyPr>
          <a:lstStyle/>
          <a:p>
            <a:pPr algn="l">
              <a:lnSpc>
                <a:spcPct val="112000"/>
              </a:lnSpc>
            </a:pPr>
            <a:r>
              <a:rPr sz="1200" b="0" i="0">
                <a:solidFill>
                  <a:srgbClr val="4A4740"/>
                </a:solidFill>
                <a:latin typeface="Calibri"/>
              </a:rPr>
              <a:t>Naming a relationship is where vocabulary insecurity lives, in anyone who has been corrected on their words.</a:t>
            </a:r>
          </a:p>
        </p:txBody>
      </p:sp>
      <p:sp>
        <p:nvSpPr>
          <p:cNvPr id="16" name="Rectangle 15"/>
          <p:cNvSpPr/>
          <p:nvPr/>
        </p:nvSpPr>
        <p:spPr>
          <a:xfrm>
            <a:off x="777240" y="4800600"/>
            <a:ext cx="5166360" cy="123444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965192"/>
            <a:ext cx="4709160" cy="365760"/>
          </a:xfrm>
          <a:prstGeom prst="rect">
            <a:avLst/>
          </a:prstGeom>
          <a:noFill/>
        </p:spPr>
        <p:txBody>
          <a:bodyPr wrap="square" anchor="t">
            <a:spAutoFit/>
          </a:bodyPr>
          <a:lstStyle/>
          <a:p>
            <a:pPr algn="l">
              <a:lnSpc>
                <a:spcPct val="100000"/>
              </a:lnSpc>
            </a:pPr>
            <a:r>
              <a:rPr sz="1400" b="1" i="0">
                <a:solidFill>
                  <a:srgbClr val="14130F"/>
                </a:solidFill>
                <a:latin typeface="Calibri"/>
              </a:rPr>
              <a:t>Step 8</a:t>
            </a:r>
          </a:p>
        </p:txBody>
      </p:sp>
      <p:sp>
        <p:nvSpPr>
          <p:cNvPr id="18" name="TextBox 17"/>
          <p:cNvSpPr txBox="1"/>
          <p:nvPr/>
        </p:nvSpPr>
        <p:spPr>
          <a:xfrm>
            <a:off x="1033271" y="5422392"/>
            <a:ext cx="4709160" cy="448056"/>
          </a:xfrm>
          <a:prstGeom prst="rect">
            <a:avLst/>
          </a:prstGeom>
          <a:noFill/>
        </p:spPr>
        <p:txBody>
          <a:bodyPr wrap="square" anchor="t">
            <a:spAutoFit/>
          </a:bodyPr>
          <a:lstStyle/>
          <a:p>
            <a:pPr algn="l">
              <a:lnSpc>
                <a:spcPct val="112000"/>
              </a:lnSpc>
            </a:pPr>
            <a:r>
              <a:rPr sz="1150" b="0" i="0">
                <a:solidFill>
                  <a:srgbClr val="4A4740"/>
                </a:solidFill>
                <a:latin typeface="Calibri"/>
              </a:rPr>
              <a:t>Erasing has usually meant you were wrong. Here it means the work is progressing. Understanding that is easy; feeling it is not.</a:t>
            </a:r>
          </a:p>
        </p:txBody>
      </p:sp>
      <p:sp>
        <p:nvSpPr>
          <p:cNvPr id="19" name="Rectangle 18"/>
          <p:cNvSpPr/>
          <p:nvPr/>
        </p:nvSpPr>
        <p:spPr>
          <a:xfrm>
            <a:off x="6217920" y="4800600"/>
            <a:ext cx="5166360" cy="123444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4965192"/>
            <a:ext cx="4709160" cy="365760"/>
          </a:xfrm>
          <a:prstGeom prst="rect">
            <a:avLst/>
          </a:prstGeom>
          <a:noFill/>
        </p:spPr>
        <p:txBody>
          <a:bodyPr wrap="square" anchor="t">
            <a:spAutoFit/>
          </a:bodyPr>
          <a:lstStyle/>
          <a:p>
            <a:pPr algn="l">
              <a:lnSpc>
                <a:spcPct val="100000"/>
              </a:lnSpc>
            </a:pPr>
            <a:r>
              <a:rPr sz="1400" b="1" i="0">
                <a:solidFill>
                  <a:srgbClr val="14130F"/>
                </a:solidFill>
                <a:latin typeface="Calibri"/>
              </a:rPr>
              <a:t>Step 9</a:t>
            </a:r>
          </a:p>
        </p:txBody>
      </p:sp>
      <p:sp>
        <p:nvSpPr>
          <p:cNvPr id="21" name="TextBox 20"/>
          <p:cNvSpPr txBox="1"/>
          <p:nvPr/>
        </p:nvSpPr>
        <p:spPr>
          <a:xfrm>
            <a:off x="6473952" y="5422392"/>
            <a:ext cx="4709160" cy="448056"/>
          </a:xfrm>
          <a:prstGeom prst="rect">
            <a:avLst/>
          </a:prstGeom>
          <a:noFill/>
        </p:spPr>
        <p:txBody>
          <a:bodyPr wrap="square" anchor="t">
            <a:spAutoFit/>
          </a:bodyPr>
          <a:lstStyle/>
          <a:p>
            <a:pPr algn="l">
              <a:lnSpc>
                <a:spcPct val="112000"/>
              </a:lnSpc>
            </a:pPr>
            <a:r>
              <a:rPr sz="1200" b="0" i="0">
                <a:solidFill>
                  <a:srgbClr val="4A4740"/>
                </a:solidFill>
                <a:latin typeface="Calibri"/>
              </a:rPr>
              <a:t>Reading your own work aloud is a familiar place to be humiliated — and now there is nobody to say whether it was any good.</a:t>
            </a:r>
          </a:p>
        </p:txBody>
      </p:sp>
      <p:sp>
        <p:nvSpPr>
          <p:cNvPr id="22" name="TextBox 21"/>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23" name="TextBox 22"/>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AFTER YOU HAVE FINISHED</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The range so far, which runs backwards</a:t>
            </a:r>
          </a:p>
        </p:txBody>
      </p:sp>
      <p:sp>
        <p:nvSpPr>
          <p:cNvPr id="4" name="Rectangle 3"/>
          <p:cNvSpPr/>
          <p:nvPr/>
        </p:nvSpPr>
        <p:spPr>
          <a:xfrm>
            <a:off x="777240" y="2194560"/>
            <a:ext cx="5029200" cy="182880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377440"/>
            <a:ext cx="4572000" cy="365760"/>
          </a:xfrm>
          <a:prstGeom prst="rect">
            <a:avLst/>
          </a:prstGeom>
          <a:noFill/>
        </p:spPr>
        <p:txBody>
          <a:bodyPr wrap="square" anchor="t">
            <a:spAutoFit/>
          </a:bodyPr>
          <a:lstStyle/>
          <a:p>
            <a:pPr algn="l">
              <a:lnSpc>
                <a:spcPct val="100000"/>
              </a:lnSpc>
            </a:pPr>
            <a:r>
              <a:rPr sz="1400" b="1" i="0">
                <a:solidFill>
                  <a:srgbClr val="3D5A6C"/>
                </a:solidFill>
                <a:latin typeface="Calibri"/>
              </a:rPr>
              <a:t>Found none of it hard</a:t>
            </a:r>
          </a:p>
        </p:txBody>
      </p:sp>
      <p:sp>
        <p:nvSpPr>
          <p:cNvPr id="6" name="TextBox 5"/>
          <p:cNvSpPr txBox="1"/>
          <p:nvPr/>
        </p:nvSpPr>
        <p:spPr>
          <a:xfrm>
            <a:off x="1051560" y="2788920"/>
            <a:ext cx="4572000" cy="1005840"/>
          </a:xfrm>
          <a:prstGeom prst="rect">
            <a:avLst/>
          </a:prstGeom>
          <a:noFill/>
        </p:spPr>
        <p:txBody>
          <a:bodyPr wrap="square" anchor="t">
            <a:spAutoFit/>
          </a:bodyPr>
          <a:lstStyle/>
          <a:p>
            <a:pPr algn="l">
              <a:lnSpc>
                <a:spcPct val="105000"/>
              </a:lnSpc>
            </a:pPr>
            <a:r>
              <a:rPr sz="2300" b="1" i="0">
                <a:solidFill>
                  <a:srgbClr val="14130F"/>
                </a:solidFill>
                <a:latin typeface="Calibri"/>
              </a:rPr>
              <a:t>A student who had
left school</a:t>
            </a:r>
          </a:p>
        </p:txBody>
      </p:sp>
      <p:sp>
        <p:nvSpPr>
          <p:cNvPr id="7" name="Rectangle 6"/>
          <p:cNvSpPr/>
          <p:nvPr/>
        </p:nvSpPr>
        <p:spPr>
          <a:xfrm>
            <a:off x="6355080" y="2194560"/>
            <a:ext cx="5029200" cy="182880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2377440"/>
            <a:ext cx="4572000" cy="365760"/>
          </a:xfrm>
          <a:prstGeom prst="rect">
            <a:avLst/>
          </a:prstGeom>
          <a:noFill/>
        </p:spPr>
        <p:txBody>
          <a:bodyPr wrap="square" anchor="t">
            <a:spAutoFit/>
          </a:bodyPr>
          <a:lstStyle/>
          <a:p>
            <a:pPr algn="l">
              <a:lnSpc>
                <a:spcPct val="100000"/>
              </a:lnSpc>
            </a:pPr>
            <a:r>
              <a:rPr sz="1400" b="1" i="0">
                <a:solidFill>
                  <a:srgbClr val="A33B2A"/>
                </a:solidFill>
                <a:latin typeface="Calibri"/>
              </a:rPr>
              <a:t>Found every step very hard</a:t>
            </a:r>
          </a:p>
        </p:txBody>
      </p:sp>
      <p:sp>
        <p:nvSpPr>
          <p:cNvPr id="9" name="TextBox 8"/>
          <p:cNvSpPr txBox="1"/>
          <p:nvPr/>
        </p:nvSpPr>
        <p:spPr>
          <a:xfrm>
            <a:off x="6629400" y="2788920"/>
            <a:ext cx="4572000" cy="1005840"/>
          </a:xfrm>
          <a:prstGeom prst="rect">
            <a:avLst/>
          </a:prstGeom>
          <a:noFill/>
        </p:spPr>
        <p:txBody>
          <a:bodyPr wrap="square" anchor="t">
            <a:spAutoFit/>
          </a:bodyPr>
          <a:lstStyle/>
          <a:p>
            <a:pPr algn="l">
              <a:lnSpc>
                <a:spcPct val="105000"/>
              </a:lnSpc>
            </a:pPr>
            <a:r>
              <a:rPr sz="2300" b="1" i="0">
                <a:solidFill>
                  <a:srgbClr val="14130F"/>
                </a:solidFill>
                <a:latin typeface="Calibri"/>
              </a:rPr>
              <a:t>A lawyer</a:t>
            </a:r>
          </a:p>
        </p:txBody>
      </p:sp>
      <p:sp>
        <p:nvSpPr>
          <p:cNvPr id="10" name="TextBox 9"/>
          <p:cNvSpPr txBox="1"/>
          <p:nvPr/>
        </p:nvSpPr>
        <p:spPr>
          <a:xfrm>
            <a:off x="777240" y="4206240"/>
            <a:ext cx="10332720" cy="411480"/>
          </a:xfrm>
          <a:prstGeom prst="rect">
            <a:avLst/>
          </a:prstGeom>
          <a:noFill/>
        </p:spPr>
        <p:txBody>
          <a:bodyPr wrap="square" anchor="t">
            <a:spAutoFit/>
          </a:bodyPr>
          <a:lstStyle/>
          <a:p>
            <a:pPr algn="ctr">
              <a:lnSpc>
                <a:spcPct val="100000"/>
              </a:lnSpc>
            </a:pPr>
            <a:r>
              <a:rPr sz="1700" b="0" i="0">
                <a:solidFill>
                  <a:srgbClr val="4A4740"/>
                </a:solidFill>
                <a:latin typeface="Calibri"/>
              </a:rPr>
              <a:t>Everybody else fell somewhere between the two.</a:t>
            </a:r>
          </a:p>
        </p:txBody>
      </p:sp>
      <p:sp>
        <p:nvSpPr>
          <p:cNvPr id="11" name="TextBox 10"/>
          <p:cNvSpPr txBox="1"/>
          <p:nvPr/>
        </p:nvSpPr>
        <p:spPr>
          <a:xfrm>
            <a:off x="777240" y="4800600"/>
            <a:ext cx="10332720" cy="914400"/>
          </a:xfrm>
          <a:prstGeom prst="rect">
            <a:avLst/>
          </a:prstGeom>
          <a:noFill/>
        </p:spPr>
        <p:txBody>
          <a:bodyPr wrap="square" anchor="t">
            <a:spAutoFit/>
          </a:bodyPr>
          <a:lstStyle/>
          <a:p>
            <a:pPr algn="l">
              <a:lnSpc>
                <a:spcPct val="125000"/>
              </a:lnSpc>
            </a:pPr>
            <a:r>
              <a:rPr sz="1600" b="0" i="0">
                <a:solidFill>
                  <a:srgbClr val="14130F"/>
                </a:solidFill>
                <a:latin typeface="Calibri"/>
              </a:rPr>
              <a:t>That ordering is the reverse of what most schools would predict about those two people. It is what you would expect if the difficulty tracks years of successful submission to judgement rather than years of education.</a:t>
            </a:r>
          </a:p>
        </p:txBody>
      </p:sp>
      <p:sp>
        <p:nvSpPr>
          <p:cNvPr id="12" name="TextBox 11"/>
          <p:cNvSpPr txBox="1"/>
          <p:nvPr/>
        </p:nvSpPr>
        <p:spPr>
          <a:xfrm>
            <a:off x="777240" y="5897880"/>
            <a:ext cx="10332720" cy="365760"/>
          </a:xfrm>
          <a:prstGeom prst="rect">
            <a:avLst/>
          </a:prstGeom>
          <a:noFill/>
        </p:spPr>
        <p:txBody>
          <a:bodyPr wrap="square" anchor="t">
            <a:spAutoFit/>
          </a:bodyPr>
          <a:lstStyle/>
          <a:p>
            <a:pPr algn="l">
              <a:lnSpc>
                <a:spcPct val="100000"/>
              </a:lnSpc>
            </a:pPr>
            <a:r>
              <a:rPr sz="1300" b="0" i="1">
                <a:solidFill>
                  <a:srgbClr val="918C82"/>
                </a:solidFill>
                <a:latin typeface="Calibri"/>
              </a:rPr>
              <a:t>Fewer than twenty people, records kept informally or not at all. A direction, not a measurement.</a:t>
            </a:r>
          </a:p>
        </p:txBody>
      </p:sp>
      <p:sp>
        <p:nvSpPr>
          <p:cNvPr id="13" name="TextBox 12"/>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14" name="TextBox 13"/>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AFTER YOU HAVE FINISHED</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What to do with your drawing</a:t>
            </a:r>
          </a:p>
        </p:txBody>
      </p:sp>
      <p:sp>
        <p:nvSpPr>
          <p:cNvPr id="4" name="Rectangle 3"/>
          <p:cNvSpPr/>
          <p:nvPr/>
        </p:nvSpPr>
        <p:spPr>
          <a:xfrm>
            <a:off x="777240" y="2286000"/>
            <a:ext cx="5166360" cy="164592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1" y="2450592"/>
            <a:ext cx="4709160" cy="365760"/>
          </a:xfrm>
          <a:prstGeom prst="rect">
            <a:avLst/>
          </a:prstGeom>
          <a:noFill/>
        </p:spPr>
        <p:txBody>
          <a:bodyPr wrap="square" anchor="t">
            <a:spAutoFit/>
          </a:bodyPr>
          <a:lstStyle/>
          <a:p>
            <a:pPr algn="l">
              <a:lnSpc>
                <a:spcPct val="100000"/>
              </a:lnSpc>
            </a:pPr>
            <a:r>
              <a:rPr sz="1700" b="1" i="0">
                <a:solidFill>
                  <a:srgbClr val="14130F"/>
                </a:solidFill>
                <a:latin typeface="Calibri"/>
              </a:rPr>
              <a:t>Read it aloud to one person</a:t>
            </a:r>
          </a:p>
        </p:txBody>
      </p:sp>
      <p:sp>
        <p:nvSpPr>
          <p:cNvPr id="6" name="TextBox 5"/>
          <p:cNvSpPr txBox="1"/>
          <p:nvPr/>
        </p:nvSpPr>
        <p:spPr>
          <a:xfrm>
            <a:off x="1033271" y="2907792"/>
            <a:ext cx="4709160" cy="859536"/>
          </a:xfrm>
          <a:prstGeom prst="rect">
            <a:avLst/>
          </a:prstGeom>
          <a:noFill/>
        </p:spPr>
        <p:txBody>
          <a:bodyPr wrap="square" anchor="t">
            <a:spAutoFit/>
          </a:bodyPr>
          <a:lstStyle/>
          <a:p>
            <a:pPr algn="l">
              <a:lnSpc>
                <a:spcPct val="112000"/>
              </a:lnSpc>
            </a:pPr>
            <a:r>
              <a:rPr sz="1350" b="0" i="0">
                <a:solidFill>
                  <a:srgbClr val="4A4740"/>
                </a:solidFill>
                <a:latin typeface="Calibri"/>
              </a:rPr>
              <a:t>Do not hand it over and ask what they think. Read it to them. The difference matters and you will feel it.</a:t>
            </a:r>
          </a:p>
        </p:txBody>
      </p:sp>
      <p:sp>
        <p:nvSpPr>
          <p:cNvPr id="7" name="Rectangle 6"/>
          <p:cNvSpPr/>
          <p:nvPr/>
        </p:nvSpPr>
        <p:spPr>
          <a:xfrm>
            <a:off x="6217920" y="2286000"/>
            <a:ext cx="5166360" cy="164592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2450592"/>
            <a:ext cx="4709160" cy="365760"/>
          </a:xfrm>
          <a:prstGeom prst="rect">
            <a:avLst/>
          </a:prstGeom>
          <a:noFill/>
        </p:spPr>
        <p:txBody>
          <a:bodyPr wrap="square" anchor="t">
            <a:spAutoFit/>
          </a:bodyPr>
          <a:lstStyle/>
          <a:p>
            <a:pPr algn="l">
              <a:lnSpc>
                <a:spcPct val="100000"/>
              </a:lnSpc>
            </a:pPr>
            <a:r>
              <a:rPr sz="1700" b="1" i="0">
                <a:solidFill>
                  <a:srgbClr val="14130F"/>
                </a:solidFill>
                <a:latin typeface="Calibri"/>
              </a:rPr>
              <a:t>Do not tidy it up</a:t>
            </a:r>
          </a:p>
        </p:txBody>
      </p:sp>
      <p:sp>
        <p:nvSpPr>
          <p:cNvPr id="9" name="TextBox 8"/>
          <p:cNvSpPr txBox="1"/>
          <p:nvPr/>
        </p:nvSpPr>
        <p:spPr>
          <a:xfrm>
            <a:off x="6473952" y="2907792"/>
            <a:ext cx="4709160" cy="859536"/>
          </a:xfrm>
          <a:prstGeom prst="rect">
            <a:avLst/>
          </a:prstGeom>
          <a:noFill/>
        </p:spPr>
        <p:txBody>
          <a:bodyPr wrap="square" anchor="t">
            <a:spAutoFit/>
          </a:bodyPr>
          <a:lstStyle/>
          <a:p>
            <a:pPr algn="l">
              <a:lnSpc>
                <a:spcPct val="112000"/>
              </a:lnSpc>
            </a:pPr>
            <a:r>
              <a:rPr sz="1350" b="0" i="0">
                <a:solidFill>
                  <a:srgbClr val="4A4740"/>
                </a:solidFill>
                <a:latin typeface="Calibri"/>
              </a:rPr>
              <a:t>The wobbly version is the one you made. A neat copy is a different object and usually a worse one.</a:t>
            </a:r>
          </a:p>
        </p:txBody>
      </p:sp>
      <p:sp>
        <p:nvSpPr>
          <p:cNvPr id="10" name="Rectangle 9"/>
          <p:cNvSpPr/>
          <p:nvPr/>
        </p:nvSpPr>
        <p:spPr>
          <a:xfrm>
            <a:off x="777240" y="4114800"/>
            <a:ext cx="5166360" cy="164592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279392"/>
            <a:ext cx="4709160" cy="365760"/>
          </a:xfrm>
          <a:prstGeom prst="rect">
            <a:avLst/>
          </a:prstGeom>
          <a:noFill/>
        </p:spPr>
        <p:txBody>
          <a:bodyPr wrap="square" anchor="t">
            <a:spAutoFit/>
          </a:bodyPr>
          <a:lstStyle/>
          <a:p>
            <a:pPr algn="l">
              <a:lnSpc>
                <a:spcPct val="100000"/>
              </a:lnSpc>
            </a:pPr>
            <a:r>
              <a:rPr sz="1700" b="1" i="0">
                <a:solidFill>
                  <a:srgbClr val="14130F"/>
                </a:solidFill>
                <a:latin typeface="Calibri"/>
              </a:rPr>
              <a:t>Draw it again in a month</a:t>
            </a:r>
          </a:p>
        </p:txBody>
      </p:sp>
      <p:sp>
        <p:nvSpPr>
          <p:cNvPr id="12" name="TextBox 11"/>
          <p:cNvSpPr txBox="1"/>
          <p:nvPr/>
        </p:nvSpPr>
        <p:spPr>
          <a:xfrm>
            <a:off x="1033271" y="4736592"/>
            <a:ext cx="4709160" cy="859536"/>
          </a:xfrm>
          <a:prstGeom prst="rect">
            <a:avLst/>
          </a:prstGeom>
          <a:noFill/>
        </p:spPr>
        <p:txBody>
          <a:bodyPr wrap="square" anchor="t">
            <a:spAutoFit/>
          </a:bodyPr>
          <a:lstStyle/>
          <a:p>
            <a:pPr algn="l">
              <a:lnSpc>
                <a:spcPct val="112000"/>
              </a:lnSpc>
            </a:pPr>
            <a:r>
              <a:rPr sz="1350" b="0" i="0">
                <a:solidFill>
                  <a:srgbClr val="4A4740"/>
                </a:solidFill>
                <a:latin typeface="Calibri"/>
              </a:rPr>
              <a:t>From a blank sheet, not by editing this one. What changes between the two is the finding.</a:t>
            </a:r>
          </a:p>
        </p:txBody>
      </p:sp>
      <p:sp>
        <p:nvSpPr>
          <p:cNvPr id="13" name="Rectangle 12"/>
          <p:cNvSpPr/>
          <p:nvPr/>
        </p:nvSpPr>
        <p:spPr>
          <a:xfrm>
            <a:off x="6217920" y="4114800"/>
            <a:ext cx="5166360" cy="164592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4279392"/>
            <a:ext cx="4709160" cy="365760"/>
          </a:xfrm>
          <a:prstGeom prst="rect">
            <a:avLst/>
          </a:prstGeom>
          <a:noFill/>
        </p:spPr>
        <p:txBody>
          <a:bodyPr wrap="square" anchor="t">
            <a:spAutoFit/>
          </a:bodyPr>
          <a:lstStyle/>
          <a:p>
            <a:pPr algn="l">
              <a:lnSpc>
                <a:spcPct val="100000"/>
              </a:lnSpc>
            </a:pPr>
            <a:r>
              <a:rPr sz="1700" b="1" i="0">
                <a:solidFill>
                  <a:srgbClr val="14130F"/>
                </a:solidFill>
                <a:latin typeface="Calibri"/>
              </a:rPr>
              <a:t>Keep your notes</a:t>
            </a:r>
          </a:p>
        </p:txBody>
      </p:sp>
      <p:sp>
        <p:nvSpPr>
          <p:cNvPr id="15" name="TextBox 14"/>
          <p:cNvSpPr txBox="1"/>
          <p:nvPr/>
        </p:nvSpPr>
        <p:spPr>
          <a:xfrm>
            <a:off x="6473952" y="4736592"/>
            <a:ext cx="4709160" cy="859536"/>
          </a:xfrm>
          <a:prstGeom prst="rect">
            <a:avLst/>
          </a:prstGeom>
          <a:noFill/>
        </p:spPr>
        <p:txBody>
          <a:bodyPr wrap="square" anchor="t">
            <a:spAutoFit/>
          </a:bodyPr>
          <a:lstStyle/>
          <a:p>
            <a:pPr algn="l">
              <a:lnSpc>
                <a:spcPct val="112000"/>
              </a:lnSpc>
            </a:pPr>
            <a:r>
              <a:rPr sz="1350" b="0" i="0">
                <a:solidFill>
                  <a:srgbClr val="4A4740"/>
                </a:solidFill>
                <a:latin typeface="Calibri"/>
              </a:rPr>
              <a:t>Do this again on another topic and the two sets of notes side by side will say more than either does alone.</a:t>
            </a:r>
          </a:p>
        </p:txBody>
      </p:sp>
      <p:sp>
        <p:nvSpPr>
          <p:cNvPr id="16" name="TextBox 15"/>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17" name="TextBox 1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HOSTING IT FOR OTHER PEOPLE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Running it is easy. Not helping is hard.</a:t>
            </a:r>
          </a:p>
        </p:txBody>
      </p:sp>
      <p:sp>
        <p:nvSpPr>
          <p:cNvPr id="4" name="Rectangle 3"/>
          <p:cNvSpPr/>
          <p:nvPr/>
        </p:nvSpPr>
        <p:spPr>
          <a:xfrm>
            <a:off x="777240" y="2423160"/>
            <a:ext cx="3337560" cy="233172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1" y="2587752"/>
            <a:ext cx="2880360" cy="365760"/>
          </a:xfrm>
          <a:prstGeom prst="rect">
            <a:avLst/>
          </a:prstGeom>
          <a:noFill/>
        </p:spPr>
        <p:txBody>
          <a:bodyPr wrap="square" anchor="t">
            <a:spAutoFit/>
          </a:bodyPr>
          <a:lstStyle/>
          <a:p>
            <a:pPr algn="l">
              <a:lnSpc>
                <a:spcPct val="100000"/>
              </a:lnSpc>
            </a:pPr>
            <a:r>
              <a:rPr sz="1700" b="1" i="0">
                <a:solidFill>
                  <a:srgbClr val="14130F"/>
                </a:solidFill>
                <a:latin typeface="Calibri"/>
              </a:rPr>
              <a:t>Declare it in advance</a:t>
            </a:r>
          </a:p>
        </p:txBody>
      </p:sp>
      <p:sp>
        <p:nvSpPr>
          <p:cNvPr id="6" name="TextBox 5"/>
          <p:cNvSpPr txBox="1"/>
          <p:nvPr/>
        </p:nvSpPr>
        <p:spPr>
          <a:xfrm>
            <a:off x="1033271" y="3044952"/>
            <a:ext cx="2880360" cy="1545336"/>
          </a:xfrm>
          <a:prstGeom prst="rect">
            <a:avLst/>
          </a:prstGeom>
          <a:noFill/>
        </p:spPr>
        <p:txBody>
          <a:bodyPr wrap="square" anchor="t">
            <a:spAutoFit/>
          </a:bodyPr>
          <a:lstStyle/>
          <a:p>
            <a:pPr algn="l">
              <a:lnSpc>
                <a:spcPct val="112000"/>
              </a:lnSpc>
            </a:pPr>
            <a:r>
              <a:rPr sz="1250" b="0" i="0">
                <a:solidFill>
                  <a:srgbClr val="4A4740"/>
                </a:solidFill>
                <a:latin typeface="Calibri"/>
              </a:rPr>
              <a:t>Say plainly, before they start, that you will not look at their work and will not help. Silence that has not been declared is not a withdrawal of judgement. It is surveillance, and it is worse than marking.</a:t>
            </a:r>
          </a:p>
        </p:txBody>
      </p:sp>
      <p:sp>
        <p:nvSpPr>
          <p:cNvPr id="7" name="Rectangle 6"/>
          <p:cNvSpPr/>
          <p:nvPr/>
        </p:nvSpPr>
        <p:spPr>
          <a:xfrm>
            <a:off x="4389120" y="2423160"/>
            <a:ext cx="3337560" cy="233172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2587752"/>
            <a:ext cx="2880360" cy="365760"/>
          </a:xfrm>
          <a:prstGeom prst="rect">
            <a:avLst/>
          </a:prstGeom>
          <a:noFill/>
        </p:spPr>
        <p:txBody>
          <a:bodyPr wrap="square" anchor="t">
            <a:spAutoFit/>
          </a:bodyPr>
          <a:lstStyle/>
          <a:p>
            <a:pPr algn="l">
              <a:lnSpc>
                <a:spcPct val="100000"/>
              </a:lnSpc>
            </a:pPr>
            <a:r>
              <a:rPr sz="1700" b="1" i="0">
                <a:solidFill>
                  <a:srgbClr val="14130F"/>
                </a:solidFill>
                <a:latin typeface="Calibri"/>
              </a:rPr>
              <a:t>Demonstrate it</a:t>
            </a:r>
          </a:p>
        </p:txBody>
      </p:sp>
      <p:sp>
        <p:nvSpPr>
          <p:cNvPr id="9" name="TextBox 8"/>
          <p:cNvSpPr txBox="1"/>
          <p:nvPr/>
        </p:nvSpPr>
        <p:spPr>
          <a:xfrm>
            <a:off x="4645152" y="3044952"/>
            <a:ext cx="2880360" cy="1545336"/>
          </a:xfrm>
          <a:prstGeom prst="rect">
            <a:avLst/>
          </a:prstGeom>
          <a:noFill/>
        </p:spPr>
        <p:txBody>
          <a:bodyPr wrap="square" anchor="t">
            <a:spAutoFit/>
          </a:bodyPr>
          <a:lstStyle/>
          <a:p>
            <a:pPr algn="l">
              <a:lnSpc>
                <a:spcPct val="112000"/>
              </a:lnSpc>
            </a:pPr>
            <a:r>
              <a:rPr sz="1250" b="0" i="0">
                <a:solidFill>
                  <a:srgbClr val="4A4740"/>
                </a:solidFill>
                <a:latin typeface="Calibri"/>
              </a:rPr>
              <a:t>Do your own unrelated work while they draw. Not sitting attentively, not available if needed. Being visibly occupied is the proof that the declaration was true.</a:t>
            </a:r>
          </a:p>
        </p:txBody>
      </p:sp>
      <p:sp>
        <p:nvSpPr>
          <p:cNvPr id="10" name="Rectangle 9"/>
          <p:cNvSpPr/>
          <p:nvPr/>
        </p:nvSpPr>
        <p:spPr>
          <a:xfrm>
            <a:off x="8001000" y="2423160"/>
            <a:ext cx="3337560" cy="233172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1" y="2587752"/>
            <a:ext cx="2880360" cy="365760"/>
          </a:xfrm>
          <a:prstGeom prst="rect">
            <a:avLst/>
          </a:prstGeom>
          <a:noFill/>
        </p:spPr>
        <p:txBody>
          <a:bodyPr wrap="square" anchor="t">
            <a:spAutoFit/>
          </a:bodyPr>
          <a:lstStyle/>
          <a:p>
            <a:pPr algn="l">
              <a:lnSpc>
                <a:spcPct val="100000"/>
              </a:lnSpc>
            </a:pPr>
            <a:r>
              <a:rPr sz="1700" b="1" i="0">
                <a:solidFill>
                  <a:srgbClr val="14130F"/>
                </a:solidFill>
                <a:latin typeface="Calibri"/>
              </a:rPr>
              <a:t>Hold it</a:t>
            </a:r>
          </a:p>
        </p:txBody>
      </p:sp>
      <p:sp>
        <p:nvSpPr>
          <p:cNvPr id="12" name="TextBox 11"/>
          <p:cNvSpPr txBox="1"/>
          <p:nvPr/>
        </p:nvSpPr>
        <p:spPr>
          <a:xfrm>
            <a:off x="8257031" y="3044952"/>
            <a:ext cx="2880360" cy="1545336"/>
          </a:xfrm>
          <a:prstGeom prst="rect">
            <a:avLst/>
          </a:prstGeom>
          <a:noFill/>
        </p:spPr>
        <p:txBody>
          <a:bodyPr wrap="square" anchor="t">
            <a:spAutoFit/>
          </a:bodyPr>
          <a:lstStyle/>
          <a:p>
            <a:pPr algn="l">
              <a:lnSpc>
                <a:spcPct val="112000"/>
              </a:lnSpc>
            </a:pPr>
            <a:r>
              <a:rPr sz="1250" b="0" i="0">
                <a:solidFill>
                  <a:srgbClr val="4A4740"/>
                </a:solidFill>
                <a:latin typeface="Calibri"/>
              </a:rPr>
              <a:t>They will ask. They will ask repeatedly, and some will ask in ways that are hard to refuse. Every refusal re-confirms the rule.</a:t>
            </a:r>
          </a:p>
        </p:txBody>
      </p:sp>
      <p:sp>
        <p:nvSpPr>
          <p:cNvPr id="13" name="Rectangle 12"/>
          <p:cNvSpPr/>
          <p:nvPr/>
        </p:nvSpPr>
        <p:spPr>
          <a:xfrm>
            <a:off x="777240" y="5074920"/>
            <a:ext cx="10607040" cy="960120"/>
          </a:xfrm>
          <a:prstGeom prst="rect">
            <a:avLst/>
          </a:prstGeom>
          <a:solidFill>
            <a:srgbClr val="E4EBEF"/>
          </a:solidFill>
          <a:ln w="15875">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257800"/>
            <a:ext cx="10058400" cy="640080"/>
          </a:xfrm>
          <a:prstGeom prst="rect">
            <a:avLst/>
          </a:prstGeom>
          <a:noFill/>
        </p:spPr>
        <p:txBody>
          <a:bodyPr wrap="square" anchor="t">
            <a:spAutoFit/>
          </a:bodyPr>
          <a:lstStyle/>
          <a:p>
            <a:pPr algn="l">
              <a:lnSpc>
                <a:spcPct val="120000"/>
              </a:lnSpc>
            </a:pPr>
            <a:r>
              <a:rPr sz="1450" b="0" i="0">
                <a:solidFill>
                  <a:srgbClr val="3D5A6C"/>
                </a:solidFill>
                <a:latin typeface="Calibri"/>
              </a:rPr>
              <a:t>Be present the whole time. This is not leaving them alone in a room. Alone, there is no authority to have a different kind of relationship with. At the table there is one, and it declines the role.</a:t>
            </a:r>
          </a:p>
        </p:txBody>
      </p:sp>
      <p:sp>
        <p:nvSpPr>
          <p:cNvPr id="15" name="TextBox 14"/>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16" name="TextBox 15"/>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F1D18"/>
        </a:solidFill>
        <a:effectLst/>
      </p:bgPr>
    </p:bg>
    <p:spTree>
      <p:nvGrpSpPr>
        <p:cNvPr id="1" name=""/>
        <p:cNvGrpSpPr/>
        <p:nvPr/>
      </p:nvGrpSpPr>
      <p:grpSpPr/>
      <p:sp>
        <p:nvSpPr>
          <p:cNvPr id="2" name="TextBox 1"/>
          <p:cNvSpPr txBox="1"/>
          <p:nvPr/>
        </p:nvSpPr>
        <p:spPr>
          <a:xfrm>
            <a:off x="777240" y="1188720"/>
            <a:ext cx="10058400" cy="292608"/>
          </a:xfrm>
          <a:prstGeom prst="rect">
            <a:avLst/>
          </a:prstGeom>
          <a:noFill/>
        </p:spPr>
        <p:txBody>
          <a:bodyPr wrap="square" anchor="t">
            <a:spAutoFit/>
          </a:bodyPr>
          <a:lstStyle/>
          <a:p>
            <a:pPr algn="l">
              <a:lnSpc>
                <a:spcPct val="100000"/>
              </a:lnSpc>
            </a:pPr>
            <a:r>
              <a:rPr sz="1200" b="1" i="0">
                <a:solidFill>
                  <a:srgbClr val="A33B2A"/>
                </a:solidFill>
                <a:latin typeface="Calibri"/>
              </a:rPr>
              <a:t>HOSTING IT FOR OTHER PEOPLE</a:t>
            </a:r>
          </a:p>
        </p:txBody>
      </p:sp>
      <p:sp>
        <p:nvSpPr>
          <p:cNvPr id="3" name="TextBox 2"/>
          <p:cNvSpPr txBox="1"/>
          <p:nvPr/>
        </p:nvSpPr>
        <p:spPr>
          <a:xfrm>
            <a:off x="777240" y="1691640"/>
            <a:ext cx="10058400" cy="1554480"/>
          </a:xfrm>
          <a:prstGeom prst="rect">
            <a:avLst/>
          </a:prstGeom>
          <a:noFill/>
        </p:spPr>
        <p:txBody>
          <a:bodyPr wrap="square" anchor="t">
            <a:spAutoFit/>
          </a:bodyPr>
          <a:lstStyle/>
          <a:p>
            <a:pPr algn="l">
              <a:lnSpc>
                <a:spcPct val="98000"/>
              </a:lnSpc>
            </a:pPr>
            <a:r>
              <a:rPr sz="4200" b="1" i="0">
                <a:solidFill>
                  <a:srgbClr val="FFFFFF"/>
                </a:solidFill>
                <a:latin typeface="Calibri"/>
              </a:rPr>
              <a:t>A hint is worse than
a wrong answer.</a:t>
            </a:r>
          </a:p>
        </p:txBody>
      </p:sp>
      <p:sp>
        <p:nvSpPr>
          <p:cNvPr id="4" name="TextBox 3"/>
          <p:cNvSpPr txBox="1"/>
          <p:nvPr/>
        </p:nvSpPr>
        <p:spPr>
          <a:xfrm>
            <a:off x="777240" y="3520440"/>
            <a:ext cx="6949440" cy="1645920"/>
          </a:xfrm>
          <a:prstGeom prst="rect">
            <a:avLst/>
          </a:prstGeom>
          <a:noFill/>
        </p:spPr>
        <p:txBody>
          <a:bodyPr wrap="square" anchor="t">
            <a:spAutoFit/>
          </a:bodyPr>
          <a:lstStyle/>
          <a:p>
            <a:pPr algn="l">
              <a:lnSpc>
                <a:spcPct val="128000"/>
              </a:lnSpc>
            </a:pPr>
            <a:r>
              <a:rPr sz="1600" b="0" i="0">
                <a:solidFill>
                  <a:srgbClr val="E3DFD6"/>
                </a:solidFill>
                <a:latin typeface="Calibri"/>
              </a:rPr>
              <a:t>Give one hint and the protocol is over. The moment you show that you could have helped, your silence stops being a rule and becomes a withholding — and the whole hour converts backwards into a test with somebody in the room who knows the answer. From then on they are working out what you want.</a:t>
            </a:r>
          </a:p>
        </p:txBody>
      </p:sp>
      <p:sp>
        <p:nvSpPr>
          <p:cNvPr id="5" name="Rectangle 4"/>
          <p:cNvSpPr/>
          <p:nvPr/>
        </p:nvSpPr>
        <p:spPr>
          <a:xfrm>
            <a:off x="8138160" y="1691640"/>
            <a:ext cx="3246120" cy="3429000"/>
          </a:xfrm>
          <a:prstGeom prst="rect">
            <a:avLst/>
          </a:prstGeom>
          <a:noFill/>
          <a:ln w="15240">
            <a:solidFill>
              <a:srgbClr val="A8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920240"/>
            <a:ext cx="2743200" cy="274320"/>
          </a:xfrm>
          <a:prstGeom prst="rect">
            <a:avLst/>
          </a:prstGeom>
          <a:noFill/>
        </p:spPr>
        <p:txBody>
          <a:bodyPr wrap="square" anchor="t">
            <a:spAutoFit/>
          </a:bodyPr>
          <a:lstStyle/>
          <a:p>
            <a:pPr algn="l">
              <a:lnSpc>
                <a:spcPct val="100000"/>
              </a:lnSpc>
            </a:pPr>
            <a:r>
              <a:rPr sz="1100" b="1" i="0">
                <a:solidFill>
                  <a:srgbClr val="A33B2A"/>
                </a:solidFill>
                <a:latin typeface="Calibri"/>
              </a:rPr>
              <a:t>THE LINE</a:t>
            </a:r>
          </a:p>
        </p:txBody>
      </p:sp>
      <p:sp>
        <p:nvSpPr>
          <p:cNvPr id="7" name="TextBox 6"/>
          <p:cNvSpPr txBox="1"/>
          <p:nvPr/>
        </p:nvSpPr>
        <p:spPr>
          <a:xfrm>
            <a:off x="8412480" y="2286000"/>
            <a:ext cx="2743200" cy="3108960"/>
          </a:xfrm>
          <a:prstGeom prst="rect">
            <a:avLst/>
          </a:prstGeom>
          <a:noFill/>
        </p:spPr>
        <p:txBody>
          <a:bodyPr wrap="square" anchor="t">
            <a:spAutoFit/>
          </a:bodyPr>
          <a:lstStyle/>
          <a:p>
            <a:pPr algn="l">
              <a:lnSpc>
                <a:spcPct val="125000"/>
              </a:lnSpc>
            </a:pPr>
            <a:r>
              <a:rPr sz="1250" b="0" i="0">
                <a:solidFill>
                  <a:srgbClr val="E3DFD6"/>
                </a:solidFill>
                <a:latin typeface="Calibri"/>
              </a:rPr>
              <a:t>Anything said to everybody before Step 1 is framing, and it is allowed.
Anything said to one person during the steps is help, and it is not.
So a wall that lots of people hit gets fixed in the opening framing for everyone — never in a whisper to that person.</a:t>
            </a:r>
          </a:p>
        </p:txBody>
      </p:sp>
      <p:sp>
        <p:nvSpPr>
          <p:cNvPr id="8" name="TextBox 7"/>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A8A296"/>
                </a:solidFill>
                <a:latin typeface="Calibri"/>
              </a:rPr>
              <a:t>RCN method  ·  Kitchen Table Exercise</a:t>
            </a:r>
          </a:p>
        </p:txBody>
      </p:sp>
      <p:sp>
        <p:nvSpPr>
          <p:cNvPr id="9" name="TextBox 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A8A296"/>
                </a:solidFill>
                <a:latin typeface="Calibr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HOSTING IT FOR OTHER PEOPLE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What you may say, and what you may not</a:t>
            </a:r>
          </a:p>
        </p:txBody>
      </p:sp>
      <p:sp>
        <p:nvSpPr>
          <p:cNvPr id="4" name="Rectangle 3"/>
          <p:cNvSpPr/>
          <p:nvPr/>
        </p:nvSpPr>
        <p:spPr>
          <a:xfrm>
            <a:off x="777240" y="2194560"/>
            <a:ext cx="5166360" cy="3200400"/>
          </a:xfrm>
          <a:prstGeom prst="rect">
            <a:avLst/>
          </a:prstGeom>
          <a:solidFill>
            <a:srgbClr val="FFFFFF"/>
          </a:solidFill>
          <a:ln w="15875">
            <a:solidFill>
              <a:srgbClr val="3D5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377440"/>
            <a:ext cx="4572000" cy="274320"/>
          </a:xfrm>
          <a:prstGeom prst="rect">
            <a:avLst/>
          </a:prstGeom>
          <a:noFill/>
        </p:spPr>
        <p:txBody>
          <a:bodyPr wrap="square" anchor="t">
            <a:spAutoFit/>
          </a:bodyPr>
          <a:lstStyle/>
          <a:p>
            <a:pPr algn="l">
              <a:lnSpc>
                <a:spcPct val="100000"/>
              </a:lnSpc>
            </a:pPr>
            <a:r>
              <a:rPr sz="1100" b="1" i="0">
                <a:solidFill>
                  <a:srgbClr val="3D5A6C"/>
                </a:solidFill>
                <a:latin typeface="Calibri"/>
              </a:rPr>
              <a:t>MAY SAY</a:t>
            </a:r>
          </a:p>
        </p:txBody>
      </p:sp>
      <p:sp>
        <p:nvSpPr>
          <p:cNvPr id="6" name="TextBox 5"/>
          <p:cNvSpPr txBox="1"/>
          <p:nvPr/>
        </p:nvSpPr>
        <p:spPr>
          <a:xfrm>
            <a:off x="1051560" y="2743200"/>
            <a:ext cx="4617720" cy="2560320"/>
          </a:xfrm>
          <a:prstGeom prst="rect">
            <a:avLst/>
          </a:prstGeom>
          <a:noFill/>
        </p:spPr>
        <p:txBody>
          <a:bodyPr wrap="square">
            <a:spAutoFit/>
          </a:bodyPr>
          <a:lstStyle/>
          <a:p>
            <a:pPr>
              <a:lnSpc>
                <a:spcPct val="118000"/>
              </a:lnSpc>
              <a:spcAft>
                <a:spcPts val="700"/>
              </a:spcAft>
            </a:pPr>
            <a:r>
              <a:rPr sz="1350" b="0">
                <a:solidFill>
                  <a:srgbClr val="4A4740"/>
                </a:solidFill>
                <a:latin typeface="Calibri"/>
              </a:rPr>
              <a:t>—  Take your time.</a:t>
            </a:r>
          </a:p>
          <a:p>
            <a:pPr>
              <a:lnSpc>
                <a:spcPct val="118000"/>
              </a:lnSpc>
              <a:spcAft>
                <a:spcPts val="700"/>
              </a:spcAft>
            </a:pPr>
            <a:r>
              <a:rPr sz="1350" b="0">
                <a:solidFill>
                  <a:srgbClr val="4A4740"/>
                </a:solidFill>
                <a:latin typeface="Calibri"/>
              </a:rPr>
              <a:t>—  There is no right answer to this one.</a:t>
            </a:r>
          </a:p>
          <a:p>
            <a:pPr>
              <a:lnSpc>
                <a:spcPct val="118000"/>
              </a:lnSpc>
              <a:spcAft>
                <a:spcPts val="700"/>
              </a:spcAft>
            </a:pPr>
            <a:r>
              <a:rPr sz="1350" b="0">
                <a:solidFill>
                  <a:srgbClr val="4A4740"/>
                </a:solidFill>
                <a:latin typeface="Calibri"/>
              </a:rPr>
              <a:t>—  Nobody will see this unless you decide to show them.</a:t>
            </a:r>
          </a:p>
          <a:p>
            <a:pPr>
              <a:lnSpc>
                <a:spcPct val="118000"/>
              </a:lnSpc>
              <a:spcAft>
                <a:spcPts val="700"/>
              </a:spcAft>
            </a:pPr>
            <a:r>
              <a:rPr sz="1350" b="0">
                <a:solidFill>
                  <a:srgbClr val="4A4740"/>
                </a:solidFill>
                <a:latin typeface="Calibri"/>
              </a:rPr>
              <a:t>—  Keep going.</a:t>
            </a:r>
          </a:p>
          <a:p>
            <a:pPr>
              <a:lnSpc>
                <a:spcPct val="118000"/>
              </a:lnSpc>
              <a:spcAft>
                <a:spcPts val="700"/>
              </a:spcAft>
            </a:pPr>
            <a:r>
              <a:rPr sz="1350" b="0">
                <a:solidFill>
                  <a:srgbClr val="4A4740"/>
                </a:solidFill>
                <a:latin typeface="Calibri"/>
              </a:rPr>
              <a:t>—  Yes, that is the whole instruction.</a:t>
            </a:r>
          </a:p>
          <a:p>
            <a:pPr>
              <a:lnSpc>
                <a:spcPct val="118000"/>
              </a:lnSpc>
              <a:spcAft>
                <a:spcPts val="700"/>
              </a:spcAft>
            </a:pPr>
            <a:r>
              <a:rPr sz="1350" b="0">
                <a:solidFill>
                  <a:srgbClr val="4A4740"/>
                </a:solidFill>
                <a:latin typeface="Calibri"/>
              </a:rPr>
              <a:t>—  I am not going to help you with that, and that is on purpose.</a:t>
            </a:r>
          </a:p>
        </p:txBody>
      </p:sp>
      <p:sp>
        <p:nvSpPr>
          <p:cNvPr id="7" name="Rectangle 6"/>
          <p:cNvSpPr/>
          <p:nvPr/>
        </p:nvSpPr>
        <p:spPr>
          <a:xfrm>
            <a:off x="6217920" y="2194560"/>
            <a:ext cx="5166360" cy="3200400"/>
          </a:xfrm>
          <a:prstGeom prst="rect">
            <a:avLst/>
          </a:prstGeom>
          <a:solidFill>
            <a:srgbClr val="FFFFFF"/>
          </a:solidFill>
          <a:ln w="15875">
            <a:solidFill>
              <a:srgbClr val="A33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377440"/>
            <a:ext cx="4572000" cy="274320"/>
          </a:xfrm>
          <a:prstGeom prst="rect">
            <a:avLst/>
          </a:prstGeom>
          <a:noFill/>
        </p:spPr>
        <p:txBody>
          <a:bodyPr wrap="square" anchor="t">
            <a:spAutoFit/>
          </a:bodyPr>
          <a:lstStyle/>
          <a:p>
            <a:pPr algn="l">
              <a:lnSpc>
                <a:spcPct val="100000"/>
              </a:lnSpc>
            </a:pPr>
            <a:r>
              <a:rPr sz="1100" b="1" i="0">
                <a:solidFill>
                  <a:srgbClr val="A33B2A"/>
                </a:solidFill>
                <a:latin typeface="Calibri"/>
              </a:rPr>
              <a:t>MAY NOT SAY</a:t>
            </a:r>
          </a:p>
        </p:txBody>
      </p:sp>
      <p:sp>
        <p:nvSpPr>
          <p:cNvPr id="9" name="TextBox 8"/>
          <p:cNvSpPr txBox="1"/>
          <p:nvPr/>
        </p:nvSpPr>
        <p:spPr>
          <a:xfrm>
            <a:off x="6492240" y="2743200"/>
            <a:ext cx="4617720" cy="2560320"/>
          </a:xfrm>
          <a:prstGeom prst="rect">
            <a:avLst/>
          </a:prstGeom>
          <a:noFill/>
        </p:spPr>
        <p:txBody>
          <a:bodyPr wrap="square">
            <a:spAutoFit/>
          </a:bodyPr>
          <a:lstStyle/>
          <a:p>
            <a:pPr>
              <a:lnSpc>
                <a:spcPct val="118000"/>
              </a:lnSpc>
              <a:spcAft>
                <a:spcPts val="700"/>
              </a:spcAft>
            </a:pPr>
            <a:r>
              <a:rPr sz="1350" b="0">
                <a:solidFill>
                  <a:srgbClr val="4A4740"/>
                </a:solidFill>
                <a:latin typeface="Calibri"/>
              </a:rPr>
              <a:t>—  Anything that evaluates.</a:t>
            </a:r>
          </a:p>
          <a:p>
            <a:pPr>
              <a:lnSpc>
                <a:spcPct val="118000"/>
              </a:lnSpc>
              <a:spcAft>
                <a:spcPts val="700"/>
              </a:spcAft>
            </a:pPr>
            <a:r>
              <a:rPr sz="1350" b="0">
                <a:solidFill>
                  <a:srgbClr val="4A4740"/>
                </a:solidFill>
                <a:latin typeface="Calibri"/>
              </a:rPr>
              <a:t>—  Anything that suggests.</a:t>
            </a:r>
          </a:p>
          <a:p>
            <a:pPr>
              <a:lnSpc>
                <a:spcPct val="118000"/>
              </a:lnSpc>
              <a:spcAft>
                <a:spcPts val="700"/>
              </a:spcAft>
            </a:pPr>
            <a:r>
              <a:rPr sz="1350" b="0">
                <a:solidFill>
                  <a:srgbClr val="4A4740"/>
                </a:solidFill>
                <a:latin typeface="Calibri"/>
              </a:rPr>
              <a:t>—  Any example, of anything, ever.</a:t>
            </a:r>
          </a:p>
          <a:p>
            <a:pPr>
              <a:lnSpc>
                <a:spcPct val="118000"/>
              </a:lnSpc>
              <a:spcAft>
                <a:spcPts val="700"/>
              </a:spcAft>
            </a:pPr>
            <a:r>
              <a:rPr sz="1350" b="0">
                <a:solidFill>
                  <a:srgbClr val="4A4740"/>
                </a:solidFill>
                <a:latin typeface="Calibri"/>
              </a:rPr>
              <a:t>—  Anything beginning "you could try".</a:t>
            </a:r>
          </a:p>
          <a:p>
            <a:pPr>
              <a:lnSpc>
                <a:spcPct val="118000"/>
              </a:lnSpc>
              <a:spcAft>
                <a:spcPts val="700"/>
              </a:spcAft>
            </a:pPr>
            <a:r>
              <a:rPr sz="1350" b="0">
                <a:solidFill>
                  <a:srgbClr val="4A4740"/>
                </a:solidFill>
                <a:latin typeface="Calibri"/>
              </a:rPr>
              <a:t>—  Any answer to "is this right".</a:t>
            </a:r>
          </a:p>
          <a:p>
            <a:pPr>
              <a:lnSpc>
                <a:spcPct val="118000"/>
              </a:lnSpc>
              <a:spcAft>
                <a:spcPts val="700"/>
              </a:spcAft>
            </a:pPr>
            <a:r>
              <a:rPr sz="1350" b="0">
                <a:solidFill>
                  <a:srgbClr val="4A4740"/>
                </a:solidFill>
                <a:latin typeface="Calibri"/>
              </a:rPr>
              <a:t>—  Any face at their paper — which is why you are not looking at it.</a:t>
            </a:r>
          </a:p>
        </p:txBody>
      </p:sp>
      <p:sp>
        <p:nvSpPr>
          <p:cNvPr id="10" name="TextBox 9"/>
          <p:cNvSpPr txBox="1"/>
          <p:nvPr/>
        </p:nvSpPr>
        <p:spPr>
          <a:xfrm>
            <a:off x="777240" y="5577840"/>
            <a:ext cx="10607040" cy="640080"/>
          </a:xfrm>
          <a:prstGeom prst="rect">
            <a:avLst/>
          </a:prstGeom>
          <a:noFill/>
        </p:spPr>
        <p:txBody>
          <a:bodyPr wrap="square" anchor="t">
            <a:spAutoFit/>
          </a:bodyPr>
          <a:lstStyle/>
          <a:p>
            <a:pPr algn="l">
              <a:lnSpc>
                <a:spcPct val="120000"/>
              </a:lnSpc>
            </a:pPr>
            <a:r>
              <a:rPr sz="1400" b="0" i="1">
                <a:solidFill>
                  <a:srgbClr val="4A4740"/>
                </a:solidFill>
                <a:latin typeface="Calibri"/>
              </a:rPr>
              <a:t>Their asking is not an interruption of the exercise. It is the most useful observation in it — and it belongs to the method, never to the person. A help-request count with a name on it is a score.</a:t>
            </a:r>
          </a:p>
        </p:txBody>
      </p:sp>
      <p:sp>
        <p:nvSpPr>
          <p:cNvPr id="11" name="TextBox 10"/>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12" name="TextBox 1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HOSTING IT FOR OTHER PEOPLE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With a group: separately first, then the merge</a:t>
            </a:r>
          </a:p>
        </p:txBody>
      </p:sp>
      <p:sp>
        <p:nvSpPr>
          <p:cNvPr id="4" name="TextBox 3"/>
          <p:cNvSpPr txBox="1"/>
          <p:nvPr/>
        </p:nvSpPr>
        <p:spPr>
          <a:xfrm>
            <a:off x="777240" y="2148840"/>
            <a:ext cx="10332720" cy="822960"/>
          </a:xfrm>
          <a:prstGeom prst="rect">
            <a:avLst/>
          </a:prstGeom>
          <a:noFill/>
        </p:spPr>
        <p:txBody>
          <a:bodyPr wrap="square" anchor="t">
            <a:spAutoFit/>
          </a:bodyPr>
          <a:lstStyle/>
          <a:p>
            <a:pPr algn="l">
              <a:lnSpc>
                <a:spcPct val="120000"/>
              </a:lnSpc>
            </a:pPr>
            <a:r>
              <a:rPr sz="1700" b="0" i="0">
                <a:solidFill>
                  <a:srgbClr val="4A4740"/>
                </a:solidFill>
                <a:latin typeface="Calibri"/>
              </a:rPr>
              <a:t>Everyone does their own, separately and simultaneously, in the same room. The group work starts only when each person is holding a finished drawing of their own.</a:t>
            </a:r>
          </a:p>
        </p:txBody>
      </p:sp>
      <p:sp>
        <p:nvSpPr>
          <p:cNvPr id="5" name="Rectangle 4"/>
          <p:cNvSpPr/>
          <p:nvPr/>
        </p:nvSpPr>
        <p:spPr>
          <a:xfrm>
            <a:off x="777240" y="3154680"/>
            <a:ext cx="3337560" cy="242316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3319272"/>
            <a:ext cx="2880360" cy="365760"/>
          </a:xfrm>
          <a:prstGeom prst="rect">
            <a:avLst/>
          </a:prstGeom>
          <a:noFill/>
        </p:spPr>
        <p:txBody>
          <a:bodyPr wrap="square" anchor="t">
            <a:spAutoFit/>
          </a:bodyPr>
          <a:lstStyle/>
          <a:p>
            <a:pPr algn="l">
              <a:lnSpc>
                <a:spcPct val="100000"/>
              </a:lnSpc>
            </a:pPr>
            <a:r>
              <a:rPr sz="1550" b="1" i="0">
                <a:solidFill>
                  <a:srgbClr val="14130F"/>
                </a:solidFill>
                <a:latin typeface="Calibri"/>
              </a:rPr>
              <a:t>Expect the merge to be slow</a:t>
            </a:r>
          </a:p>
        </p:txBody>
      </p:sp>
      <p:sp>
        <p:nvSpPr>
          <p:cNvPr id="7" name="TextBox 6"/>
          <p:cNvSpPr txBox="1"/>
          <p:nvPr/>
        </p:nvSpPr>
        <p:spPr>
          <a:xfrm>
            <a:off x="1033271" y="3776472"/>
            <a:ext cx="2880360" cy="1636776"/>
          </a:xfrm>
          <a:prstGeom prst="rect">
            <a:avLst/>
          </a:prstGeom>
          <a:noFill/>
        </p:spPr>
        <p:txBody>
          <a:bodyPr wrap="square" anchor="t">
            <a:spAutoFit/>
          </a:bodyPr>
          <a:lstStyle/>
          <a:p>
            <a:pPr algn="l">
              <a:lnSpc>
                <a:spcPct val="112000"/>
              </a:lnSpc>
            </a:pPr>
            <a:r>
              <a:rPr sz="1200" b="0" i="0">
                <a:solidFill>
                  <a:srgbClr val="4A4740"/>
                </a:solidFill>
                <a:latin typeface="Calibri"/>
              </a:rPr>
              <a:t>Five students took six weekly sessions with sticky notes. The work was almost entirely about language — renaming, arguing about what words meant, combining near-synonyms. Any plan that treats the merge as a quick step after the fun part has it backwards.</a:t>
            </a:r>
          </a:p>
        </p:txBody>
      </p:sp>
      <p:sp>
        <p:nvSpPr>
          <p:cNvPr id="8" name="Rectangle 7"/>
          <p:cNvSpPr/>
          <p:nvPr/>
        </p:nvSpPr>
        <p:spPr>
          <a:xfrm>
            <a:off x="4389120" y="3154680"/>
            <a:ext cx="3337560" cy="242316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3319272"/>
            <a:ext cx="2880360" cy="365760"/>
          </a:xfrm>
          <a:prstGeom prst="rect">
            <a:avLst/>
          </a:prstGeom>
          <a:noFill/>
        </p:spPr>
        <p:txBody>
          <a:bodyPr wrap="square" anchor="t">
            <a:spAutoFit/>
          </a:bodyPr>
          <a:lstStyle/>
          <a:p>
            <a:pPr algn="l">
              <a:lnSpc>
                <a:spcPct val="100000"/>
              </a:lnSpc>
            </a:pPr>
            <a:r>
              <a:rPr sz="1550" b="1" i="0">
                <a:solidFill>
                  <a:srgbClr val="14130F"/>
                </a:solidFill>
                <a:latin typeface="Calibri"/>
              </a:rPr>
              <a:t>The group rule: do not resolve</a:t>
            </a:r>
          </a:p>
        </p:txBody>
      </p:sp>
      <p:sp>
        <p:nvSpPr>
          <p:cNvPr id="10" name="TextBox 9"/>
          <p:cNvSpPr txBox="1"/>
          <p:nvPr/>
        </p:nvSpPr>
        <p:spPr>
          <a:xfrm>
            <a:off x="4645152" y="3776472"/>
            <a:ext cx="2880360" cy="1636776"/>
          </a:xfrm>
          <a:prstGeom prst="rect">
            <a:avLst/>
          </a:prstGeom>
          <a:noFill/>
        </p:spPr>
        <p:txBody>
          <a:bodyPr wrap="square" anchor="t">
            <a:spAutoFit/>
          </a:bodyPr>
          <a:lstStyle/>
          <a:p>
            <a:pPr algn="l">
              <a:lnSpc>
                <a:spcPct val="112000"/>
              </a:lnSpc>
            </a:pPr>
            <a:r>
              <a:rPr sz="1200" b="0" i="0">
                <a:solidFill>
                  <a:srgbClr val="4A4740"/>
                </a:solidFill>
                <a:latin typeface="Calibri"/>
              </a:rPr>
              <a:t>Alone you withhold the urge to teach. Here you withhold the urge to arbitrate. A facilitator's ruling does not just settle a question, it takes over the language — and the merge is about the language. Let a disagreement about a word stay open.</a:t>
            </a:r>
          </a:p>
        </p:txBody>
      </p:sp>
      <p:sp>
        <p:nvSpPr>
          <p:cNvPr id="11" name="Rectangle 10"/>
          <p:cNvSpPr/>
          <p:nvPr/>
        </p:nvSpPr>
        <p:spPr>
          <a:xfrm>
            <a:off x="8001000" y="3154680"/>
            <a:ext cx="3337560" cy="242316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3319272"/>
            <a:ext cx="2880360" cy="365760"/>
          </a:xfrm>
          <a:prstGeom prst="rect">
            <a:avLst/>
          </a:prstGeom>
          <a:noFill/>
        </p:spPr>
        <p:txBody>
          <a:bodyPr wrap="square" anchor="t">
            <a:spAutoFit/>
          </a:bodyPr>
          <a:lstStyle/>
          <a:p>
            <a:pPr algn="l">
              <a:lnSpc>
                <a:spcPct val="100000"/>
              </a:lnSpc>
            </a:pPr>
            <a:r>
              <a:rPr sz="1550" b="1" i="0">
                <a:solidFill>
                  <a:srgbClr val="14130F"/>
                </a:solidFill>
                <a:latin typeface="Calibri"/>
              </a:rPr>
              <a:t>Leave the seams</a:t>
            </a:r>
          </a:p>
        </p:txBody>
      </p:sp>
      <p:sp>
        <p:nvSpPr>
          <p:cNvPr id="13" name="TextBox 12"/>
          <p:cNvSpPr txBox="1"/>
          <p:nvPr/>
        </p:nvSpPr>
        <p:spPr>
          <a:xfrm>
            <a:off x="8257031" y="3776472"/>
            <a:ext cx="2880360" cy="1636776"/>
          </a:xfrm>
          <a:prstGeom prst="rect">
            <a:avLst/>
          </a:prstGeom>
          <a:noFill/>
        </p:spPr>
        <p:txBody>
          <a:bodyPr wrap="square" anchor="t">
            <a:spAutoFit/>
          </a:bodyPr>
          <a:lstStyle/>
          <a:p>
            <a:pPr algn="l">
              <a:lnSpc>
                <a:spcPct val="112000"/>
              </a:lnSpc>
            </a:pPr>
            <a:r>
              <a:rPr sz="1200" b="0" i="0">
                <a:solidFill>
                  <a:srgbClr val="4A4740"/>
                </a:solidFill>
                <a:latin typeface="Calibri"/>
              </a:rPr>
              <a:t>The merged diagram will have the same idea in two places, because two people raised it and nobody had authority to rule. Leave them. They record where the group's language has not converged, which beats a tidy diagram.</a:t>
            </a:r>
          </a:p>
        </p:txBody>
      </p:sp>
      <p:sp>
        <p:nvSpPr>
          <p:cNvPr id="14" name="TextBox 13"/>
          <p:cNvSpPr txBox="1"/>
          <p:nvPr/>
        </p:nvSpPr>
        <p:spPr>
          <a:xfrm>
            <a:off x="777240" y="5623560"/>
            <a:ext cx="10607040" cy="548640"/>
          </a:xfrm>
          <a:prstGeom prst="rect">
            <a:avLst/>
          </a:prstGeom>
          <a:noFill/>
        </p:spPr>
        <p:txBody>
          <a:bodyPr wrap="square" anchor="t">
            <a:spAutoFit/>
          </a:bodyPr>
          <a:lstStyle/>
          <a:p>
            <a:pPr algn="l">
              <a:lnSpc>
                <a:spcPct val="120000"/>
              </a:lnSpc>
            </a:pPr>
            <a:r>
              <a:rPr sz="1400" b="0" i="1">
                <a:solidFill>
                  <a:srgbClr val="4A4740"/>
                </a:solidFill>
                <a:latin typeface="Calibri"/>
              </a:rPr>
              <a:t>Encouragement is allowed because it carries no propositional content. "Keep going" says nothing about the map. "I think those two are the same thing" says everything about it.</a:t>
            </a:r>
          </a:p>
        </p:txBody>
      </p:sp>
      <p:sp>
        <p:nvSpPr>
          <p:cNvPr id="15" name="TextBox 14"/>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16" name="TextBox 15"/>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3D5A6C"/>
                </a:solidFill>
                <a:latin typeface="Calibri"/>
              </a:rPr>
              <a:t>ONE MORE MOVE, AND IT IS WORTH THE WORK</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14130F"/>
                </a:solidFill>
                <a:latin typeface="Calibri"/>
              </a:rPr>
              <a:t>Turning your drawing into a causal loop diagram</a:t>
            </a:r>
          </a:p>
        </p:txBody>
      </p:sp>
      <p:sp>
        <p:nvSpPr>
          <p:cNvPr id="4" name="TextBox 3"/>
          <p:cNvSpPr txBox="1"/>
          <p:nvPr/>
        </p:nvSpPr>
        <p:spPr>
          <a:xfrm>
            <a:off x="777240" y="2286000"/>
            <a:ext cx="10332720" cy="1737360"/>
          </a:xfrm>
          <a:prstGeom prst="rect">
            <a:avLst/>
          </a:prstGeom>
          <a:noFill/>
        </p:spPr>
        <p:txBody>
          <a:bodyPr wrap="square">
            <a:spAutoFit/>
          </a:bodyPr>
          <a:lstStyle/>
          <a:p>
            <a:pPr>
              <a:lnSpc>
                <a:spcPct val="118000"/>
              </a:lnSpc>
              <a:spcAft>
                <a:spcPts val="1100"/>
              </a:spcAft>
            </a:pPr>
            <a:r>
              <a:rPr sz="1800" b="0">
                <a:solidFill>
                  <a:srgbClr val="4A4740"/>
                </a:solidFill>
                <a:latin typeface="Calibri"/>
              </a:rPr>
              <a:t>—  Keep only the nodes that can be more or less — quantities that go up and down.</a:t>
            </a:r>
          </a:p>
          <a:p>
            <a:pPr>
              <a:lnSpc>
                <a:spcPct val="118000"/>
              </a:lnSpc>
              <a:spcAft>
                <a:spcPts val="1100"/>
              </a:spcAft>
            </a:pPr>
            <a:r>
              <a:rPr sz="1800" b="0">
                <a:solidFill>
                  <a:srgbClr val="4A4740"/>
                </a:solidFill>
                <a:latin typeface="Calibri"/>
              </a:rPr>
              <a:t>—  Restate each verb as either same direction or opposite direction.</a:t>
            </a:r>
          </a:p>
          <a:p>
            <a:pPr>
              <a:lnSpc>
                <a:spcPct val="118000"/>
              </a:lnSpc>
              <a:spcAft>
                <a:spcPts val="1100"/>
              </a:spcAft>
            </a:pPr>
            <a:r>
              <a:rPr sz="1800" b="0">
                <a:solidFill>
                  <a:srgbClr val="4A4740"/>
                </a:solidFill>
                <a:latin typeface="Calibri"/>
              </a:rPr>
              <a:t>—  Then look for a circle. The circles are feedback, which is where system behaviour lives.</a:t>
            </a:r>
          </a:p>
        </p:txBody>
      </p:sp>
      <p:sp>
        <p:nvSpPr>
          <p:cNvPr id="5" name="Rectangle 4"/>
          <p:cNvSpPr/>
          <p:nvPr/>
        </p:nvSpPr>
        <p:spPr>
          <a:xfrm>
            <a:off x="777240" y="4114800"/>
            <a:ext cx="5166360" cy="169164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4279392"/>
            <a:ext cx="4709160" cy="365760"/>
          </a:xfrm>
          <a:prstGeom prst="rect">
            <a:avLst/>
          </a:prstGeom>
          <a:noFill/>
        </p:spPr>
        <p:txBody>
          <a:bodyPr wrap="square" anchor="t">
            <a:spAutoFit/>
          </a:bodyPr>
          <a:lstStyle/>
          <a:p>
            <a:pPr algn="l">
              <a:lnSpc>
                <a:spcPct val="100000"/>
              </a:lnSpc>
            </a:pPr>
            <a:r>
              <a:rPr sz="1600" b="1" i="0">
                <a:solidFill>
                  <a:srgbClr val="14130F"/>
                </a:solidFill>
                <a:latin typeface="Calibri"/>
              </a:rPr>
              <a:t>The question that does the work</a:t>
            </a:r>
          </a:p>
        </p:txBody>
      </p:sp>
      <p:sp>
        <p:nvSpPr>
          <p:cNvPr id="7" name="TextBox 6"/>
          <p:cNvSpPr txBox="1"/>
          <p:nvPr/>
        </p:nvSpPr>
        <p:spPr>
          <a:xfrm>
            <a:off x="1033271" y="4736592"/>
            <a:ext cx="4709160" cy="905256"/>
          </a:xfrm>
          <a:prstGeom prst="rect">
            <a:avLst/>
          </a:prstGeom>
          <a:noFill/>
        </p:spPr>
        <p:txBody>
          <a:bodyPr wrap="square" anchor="t">
            <a:spAutoFit/>
          </a:bodyPr>
          <a:lstStyle/>
          <a:p>
            <a:pPr algn="l">
              <a:lnSpc>
                <a:spcPct val="112000"/>
              </a:lnSpc>
            </a:pPr>
            <a:r>
              <a:rPr sz="1300" b="0" i="0">
                <a:solidFill>
                  <a:srgbClr val="4A4740"/>
                </a:solidFill>
                <a:latin typeface="Calibri"/>
              </a:rPr>
              <a:t>"What is it about this that matters here?" Forget for now whether you could measure it. The question is whether it matters.</a:t>
            </a:r>
          </a:p>
        </p:txBody>
      </p:sp>
      <p:sp>
        <p:nvSpPr>
          <p:cNvPr id="8" name="Rectangle 7"/>
          <p:cNvSpPr/>
          <p:nvPr/>
        </p:nvSpPr>
        <p:spPr>
          <a:xfrm>
            <a:off x="6217920" y="4114800"/>
            <a:ext cx="5166360" cy="1691640"/>
          </a:xfrm>
          <a:prstGeom prst="rect">
            <a:avLst/>
          </a:prstGeom>
          <a:solidFill>
            <a:srgbClr val="FFFFFF"/>
          </a:solidFill>
          <a:ln w="15875">
            <a:solidFill>
              <a:srgbClr val="DD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4279392"/>
            <a:ext cx="4709160" cy="365760"/>
          </a:xfrm>
          <a:prstGeom prst="rect">
            <a:avLst/>
          </a:prstGeom>
          <a:noFill/>
        </p:spPr>
        <p:txBody>
          <a:bodyPr wrap="square" anchor="t">
            <a:spAutoFit/>
          </a:bodyPr>
          <a:lstStyle/>
          <a:p>
            <a:pPr algn="l">
              <a:lnSpc>
                <a:spcPct val="100000"/>
              </a:lnSpc>
            </a:pPr>
            <a:r>
              <a:rPr sz="1600" b="1" i="0">
                <a:solidFill>
                  <a:srgbClr val="14130F"/>
                </a:solidFill>
                <a:latin typeface="Calibri"/>
              </a:rPr>
              <a:t>Keep the ones that refuse</a:t>
            </a:r>
          </a:p>
        </p:txBody>
      </p:sp>
      <p:sp>
        <p:nvSpPr>
          <p:cNvPr id="10" name="TextBox 9"/>
          <p:cNvSpPr txBox="1"/>
          <p:nvPr/>
        </p:nvSpPr>
        <p:spPr>
          <a:xfrm>
            <a:off x="6473952" y="4736592"/>
            <a:ext cx="4709160" cy="905256"/>
          </a:xfrm>
          <a:prstGeom prst="rect">
            <a:avLst/>
          </a:prstGeom>
          <a:noFill/>
        </p:spPr>
        <p:txBody>
          <a:bodyPr wrap="square" anchor="t">
            <a:spAutoFit/>
          </a:bodyPr>
          <a:lstStyle/>
          <a:p>
            <a:pPr algn="l">
              <a:lnSpc>
                <a:spcPct val="112000"/>
              </a:lnSpc>
            </a:pPr>
            <a:r>
              <a:rPr sz="1300" b="0" i="0">
                <a:solidFill>
                  <a:srgbClr val="4A4740"/>
                </a:solidFill>
                <a:latin typeface="Calibri"/>
              </a:rPr>
              <a:t>A node that will not become a variable is usually a thing rather than a quantity, or an abstraction hiding the quantity that matters. That list is the finding.</a:t>
            </a:r>
          </a:p>
        </p:txBody>
      </p:sp>
      <p:sp>
        <p:nvSpPr>
          <p:cNvPr id="11" name="TextBox 10"/>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918C82"/>
                </a:solidFill>
                <a:latin typeface="Calibri"/>
              </a:rPr>
              <a:t>RCN method  ·  Kitchen Table Exercise</a:t>
            </a:r>
          </a:p>
        </p:txBody>
      </p:sp>
      <p:sp>
        <p:nvSpPr>
          <p:cNvPr id="12" name="TextBox 1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18C82"/>
                </a:solidFill>
                <a:latin typeface="Calibr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1D18"/>
        </a:solidFill>
        <a:effectLst/>
      </p:bgPr>
    </p:bg>
    <p:spTree>
      <p:nvGrpSpPr>
        <p:cNvPr id="1" name=""/>
        <p:cNvGrpSpPr/>
        <p:nvPr/>
      </p:nvGrpSpPr>
      <p:grpSpPr/>
      <p:sp>
        <p:nvSpPr>
          <p:cNvPr id="2" name="TextBox 1"/>
          <p:cNvSpPr txBox="1"/>
          <p:nvPr/>
        </p:nvSpPr>
        <p:spPr>
          <a:xfrm>
            <a:off x="777240" y="1234440"/>
            <a:ext cx="10058400" cy="292608"/>
          </a:xfrm>
          <a:prstGeom prst="rect">
            <a:avLst/>
          </a:prstGeom>
          <a:noFill/>
        </p:spPr>
        <p:txBody>
          <a:bodyPr wrap="square" anchor="t">
            <a:spAutoFit/>
          </a:bodyPr>
          <a:lstStyle/>
          <a:p>
            <a:pPr algn="l">
              <a:lnSpc>
                <a:spcPct val="100000"/>
              </a:lnSpc>
            </a:pPr>
            <a:r>
              <a:rPr sz="1200" b="1" i="0">
                <a:solidFill>
                  <a:srgbClr val="A8A296"/>
                </a:solidFill>
                <a:latin typeface="Calibri"/>
              </a:rPr>
              <a:t>WHERE THIS CAME FROM</a:t>
            </a:r>
          </a:p>
        </p:txBody>
      </p:sp>
      <p:sp>
        <p:nvSpPr>
          <p:cNvPr id="3" name="TextBox 2"/>
          <p:cNvSpPr txBox="1"/>
          <p:nvPr/>
        </p:nvSpPr>
        <p:spPr>
          <a:xfrm>
            <a:off x="777240" y="1691640"/>
            <a:ext cx="10058400" cy="822960"/>
          </a:xfrm>
          <a:prstGeom prst="rect">
            <a:avLst/>
          </a:prstGeom>
          <a:noFill/>
        </p:spPr>
        <p:txBody>
          <a:bodyPr wrap="square" anchor="t">
            <a:spAutoFit/>
          </a:bodyPr>
          <a:lstStyle/>
          <a:p>
            <a:pPr algn="l">
              <a:lnSpc>
                <a:spcPct val="100000"/>
              </a:lnSpc>
            </a:pPr>
            <a:r>
              <a:rPr sz="3600" b="1" i="0">
                <a:solidFill>
                  <a:srgbClr val="FFFFFF"/>
                </a:solidFill>
                <a:latin typeface="Calibri"/>
              </a:rPr>
              <a:t>Ferndale, Washington, 2019</a:t>
            </a:r>
          </a:p>
        </p:txBody>
      </p:sp>
      <p:sp>
        <p:nvSpPr>
          <p:cNvPr id="4" name="TextBox 3"/>
          <p:cNvSpPr txBox="1"/>
          <p:nvPr/>
        </p:nvSpPr>
        <p:spPr>
          <a:xfrm>
            <a:off x="777240" y="2743200"/>
            <a:ext cx="7040880" cy="1645920"/>
          </a:xfrm>
          <a:prstGeom prst="rect">
            <a:avLst/>
          </a:prstGeom>
          <a:noFill/>
        </p:spPr>
        <p:txBody>
          <a:bodyPr wrap="square" anchor="t">
            <a:spAutoFit/>
          </a:bodyPr>
          <a:lstStyle/>
          <a:p>
            <a:pPr algn="l">
              <a:lnSpc>
                <a:spcPct val="130000"/>
              </a:lnSpc>
            </a:pPr>
            <a:r>
              <a:rPr sz="1600" b="0" i="0">
                <a:solidFill>
                  <a:srgbClr val="E3DFD6"/>
                </a:solidFill>
                <a:latin typeface="Calibri"/>
              </a:rPr>
              <a:t>Marc Pierson developed the eleven steps and published them as Systems Certification. They were used with a cohort of students who had left school. One of them did it first. Then the cohort's facilitator did it, then her administrator, each alone at the same table — and then four more students at once.</a:t>
            </a:r>
          </a:p>
        </p:txBody>
      </p:sp>
      <p:sp>
        <p:nvSpPr>
          <p:cNvPr id="5" name="TextBox 4"/>
          <p:cNvSpPr txBox="1"/>
          <p:nvPr/>
        </p:nvSpPr>
        <p:spPr>
          <a:xfrm>
            <a:off x="777240" y="4526280"/>
            <a:ext cx="7040880" cy="1005840"/>
          </a:xfrm>
          <a:prstGeom prst="rect">
            <a:avLst/>
          </a:prstGeom>
          <a:noFill/>
        </p:spPr>
        <p:txBody>
          <a:bodyPr wrap="square" anchor="t">
            <a:spAutoFit/>
          </a:bodyPr>
          <a:lstStyle/>
          <a:p>
            <a:pPr algn="l">
              <a:lnSpc>
                <a:spcPct val="130000"/>
              </a:lnSpc>
            </a:pPr>
            <a:r>
              <a:rPr sz="1500" b="0" i="1">
                <a:solidFill>
                  <a:srgbClr val="A8A296"/>
                </a:solidFill>
                <a:latin typeface="Calibri"/>
              </a:rPr>
              <a:t>The order of that spread — outward from the most disaffected student rather than down from the most senior adult — was not a gesture. He was the one who found it easiest.</a:t>
            </a:r>
          </a:p>
        </p:txBody>
      </p:sp>
      <p:sp>
        <p:nvSpPr>
          <p:cNvPr id="6" name="Rectangle 5"/>
          <p:cNvSpPr/>
          <p:nvPr/>
        </p:nvSpPr>
        <p:spPr>
          <a:xfrm>
            <a:off x="8229600" y="2743200"/>
            <a:ext cx="3154680" cy="2788920"/>
          </a:xfrm>
          <a:prstGeom prst="rect">
            <a:avLst/>
          </a:prstGeom>
          <a:noFill/>
          <a:ln w="17780">
            <a:solidFill>
              <a:srgbClr val="A33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3017520"/>
            <a:ext cx="2651760" cy="2377440"/>
          </a:xfrm>
          <a:prstGeom prst="rect">
            <a:avLst/>
          </a:prstGeom>
          <a:noFill/>
        </p:spPr>
        <p:txBody>
          <a:bodyPr wrap="square" anchor="t">
            <a:spAutoFit/>
          </a:bodyPr>
          <a:lstStyle/>
          <a:p>
            <a:pPr algn="l">
              <a:lnSpc>
                <a:spcPct val="130000"/>
              </a:lnSpc>
            </a:pPr>
            <a:r>
              <a:rPr sz="1450" b="0" i="0">
                <a:solidFill>
                  <a:srgbClr val="FFFFFF"/>
                </a:solidFill>
                <a:latin typeface="Calibri"/>
              </a:rPr>
              <a:t>The reflection steps
were not in the first
version.
They were added
because the fear was
visible and needed
somewhere to go.</a:t>
            </a:r>
          </a:p>
        </p:txBody>
      </p:sp>
      <p:sp>
        <p:nvSpPr>
          <p:cNvPr id="8" name="Rectangle 7"/>
          <p:cNvSpPr/>
          <p:nvPr/>
        </p:nvSpPr>
        <p:spPr>
          <a:xfrm>
            <a:off x="777240" y="5806440"/>
            <a:ext cx="7040880" cy="13716"/>
          </a:xfrm>
          <a:prstGeom prst="rect">
            <a:avLst/>
          </a:prstGeom>
          <a:solidFill>
            <a:srgbClr val="A8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943600"/>
            <a:ext cx="7040880" cy="292608"/>
          </a:xfrm>
          <a:prstGeom prst="rect">
            <a:avLst/>
          </a:prstGeom>
          <a:noFill/>
        </p:spPr>
        <p:txBody>
          <a:bodyPr wrap="square" anchor="t">
            <a:spAutoFit/>
          </a:bodyPr>
          <a:lstStyle/>
          <a:p>
            <a:pPr algn="l">
              <a:lnSpc>
                <a:spcPct val="100000"/>
              </a:lnSpc>
            </a:pPr>
            <a:r>
              <a:rPr sz="1150" b="0" i="0">
                <a:solidFill>
                  <a:srgbClr val="A8A296"/>
                </a:solidFill>
                <a:latin typeface="Calibri"/>
              </a:rPr>
              <a:t>Marc Pierson and Claude Opus 5  ·  September 2026</a:t>
            </a:r>
          </a:p>
        </p:txBody>
      </p:sp>
      <p:sp>
        <p:nvSpPr>
          <p:cNvPr id="10" name="TextBox 9"/>
          <p:cNvSpPr txBox="1"/>
          <p:nvPr/>
        </p:nvSpPr>
        <p:spPr>
          <a:xfrm>
            <a:off x="777240" y="6355080"/>
            <a:ext cx="6400800" cy="274320"/>
          </a:xfrm>
          <a:prstGeom prst="rect">
            <a:avLst/>
          </a:prstGeom>
          <a:noFill/>
        </p:spPr>
        <p:txBody>
          <a:bodyPr wrap="square" anchor="t">
            <a:spAutoFit/>
          </a:bodyPr>
          <a:lstStyle/>
          <a:p>
            <a:pPr algn="l">
              <a:lnSpc>
                <a:spcPct val="100000"/>
              </a:lnSpc>
            </a:pPr>
            <a:r>
              <a:rPr sz="900" b="0" i="0">
                <a:solidFill>
                  <a:srgbClr val="A8A296"/>
                </a:solidFill>
                <a:latin typeface="Calibri"/>
              </a:rPr>
              <a:t>RCN method  ·  Kitchen Table Exercise</a:t>
            </a:r>
          </a:p>
        </p:txBody>
      </p:sp>
      <p:sp>
        <p:nvSpPr>
          <p:cNvPr id="11" name="TextBox 1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A8A296"/>
                </a:solidFill>
                <a:latin typeface="Calibri"/>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