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2194560"/>
            <a:ext cx="12188952" cy="2651760"/>
          </a:xfrm>
          <a:prstGeom prst="rect">
            <a:avLst/>
          </a:prstGeom>
          <a:solidFill>
            <a:srgbClr val="1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881360" cy="1005840"/>
          </a:xfrm>
          <a:prstGeom prst="rect">
            <a:avLst/>
          </a:prstGeom>
          <a:noFill/>
        </p:spPr>
        <p:txBody>
          <a:bodyPr wrap="square">
            <a:spAutoFit/>
          </a:bodyPr>
          <a:lstStyle/>
          <a:p>
            <a:pPr algn="ctr"/>
            <a:r>
              <a:rPr sz="4800" b="1" i="0">
                <a:solidFill>
                  <a:srgbClr val="FFFFFF"/>
                </a:solidFill>
              </a:rPr>
              <a:t>Problem-Knowledge Coupler</a:t>
            </a:r>
          </a:p>
        </p:txBody>
      </p:sp>
      <p:sp>
        <p:nvSpPr>
          <p:cNvPr id="4" name="TextBox 3"/>
          <p:cNvSpPr txBox="1"/>
          <p:nvPr/>
        </p:nvSpPr>
        <p:spPr>
          <a:xfrm>
            <a:off x="640080" y="3337560"/>
            <a:ext cx="10881360" cy="548640"/>
          </a:xfrm>
          <a:prstGeom prst="rect">
            <a:avLst/>
          </a:prstGeom>
          <a:noFill/>
        </p:spPr>
        <p:txBody>
          <a:bodyPr wrap="square">
            <a:spAutoFit/>
          </a:bodyPr>
          <a:lstStyle/>
          <a:p>
            <a:pPr algn="ctr"/>
            <a:r>
              <a:rPr sz="2000" b="0" i="0">
                <a:solidFill>
                  <a:srgbClr val="B0C8E8"/>
                </a:solidFill>
              </a:rPr>
              <a:t>Weed-standard problem-oriented records, assisted by AI</a:t>
            </a:r>
          </a:p>
        </p:txBody>
      </p:sp>
      <p:sp>
        <p:nvSpPr>
          <p:cNvPr id="5" name="TextBox 4"/>
          <p:cNvSpPr txBox="1"/>
          <p:nvPr/>
        </p:nvSpPr>
        <p:spPr>
          <a:xfrm>
            <a:off x="640080" y="6217920"/>
            <a:ext cx="10881360" cy="365760"/>
          </a:xfrm>
          <a:prstGeom prst="rect">
            <a:avLst/>
          </a:prstGeom>
          <a:noFill/>
        </p:spPr>
        <p:txBody>
          <a:bodyPr wrap="square">
            <a:spAutoFit/>
          </a:bodyPr>
          <a:lstStyle/>
          <a:p>
            <a:pPr algn="ctr"/>
            <a:r>
              <a:rPr sz="1200" b="0" i="0">
                <a:solidFill>
                  <a:srgbClr val="6A8FB0"/>
                </a:solidFill>
              </a:rPr>
              <a:t>RCN · Superior AZ · July 2026</a:t>
            </a:r>
          </a:p>
        </p:txBody>
      </p:sp>
      <p:sp>
        <p:nvSpPr>
          <p:cNvPr id="6" name="Rectangle 5"/>
          <p:cNvSpPr/>
          <p:nvPr/>
        </p:nvSpPr>
        <p:spPr>
          <a:xfrm>
            <a:off x="1097280" y="4206240"/>
            <a:ext cx="3200400" cy="502920"/>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4251960"/>
            <a:ext cx="3054096" cy="411480"/>
          </a:xfrm>
          <a:prstGeom prst="rect">
            <a:avLst/>
          </a:prstGeom>
          <a:noFill/>
        </p:spPr>
        <p:txBody>
          <a:bodyPr wrap="square">
            <a:spAutoFit/>
          </a:bodyPr>
          <a:lstStyle/>
          <a:p>
            <a:pPr algn="ctr"/>
            <a:r>
              <a:rPr sz="1200" b="0" i="0">
                <a:solidFill>
                  <a:srgbClr val="D0E4FF"/>
                </a:solidFill>
              </a:rPr>
              <a:t>Every gap in the record is visible</a:t>
            </a:r>
          </a:p>
        </p:txBody>
      </p:sp>
      <p:sp>
        <p:nvSpPr>
          <p:cNvPr id="8" name="Rectangle 7"/>
          <p:cNvSpPr/>
          <p:nvPr/>
        </p:nvSpPr>
        <p:spPr>
          <a:xfrm>
            <a:off x="4663440" y="4206240"/>
            <a:ext cx="3200400" cy="502920"/>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36592" y="4251960"/>
            <a:ext cx="3054096" cy="411480"/>
          </a:xfrm>
          <a:prstGeom prst="rect">
            <a:avLst/>
          </a:prstGeom>
          <a:noFill/>
        </p:spPr>
        <p:txBody>
          <a:bodyPr wrap="square">
            <a:spAutoFit/>
          </a:bodyPr>
          <a:lstStyle/>
          <a:p>
            <a:pPr algn="ctr"/>
            <a:r>
              <a:rPr sz="1200" b="0" i="0">
                <a:solidFill>
                  <a:srgbClr val="D0E4FF"/>
                </a:solidFill>
              </a:rPr>
              <a:t>Diagnoses are probabilities, never certainties</a:t>
            </a:r>
          </a:p>
        </p:txBody>
      </p:sp>
      <p:sp>
        <p:nvSpPr>
          <p:cNvPr id="10" name="Rectangle 9"/>
          <p:cNvSpPr/>
          <p:nvPr/>
        </p:nvSpPr>
        <p:spPr>
          <a:xfrm>
            <a:off x="8229600" y="4206240"/>
            <a:ext cx="3200400" cy="502920"/>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4251960"/>
            <a:ext cx="3054096" cy="411480"/>
          </a:xfrm>
          <a:prstGeom prst="rect">
            <a:avLst/>
          </a:prstGeom>
          <a:noFill/>
        </p:spPr>
        <p:txBody>
          <a:bodyPr wrap="square">
            <a:spAutoFit/>
          </a:bodyPr>
          <a:lstStyle/>
          <a:p>
            <a:pPr algn="ctr"/>
            <a:r>
              <a:rPr sz="1200" b="0" i="0">
                <a:solidFill>
                  <a:srgbClr val="D0E4FF"/>
                </a:solidFill>
              </a:rPr>
              <a:t>The record teaches whoever touches it</a:t>
            </a:r>
          </a:p>
        </p:txBody>
      </p:sp>
      <p:sp>
        <p:nvSpPr>
          <p:cNvPr id="12" name="TextBox 11"/>
          <p:cNvSpPr txBox="1"/>
          <p:nvPr/>
        </p:nvSpPr>
        <p:spPr>
          <a:xfrm>
            <a:off x="548640" y="6492240"/>
            <a:ext cx="10972800" cy="274320"/>
          </a:xfrm>
          <a:prstGeom prst="rect">
            <a:avLst/>
          </a:prstGeom>
          <a:noFill/>
        </p:spPr>
        <p:txBody>
          <a:bodyPr wrap="square">
            <a:spAutoFit/>
          </a:bodyPr>
          <a:lstStyle/>
          <a:p>
            <a:pPr algn="l"/>
            <a:r>
              <a:rPr sz="900" b="0" i="0">
                <a:solidFill>
                  <a:srgbClr val="6C757D"/>
                </a:solidFill>
              </a:rPr>
              <a:t>Problem-Knowledge Coupler · RCN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502920"/>
          </a:xfrm>
          <a:prstGeom prst="rect">
            <a:avLst/>
          </a:prstGeom>
          <a:noFill/>
        </p:spPr>
        <p:txBody>
          <a:bodyPr wrap="square">
            <a:spAutoFit/>
          </a:bodyPr>
          <a:lstStyle/>
          <a:p>
            <a:pPr algn="l"/>
            <a:r>
              <a:rPr sz="2800" b="1" i="0">
                <a:solidFill>
                  <a:srgbClr val="FFFFFF"/>
                </a:solidFill>
              </a:rPr>
              <a:t>The problem Lawrence Weed named in 1968</a:t>
            </a:r>
          </a:p>
        </p:txBody>
      </p:sp>
      <p:sp>
        <p:nvSpPr>
          <p:cNvPr id="4" name="TextBox 3"/>
          <p:cNvSpPr txBox="1"/>
          <p:nvPr/>
        </p:nvSpPr>
        <p:spPr>
          <a:xfrm>
            <a:off x="548640" y="594360"/>
            <a:ext cx="10058400" cy="365760"/>
          </a:xfrm>
          <a:prstGeom prst="rect">
            <a:avLst/>
          </a:prstGeom>
          <a:noFill/>
        </p:spPr>
        <p:txBody>
          <a:bodyPr wrap="square">
            <a:spAutoFit/>
          </a:bodyPr>
          <a:lstStyle/>
          <a:p>
            <a:pPr algn="l"/>
            <a:r>
              <a:rPr sz="1400" b="0" i="0">
                <a:solidFill>
                  <a:srgbClr val="B0C8E8"/>
                </a:solidFill>
              </a:rPr>
              <a:t>Still unsolved in most EHRs today</a:t>
            </a:r>
          </a:p>
        </p:txBody>
      </p:sp>
      <p:sp>
        <p:nvSpPr>
          <p:cNvPr id="5" name="TextBox 4"/>
          <p:cNvSpPr txBox="1"/>
          <p:nvPr/>
        </p:nvSpPr>
        <p:spPr>
          <a:xfrm>
            <a:off x="640080" y="1234440"/>
            <a:ext cx="10881360" cy="1097280"/>
          </a:xfrm>
          <a:prstGeom prst="rect">
            <a:avLst/>
          </a:prstGeom>
          <a:noFill/>
        </p:spPr>
        <p:txBody>
          <a:bodyPr wrap="square">
            <a:spAutoFit/>
          </a:bodyPr>
          <a:lstStyle/>
          <a:p>
            <a:pPr algn="ctr"/>
            <a:r>
              <a:rPr sz="1700" b="0" i="1">
                <a:solidFill>
                  <a:srgbClr val="1E3A5F"/>
                </a:solidFill>
              </a:rPr>
              <a:t>"The medical record, as kept in most hospitals today, is a shambles. It does not teach the physician what a complete workup looks like. Missing data is invisible."</a:t>
            </a:r>
          </a:p>
        </p:txBody>
      </p:sp>
      <p:sp>
        <p:nvSpPr>
          <p:cNvPr id="6" name="TextBox 5"/>
          <p:cNvSpPr txBox="1"/>
          <p:nvPr/>
        </p:nvSpPr>
        <p:spPr>
          <a:xfrm>
            <a:off x="640080" y="2331720"/>
            <a:ext cx="10881360" cy="365760"/>
          </a:xfrm>
          <a:prstGeom prst="rect">
            <a:avLst/>
          </a:prstGeom>
          <a:noFill/>
        </p:spPr>
        <p:txBody>
          <a:bodyPr wrap="square">
            <a:spAutoFit/>
          </a:bodyPr>
          <a:lstStyle/>
          <a:p>
            <a:pPr algn="ctr"/>
            <a:r>
              <a:rPr sz="1200" b="0" i="0">
                <a:solidFill>
                  <a:srgbClr val="6C757D"/>
                </a:solidFill>
              </a:rPr>
              <a:t>— Lawrence Weed, MD</a:t>
            </a:r>
          </a:p>
        </p:txBody>
      </p:sp>
      <p:sp>
        <p:nvSpPr>
          <p:cNvPr id="7" name="Rectangle 6"/>
          <p:cNvSpPr/>
          <p:nvPr/>
        </p:nvSpPr>
        <p:spPr>
          <a:xfrm>
            <a:off x="548640" y="2834640"/>
            <a:ext cx="11091672" cy="19050"/>
          </a:xfrm>
          <a:prstGeom prst="rect">
            <a:avLst/>
          </a:prstGeom>
          <a:solidFill>
            <a:srgbClr val="DE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26080"/>
            <a:ext cx="5303520" cy="365760"/>
          </a:xfrm>
          <a:prstGeom prst="rect">
            <a:avLst/>
          </a:prstGeom>
          <a:noFill/>
        </p:spPr>
        <p:txBody>
          <a:bodyPr wrap="square">
            <a:spAutoFit/>
          </a:bodyPr>
          <a:lstStyle/>
          <a:p>
            <a:pPr algn="l"/>
            <a:r>
              <a:rPr sz="1400" b="1" i="0">
                <a:solidFill>
                  <a:srgbClr val="1E3A5F"/>
                </a:solidFill>
              </a:rPr>
              <a:t>What conventional records do</a:t>
            </a:r>
          </a:p>
        </p:txBody>
      </p:sp>
      <p:sp>
        <p:nvSpPr>
          <p:cNvPr id="9" name="TextBox 8"/>
          <p:cNvSpPr txBox="1"/>
          <p:nvPr/>
        </p:nvSpPr>
        <p:spPr>
          <a:xfrm>
            <a:off x="640080" y="3337560"/>
            <a:ext cx="5303520" cy="3657600"/>
          </a:xfrm>
          <a:prstGeom prst="rect">
            <a:avLst/>
          </a:prstGeom>
          <a:noFill/>
        </p:spPr>
        <p:txBody>
          <a:bodyPr wrap="square">
            <a:spAutoFit/>
          </a:bodyPr>
          <a:lstStyle/>
          <a:p>
            <a:pPr>
              <a:spcBef>
                <a:spcPts val="400"/>
              </a:spcBef>
            </a:pPr>
            <a:r>
              <a:rPr sz="1300">
                <a:solidFill>
                  <a:srgbClr val="1A1A2E"/>
                </a:solidFill>
              </a:rPr>
              <a:t>  Record what was gathered</a:t>
            </a:r>
          </a:p>
          <a:p>
            <a:pPr>
              <a:spcBef>
                <a:spcPts val="400"/>
              </a:spcBef>
            </a:pPr>
            <a:r>
              <a:rPr sz="1300">
                <a:solidFill>
                  <a:srgbClr val="1A1A2E"/>
                </a:solidFill>
              </a:rPr>
              <a:t>  Leave gaps invisible</a:t>
            </a:r>
          </a:p>
          <a:p>
            <a:pPr>
              <a:spcBef>
                <a:spcPts val="400"/>
              </a:spcBef>
            </a:pPr>
            <a:r>
              <a:rPr sz="1300">
                <a:solidFill>
                  <a:srgbClr val="1A1A2E"/>
                </a:solidFill>
              </a:rPr>
              <a:t>  Require physician to recall the full differential</a:t>
            </a:r>
          </a:p>
          <a:p>
            <a:pPr>
              <a:spcBef>
                <a:spcPts val="400"/>
              </a:spcBef>
            </a:pPr>
            <a:r>
              <a:rPr sz="1300">
                <a:solidFill>
                  <a:srgbClr val="1A1A2E"/>
                </a:solidFill>
              </a:rPr>
              <a:t>  Present one diagnosis as the conclusion</a:t>
            </a:r>
          </a:p>
          <a:p>
            <a:pPr>
              <a:spcBef>
                <a:spcPts val="400"/>
              </a:spcBef>
            </a:pPr>
            <a:r>
              <a:rPr sz="1300">
                <a:solidFill>
                  <a:srgbClr val="1A1A2E"/>
                </a:solidFill>
              </a:rPr>
              <a:t>  Lose the reasoning that led to it</a:t>
            </a:r>
          </a:p>
        </p:txBody>
      </p:sp>
      <p:sp>
        <p:nvSpPr>
          <p:cNvPr id="10" name="TextBox 9"/>
          <p:cNvSpPr txBox="1"/>
          <p:nvPr/>
        </p:nvSpPr>
        <p:spPr>
          <a:xfrm>
            <a:off x="6492240" y="2926080"/>
            <a:ext cx="5303520" cy="365760"/>
          </a:xfrm>
          <a:prstGeom prst="rect">
            <a:avLst/>
          </a:prstGeom>
          <a:noFill/>
        </p:spPr>
        <p:txBody>
          <a:bodyPr wrap="square">
            <a:spAutoFit/>
          </a:bodyPr>
          <a:lstStyle/>
          <a:p>
            <a:pPr algn="l"/>
            <a:r>
              <a:rPr sz="1400" b="1" i="0">
                <a:solidFill>
                  <a:srgbClr val="1E3A5F"/>
                </a:solidFill>
              </a:rPr>
              <a:t>What Weed's couplers do</a:t>
            </a:r>
          </a:p>
        </p:txBody>
      </p:sp>
      <p:sp>
        <p:nvSpPr>
          <p:cNvPr id="11" name="TextBox 10"/>
          <p:cNvSpPr txBox="1"/>
          <p:nvPr/>
        </p:nvSpPr>
        <p:spPr>
          <a:xfrm>
            <a:off x="6492240" y="3337560"/>
            <a:ext cx="5303520" cy="3657600"/>
          </a:xfrm>
          <a:prstGeom prst="rect">
            <a:avLst/>
          </a:prstGeom>
          <a:noFill/>
        </p:spPr>
        <p:txBody>
          <a:bodyPr wrap="square">
            <a:spAutoFit/>
          </a:bodyPr>
          <a:lstStyle/>
          <a:p>
            <a:pPr>
              <a:spcBef>
                <a:spcPts val="400"/>
              </a:spcBef>
            </a:pPr>
            <a:r>
              <a:rPr sz="1300">
                <a:solidFill>
                  <a:srgbClr val="1A1A2E"/>
                </a:solidFill>
              </a:rPr>
              <a:t>  Display every finding worth gathering</a:t>
            </a:r>
          </a:p>
          <a:p>
            <a:pPr>
              <a:spcBef>
                <a:spcPts val="400"/>
              </a:spcBef>
            </a:pPr>
            <a:r>
              <a:rPr sz="1300">
                <a:solidFill>
                  <a:srgbClr val="1A1A2E"/>
                </a:solidFill>
              </a:rPr>
              <a:t>  Mark gaps as first-class visible elements</a:t>
            </a:r>
          </a:p>
          <a:p>
            <a:pPr>
              <a:spcBef>
                <a:spcPts val="400"/>
              </a:spcBef>
            </a:pPr>
            <a:r>
              <a:rPr sz="1300">
                <a:solidFill>
                  <a:srgbClr val="1A1A2E"/>
                </a:solidFill>
              </a:rPr>
              <a:t>  Show all candidate explanations with evidence</a:t>
            </a:r>
          </a:p>
          <a:p>
            <a:pPr>
              <a:spcBef>
                <a:spcPts val="400"/>
              </a:spcBef>
            </a:pPr>
            <a:r>
              <a:rPr sz="1300">
                <a:solidFill>
                  <a:srgbClr val="1A1A2E"/>
                </a:solidFill>
              </a:rPr>
              <a:t>  State probabilities — never conclusions</a:t>
            </a:r>
          </a:p>
          <a:p>
            <a:pPr>
              <a:spcBef>
                <a:spcPts val="400"/>
              </a:spcBef>
            </a:pPr>
            <a:r>
              <a:rPr sz="1300">
                <a:solidFill>
                  <a:srgbClr val="1A1A2E"/>
                </a:solidFill>
              </a:rPr>
              <a:t>  Version the reasoning as evidence accrues</a:t>
            </a:r>
          </a:p>
        </p:txBody>
      </p:sp>
      <p:sp>
        <p:nvSpPr>
          <p:cNvPr id="12" name="TextBox 11"/>
          <p:cNvSpPr txBox="1"/>
          <p:nvPr/>
        </p:nvSpPr>
        <p:spPr>
          <a:xfrm>
            <a:off x="548640" y="6492240"/>
            <a:ext cx="10972800" cy="274320"/>
          </a:xfrm>
          <a:prstGeom prst="rect">
            <a:avLst/>
          </a:prstGeom>
          <a:noFill/>
        </p:spPr>
        <p:txBody>
          <a:bodyPr wrap="square">
            <a:spAutoFit/>
          </a:bodyPr>
          <a:lstStyle/>
          <a:p>
            <a:pPr algn="l"/>
            <a:r>
              <a:rPr sz="900" b="0" i="0">
                <a:solidFill>
                  <a:srgbClr val="6C757D"/>
                </a:solidFill>
              </a:rPr>
              <a:t>Problem-Knowledge Coupler · RCN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502920"/>
          </a:xfrm>
          <a:prstGeom prst="rect">
            <a:avLst/>
          </a:prstGeom>
          <a:noFill/>
        </p:spPr>
        <p:txBody>
          <a:bodyPr wrap="square">
            <a:spAutoFit/>
          </a:bodyPr>
          <a:lstStyle/>
          <a:p>
            <a:pPr algn="l"/>
            <a:r>
              <a:rPr sz="2800" b="1" i="0">
                <a:solidFill>
                  <a:srgbClr val="FFFFFF"/>
                </a:solidFill>
              </a:rPr>
              <a:t>What the coupler does</a:t>
            </a:r>
          </a:p>
        </p:txBody>
      </p:sp>
      <p:sp>
        <p:nvSpPr>
          <p:cNvPr id="4" name="TextBox 3"/>
          <p:cNvSpPr txBox="1"/>
          <p:nvPr/>
        </p:nvSpPr>
        <p:spPr>
          <a:xfrm>
            <a:off x="548640" y="594360"/>
            <a:ext cx="10058400" cy="365760"/>
          </a:xfrm>
          <a:prstGeom prst="rect">
            <a:avLst/>
          </a:prstGeom>
          <a:noFill/>
        </p:spPr>
        <p:txBody>
          <a:bodyPr wrap="square">
            <a:spAutoFit/>
          </a:bodyPr>
          <a:lstStyle/>
          <a:p>
            <a:pPr algn="l"/>
            <a:r>
              <a:rPr sz="1400" b="0" i="0">
                <a:solidFill>
                  <a:srgbClr val="B0C8E8"/>
                </a:solidFill>
              </a:rPr>
              <a:t>Four things, in order</a:t>
            </a:r>
          </a:p>
        </p:txBody>
      </p:sp>
      <p:sp>
        <p:nvSpPr>
          <p:cNvPr id="5" name="Rectangle 4"/>
          <p:cNvSpPr/>
          <p:nvPr/>
        </p:nvSpPr>
        <p:spPr>
          <a:xfrm>
            <a:off x="502920" y="1234440"/>
            <a:ext cx="457200" cy="45720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71016"/>
            <a:ext cx="457200" cy="411480"/>
          </a:xfrm>
          <a:prstGeom prst="rect">
            <a:avLst/>
          </a:prstGeom>
          <a:noFill/>
        </p:spPr>
        <p:txBody>
          <a:bodyPr wrap="square">
            <a:spAutoFit/>
          </a:bodyPr>
          <a:lstStyle/>
          <a:p>
            <a:pPr algn="ctr"/>
            <a:r>
              <a:rPr sz="2200" b="1" i="0">
                <a:solidFill>
                  <a:srgbClr val="FFFFFF"/>
                </a:solidFill>
              </a:rPr>
              <a:t>1</a:t>
            </a:r>
          </a:p>
        </p:txBody>
      </p:sp>
      <p:sp>
        <p:nvSpPr>
          <p:cNvPr id="7" name="TextBox 6"/>
          <p:cNvSpPr txBox="1"/>
          <p:nvPr/>
        </p:nvSpPr>
        <p:spPr>
          <a:xfrm>
            <a:off x="1097280" y="1234440"/>
            <a:ext cx="3657600" cy="365760"/>
          </a:xfrm>
          <a:prstGeom prst="rect">
            <a:avLst/>
          </a:prstGeom>
          <a:noFill/>
        </p:spPr>
        <p:txBody>
          <a:bodyPr wrap="square">
            <a:spAutoFit/>
          </a:bodyPr>
          <a:lstStyle/>
          <a:p>
            <a:pPr algn="l"/>
            <a:r>
              <a:rPr sz="1400" b="1" i="0">
                <a:solidFill>
                  <a:srgbClr val="1E3A5F"/>
                </a:solidFill>
              </a:rPr>
              <a:t>Generate the frame</a:t>
            </a:r>
          </a:p>
        </p:txBody>
      </p:sp>
      <p:sp>
        <p:nvSpPr>
          <p:cNvPr id="8" name="TextBox 7"/>
          <p:cNvSpPr txBox="1"/>
          <p:nvPr/>
        </p:nvSpPr>
        <p:spPr>
          <a:xfrm>
            <a:off x="1097280" y="1581912"/>
            <a:ext cx="10424160" cy="749808"/>
          </a:xfrm>
          <a:prstGeom prst="rect">
            <a:avLst/>
          </a:prstGeom>
          <a:noFill/>
        </p:spPr>
        <p:txBody>
          <a:bodyPr wrap="square">
            <a:spAutoFit/>
          </a:bodyPr>
          <a:lstStyle/>
          <a:p>
            <a:pPr algn="l"/>
            <a:r>
              <a:rPr sz="1200" b="0" i="0">
                <a:solidFill>
                  <a:srgbClr val="1A1A2E"/>
                </a:solidFill>
              </a:rPr>
              <a:t>AI builds the full set of findings for the stated problem — Subjective questions, Objective measurements, candidate Assessments, Plan options. Exhaustive, not selective.</a:t>
            </a:r>
          </a:p>
        </p:txBody>
      </p:sp>
      <p:sp>
        <p:nvSpPr>
          <p:cNvPr id="9" name="Rectangle 8"/>
          <p:cNvSpPr/>
          <p:nvPr/>
        </p:nvSpPr>
        <p:spPr>
          <a:xfrm>
            <a:off x="502920" y="2532888"/>
            <a:ext cx="457200" cy="457200"/>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569464"/>
            <a:ext cx="457200" cy="411480"/>
          </a:xfrm>
          <a:prstGeom prst="rect">
            <a:avLst/>
          </a:prstGeom>
          <a:noFill/>
        </p:spPr>
        <p:txBody>
          <a:bodyPr wrap="square">
            <a:spAutoFit/>
          </a:bodyPr>
          <a:lstStyle/>
          <a:p>
            <a:pPr algn="ctr"/>
            <a:r>
              <a:rPr sz="2200" b="1" i="0">
                <a:solidFill>
                  <a:srgbClr val="FFFFFF"/>
                </a:solidFill>
              </a:rPr>
              <a:t>2</a:t>
            </a:r>
          </a:p>
        </p:txBody>
      </p:sp>
      <p:sp>
        <p:nvSpPr>
          <p:cNvPr id="11" name="TextBox 10"/>
          <p:cNvSpPr txBox="1"/>
          <p:nvPr/>
        </p:nvSpPr>
        <p:spPr>
          <a:xfrm>
            <a:off x="1097280" y="2532888"/>
            <a:ext cx="3657600" cy="365760"/>
          </a:xfrm>
          <a:prstGeom prst="rect">
            <a:avLst/>
          </a:prstGeom>
          <a:noFill/>
        </p:spPr>
        <p:txBody>
          <a:bodyPr wrap="square">
            <a:spAutoFit/>
          </a:bodyPr>
          <a:lstStyle/>
          <a:p>
            <a:pPr algn="l"/>
            <a:r>
              <a:rPr sz="1400" b="1" i="0">
                <a:solidFill>
                  <a:srgbClr val="1E3A5F"/>
                </a:solidFill>
              </a:rPr>
              <a:t>Match the record</a:t>
            </a:r>
          </a:p>
        </p:txBody>
      </p:sp>
      <p:sp>
        <p:nvSpPr>
          <p:cNvPr id="12" name="TextBox 11"/>
          <p:cNvSpPr txBox="1"/>
          <p:nvPr/>
        </p:nvSpPr>
        <p:spPr>
          <a:xfrm>
            <a:off x="1097280" y="2880360"/>
            <a:ext cx="10424160" cy="749808"/>
          </a:xfrm>
          <a:prstGeom prst="rect">
            <a:avLst/>
          </a:prstGeom>
          <a:noFill/>
        </p:spPr>
        <p:txBody>
          <a:bodyPr wrap="square">
            <a:spAutoFit/>
          </a:bodyPr>
          <a:lstStyle/>
          <a:p>
            <a:pPr algn="l"/>
            <a:r>
              <a:rPr sz="1200" b="0" i="0">
                <a:solidFill>
                  <a:srgbClr val="1A1A2E"/>
                </a:solidFill>
              </a:rPr>
              <a:t>Existing data is mapped onto frame slots. Every slot is marked filled, partial, or absent. Nothing is hidden. Partial is shown with what is still missing.</a:t>
            </a:r>
          </a:p>
        </p:txBody>
      </p:sp>
      <p:sp>
        <p:nvSpPr>
          <p:cNvPr id="13" name="Rectangle 12"/>
          <p:cNvSpPr/>
          <p:nvPr/>
        </p:nvSpPr>
        <p:spPr>
          <a:xfrm>
            <a:off x="502920" y="3831336"/>
            <a:ext cx="457200" cy="4572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867912"/>
            <a:ext cx="457200" cy="411480"/>
          </a:xfrm>
          <a:prstGeom prst="rect">
            <a:avLst/>
          </a:prstGeom>
          <a:noFill/>
        </p:spPr>
        <p:txBody>
          <a:bodyPr wrap="square">
            <a:spAutoFit/>
          </a:bodyPr>
          <a:lstStyle/>
          <a:p>
            <a:pPr algn="ctr"/>
            <a:r>
              <a:rPr sz="2200" b="1" i="0">
                <a:solidFill>
                  <a:srgbClr val="FFFFFF"/>
                </a:solidFill>
              </a:rPr>
              <a:t>3</a:t>
            </a:r>
          </a:p>
        </p:txBody>
      </p:sp>
      <p:sp>
        <p:nvSpPr>
          <p:cNvPr id="15" name="TextBox 14"/>
          <p:cNvSpPr txBox="1"/>
          <p:nvPr/>
        </p:nvSpPr>
        <p:spPr>
          <a:xfrm>
            <a:off x="1097280" y="3831336"/>
            <a:ext cx="3657600" cy="365760"/>
          </a:xfrm>
          <a:prstGeom prst="rect">
            <a:avLst/>
          </a:prstGeom>
          <a:noFill/>
        </p:spPr>
        <p:txBody>
          <a:bodyPr wrap="square">
            <a:spAutoFit/>
          </a:bodyPr>
          <a:lstStyle/>
          <a:p>
            <a:pPr algn="l"/>
            <a:r>
              <a:rPr sz="1400" b="1" i="0">
                <a:solidFill>
                  <a:srgbClr val="1E3A5F"/>
                </a:solidFill>
              </a:rPr>
              <a:t>Display with completeness</a:t>
            </a:r>
          </a:p>
        </p:txBody>
      </p:sp>
      <p:sp>
        <p:nvSpPr>
          <p:cNvPr id="16" name="TextBox 15"/>
          <p:cNvSpPr txBox="1"/>
          <p:nvPr/>
        </p:nvSpPr>
        <p:spPr>
          <a:xfrm>
            <a:off x="1097280" y="4178808"/>
            <a:ext cx="10424160" cy="749808"/>
          </a:xfrm>
          <a:prstGeom prst="rect">
            <a:avLst/>
          </a:prstGeom>
          <a:noFill/>
        </p:spPr>
        <p:txBody>
          <a:bodyPr wrap="square">
            <a:spAutoFit/>
          </a:bodyPr>
          <a:lstStyle/>
          <a:p>
            <a:pPr algn="l"/>
            <a:r>
              <a:rPr sz="1200" b="0" i="0">
                <a:solidFill>
                  <a:srgbClr val="1A1A2E"/>
                </a:solidFill>
              </a:rPr>
              <a:t>Candidates are listed with probability estimates, severity classes, and an attention code computed from a fixed matrix. Low-probability but high-consequence candidates stay visible.</a:t>
            </a:r>
          </a:p>
        </p:txBody>
      </p:sp>
      <p:sp>
        <p:nvSpPr>
          <p:cNvPr id="17" name="Rectangle 16"/>
          <p:cNvSpPr/>
          <p:nvPr/>
        </p:nvSpPr>
        <p:spPr>
          <a:xfrm>
            <a:off x="502920" y="5129784"/>
            <a:ext cx="457200" cy="45720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166360"/>
            <a:ext cx="457200" cy="411480"/>
          </a:xfrm>
          <a:prstGeom prst="rect">
            <a:avLst/>
          </a:prstGeom>
          <a:noFill/>
        </p:spPr>
        <p:txBody>
          <a:bodyPr wrap="square">
            <a:spAutoFit/>
          </a:bodyPr>
          <a:lstStyle/>
          <a:p>
            <a:pPr algn="ctr"/>
            <a:r>
              <a:rPr sz="2200" b="1" i="0">
                <a:solidFill>
                  <a:srgbClr val="FFFFFF"/>
                </a:solidFill>
              </a:rPr>
              <a:t>4</a:t>
            </a:r>
          </a:p>
        </p:txBody>
      </p:sp>
      <p:sp>
        <p:nvSpPr>
          <p:cNvPr id="19" name="TextBox 18"/>
          <p:cNvSpPr txBox="1"/>
          <p:nvPr/>
        </p:nvSpPr>
        <p:spPr>
          <a:xfrm>
            <a:off x="1097280" y="5129784"/>
            <a:ext cx="3657600" cy="365760"/>
          </a:xfrm>
          <a:prstGeom prst="rect">
            <a:avLst/>
          </a:prstGeom>
          <a:noFill/>
        </p:spPr>
        <p:txBody>
          <a:bodyPr wrap="square">
            <a:spAutoFit/>
          </a:bodyPr>
          <a:lstStyle/>
          <a:p>
            <a:pPr algn="l"/>
            <a:r>
              <a:rPr sz="1400" b="1" i="0">
                <a:solidFill>
                  <a:srgbClr val="1E3A5F"/>
                </a:solidFill>
              </a:rPr>
              <a:t>Re-match as data arrives</a:t>
            </a:r>
          </a:p>
        </p:txBody>
      </p:sp>
      <p:sp>
        <p:nvSpPr>
          <p:cNvPr id="20" name="TextBox 19"/>
          <p:cNvSpPr txBox="1"/>
          <p:nvPr/>
        </p:nvSpPr>
        <p:spPr>
          <a:xfrm>
            <a:off x="1097280" y="5477256"/>
            <a:ext cx="10424160" cy="749808"/>
          </a:xfrm>
          <a:prstGeom prst="rect">
            <a:avLst/>
          </a:prstGeom>
          <a:noFill/>
        </p:spPr>
        <p:txBody>
          <a:bodyPr wrap="square">
            <a:spAutoFit/>
          </a:bodyPr>
          <a:lstStyle/>
          <a:p>
            <a:pPr algn="l"/>
            <a:r>
              <a:rPr sz="1200" b="0" i="0">
                <a:solidFill>
                  <a:srgbClr val="1A1A2E"/>
                </a:solidFill>
              </a:rPr>
              <a:t>As findings are added, the AI re-estimates probabilities and appends to the history. The picture sharpens. Old estimates are never overwritten.</a:t>
            </a:r>
          </a:p>
        </p:txBody>
      </p:sp>
      <p:sp>
        <p:nvSpPr>
          <p:cNvPr id="21" name="TextBox 20"/>
          <p:cNvSpPr txBox="1"/>
          <p:nvPr/>
        </p:nvSpPr>
        <p:spPr>
          <a:xfrm>
            <a:off x="548640" y="6492240"/>
            <a:ext cx="10972800" cy="274320"/>
          </a:xfrm>
          <a:prstGeom prst="rect">
            <a:avLst/>
          </a:prstGeom>
          <a:noFill/>
        </p:spPr>
        <p:txBody>
          <a:bodyPr wrap="square">
            <a:spAutoFit/>
          </a:bodyPr>
          <a:lstStyle/>
          <a:p>
            <a:pPr algn="l"/>
            <a:r>
              <a:rPr sz="900" b="0" i="0">
                <a:solidFill>
                  <a:srgbClr val="6C757D"/>
                </a:solidFill>
              </a:rPr>
              <a:t>Problem-Knowledge Coupler · RCN ·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502920"/>
          </a:xfrm>
          <a:prstGeom prst="rect">
            <a:avLst/>
          </a:prstGeom>
          <a:noFill/>
        </p:spPr>
        <p:txBody>
          <a:bodyPr wrap="square">
            <a:spAutoFit/>
          </a:bodyPr>
          <a:lstStyle/>
          <a:p>
            <a:pPr algn="l"/>
            <a:r>
              <a:rPr sz="2800" b="1" i="0">
                <a:solidFill>
                  <a:srgbClr val="FFFFFF"/>
                </a:solidFill>
              </a:rPr>
              <a:t>The SOAP view — gaps are first-class</a:t>
            </a:r>
          </a:p>
        </p:txBody>
      </p:sp>
      <p:sp>
        <p:nvSpPr>
          <p:cNvPr id="4" name="TextBox 3"/>
          <p:cNvSpPr txBox="1"/>
          <p:nvPr/>
        </p:nvSpPr>
        <p:spPr>
          <a:xfrm>
            <a:off x="548640" y="594360"/>
            <a:ext cx="10058400" cy="365760"/>
          </a:xfrm>
          <a:prstGeom prst="rect">
            <a:avLst/>
          </a:prstGeom>
          <a:noFill/>
        </p:spPr>
        <p:txBody>
          <a:bodyPr wrap="square">
            <a:spAutoFit/>
          </a:bodyPr>
          <a:lstStyle/>
          <a:p>
            <a:pPr algn="l"/>
            <a:r>
              <a:rPr sz="1400" b="0" i="0">
                <a:solidFill>
                  <a:srgbClr val="B0C8E8"/>
                </a:solidFill>
              </a:rPr>
              <a:t>Example: Fatigue, subacute, etiology undetermined</a:t>
            </a:r>
          </a:p>
        </p:txBody>
      </p:sp>
      <p:sp>
        <p:nvSpPr>
          <p:cNvPr id="5" name="Rectangle 4"/>
          <p:cNvSpPr/>
          <p:nvPr/>
        </p:nvSpPr>
        <p:spPr>
          <a:xfrm>
            <a:off x="640080" y="1188720"/>
            <a:ext cx="164592" cy="16459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152144"/>
            <a:ext cx="1097280" cy="256032"/>
          </a:xfrm>
          <a:prstGeom prst="rect">
            <a:avLst/>
          </a:prstGeom>
          <a:noFill/>
        </p:spPr>
        <p:txBody>
          <a:bodyPr wrap="square">
            <a:spAutoFit/>
          </a:bodyPr>
          <a:lstStyle/>
          <a:p>
            <a:pPr algn="l"/>
            <a:r>
              <a:rPr sz="1100" b="1" i="0">
                <a:solidFill>
                  <a:srgbClr val="198754"/>
                </a:solidFill>
              </a:rPr>
              <a:t>FILLED</a:t>
            </a:r>
          </a:p>
        </p:txBody>
      </p:sp>
      <p:sp>
        <p:nvSpPr>
          <p:cNvPr id="7" name="TextBox 6"/>
          <p:cNvSpPr txBox="1"/>
          <p:nvPr/>
        </p:nvSpPr>
        <p:spPr>
          <a:xfrm>
            <a:off x="868680" y="1371600"/>
            <a:ext cx="2286000" cy="256032"/>
          </a:xfrm>
          <a:prstGeom prst="rect">
            <a:avLst/>
          </a:prstGeom>
          <a:noFill/>
        </p:spPr>
        <p:txBody>
          <a:bodyPr wrap="square">
            <a:spAutoFit/>
          </a:bodyPr>
          <a:lstStyle/>
          <a:p>
            <a:pPr algn="l"/>
            <a:r>
              <a:rPr sz="1000" b="0" i="0">
                <a:solidFill>
                  <a:srgbClr val="6C757D"/>
                </a:solidFill>
              </a:rPr>
              <a:t>Value recorded + provenance</a:t>
            </a:r>
          </a:p>
        </p:txBody>
      </p:sp>
      <p:sp>
        <p:nvSpPr>
          <p:cNvPr id="8" name="Rectangle 7"/>
          <p:cNvSpPr/>
          <p:nvPr/>
        </p:nvSpPr>
        <p:spPr>
          <a:xfrm>
            <a:off x="3291840" y="1188720"/>
            <a:ext cx="164592" cy="164592"/>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152144"/>
            <a:ext cx="1097280" cy="256032"/>
          </a:xfrm>
          <a:prstGeom prst="rect">
            <a:avLst/>
          </a:prstGeom>
          <a:noFill/>
        </p:spPr>
        <p:txBody>
          <a:bodyPr wrap="square">
            <a:spAutoFit/>
          </a:bodyPr>
          <a:lstStyle/>
          <a:p>
            <a:pPr algn="l"/>
            <a:r>
              <a:rPr sz="1100" b="1" i="0">
                <a:solidFill>
                  <a:srgbClr val="FD7E14"/>
                </a:solidFill>
              </a:rPr>
              <a:t>PARTIAL</a:t>
            </a:r>
          </a:p>
        </p:txBody>
      </p:sp>
      <p:sp>
        <p:nvSpPr>
          <p:cNvPr id="10" name="TextBox 9"/>
          <p:cNvSpPr txBox="1"/>
          <p:nvPr/>
        </p:nvSpPr>
        <p:spPr>
          <a:xfrm>
            <a:off x="3520440" y="1371600"/>
            <a:ext cx="2286000" cy="256032"/>
          </a:xfrm>
          <a:prstGeom prst="rect">
            <a:avLst/>
          </a:prstGeom>
          <a:noFill/>
        </p:spPr>
        <p:txBody>
          <a:bodyPr wrap="square">
            <a:spAutoFit/>
          </a:bodyPr>
          <a:lstStyle/>
          <a:p>
            <a:pPr algn="l"/>
            <a:r>
              <a:rPr sz="1000" b="0" i="0">
                <a:solidFill>
                  <a:srgbClr val="6C757D"/>
                </a:solidFill>
              </a:rPr>
              <a:t>Something present, something missing</a:t>
            </a:r>
          </a:p>
        </p:txBody>
      </p:sp>
      <p:sp>
        <p:nvSpPr>
          <p:cNvPr id="11" name="Rectangle 10"/>
          <p:cNvSpPr/>
          <p:nvPr/>
        </p:nvSpPr>
        <p:spPr>
          <a:xfrm>
            <a:off x="5943600" y="1188720"/>
            <a:ext cx="164592" cy="164592"/>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152144"/>
            <a:ext cx="1097280" cy="256032"/>
          </a:xfrm>
          <a:prstGeom prst="rect">
            <a:avLst/>
          </a:prstGeom>
          <a:noFill/>
        </p:spPr>
        <p:txBody>
          <a:bodyPr wrap="square">
            <a:spAutoFit/>
          </a:bodyPr>
          <a:lstStyle/>
          <a:p>
            <a:pPr algn="l"/>
            <a:r>
              <a:rPr sz="1100" b="1" i="0">
                <a:solidFill>
                  <a:srgbClr val="6C757D"/>
                </a:solidFill>
              </a:rPr>
              <a:t>ABSENT</a:t>
            </a:r>
          </a:p>
        </p:txBody>
      </p:sp>
      <p:sp>
        <p:nvSpPr>
          <p:cNvPr id="13" name="TextBox 12"/>
          <p:cNvSpPr txBox="1"/>
          <p:nvPr/>
        </p:nvSpPr>
        <p:spPr>
          <a:xfrm>
            <a:off x="6172200" y="1371600"/>
            <a:ext cx="2286000" cy="256032"/>
          </a:xfrm>
          <a:prstGeom prst="rect">
            <a:avLst/>
          </a:prstGeom>
          <a:noFill/>
        </p:spPr>
        <p:txBody>
          <a:bodyPr wrap="square">
            <a:spAutoFit/>
          </a:bodyPr>
          <a:lstStyle/>
          <a:p>
            <a:pPr algn="l"/>
            <a:r>
              <a:rPr sz="1000" b="0" i="0">
                <a:solidFill>
                  <a:srgbClr val="6C757D"/>
                </a:solidFill>
              </a:rPr>
              <a:t>"Not yet gathered" — the question itself</a:t>
            </a:r>
          </a:p>
        </p:txBody>
      </p:sp>
      <p:sp>
        <p:nvSpPr>
          <p:cNvPr id="14" name="Rectangle 13"/>
          <p:cNvSpPr/>
          <p:nvPr/>
        </p:nvSpPr>
        <p:spPr>
          <a:xfrm>
            <a:off x="548640" y="1737360"/>
            <a:ext cx="11091672" cy="19050"/>
          </a:xfrm>
          <a:prstGeom prst="rect">
            <a:avLst/>
          </a:prstGeom>
          <a:solidFill>
            <a:srgbClr val="DE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874519"/>
            <a:ext cx="11183112"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1874519"/>
            <a:ext cx="64008" cy="749808"/>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2167127"/>
            <a:ext cx="128016" cy="128016"/>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1929383"/>
            <a:ext cx="3657600" cy="292608"/>
          </a:xfrm>
          <a:prstGeom prst="rect">
            <a:avLst/>
          </a:prstGeom>
          <a:noFill/>
        </p:spPr>
        <p:txBody>
          <a:bodyPr wrap="square">
            <a:spAutoFit/>
          </a:bodyPr>
          <a:lstStyle/>
          <a:p>
            <a:pPr algn="l"/>
            <a:r>
              <a:rPr sz="1200" b="1" i="0">
                <a:solidFill>
                  <a:srgbClr val="1A1A2E"/>
                </a:solidFill>
              </a:rPr>
              <a:t>Sleep quality</a:t>
            </a:r>
          </a:p>
        </p:txBody>
      </p:sp>
      <p:sp>
        <p:nvSpPr>
          <p:cNvPr id="19" name="TextBox 18"/>
          <p:cNvSpPr txBox="1"/>
          <p:nvPr/>
        </p:nvSpPr>
        <p:spPr>
          <a:xfrm>
            <a:off x="914400" y="2194559"/>
            <a:ext cx="4114800" cy="256032"/>
          </a:xfrm>
          <a:prstGeom prst="rect">
            <a:avLst/>
          </a:prstGeom>
          <a:noFill/>
        </p:spPr>
        <p:txBody>
          <a:bodyPr wrap="square">
            <a:spAutoFit/>
          </a:bodyPr>
          <a:lstStyle/>
          <a:p>
            <a:pPr algn="l"/>
            <a:r>
              <a:rPr sz="1000" b="0" i="1">
                <a:solidFill>
                  <a:srgbClr val="6C757D"/>
                </a:solidFill>
              </a:rPr>
              <a:t>How well and how long are you sleeping?</a:t>
            </a:r>
          </a:p>
        </p:txBody>
      </p:sp>
      <p:sp>
        <p:nvSpPr>
          <p:cNvPr id="20" name="TextBox 19"/>
          <p:cNvSpPr txBox="1"/>
          <p:nvPr/>
        </p:nvSpPr>
        <p:spPr>
          <a:xfrm>
            <a:off x="5212080" y="2039111"/>
            <a:ext cx="6217920" cy="457200"/>
          </a:xfrm>
          <a:prstGeom prst="rect">
            <a:avLst/>
          </a:prstGeom>
          <a:noFill/>
        </p:spPr>
        <p:txBody>
          <a:bodyPr wrap="square">
            <a:spAutoFit/>
          </a:bodyPr>
          <a:lstStyle/>
          <a:p>
            <a:pPr algn="l"/>
            <a:r>
              <a:rPr sz="1100" b="0" i="0">
                <a:solidFill>
                  <a:srgbClr val="1A1A2E"/>
                </a:solidFill>
              </a:rPr>
              <a:t>Poor, waking 3–4x/night for 6 weeks · recorded by person · 2026-06-28</a:t>
            </a:r>
          </a:p>
        </p:txBody>
      </p:sp>
      <p:sp>
        <p:nvSpPr>
          <p:cNvPr id="21" name="Rectangle 20"/>
          <p:cNvSpPr/>
          <p:nvPr/>
        </p:nvSpPr>
        <p:spPr>
          <a:xfrm>
            <a:off x="502920" y="2770631"/>
            <a:ext cx="11183112"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2770631"/>
            <a:ext cx="64008" cy="749808"/>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3063239"/>
            <a:ext cx="128016" cy="128016"/>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3657600" cy="292608"/>
          </a:xfrm>
          <a:prstGeom prst="rect">
            <a:avLst/>
          </a:prstGeom>
          <a:noFill/>
        </p:spPr>
        <p:txBody>
          <a:bodyPr wrap="square">
            <a:spAutoFit/>
          </a:bodyPr>
          <a:lstStyle/>
          <a:p>
            <a:pPr algn="l"/>
            <a:r>
              <a:rPr sz="1200" b="1" i="0">
                <a:solidFill>
                  <a:srgbClr val="1A1A2E"/>
                </a:solidFill>
              </a:rPr>
              <a:t>Exertional tolerance</a:t>
            </a:r>
          </a:p>
        </p:txBody>
      </p:sp>
      <p:sp>
        <p:nvSpPr>
          <p:cNvPr id="25" name="TextBox 24"/>
          <p:cNvSpPr txBox="1"/>
          <p:nvPr/>
        </p:nvSpPr>
        <p:spPr>
          <a:xfrm>
            <a:off x="914400" y="3090671"/>
            <a:ext cx="4114800" cy="256032"/>
          </a:xfrm>
          <a:prstGeom prst="rect">
            <a:avLst/>
          </a:prstGeom>
          <a:noFill/>
        </p:spPr>
        <p:txBody>
          <a:bodyPr wrap="square">
            <a:spAutoFit/>
          </a:bodyPr>
          <a:lstStyle/>
          <a:p>
            <a:pPr algn="l"/>
            <a:r>
              <a:rPr sz="1000" b="0" i="1">
                <a:solidFill>
                  <a:srgbClr val="6C757D"/>
                </a:solidFill>
              </a:rPr>
              <a:t>Does activity make you more tired than it used to?</a:t>
            </a:r>
          </a:p>
        </p:txBody>
      </p:sp>
      <p:sp>
        <p:nvSpPr>
          <p:cNvPr id="26" name="TextBox 25"/>
          <p:cNvSpPr txBox="1"/>
          <p:nvPr/>
        </p:nvSpPr>
        <p:spPr>
          <a:xfrm>
            <a:off x="5212080" y="2935223"/>
            <a:ext cx="6217920" cy="457200"/>
          </a:xfrm>
          <a:prstGeom prst="rect">
            <a:avLst/>
          </a:prstGeom>
          <a:noFill/>
        </p:spPr>
        <p:txBody>
          <a:bodyPr wrap="square">
            <a:spAutoFit/>
          </a:bodyPr>
          <a:lstStyle/>
          <a:p>
            <a:pPr algn="l"/>
            <a:r>
              <a:rPr sz="1100" b="0" i="0">
                <a:solidFill>
                  <a:srgbClr val="1A1A2E"/>
                </a:solidFill>
              </a:rPr>
              <a:t>Yes, stairs now cause shortness of breath · missing: baseline comparison</a:t>
            </a:r>
          </a:p>
        </p:txBody>
      </p:sp>
      <p:sp>
        <p:nvSpPr>
          <p:cNvPr id="27" name="Rectangle 26"/>
          <p:cNvSpPr/>
          <p:nvPr/>
        </p:nvSpPr>
        <p:spPr>
          <a:xfrm>
            <a:off x="502920" y="3666743"/>
            <a:ext cx="11183112"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3666743"/>
            <a:ext cx="64008" cy="749808"/>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3959351"/>
            <a:ext cx="128016" cy="128016"/>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721607"/>
            <a:ext cx="3657600" cy="292608"/>
          </a:xfrm>
          <a:prstGeom prst="rect">
            <a:avLst/>
          </a:prstGeom>
          <a:noFill/>
        </p:spPr>
        <p:txBody>
          <a:bodyPr wrap="square">
            <a:spAutoFit/>
          </a:bodyPr>
          <a:lstStyle/>
          <a:p>
            <a:pPr algn="l"/>
            <a:r>
              <a:rPr sz="1200" b="1" i="0">
                <a:solidFill>
                  <a:srgbClr val="1A1A2E"/>
                </a:solidFill>
              </a:rPr>
              <a:t>Mood and affect</a:t>
            </a:r>
          </a:p>
        </p:txBody>
      </p:sp>
      <p:sp>
        <p:nvSpPr>
          <p:cNvPr id="31" name="TextBox 30"/>
          <p:cNvSpPr txBox="1"/>
          <p:nvPr/>
        </p:nvSpPr>
        <p:spPr>
          <a:xfrm>
            <a:off x="914400" y="3986783"/>
            <a:ext cx="4114800" cy="256032"/>
          </a:xfrm>
          <a:prstGeom prst="rect">
            <a:avLst/>
          </a:prstGeom>
          <a:noFill/>
        </p:spPr>
        <p:txBody>
          <a:bodyPr wrap="square">
            <a:spAutoFit/>
          </a:bodyPr>
          <a:lstStyle/>
          <a:p>
            <a:pPr algn="l"/>
            <a:r>
              <a:rPr sz="1000" b="0" i="1">
                <a:solidFill>
                  <a:srgbClr val="6C757D"/>
                </a:solidFill>
              </a:rPr>
              <a:t>Have you been feeling low, hopeless, or lost interest in things?</a:t>
            </a:r>
          </a:p>
        </p:txBody>
      </p:sp>
      <p:sp>
        <p:nvSpPr>
          <p:cNvPr id="32" name="TextBox 31"/>
          <p:cNvSpPr txBox="1"/>
          <p:nvPr/>
        </p:nvSpPr>
        <p:spPr>
          <a:xfrm>
            <a:off x="5212080" y="3831335"/>
            <a:ext cx="6217920" cy="457200"/>
          </a:xfrm>
          <a:prstGeom prst="rect">
            <a:avLst/>
          </a:prstGeom>
          <a:noFill/>
        </p:spPr>
        <p:txBody>
          <a:bodyPr wrap="square">
            <a:spAutoFit/>
          </a:bodyPr>
          <a:lstStyle/>
          <a:p>
            <a:pPr algn="l"/>
            <a:r>
              <a:rPr sz="1100" b="0" i="1">
                <a:solidFill>
                  <a:srgbClr val="6C757D"/>
                </a:solidFill>
              </a:rPr>
              <a:t>Not yet gathered</a:t>
            </a:r>
          </a:p>
        </p:txBody>
      </p:sp>
      <p:sp>
        <p:nvSpPr>
          <p:cNvPr id="33" name="Rectangle 32"/>
          <p:cNvSpPr/>
          <p:nvPr/>
        </p:nvSpPr>
        <p:spPr>
          <a:xfrm>
            <a:off x="502920" y="4562855"/>
            <a:ext cx="11183112"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4562855"/>
            <a:ext cx="64008" cy="749808"/>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 y="4855463"/>
            <a:ext cx="128016" cy="128016"/>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617719"/>
            <a:ext cx="3657600" cy="292608"/>
          </a:xfrm>
          <a:prstGeom prst="rect">
            <a:avLst/>
          </a:prstGeom>
          <a:noFill/>
        </p:spPr>
        <p:txBody>
          <a:bodyPr wrap="square">
            <a:spAutoFit/>
          </a:bodyPr>
          <a:lstStyle/>
          <a:p>
            <a:pPr algn="l"/>
            <a:r>
              <a:rPr sz="1200" b="1" i="0">
                <a:solidFill>
                  <a:srgbClr val="1A1A2E"/>
                </a:solidFill>
              </a:rPr>
              <a:t>Hemoglobin (CBC)</a:t>
            </a:r>
          </a:p>
        </p:txBody>
      </p:sp>
      <p:sp>
        <p:nvSpPr>
          <p:cNvPr id="37" name="TextBox 36"/>
          <p:cNvSpPr txBox="1"/>
          <p:nvPr/>
        </p:nvSpPr>
        <p:spPr>
          <a:xfrm>
            <a:off x="914400" y="4882895"/>
            <a:ext cx="4114800" cy="256032"/>
          </a:xfrm>
          <a:prstGeom prst="rect">
            <a:avLst/>
          </a:prstGeom>
          <a:noFill/>
        </p:spPr>
        <p:txBody>
          <a:bodyPr wrap="square">
            <a:spAutoFit/>
          </a:bodyPr>
          <a:lstStyle/>
          <a:p>
            <a:pPr algn="l"/>
            <a:r>
              <a:rPr sz="1000" b="0" i="1">
                <a:solidFill>
                  <a:srgbClr val="6C757D"/>
                </a:solidFill>
              </a:rPr>
              <a:t>Blood count — checks for anemia</a:t>
            </a:r>
          </a:p>
        </p:txBody>
      </p:sp>
      <p:sp>
        <p:nvSpPr>
          <p:cNvPr id="38" name="TextBox 37"/>
          <p:cNvSpPr txBox="1"/>
          <p:nvPr/>
        </p:nvSpPr>
        <p:spPr>
          <a:xfrm>
            <a:off x="5212080" y="4727447"/>
            <a:ext cx="6217920" cy="457200"/>
          </a:xfrm>
          <a:prstGeom prst="rect">
            <a:avLst/>
          </a:prstGeom>
          <a:noFill/>
        </p:spPr>
        <p:txBody>
          <a:bodyPr wrap="square">
            <a:spAutoFit/>
          </a:bodyPr>
          <a:lstStyle/>
          <a:p>
            <a:pPr algn="l"/>
            <a:r>
              <a:rPr sz="1100" b="0" i="0">
                <a:solidFill>
                  <a:srgbClr val="1A1A2E"/>
                </a:solidFill>
              </a:rPr>
              <a:t>11.2 g/dL · Superior AZ Clinic Lab · 2026-05-14</a:t>
            </a:r>
          </a:p>
        </p:txBody>
      </p:sp>
      <p:sp>
        <p:nvSpPr>
          <p:cNvPr id="39" name="Rectangle 38"/>
          <p:cNvSpPr/>
          <p:nvPr/>
        </p:nvSpPr>
        <p:spPr>
          <a:xfrm>
            <a:off x="502920" y="5458967"/>
            <a:ext cx="11183112"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2920" y="5458967"/>
            <a:ext cx="64008" cy="749808"/>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 y="5751575"/>
            <a:ext cx="128016" cy="128016"/>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13831"/>
            <a:ext cx="3657600" cy="292608"/>
          </a:xfrm>
          <a:prstGeom prst="rect">
            <a:avLst/>
          </a:prstGeom>
          <a:noFill/>
        </p:spPr>
        <p:txBody>
          <a:bodyPr wrap="square">
            <a:spAutoFit/>
          </a:bodyPr>
          <a:lstStyle/>
          <a:p>
            <a:pPr algn="l"/>
            <a:r>
              <a:rPr sz="1200" b="1" i="0">
                <a:solidFill>
                  <a:srgbClr val="1A1A2E"/>
                </a:solidFill>
              </a:rPr>
              <a:t>Ferritin</a:t>
            </a:r>
          </a:p>
        </p:txBody>
      </p:sp>
      <p:sp>
        <p:nvSpPr>
          <p:cNvPr id="43" name="TextBox 42"/>
          <p:cNvSpPr txBox="1"/>
          <p:nvPr/>
        </p:nvSpPr>
        <p:spPr>
          <a:xfrm>
            <a:off x="914400" y="5779007"/>
            <a:ext cx="4114800" cy="256032"/>
          </a:xfrm>
          <a:prstGeom prst="rect">
            <a:avLst/>
          </a:prstGeom>
          <a:noFill/>
        </p:spPr>
        <p:txBody>
          <a:bodyPr wrap="square">
            <a:spAutoFit/>
          </a:bodyPr>
          <a:lstStyle/>
          <a:p>
            <a:pPr algn="l"/>
            <a:r>
              <a:rPr sz="1000" b="0" i="1">
                <a:solidFill>
                  <a:srgbClr val="6C757D"/>
                </a:solidFill>
              </a:rPr>
              <a:t>Stored iron level — confirms or rules out iron deficiency</a:t>
            </a:r>
          </a:p>
        </p:txBody>
      </p:sp>
      <p:sp>
        <p:nvSpPr>
          <p:cNvPr id="44" name="TextBox 43"/>
          <p:cNvSpPr txBox="1"/>
          <p:nvPr/>
        </p:nvSpPr>
        <p:spPr>
          <a:xfrm>
            <a:off x="5212080" y="5623559"/>
            <a:ext cx="6217920" cy="457200"/>
          </a:xfrm>
          <a:prstGeom prst="rect">
            <a:avLst/>
          </a:prstGeom>
          <a:noFill/>
        </p:spPr>
        <p:txBody>
          <a:bodyPr wrap="square">
            <a:spAutoFit/>
          </a:bodyPr>
          <a:lstStyle/>
          <a:p>
            <a:pPr algn="l"/>
            <a:r>
              <a:rPr sz="1100" b="0" i="1">
                <a:solidFill>
                  <a:srgbClr val="6C757D"/>
                </a:solidFill>
              </a:rPr>
              <a:t>Not yet gathered — needs lab order</a:t>
            </a:r>
          </a:p>
        </p:txBody>
      </p:sp>
      <p:sp>
        <p:nvSpPr>
          <p:cNvPr id="45" name="TextBox 44"/>
          <p:cNvSpPr txBox="1"/>
          <p:nvPr/>
        </p:nvSpPr>
        <p:spPr>
          <a:xfrm>
            <a:off x="548640" y="6492240"/>
            <a:ext cx="10972800" cy="274320"/>
          </a:xfrm>
          <a:prstGeom prst="rect">
            <a:avLst/>
          </a:prstGeom>
          <a:noFill/>
        </p:spPr>
        <p:txBody>
          <a:bodyPr wrap="square">
            <a:spAutoFit/>
          </a:bodyPr>
          <a:lstStyle/>
          <a:p>
            <a:pPr algn="l"/>
            <a:r>
              <a:rPr sz="900" b="0" i="0">
                <a:solidFill>
                  <a:srgbClr val="6C757D"/>
                </a:solidFill>
              </a:rPr>
              <a:t>Problem-Knowledge Coupler · RCN ·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502920"/>
          </a:xfrm>
          <a:prstGeom prst="rect">
            <a:avLst/>
          </a:prstGeom>
          <a:noFill/>
        </p:spPr>
        <p:txBody>
          <a:bodyPr wrap="square">
            <a:spAutoFit/>
          </a:bodyPr>
          <a:lstStyle/>
          <a:p>
            <a:pPr algn="l"/>
            <a:r>
              <a:rPr sz="2800" b="1" i="0">
                <a:solidFill>
                  <a:srgbClr val="FFFFFF"/>
                </a:solidFill>
              </a:rPr>
              <a:t>The Attention Matrix</a:t>
            </a:r>
          </a:p>
        </p:txBody>
      </p:sp>
      <p:sp>
        <p:nvSpPr>
          <p:cNvPr id="4" name="TextBox 3"/>
          <p:cNvSpPr txBox="1"/>
          <p:nvPr/>
        </p:nvSpPr>
        <p:spPr>
          <a:xfrm>
            <a:off x="548640" y="594360"/>
            <a:ext cx="10058400" cy="365760"/>
          </a:xfrm>
          <a:prstGeom prst="rect">
            <a:avLst/>
          </a:prstGeom>
          <a:noFill/>
        </p:spPr>
        <p:txBody>
          <a:bodyPr wrap="square">
            <a:spAutoFit/>
          </a:bodyPr>
          <a:lstStyle/>
          <a:p>
            <a:pPr algn="l"/>
            <a:r>
              <a:rPr sz="1400" b="0" i="0">
                <a:solidFill>
                  <a:srgbClr val="B0C8E8"/>
                </a:solidFill>
              </a:rPr>
              <a:t>"How likely it is, crossed with how bad it would be to miss"</a:t>
            </a:r>
          </a:p>
        </p:txBody>
      </p:sp>
      <p:sp>
        <p:nvSpPr>
          <p:cNvPr id="5" name="TextBox 4"/>
          <p:cNvSpPr txBox="1"/>
          <p:nvPr/>
        </p:nvSpPr>
        <p:spPr>
          <a:xfrm>
            <a:off x="640080" y="1143000"/>
            <a:ext cx="10881360" cy="457200"/>
          </a:xfrm>
          <a:prstGeom prst="rect">
            <a:avLst/>
          </a:prstGeom>
          <a:noFill/>
        </p:spPr>
        <p:txBody>
          <a:bodyPr wrap="square">
            <a:spAutoFit/>
          </a:bodyPr>
          <a:lstStyle/>
          <a:p>
            <a:pPr algn="l"/>
            <a:r>
              <a:rPr sz="1300" b="0" i="0">
                <a:solidFill>
                  <a:srgbClr val="1A1A2E"/>
                </a:solidFill>
              </a:rPr>
              <a:t>Probability and danger are separate axes. Each candidate assessment carries both. The code is computed from a fixed table — never assigned by the AI.</a:t>
            </a:r>
          </a:p>
        </p:txBody>
      </p:sp>
      <p:sp>
        <p:nvSpPr>
          <p:cNvPr id="6" name="TextBox 5"/>
          <p:cNvSpPr txBox="1"/>
          <p:nvPr/>
        </p:nvSpPr>
        <p:spPr>
          <a:xfrm>
            <a:off x="2560320" y="1170432"/>
            <a:ext cx="2011680" cy="640080"/>
          </a:xfrm>
          <a:prstGeom prst="rect">
            <a:avLst/>
          </a:prstGeom>
          <a:noFill/>
        </p:spPr>
        <p:txBody>
          <a:bodyPr wrap="square">
            <a:spAutoFit/>
          </a:bodyPr>
          <a:lstStyle/>
          <a:p>
            <a:pPr algn="ctr"/>
            <a:r>
              <a:rPr sz="1000" b="1" i="0">
                <a:solidFill>
                  <a:srgbClr val="1E3A5F"/>
                </a:solidFill>
              </a:rPr>
              <a:t>A — Likely
≥60%</a:t>
            </a:r>
          </a:p>
        </p:txBody>
      </p:sp>
      <p:sp>
        <p:nvSpPr>
          <p:cNvPr id="7" name="TextBox 6"/>
          <p:cNvSpPr txBox="1"/>
          <p:nvPr/>
        </p:nvSpPr>
        <p:spPr>
          <a:xfrm>
            <a:off x="4572000" y="1170432"/>
            <a:ext cx="2011680" cy="640080"/>
          </a:xfrm>
          <a:prstGeom prst="rect">
            <a:avLst/>
          </a:prstGeom>
          <a:noFill/>
        </p:spPr>
        <p:txBody>
          <a:bodyPr wrap="square">
            <a:spAutoFit/>
          </a:bodyPr>
          <a:lstStyle/>
          <a:p>
            <a:pPr algn="ctr"/>
            <a:r>
              <a:rPr sz="1000" b="1" i="0">
                <a:solidFill>
                  <a:srgbClr val="1E3A5F"/>
                </a:solidFill>
              </a:rPr>
              <a:t>B — Possible
30–59%</a:t>
            </a:r>
          </a:p>
        </p:txBody>
      </p:sp>
      <p:sp>
        <p:nvSpPr>
          <p:cNvPr id="8" name="TextBox 7"/>
          <p:cNvSpPr txBox="1"/>
          <p:nvPr/>
        </p:nvSpPr>
        <p:spPr>
          <a:xfrm>
            <a:off x="6583680" y="1170432"/>
            <a:ext cx="2011680" cy="640080"/>
          </a:xfrm>
          <a:prstGeom prst="rect">
            <a:avLst/>
          </a:prstGeom>
          <a:noFill/>
        </p:spPr>
        <p:txBody>
          <a:bodyPr wrap="square">
            <a:spAutoFit/>
          </a:bodyPr>
          <a:lstStyle/>
          <a:p>
            <a:pPr algn="ctr"/>
            <a:r>
              <a:rPr sz="1000" b="1" i="0">
                <a:solidFill>
                  <a:srgbClr val="1E3A5F"/>
                </a:solidFill>
              </a:rPr>
              <a:t>C — Less likely
10–29%</a:t>
            </a:r>
          </a:p>
        </p:txBody>
      </p:sp>
      <p:sp>
        <p:nvSpPr>
          <p:cNvPr id="9" name="TextBox 8"/>
          <p:cNvSpPr txBox="1"/>
          <p:nvPr/>
        </p:nvSpPr>
        <p:spPr>
          <a:xfrm>
            <a:off x="8595360" y="1170432"/>
            <a:ext cx="2011680" cy="640080"/>
          </a:xfrm>
          <a:prstGeom prst="rect">
            <a:avLst/>
          </a:prstGeom>
          <a:noFill/>
        </p:spPr>
        <p:txBody>
          <a:bodyPr wrap="square">
            <a:spAutoFit/>
          </a:bodyPr>
          <a:lstStyle/>
          <a:p>
            <a:pPr algn="ctr"/>
            <a:r>
              <a:rPr sz="1000" b="1" i="0">
                <a:solidFill>
                  <a:srgbClr val="1E3A5F"/>
                </a:solidFill>
              </a:rPr>
              <a:t>D — Unlikely
&lt;10%</a:t>
            </a:r>
          </a:p>
        </p:txBody>
      </p:sp>
      <p:sp>
        <p:nvSpPr>
          <p:cNvPr id="10" name="TextBox 9"/>
          <p:cNvSpPr txBox="1"/>
          <p:nvPr/>
        </p:nvSpPr>
        <p:spPr>
          <a:xfrm>
            <a:off x="502920" y="1828800"/>
            <a:ext cx="1920240" cy="868680"/>
          </a:xfrm>
          <a:prstGeom prst="rect">
            <a:avLst/>
          </a:prstGeom>
          <a:noFill/>
        </p:spPr>
        <p:txBody>
          <a:bodyPr wrap="square">
            <a:spAutoFit/>
          </a:bodyPr>
          <a:lstStyle/>
          <a:p>
            <a:pPr algn="l"/>
            <a:r>
              <a:rPr sz="1000" b="1" i="0">
                <a:solidFill>
                  <a:srgbClr val="1E3A5F"/>
                </a:solidFill>
              </a:rPr>
              <a:t>I — Life or
irreversible</a:t>
            </a:r>
          </a:p>
        </p:txBody>
      </p:sp>
      <p:sp>
        <p:nvSpPr>
          <p:cNvPr id="11" name="Rectangle 10"/>
          <p:cNvSpPr/>
          <p:nvPr/>
        </p:nvSpPr>
        <p:spPr>
          <a:xfrm>
            <a:off x="2585720" y="1854200"/>
            <a:ext cx="1960880" cy="81788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1905000"/>
            <a:ext cx="2011680" cy="330200"/>
          </a:xfrm>
          <a:prstGeom prst="rect">
            <a:avLst/>
          </a:prstGeom>
          <a:noFill/>
        </p:spPr>
        <p:txBody>
          <a:bodyPr wrap="square">
            <a:spAutoFit/>
          </a:bodyPr>
          <a:lstStyle/>
          <a:p>
            <a:pPr algn="ctr"/>
            <a:r>
              <a:rPr sz="2000" b="1" i="0">
                <a:solidFill>
                  <a:srgbClr val="FFFFFF"/>
                </a:solidFill>
              </a:rPr>
              <a:t>1</a:t>
            </a:r>
          </a:p>
        </p:txBody>
      </p:sp>
      <p:sp>
        <p:nvSpPr>
          <p:cNvPr id="13" name="TextBox 12"/>
          <p:cNvSpPr txBox="1"/>
          <p:nvPr/>
        </p:nvSpPr>
        <p:spPr>
          <a:xfrm>
            <a:off x="2560320" y="2235200"/>
            <a:ext cx="2011680" cy="279400"/>
          </a:xfrm>
          <a:prstGeom prst="rect">
            <a:avLst/>
          </a:prstGeom>
          <a:noFill/>
        </p:spPr>
        <p:txBody>
          <a:bodyPr wrap="square">
            <a:spAutoFit/>
          </a:bodyPr>
          <a:lstStyle/>
          <a:p>
            <a:pPr algn="ctr"/>
            <a:r>
              <a:rPr sz="900" b="0" i="0">
                <a:solidFill>
                  <a:srgbClr val="FFFFFF"/>
                </a:solidFill>
              </a:rPr>
              <a:t>Act Now</a:t>
            </a:r>
          </a:p>
        </p:txBody>
      </p:sp>
      <p:sp>
        <p:nvSpPr>
          <p:cNvPr id="14" name="Rectangle 13"/>
          <p:cNvSpPr/>
          <p:nvPr/>
        </p:nvSpPr>
        <p:spPr>
          <a:xfrm>
            <a:off x="4597400" y="1854200"/>
            <a:ext cx="1960880" cy="81788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905000"/>
            <a:ext cx="2011680" cy="330200"/>
          </a:xfrm>
          <a:prstGeom prst="rect">
            <a:avLst/>
          </a:prstGeom>
          <a:noFill/>
        </p:spPr>
        <p:txBody>
          <a:bodyPr wrap="square">
            <a:spAutoFit/>
          </a:bodyPr>
          <a:lstStyle/>
          <a:p>
            <a:pPr algn="ctr"/>
            <a:r>
              <a:rPr sz="2000" b="1" i="0">
                <a:solidFill>
                  <a:srgbClr val="FFFFFF"/>
                </a:solidFill>
              </a:rPr>
              <a:t>1</a:t>
            </a:r>
          </a:p>
        </p:txBody>
      </p:sp>
      <p:sp>
        <p:nvSpPr>
          <p:cNvPr id="16" name="TextBox 15"/>
          <p:cNvSpPr txBox="1"/>
          <p:nvPr/>
        </p:nvSpPr>
        <p:spPr>
          <a:xfrm>
            <a:off x="4572000" y="2235200"/>
            <a:ext cx="2011680" cy="279400"/>
          </a:xfrm>
          <a:prstGeom prst="rect">
            <a:avLst/>
          </a:prstGeom>
          <a:noFill/>
        </p:spPr>
        <p:txBody>
          <a:bodyPr wrap="square">
            <a:spAutoFit/>
          </a:bodyPr>
          <a:lstStyle/>
          <a:p>
            <a:pPr algn="ctr"/>
            <a:r>
              <a:rPr sz="900" b="0" i="0">
                <a:solidFill>
                  <a:srgbClr val="FFFFFF"/>
                </a:solidFill>
              </a:rPr>
              <a:t>Act Now</a:t>
            </a:r>
          </a:p>
        </p:txBody>
      </p:sp>
      <p:sp>
        <p:nvSpPr>
          <p:cNvPr id="17" name="Rectangle 16"/>
          <p:cNvSpPr/>
          <p:nvPr/>
        </p:nvSpPr>
        <p:spPr>
          <a:xfrm>
            <a:off x="6609080" y="1854200"/>
            <a:ext cx="1960880" cy="817880"/>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1905000"/>
            <a:ext cx="2011680" cy="330200"/>
          </a:xfrm>
          <a:prstGeom prst="rect">
            <a:avLst/>
          </a:prstGeom>
          <a:noFill/>
        </p:spPr>
        <p:txBody>
          <a:bodyPr wrap="square">
            <a:spAutoFit/>
          </a:bodyPr>
          <a:lstStyle/>
          <a:p>
            <a:pPr algn="ctr"/>
            <a:r>
              <a:rPr sz="2000" b="1" i="0">
                <a:solidFill>
                  <a:srgbClr val="FFFFFF"/>
                </a:solidFill>
              </a:rPr>
              <a:t>2</a:t>
            </a:r>
          </a:p>
        </p:txBody>
      </p:sp>
      <p:sp>
        <p:nvSpPr>
          <p:cNvPr id="19" name="TextBox 18"/>
          <p:cNvSpPr txBox="1"/>
          <p:nvPr/>
        </p:nvSpPr>
        <p:spPr>
          <a:xfrm>
            <a:off x="6583680" y="2235200"/>
            <a:ext cx="2011680" cy="279400"/>
          </a:xfrm>
          <a:prstGeom prst="rect">
            <a:avLst/>
          </a:prstGeom>
          <a:noFill/>
        </p:spPr>
        <p:txBody>
          <a:bodyPr wrap="square">
            <a:spAutoFit/>
          </a:bodyPr>
          <a:lstStyle/>
          <a:p>
            <a:pPr algn="ctr"/>
            <a:r>
              <a:rPr sz="900" b="0" i="0">
                <a:solidFill>
                  <a:srgbClr val="FFFFFF"/>
                </a:solidFill>
              </a:rPr>
              <a:t>Move Fast</a:t>
            </a:r>
          </a:p>
        </p:txBody>
      </p:sp>
      <p:sp>
        <p:nvSpPr>
          <p:cNvPr id="20" name="Rectangle 19"/>
          <p:cNvSpPr/>
          <p:nvPr/>
        </p:nvSpPr>
        <p:spPr>
          <a:xfrm>
            <a:off x="8620760" y="1854200"/>
            <a:ext cx="1960880" cy="817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0" y="1905000"/>
            <a:ext cx="2011680" cy="330200"/>
          </a:xfrm>
          <a:prstGeom prst="rect">
            <a:avLst/>
          </a:prstGeom>
          <a:noFill/>
        </p:spPr>
        <p:txBody>
          <a:bodyPr wrap="square">
            <a:spAutoFit/>
          </a:bodyPr>
          <a:lstStyle/>
          <a:p>
            <a:pPr algn="ctr"/>
            <a:r>
              <a:rPr sz="2000" b="1" i="0">
                <a:solidFill>
                  <a:srgbClr val="FFFFFF"/>
                </a:solidFill>
              </a:rPr>
              <a:t>3</a:t>
            </a:r>
          </a:p>
        </p:txBody>
      </p:sp>
      <p:sp>
        <p:nvSpPr>
          <p:cNvPr id="22" name="TextBox 21"/>
          <p:cNvSpPr txBox="1"/>
          <p:nvPr/>
        </p:nvSpPr>
        <p:spPr>
          <a:xfrm>
            <a:off x="8595360" y="2235200"/>
            <a:ext cx="2011680" cy="279400"/>
          </a:xfrm>
          <a:prstGeom prst="rect">
            <a:avLst/>
          </a:prstGeom>
          <a:noFill/>
        </p:spPr>
        <p:txBody>
          <a:bodyPr wrap="square">
            <a:spAutoFit/>
          </a:bodyPr>
          <a:lstStyle/>
          <a:p>
            <a:pPr algn="ctr"/>
            <a:r>
              <a:rPr sz="900" b="0" i="0">
                <a:solidFill>
                  <a:srgbClr val="FFFFFF"/>
                </a:solidFill>
              </a:rPr>
              <a:t>Work On It</a:t>
            </a:r>
          </a:p>
        </p:txBody>
      </p:sp>
      <p:sp>
        <p:nvSpPr>
          <p:cNvPr id="23" name="TextBox 22"/>
          <p:cNvSpPr txBox="1"/>
          <p:nvPr/>
        </p:nvSpPr>
        <p:spPr>
          <a:xfrm>
            <a:off x="502920" y="2697480"/>
            <a:ext cx="1920240" cy="868680"/>
          </a:xfrm>
          <a:prstGeom prst="rect">
            <a:avLst/>
          </a:prstGeom>
          <a:noFill/>
        </p:spPr>
        <p:txBody>
          <a:bodyPr wrap="square">
            <a:spAutoFit/>
          </a:bodyPr>
          <a:lstStyle/>
          <a:p>
            <a:pPr algn="l"/>
            <a:r>
              <a:rPr sz="1000" b="1" i="0">
                <a:solidFill>
                  <a:srgbClr val="1E3A5F"/>
                </a:solidFill>
              </a:rPr>
              <a:t>II — Serious
harm</a:t>
            </a:r>
          </a:p>
        </p:txBody>
      </p:sp>
      <p:sp>
        <p:nvSpPr>
          <p:cNvPr id="24" name="Rectangle 23"/>
          <p:cNvSpPr/>
          <p:nvPr/>
        </p:nvSpPr>
        <p:spPr>
          <a:xfrm>
            <a:off x="2585720" y="2722880"/>
            <a:ext cx="1960880" cy="81788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60320" y="2773680"/>
            <a:ext cx="2011680" cy="330200"/>
          </a:xfrm>
          <a:prstGeom prst="rect">
            <a:avLst/>
          </a:prstGeom>
          <a:noFill/>
        </p:spPr>
        <p:txBody>
          <a:bodyPr wrap="square">
            <a:spAutoFit/>
          </a:bodyPr>
          <a:lstStyle/>
          <a:p>
            <a:pPr algn="ctr"/>
            <a:r>
              <a:rPr sz="2000" b="1" i="0">
                <a:solidFill>
                  <a:srgbClr val="FFFFFF"/>
                </a:solidFill>
              </a:rPr>
              <a:t>1</a:t>
            </a:r>
          </a:p>
        </p:txBody>
      </p:sp>
      <p:sp>
        <p:nvSpPr>
          <p:cNvPr id="26" name="TextBox 25"/>
          <p:cNvSpPr txBox="1"/>
          <p:nvPr/>
        </p:nvSpPr>
        <p:spPr>
          <a:xfrm>
            <a:off x="2560320" y="3103880"/>
            <a:ext cx="2011680" cy="279400"/>
          </a:xfrm>
          <a:prstGeom prst="rect">
            <a:avLst/>
          </a:prstGeom>
          <a:noFill/>
        </p:spPr>
        <p:txBody>
          <a:bodyPr wrap="square">
            <a:spAutoFit/>
          </a:bodyPr>
          <a:lstStyle/>
          <a:p>
            <a:pPr algn="ctr"/>
            <a:r>
              <a:rPr sz="900" b="0" i="0">
                <a:solidFill>
                  <a:srgbClr val="FFFFFF"/>
                </a:solidFill>
              </a:rPr>
              <a:t>Act Now</a:t>
            </a:r>
          </a:p>
        </p:txBody>
      </p:sp>
      <p:sp>
        <p:nvSpPr>
          <p:cNvPr id="27" name="Rectangle 26"/>
          <p:cNvSpPr/>
          <p:nvPr/>
        </p:nvSpPr>
        <p:spPr>
          <a:xfrm>
            <a:off x="4597400" y="2722880"/>
            <a:ext cx="1960880" cy="817880"/>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2773680"/>
            <a:ext cx="2011680" cy="330200"/>
          </a:xfrm>
          <a:prstGeom prst="rect">
            <a:avLst/>
          </a:prstGeom>
          <a:noFill/>
        </p:spPr>
        <p:txBody>
          <a:bodyPr wrap="square">
            <a:spAutoFit/>
          </a:bodyPr>
          <a:lstStyle/>
          <a:p>
            <a:pPr algn="ctr"/>
            <a:r>
              <a:rPr sz="2000" b="1" i="0">
                <a:solidFill>
                  <a:srgbClr val="FFFFFF"/>
                </a:solidFill>
              </a:rPr>
              <a:t>2</a:t>
            </a:r>
          </a:p>
        </p:txBody>
      </p:sp>
      <p:sp>
        <p:nvSpPr>
          <p:cNvPr id="29" name="TextBox 28"/>
          <p:cNvSpPr txBox="1"/>
          <p:nvPr/>
        </p:nvSpPr>
        <p:spPr>
          <a:xfrm>
            <a:off x="4572000" y="3103880"/>
            <a:ext cx="2011680" cy="279400"/>
          </a:xfrm>
          <a:prstGeom prst="rect">
            <a:avLst/>
          </a:prstGeom>
          <a:noFill/>
        </p:spPr>
        <p:txBody>
          <a:bodyPr wrap="square">
            <a:spAutoFit/>
          </a:bodyPr>
          <a:lstStyle/>
          <a:p>
            <a:pPr algn="ctr"/>
            <a:r>
              <a:rPr sz="900" b="0" i="0">
                <a:solidFill>
                  <a:srgbClr val="FFFFFF"/>
                </a:solidFill>
              </a:rPr>
              <a:t>Move Fast</a:t>
            </a:r>
          </a:p>
        </p:txBody>
      </p:sp>
      <p:sp>
        <p:nvSpPr>
          <p:cNvPr id="30" name="Rectangle 29"/>
          <p:cNvSpPr/>
          <p:nvPr/>
        </p:nvSpPr>
        <p:spPr>
          <a:xfrm>
            <a:off x="6609080" y="2722880"/>
            <a:ext cx="1960880" cy="817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2773680"/>
            <a:ext cx="2011680" cy="330200"/>
          </a:xfrm>
          <a:prstGeom prst="rect">
            <a:avLst/>
          </a:prstGeom>
          <a:noFill/>
        </p:spPr>
        <p:txBody>
          <a:bodyPr wrap="square">
            <a:spAutoFit/>
          </a:bodyPr>
          <a:lstStyle/>
          <a:p>
            <a:pPr algn="ctr"/>
            <a:r>
              <a:rPr sz="2000" b="1" i="0">
                <a:solidFill>
                  <a:srgbClr val="FFFFFF"/>
                </a:solidFill>
              </a:rPr>
              <a:t>3</a:t>
            </a:r>
          </a:p>
        </p:txBody>
      </p:sp>
      <p:sp>
        <p:nvSpPr>
          <p:cNvPr id="32" name="TextBox 31"/>
          <p:cNvSpPr txBox="1"/>
          <p:nvPr/>
        </p:nvSpPr>
        <p:spPr>
          <a:xfrm>
            <a:off x="6583680" y="3103880"/>
            <a:ext cx="2011680" cy="279400"/>
          </a:xfrm>
          <a:prstGeom prst="rect">
            <a:avLst/>
          </a:prstGeom>
          <a:noFill/>
        </p:spPr>
        <p:txBody>
          <a:bodyPr wrap="square">
            <a:spAutoFit/>
          </a:bodyPr>
          <a:lstStyle/>
          <a:p>
            <a:pPr algn="ctr"/>
            <a:r>
              <a:rPr sz="900" b="0" i="0">
                <a:solidFill>
                  <a:srgbClr val="FFFFFF"/>
                </a:solidFill>
              </a:rPr>
              <a:t>Work On It</a:t>
            </a:r>
          </a:p>
        </p:txBody>
      </p:sp>
      <p:sp>
        <p:nvSpPr>
          <p:cNvPr id="33" name="Rectangle 32"/>
          <p:cNvSpPr/>
          <p:nvPr/>
        </p:nvSpPr>
        <p:spPr>
          <a:xfrm>
            <a:off x="8620760" y="2722880"/>
            <a:ext cx="1960880" cy="81788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0" y="2773680"/>
            <a:ext cx="2011680" cy="330200"/>
          </a:xfrm>
          <a:prstGeom prst="rect">
            <a:avLst/>
          </a:prstGeom>
          <a:noFill/>
        </p:spPr>
        <p:txBody>
          <a:bodyPr wrap="square">
            <a:spAutoFit/>
          </a:bodyPr>
          <a:lstStyle/>
          <a:p>
            <a:pPr algn="ctr"/>
            <a:r>
              <a:rPr sz="2000" b="1" i="0">
                <a:solidFill>
                  <a:srgbClr val="FFFFFF"/>
                </a:solidFill>
              </a:rPr>
              <a:t>4</a:t>
            </a:r>
          </a:p>
        </p:txBody>
      </p:sp>
      <p:sp>
        <p:nvSpPr>
          <p:cNvPr id="35" name="TextBox 34"/>
          <p:cNvSpPr txBox="1"/>
          <p:nvPr/>
        </p:nvSpPr>
        <p:spPr>
          <a:xfrm>
            <a:off x="8595360" y="3103880"/>
            <a:ext cx="2011680" cy="279400"/>
          </a:xfrm>
          <a:prstGeom prst="rect">
            <a:avLst/>
          </a:prstGeom>
          <a:noFill/>
        </p:spPr>
        <p:txBody>
          <a:bodyPr wrap="square">
            <a:spAutoFit/>
          </a:bodyPr>
          <a:lstStyle/>
          <a:p>
            <a:pPr algn="ctr"/>
            <a:r>
              <a:rPr sz="900" b="0" i="0">
                <a:solidFill>
                  <a:srgbClr val="FFFFFF"/>
                </a:solidFill>
              </a:rPr>
              <a:t>Watch It</a:t>
            </a:r>
          </a:p>
        </p:txBody>
      </p:sp>
      <p:sp>
        <p:nvSpPr>
          <p:cNvPr id="36" name="TextBox 35"/>
          <p:cNvSpPr txBox="1"/>
          <p:nvPr/>
        </p:nvSpPr>
        <p:spPr>
          <a:xfrm>
            <a:off x="502920" y="3566160"/>
            <a:ext cx="1920240" cy="868680"/>
          </a:xfrm>
          <a:prstGeom prst="rect">
            <a:avLst/>
          </a:prstGeom>
          <a:noFill/>
        </p:spPr>
        <p:txBody>
          <a:bodyPr wrap="square">
            <a:spAutoFit/>
          </a:bodyPr>
          <a:lstStyle/>
          <a:p>
            <a:pPr algn="l"/>
            <a:r>
              <a:rPr sz="1000" b="1" i="0">
                <a:solidFill>
                  <a:srgbClr val="1E3A5F"/>
                </a:solidFill>
              </a:rPr>
              <a:t>III — Trouble,
recoverable</a:t>
            </a:r>
          </a:p>
        </p:txBody>
      </p:sp>
      <p:sp>
        <p:nvSpPr>
          <p:cNvPr id="37" name="Rectangle 36"/>
          <p:cNvSpPr/>
          <p:nvPr/>
        </p:nvSpPr>
        <p:spPr>
          <a:xfrm>
            <a:off x="2585720" y="3591560"/>
            <a:ext cx="1960880" cy="817880"/>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60320" y="3642360"/>
            <a:ext cx="2011680" cy="330200"/>
          </a:xfrm>
          <a:prstGeom prst="rect">
            <a:avLst/>
          </a:prstGeom>
          <a:noFill/>
        </p:spPr>
        <p:txBody>
          <a:bodyPr wrap="square">
            <a:spAutoFit/>
          </a:bodyPr>
          <a:lstStyle/>
          <a:p>
            <a:pPr algn="ctr"/>
            <a:r>
              <a:rPr sz="2000" b="1" i="0">
                <a:solidFill>
                  <a:srgbClr val="FFFFFF"/>
                </a:solidFill>
              </a:rPr>
              <a:t>2</a:t>
            </a:r>
          </a:p>
        </p:txBody>
      </p:sp>
      <p:sp>
        <p:nvSpPr>
          <p:cNvPr id="39" name="TextBox 38"/>
          <p:cNvSpPr txBox="1"/>
          <p:nvPr/>
        </p:nvSpPr>
        <p:spPr>
          <a:xfrm>
            <a:off x="2560320" y="3972560"/>
            <a:ext cx="2011680" cy="279400"/>
          </a:xfrm>
          <a:prstGeom prst="rect">
            <a:avLst/>
          </a:prstGeom>
          <a:noFill/>
        </p:spPr>
        <p:txBody>
          <a:bodyPr wrap="square">
            <a:spAutoFit/>
          </a:bodyPr>
          <a:lstStyle/>
          <a:p>
            <a:pPr algn="ctr"/>
            <a:r>
              <a:rPr sz="900" b="0" i="0">
                <a:solidFill>
                  <a:srgbClr val="FFFFFF"/>
                </a:solidFill>
              </a:rPr>
              <a:t>Move Fast</a:t>
            </a:r>
          </a:p>
        </p:txBody>
      </p:sp>
      <p:sp>
        <p:nvSpPr>
          <p:cNvPr id="40" name="Rectangle 39"/>
          <p:cNvSpPr/>
          <p:nvPr/>
        </p:nvSpPr>
        <p:spPr>
          <a:xfrm>
            <a:off x="4597400" y="3591560"/>
            <a:ext cx="1960880" cy="817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0" y="3642360"/>
            <a:ext cx="2011680" cy="330200"/>
          </a:xfrm>
          <a:prstGeom prst="rect">
            <a:avLst/>
          </a:prstGeom>
          <a:noFill/>
        </p:spPr>
        <p:txBody>
          <a:bodyPr wrap="square">
            <a:spAutoFit/>
          </a:bodyPr>
          <a:lstStyle/>
          <a:p>
            <a:pPr algn="ctr"/>
            <a:r>
              <a:rPr sz="2000" b="1" i="0">
                <a:solidFill>
                  <a:srgbClr val="FFFFFF"/>
                </a:solidFill>
              </a:rPr>
              <a:t>3</a:t>
            </a:r>
          </a:p>
        </p:txBody>
      </p:sp>
      <p:sp>
        <p:nvSpPr>
          <p:cNvPr id="42" name="TextBox 41"/>
          <p:cNvSpPr txBox="1"/>
          <p:nvPr/>
        </p:nvSpPr>
        <p:spPr>
          <a:xfrm>
            <a:off x="4572000" y="3972560"/>
            <a:ext cx="2011680" cy="279400"/>
          </a:xfrm>
          <a:prstGeom prst="rect">
            <a:avLst/>
          </a:prstGeom>
          <a:noFill/>
        </p:spPr>
        <p:txBody>
          <a:bodyPr wrap="square">
            <a:spAutoFit/>
          </a:bodyPr>
          <a:lstStyle/>
          <a:p>
            <a:pPr algn="ctr"/>
            <a:r>
              <a:rPr sz="900" b="0" i="0">
                <a:solidFill>
                  <a:srgbClr val="FFFFFF"/>
                </a:solidFill>
              </a:rPr>
              <a:t>Work On It</a:t>
            </a:r>
          </a:p>
        </p:txBody>
      </p:sp>
      <p:sp>
        <p:nvSpPr>
          <p:cNvPr id="43" name="Rectangle 42"/>
          <p:cNvSpPr/>
          <p:nvPr/>
        </p:nvSpPr>
        <p:spPr>
          <a:xfrm>
            <a:off x="6609080" y="3591560"/>
            <a:ext cx="1960880" cy="81788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0" y="3642360"/>
            <a:ext cx="2011680" cy="330200"/>
          </a:xfrm>
          <a:prstGeom prst="rect">
            <a:avLst/>
          </a:prstGeom>
          <a:noFill/>
        </p:spPr>
        <p:txBody>
          <a:bodyPr wrap="square">
            <a:spAutoFit/>
          </a:bodyPr>
          <a:lstStyle/>
          <a:p>
            <a:pPr algn="ctr"/>
            <a:r>
              <a:rPr sz="2000" b="1" i="0">
                <a:solidFill>
                  <a:srgbClr val="FFFFFF"/>
                </a:solidFill>
              </a:rPr>
              <a:t>4</a:t>
            </a:r>
          </a:p>
        </p:txBody>
      </p:sp>
      <p:sp>
        <p:nvSpPr>
          <p:cNvPr id="45" name="TextBox 44"/>
          <p:cNvSpPr txBox="1"/>
          <p:nvPr/>
        </p:nvSpPr>
        <p:spPr>
          <a:xfrm>
            <a:off x="6583680" y="3972560"/>
            <a:ext cx="2011680" cy="279400"/>
          </a:xfrm>
          <a:prstGeom prst="rect">
            <a:avLst/>
          </a:prstGeom>
          <a:noFill/>
        </p:spPr>
        <p:txBody>
          <a:bodyPr wrap="square">
            <a:spAutoFit/>
          </a:bodyPr>
          <a:lstStyle/>
          <a:p>
            <a:pPr algn="ctr"/>
            <a:r>
              <a:rPr sz="900" b="0" i="0">
                <a:solidFill>
                  <a:srgbClr val="FFFFFF"/>
                </a:solidFill>
              </a:rPr>
              <a:t>Watch It</a:t>
            </a:r>
          </a:p>
        </p:txBody>
      </p:sp>
      <p:sp>
        <p:nvSpPr>
          <p:cNvPr id="46" name="Rectangle 45"/>
          <p:cNvSpPr/>
          <p:nvPr/>
        </p:nvSpPr>
        <p:spPr>
          <a:xfrm>
            <a:off x="8620760" y="3591560"/>
            <a:ext cx="1960880" cy="81788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95360" y="3642360"/>
            <a:ext cx="2011680" cy="330200"/>
          </a:xfrm>
          <a:prstGeom prst="rect">
            <a:avLst/>
          </a:prstGeom>
          <a:noFill/>
        </p:spPr>
        <p:txBody>
          <a:bodyPr wrap="square">
            <a:spAutoFit/>
          </a:bodyPr>
          <a:lstStyle/>
          <a:p>
            <a:pPr algn="ctr"/>
            <a:r>
              <a:rPr sz="2000" b="1" i="0">
                <a:solidFill>
                  <a:srgbClr val="FFFFFF"/>
                </a:solidFill>
              </a:rPr>
              <a:t>5</a:t>
            </a:r>
          </a:p>
        </p:txBody>
      </p:sp>
      <p:sp>
        <p:nvSpPr>
          <p:cNvPr id="48" name="TextBox 47"/>
          <p:cNvSpPr txBox="1"/>
          <p:nvPr/>
        </p:nvSpPr>
        <p:spPr>
          <a:xfrm>
            <a:off x="8595360" y="3972560"/>
            <a:ext cx="2011680" cy="279400"/>
          </a:xfrm>
          <a:prstGeom prst="rect">
            <a:avLst/>
          </a:prstGeom>
          <a:noFill/>
        </p:spPr>
        <p:txBody>
          <a:bodyPr wrap="square">
            <a:spAutoFit/>
          </a:bodyPr>
          <a:lstStyle/>
          <a:p>
            <a:pPr algn="ctr"/>
            <a:r>
              <a:rPr sz="900" b="0" i="0">
                <a:solidFill>
                  <a:srgbClr val="FFFFFF"/>
                </a:solidFill>
              </a:rPr>
              <a:t>Let It Rest</a:t>
            </a:r>
          </a:p>
        </p:txBody>
      </p:sp>
      <p:sp>
        <p:nvSpPr>
          <p:cNvPr id="49" name="TextBox 48"/>
          <p:cNvSpPr txBox="1"/>
          <p:nvPr/>
        </p:nvSpPr>
        <p:spPr>
          <a:xfrm>
            <a:off x="502920" y="4434840"/>
            <a:ext cx="1920240" cy="868680"/>
          </a:xfrm>
          <a:prstGeom prst="rect">
            <a:avLst/>
          </a:prstGeom>
          <a:noFill/>
        </p:spPr>
        <p:txBody>
          <a:bodyPr wrap="square">
            <a:spAutoFit/>
          </a:bodyPr>
          <a:lstStyle/>
          <a:p>
            <a:pPr algn="l"/>
            <a:r>
              <a:rPr sz="1000" b="1" i="0">
                <a:solidFill>
                  <a:srgbClr val="1E3A5F"/>
                </a:solidFill>
              </a:rPr>
              <a:t>IV — Small
trouble</a:t>
            </a:r>
          </a:p>
        </p:txBody>
      </p:sp>
      <p:sp>
        <p:nvSpPr>
          <p:cNvPr id="50" name="Rectangle 49"/>
          <p:cNvSpPr/>
          <p:nvPr/>
        </p:nvSpPr>
        <p:spPr>
          <a:xfrm>
            <a:off x="2585720" y="4460240"/>
            <a:ext cx="1960880" cy="817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60320" y="4511040"/>
            <a:ext cx="2011680" cy="330200"/>
          </a:xfrm>
          <a:prstGeom prst="rect">
            <a:avLst/>
          </a:prstGeom>
          <a:noFill/>
        </p:spPr>
        <p:txBody>
          <a:bodyPr wrap="square">
            <a:spAutoFit/>
          </a:bodyPr>
          <a:lstStyle/>
          <a:p>
            <a:pPr algn="ctr"/>
            <a:r>
              <a:rPr sz="2000" b="1" i="0">
                <a:solidFill>
                  <a:srgbClr val="FFFFFF"/>
                </a:solidFill>
              </a:rPr>
              <a:t>3</a:t>
            </a:r>
          </a:p>
        </p:txBody>
      </p:sp>
      <p:sp>
        <p:nvSpPr>
          <p:cNvPr id="52" name="TextBox 51"/>
          <p:cNvSpPr txBox="1"/>
          <p:nvPr/>
        </p:nvSpPr>
        <p:spPr>
          <a:xfrm>
            <a:off x="2560320" y="4841240"/>
            <a:ext cx="2011680" cy="279400"/>
          </a:xfrm>
          <a:prstGeom prst="rect">
            <a:avLst/>
          </a:prstGeom>
          <a:noFill/>
        </p:spPr>
        <p:txBody>
          <a:bodyPr wrap="square">
            <a:spAutoFit/>
          </a:bodyPr>
          <a:lstStyle/>
          <a:p>
            <a:pPr algn="ctr"/>
            <a:r>
              <a:rPr sz="900" b="0" i="0">
                <a:solidFill>
                  <a:srgbClr val="FFFFFF"/>
                </a:solidFill>
              </a:rPr>
              <a:t>Work On It</a:t>
            </a:r>
          </a:p>
        </p:txBody>
      </p:sp>
      <p:sp>
        <p:nvSpPr>
          <p:cNvPr id="53" name="Rectangle 52"/>
          <p:cNvSpPr/>
          <p:nvPr/>
        </p:nvSpPr>
        <p:spPr>
          <a:xfrm>
            <a:off x="4597400" y="4460240"/>
            <a:ext cx="1960880" cy="81788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0" y="4511040"/>
            <a:ext cx="2011680" cy="330200"/>
          </a:xfrm>
          <a:prstGeom prst="rect">
            <a:avLst/>
          </a:prstGeom>
          <a:noFill/>
        </p:spPr>
        <p:txBody>
          <a:bodyPr wrap="square">
            <a:spAutoFit/>
          </a:bodyPr>
          <a:lstStyle/>
          <a:p>
            <a:pPr algn="ctr"/>
            <a:r>
              <a:rPr sz="2000" b="1" i="0">
                <a:solidFill>
                  <a:srgbClr val="FFFFFF"/>
                </a:solidFill>
              </a:rPr>
              <a:t>4</a:t>
            </a:r>
          </a:p>
        </p:txBody>
      </p:sp>
      <p:sp>
        <p:nvSpPr>
          <p:cNvPr id="55" name="TextBox 54"/>
          <p:cNvSpPr txBox="1"/>
          <p:nvPr/>
        </p:nvSpPr>
        <p:spPr>
          <a:xfrm>
            <a:off x="4572000" y="4841240"/>
            <a:ext cx="2011680" cy="279400"/>
          </a:xfrm>
          <a:prstGeom prst="rect">
            <a:avLst/>
          </a:prstGeom>
          <a:noFill/>
        </p:spPr>
        <p:txBody>
          <a:bodyPr wrap="square">
            <a:spAutoFit/>
          </a:bodyPr>
          <a:lstStyle/>
          <a:p>
            <a:pPr algn="ctr"/>
            <a:r>
              <a:rPr sz="900" b="0" i="0">
                <a:solidFill>
                  <a:srgbClr val="FFFFFF"/>
                </a:solidFill>
              </a:rPr>
              <a:t>Watch It</a:t>
            </a:r>
          </a:p>
        </p:txBody>
      </p:sp>
      <p:sp>
        <p:nvSpPr>
          <p:cNvPr id="56" name="Rectangle 55"/>
          <p:cNvSpPr/>
          <p:nvPr/>
        </p:nvSpPr>
        <p:spPr>
          <a:xfrm>
            <a:off x="6609080" y="4460240"/>
            <a:ext cx="1960880" cy="81788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83680" y="4511040"/>
            <a:ext cx="2011680" cy="330200"/>
          </a:xfrm>
          <a:prstGeom prst="rect">
            <a:avLst/>
          </a:prstGeom>
          <a:noFill/>
        </p:spPr>
        <p:txBody>
          <a:bodyPr wrap="square">
            <a:spAutoFit/>
          </a:bodyPr>
          <a:lstStyle/>
          <a:p>
            <a:pPr algn="ctr"/>
            <a:r>
              <a:rPr sz="2000" b="1" i="0">
                <a:solidFill>
                  <a:srgbClr val="FFFFFF"/>
                </a:solidFill>
              </a:rPr>
              <a:t>5</a:t>
            </a:r>
          </a:p>
        </p:txBody>
      </p:sp>
      <p:sp>
        <p:nvSpPr>
          <p:cNvPr id="58" name="TextBox 57"/>
          <p:cNvSpPr txBox="1"/>
          <p:nvPr/>
        </p:nvSpPr>
        <p:spPr>
          <a:xfrm>
            <a:off x="6583680" y="4841240"/>
            <a:ext cx="2011680" cy="279400"/>
          </a:xfrm>
          <a:prstGeom prst="rect">
            <a:avLst/>
          </a:prstGeom>
          <a:noFill/>
        </p:spPr>
        <p:txBody>
          <a:bodyPr wrap="square">
            <a:spAutoFit/>
          </a:bodyPr>
          <a:lstStyle/>
          <a:p>
            <a:pPr algn="ctr"/>
            <a:r>
              <a:rPr sz="900" b="0" i="0">
                <a:solidFill>
                  <a:srgbClr val="FFFFFF"/>
                </a:solidFill>
              </a:rPr>
              <a:t>Let It Rest</a:t>
            </a:r>
          </a:p>
        </p:txBody>
      </p:sp>
      <p:sp>
        <p:nvSpPr>
          <p:cNvPr id="59" name="Rectangle 58"/>
          <p:cNvSpPr/>
          <p:nvPr/>
        </p:nvSpPr>
        <p:spPr>
          <a:xfrm>
            <a:off x="8620760" y="4460240"/>
            <a:ext cx="1960880" cy="81788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95360" y="4511040"/>
            <a:ext cx="2011680" cy="330200"/>
          </a:xfrm>
          <a:prstGeom prst="rect">
            <a:avLst/>
          </a:prstGeom>
          <a:noFill/>
        </p:spPr>
        <p:txBody>
          <a:bodyPr wrap="square">
            <a:spAutoFit/>
          </a:bodyPr>
          <a:lstStyle/>
          <a:p>
            <a:pPr algn="ctr"/>
            <a:r>
              <a:rPr sz="2000" b="1" i="0">
                <a:solidFill>
                  <a:srgbClr val="FFFFFF"/>
                </a:solidFill>
              </a:rPr>
              <a:t>5</a:t>
            </a:r>
          </a:p>
        </p:txBody>
      </p:sp>
      <p:sp>
        <p:nvSpPr>
          <p:cNvPr id="61" name="TextBox 60"/>
          <p:cNvSpPr txBox="1"/>
          <p:nvPr/>
        </p:nvSpPr>
        <p:spPr>
          <a:xfrm>
            <a:off x="8595360" y="4841240"/>
            <a:ext cx="2011680" cy="279400"/>
          </a:xfrm>
          <a:prstGeom prst="rect">
            <a:avLst/>
          </a:prstGeom>
          <a:noFill/>
        </p:spPr>
        <p:txBody>
          <a:bodyPr wrap="square">
            <a:spAutoFit/>
          </a:bodyPr>
          <a:lstStyle/>
          <a:p>
            <a:pPr algn="ctr"/>
            <a:r>
              <a:rPr sz="900" b="0" i="0">
                <a:solidFill>
                  <a:srgbClr val="FFFFFF"/>
                </a:solidFill>
              </a:rPr>
              <a:t>Let It Rest</a:t>
            </a:r>
          </a:p>
        </p:txBody>
      </p:sp>
      <p:sp>
        <p:nvSpPr>
          <p:cNvPr id="62" name="TextBox 61"/>
          <p:cNvSpPr txBox="1"/>
          <p:nvPr/>
        </p:nvSpPr>
        <p:spPr>
          <a:xfrm>
            <a:off x="640080" y="6126480"/>
            <a:ext cx="7315200" cy="274320"/>
          </a:xfrm>
          <a:prstGeom prst="rect">
            <a:avLst/>
          </a:prstGeom>
          <a:noFill/>
        </p:spPr>
        <p:txBody>
          <a:bodyPr wrap="square">
            <a:spAutoFit/>
          </a:bodyPr>
          <a:lstStyle/>
          <a:p>
            <a:pPr algn="l"/>
            <a:r>
              <a:rPr sz="900" b="0" i="1">
                <a:solidFill>
                  <a:srgbClr val="6C757D"/>
                </a:solidFill>
              </a:rPr>
              <a:t>* Code 3 (yellow) text appears dark for readability</a:t>
            </a:r>
          </a:p>
        </p:txBody>
      </p:sp>
      <p:sp>
        <p:nvSpPr>
          <p:cNvPr id="63" name="TextBox 62"/>
          <p:cNvSpPr txBox="1"/>
          <p:nvPr/>
        </p:nvSpPr>
        <p:spPr>
          <a:xfrm>
            <a:off x="-2675596944960" y="5120640"/>
            <a:ext cx="3108960" cy="731520"/>
          </a:xfrm>
          <a:prstGeom prst="rect">
            <a:avLst/>
          </a:prstGeom>
          <a:noFill/>
        </p:spPr>
        <p:txBody>
          <a:bodyPr wrap="square">
            <a:spAutoFit/>
          </a:bodyPr>
          <a:lstStyle/>
          <a:p>
            <a:pPr algn="l"/>
            <a:r>
              <a:rPr sz="1100" b="1" i="0">
                <a:solidFill>
                  <a:srgbClr val="1E3A5F"/>
                </a:solidFill>
              </a:rPr>
              <a:t>Codes 1 and 2 always surface at the top of the
problem view regardless of probability rank.</a:t>
            </a:r>
          </a:p>
        </p:txBody>
      </p:sp>
      <p:sp>
        <p:nvSpPr>
          <p:cNvPr id="64" name="TextBox 63"/>
          <p:cNvSpPr txBox="1"/>
          <p:nvPr/>
        </p:nvSpPr>
        <p:spPr>
          <a:xfrm>
            <a:off x="548640" y="6492240"/>
            <a:ext cx="10972800" cy="274320"/>
          </a:xfrm>
          <a:prstGeom prst="rect">
            <a:avLst/>
          </a:prstGeom>
          <a:noFill/>
        </p:spPr>
        <p:txBody>
          <a:bodyPr wrap="square">
            <a:spAutoFit/>
          </a:bodyPr>
          <a:lstStyle/>
          <a:p>
            <a:pPr algn="l"/>
            <a:r>
              <a:rPr sz="900" b="0" i="0">
                <a:solidFill>
                  <a:srgbClr val="6C757D"/>
                </a:solidFill>
              </a:rPr>
              <a:t>Problem-Knowledge Coupler · RCN ·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502920"/>
          </a:xfrm>
          <a:prstGeom prst="rect">
            <a:avLst/>
          </a:prstGeom>
          <a:noFill/>
        </p:spPr>
        <p:txBody>
          <a:bodyPr wrap="square">
            <a:spAutoFit/>
          </a:bodyPr>
          <a:lstStyle/>
          <a:p>
            <a:pPr algn="l"/>
            <a:r>
              <a:rPr sz="2800" b="1" i="0">
                <a:solidFill>
                  <a:srgbClr val="FFFFFF"/>
                </a:solidFill>
              </a:rPr>
              <a:t>Probabilities are estimates, not verdicts</a:t>
            </a:r>
          </a:p>
        </p:txBody>
      </p:sp>
      <p:sp>
        <p:nvSpPr>
          <p:cNvPr id="4" name="TextBox 3"/>
          <p:cNvSpPr txBox="1"/>
          <p:nvPr/>
        </p:nvSpPr>
        <p:spPr>
          <a:xfrm>
            <a:off x="548640" y="594360"/>
            <a:ext cx="10058400" cy="365760"/>
          </a:xfrm>
          <a:prstGeom prst="rect">
            <a:avLst/>
          </a:prstGeom>
          <a:noFill/>
        </p:spPr>
        <p:txBody>
          <a:bodyPr wrap="square">
            <a:spAutoFit/>
          </a:bodyPr>
          <a:lstStyle/>
          <a:p>
            <a:pPr algn="l"/>
            <a:r>
              <a:rPr sz="1400" b="0" i="0">
                <a:solidFill>
                  <a:srgbClr val="B0C8E8"/>
                </a:solidFill>
              </a:rPr>
              <a:t>The picture sharpens as evidence arrives</a:t>
            </a:r>
          </a:p>
        </p:txBody>
      </p:sp>
      <p:sp>
        <p:nvSpPr>
          <p:cNvPr id="5" name="TextBox 4"/>
          <p:cNvSpPr txBox="1"/>
          <p:nvPr/>
        </p:nvSpPr>
        <p:spPr>
          <a:xfrm>
            <a:off x="640080" y="1188720"/>
            <a:ext cx="10881360" cy="365760"/>
          </a:xfrm>
          <a:prstGeom prst="rect">
            <a:avLst/>
          </a:prstGeom>
          <a:noFill/>
        </p:spPr>
        <p:txBody>
          <a:bodyPr wrap="square">
            <a:spAutoFit/>
          </a:bodyPr>
          <a:lstStyle/>
          <a:p>
            <a:pPr algn="l"/>
            <a:r>
              <a:rPr sz="1400" b="0" i="0">
                <a:solidFill>
                  <a:srgbClr val="1A1A2E"/>
                </a:solidFill>
              </a:rPr>
              <a:t>The record shows a ranked list of candidate explanations — never a single conclusion.</a:t>
            </a:r>
          </a:p>
        </p:txBody>
      </p:sp>
      <p:sp>
        <p:nvSpPr>
          <p:cNvPr id="6" name="Rectangle 5"/>
          <p:cNvSpPr/>
          <p:nvPr/>
        </p:nvSpPr>
        <p:spPr>
          <a:xfrm>
            <a:off x="640080" y="1691640"/>
            <a:ext cx="10908792" cy="18745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64008" cy="1874519"/>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783080"/>
            <a:ext cx="1371600" cy="384048"/>
          </a:xfrm>
          <a:prstGeom prst="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37944"/>
            <a:ext cx="1225296" cy="292608"/>
          </a:xfrm>
          <a:prstGeom prst="rect">
            <a:avLst/>
          </a:prstGeom>
          <a:noFill/>
        </p:spPr>
        <p:txBody>
          <a:bodyPr wrap="square">
            <a:spAutoFit/>
          </a:bodyPr>
          <a:lstStyle/>
          <a:p>
            <a:pPr algn="ctr"/>
            <a:r>
              <a:rPr sz="1200" b="1" i="0">
                <a:solidFill>
                  <a:srgbClr val="FFFFFF"/>
                </a:solidFill>
              </a:rPr>
              <a:t>2 — Move Fast</a:t>
            </a:r>
          </a:p>
        </p:txBody>
      </p:sp>
      <p:sp>
        <p:nvSpPr>
          <p:cNvPr id="10" name="TextBox 9"/>
          <p:cNvSpPr txBox="1"/>
          <p:nvPr/>
        </p:nvSpPr>
        <p:spPr>
          <a:xfrm>
            <a:off x="2331720" y="1783080"/>
            <a:ext cx="4572000" cy="384048"/>
          </a:xfrm>
          <a:prstGeom prst="rect">
            <a:avLst/>
          </a:prstGeom>
          <a:noFill/>
        </p:spPr>
        <p:txBody>
          <a:bodyPr wrap="square">
            <a:spAutoFit/>
          </a:bodyPr>
          <a:lstStyle/>
          <a:p>
            <a:pPr algn="l"/>
            <a:r>
              <a:rPr sz="1600" b="1" i="0">
                <a:solidFill>
                  <a:srgbClr val="1A1A2E"/>
                </a:solidFill>
              </a:rPr>
              <a:t>Iron-deficiency anemia</a:t>
            </a:r>
          </a:p>
        </p:txBody>
      </p:sp>
      <p:sp>
        <p:nvSpPr>
          <p:cNvPr id="11" name="TextBox 10"/>
          <p:cNvSpPr txBox="1"/>
          <p:nvPr/>
        </p:nvSpPr>
        <p:spPr>
          <a:xfrm>
            <a:off x="2331720" y="2148840"/>
            <a:ext cx="4572000" cy="274320"/>
          </a:xfrm>
          <a:prstGeom prst="rect">
            <a:avLst/>
          </a:prstGeom>
          <a:noFill/>
        </p:spPr>
        <p:txBody>
          <a:bodyPr wrap="square">
            <a:spAutoFit/>
          </a:bodyPr>
          <a:lstStyle/>
          <a:p>
            <a:pPr algn="l"/>
            <a:r>
              <a:rPr sz="1200" b="0" i="1">
                <a:solidFill>
                  <a:srgbClr val="6C757D"/>
                </a:solidFill>
              </a:rPr>
              <a:t>Low iron causing low blood count</a:t>
            </a:r>
          </a:p>
        </p:txBody>
      </p:sp>
      <p:sp>
        <p:nvSpPr>
          <p:cNvPr id="12" name="Rectangle 11"/>
          <p:cNvSpPr/>
          <p:nvPr/>
        </p:nvSpPr>
        <p:spPr>
          <a:xfrm>
            <a:off x="822960" y="2487168"/>
            <a:ext cx="4114800" cy="164592"/>
          </a:xfrm>
          <a:prstGeom prst="rect">
            <a:avLst/>
          </a:prstGeom>
          <a:solidFill>
            <a:srgbClr val="E9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2487168"/>
            <a:ext cx="1645920"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2414016"/>
            <a:ext cx="2743200" cy="274320"/>
          </a:xfrm>
          <a:prstGeom prst="rect">
            <a:avLst/>
          </a:prstGeom>
          <a:noFill/>
        </p:spPr>
        <p:txBody>
          <a:bodyPr wrap="square">
            <a:spAutoFit/>
          </a:bodyPr>
          <a:lstStyle/>
          <a:p>
            <a:pPr algn="l"/>
            <a:r>
              <a:rPr sz="1100" b="0" i="0">
                <a:solidFill>
                  <a:srgbClr val="6C757D"/>
                </a:solidFill>
              </a:rPr>
              <a:t>40%  Band B  Class III</a:t>
            </a:r>
          </a:p>
        </p:txBody>
      </p:sp>
      <p:sp>
        <p:nvSpPr>
          <p:cNvPr id="15" name="TextBox 14"/>
          <p:cNvSpPr txBox="1"/>
          <p:nvPr/>
        </p:nvSpPr>
        <p:spPr>
          <a:xfrm>
            <a:off x="822960" y="2770632"/>
            <a:ext cx="3657600" cy="256032"/>
          </a:xfrm>
          <a:prstGeom prst="rect">
            <a:avLst/>
          </a:prstGeom>
          <a:noFill/>
        </p:spPr>
        <p:txBody>
          <a:bodyPr wrap="square">
            <a:spAutoFit/>
          </a:bodyPr>
          <a:lstStyle/>
          <a:p>
            <a:pPr algn="l"/>
            <a:r>
              <a:rPr sz="1000" b="1" i="0">
                <a:solidFill>
                  <a:srgbClr val="6C757D"/>
                </a:solidFill>
              </a:rPr>
              <a:t>Probability history:</a:t>
            </a:r>
          </a:p>
        </p:txBody>
      </p:sp>
      <p:sp>
        <p:nvSpPr>
          <p:cNvPr id="16" name="TextBox 15"/>
          <p:cNvSpPr txBox="1"/>
          <p:nvPr/>
        </p:nvSpPr>
        <p:spPr>
          <a:xfrm>
            <a:off x="822960" y="2999232"/>
            <a:ext cx="8229600" cy="256032"/>
          </a:xfrm>
          <a:prstGeom prst="rect">
            <a:avLst/>
          </a:prstGeom>
          <a:noFill/>
        </p:spPr>
        <p:txBody>
          <a:bodyPr wrap="square">
            <a:spAutoFit/>
          </a:bodyPr>
          <a:lstStyle/>
          <a:p>
            <a:pPr algn="l"/>
            <a:r>
              <a:rPr sz="1000" b="0" i="1">
                <a:solidFill>
                  <a:srgbClr val="6C757D"/>
                </a:solidFill>
              </a:rPr>
              <a:t>2026-06-20  →  30%  —  Prior — no data</a:t>
            </a:r>
          </a:p>
        </p:txBody>
      </p:sp>
      <p:sp>
        <p:nvSpPr>
          <p:cNvPr id="17" name="TextBox 16"/>
          <p:cNvSpPr txBox="1"/>
          <p:nvPr/>
        </p:nvSpPr>
        <p:spPr>
          <a:xfrm>
            <a:off x="822960" y="3255264"/>
            <a:ext cx="8229600" cy="256032"/>
          </a:xfrm>
          <a:prstGeom prst="rect">
            <a:avLst/>
          </a:prstGeom>
          <a:noFill/>
        </p:spPr>
        <p:txBody>
          <a:bodyPr wrap="square">
            <a:spAutoFit/>
          </a:bodyPr>
          <a:lstStyle/>
          <a:p>
            <a:pPr algn="l"/>
            <a:r>
              <a:rPr sz="1000" b="0" i="1">
                <a:solidFill>
                  <a:srgbClr val="6C757D"/>
                </a:solidFill>
              </a:rPr>
              <a:t>2026-07-03  →  40%  —  Moved by o-001 (Hgb 11.2 g/dL)</a:t>
            </a:r>
          </a:p>
        </p:txBody>
      </p:sp>
      <p:sp>
        <p:nvSpPr>
          <p:cNvPr id="18" name="Rectangle 17"/>
          <p:cNvSpPr/>
          <p:nvPr/>
        </p:nvSpPr>
        <p:spPr>
          <a:xfrm>
            <a:off x="548640" y="3794760"/>
            <a:ext cx="11091672" cy="19050"/>
          </a:xfrm>
          <a:prstGeom prst="rect">
            <a:avLst/>
          </a:prstGeom>
          <a:solidFill>
            <a:srgbClr val="DE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931920"/>
            <a:ext cx="5212080" cy="365760"/>
          </a:xfrm>
          <a:prstGeom prst="rect">
            <a:avLst/>
          </a:prstGeom>
          <a:noFill/>
        </p:spPr>
        <p:txBody>
          <a:bodyPr wrap="square">
            <a:spAutoFit/>
          </a:bodyPr>
          <a:lstStyle/>
          <a:p>
            <a:pPr algn="l"/>
            <a:r>
              <a:rPr sz="1300" b="1" i="0">
                <a:solidFill>
                  <a:srgbClr val="1E3A5F"/>
                </a:solidFill>
              </a:rPr>
              <a:t>The residual is always on the list</a:t>
            </a:r>
          </a:p>
        </p:txBody>
      </p:sp>
      <p:sp>
        <p:nvSpPr>
          <p:cNvPr id="20" name="TextBox 19"/>
          <p:cNvSpPr txBox="1"/>
          <p:nvPr/>
        </p:nvSpPr>
        <p:spPr>
          <a:xfrm>
            <a:off x="640080" y="4315968"/>
            <a:ext cx="5212080" cy="1097280"/>
          </a:xfrm>
          <a:prstGeom prst="rect">
            <a:avLst/>
          </a:prstGeom>
          <a:noFill/>
        </p:spPr>
        <p:txBody>
          <a:bodyPr wrap="square">
            <a:spAutoFit/>
          </a:bodyPr>
          <a:lstStyle/>
          <a:p>
            <a:pPr algn="l"/>
            <a:r>
              <a:rPr sz="1200" b="0" i="0">
                <a:solidFill>
                  <a:srgbClr val="1A1A2E"/>
                </a:solidFill>
              </a:rPr>
              <a:t>"Something not on this list — the differential is never closed." Its probability is shown explicitly. This is Weed's discipline: the record admits what it does not know.</a:t>
            </a:r>
          </a:p>
        </p:txBody>
      </p:sp>
      <p:sp>
        <p:nvSpPr>
          <p:cNvPr id="21" name="TextBox 20"/>
          <p:cNvSpPr txBox="1"/>
          <p:nvPr/>
        </p:nvSpPr>
        <p:spPr>
          <a:xfrm>
            <a:off x="6217920" y="3931920"/>
            <a:ext cx="5212080" cy="365760"/>
          </a:xfrm>
          <a:prstGeom prst="rect">
            <a:avLst/>
          </a:prstGeom>
          <a:noFill/>
        </p:spPr>
        <p:txBody>
          <a:bodyPr wrap="square">
            <a:spAutoFit/>
          </a:bodyPr>
          <a:lstStyle/>
          <a:p>
            <a:pPr algn="l"/>
            <a:r>
              <a:rPr sz="1300" b="1" i="0">
                <a:solidFill>
                  <a:srgbClr val="1E3A5F"/>
                </a:solidFill>
              </a:rPr>
              <a:t>History is never overwritten</a:t>
            </a:r>
          </a:p>
        </p:txBody>
      </p:sp>
      <p:sp>
        <p:nvSpPr>
          <p:cNvPr id="22" name="TextBox 21"/>
          <p:cNvSpPr txBox="1"/>
          <p:nvPr/>
        </p:nvSpPr>
        <p:spPr>
          <a:xfrm>
            <a:off x="6217920" y="4315968"/>
            <a:ext cx="5212080" cy="1097280"/>
          </a:xfrm>
          <a:prstGeom prst="rect">
            <a:avLst/>
          </a:prstGeom>
          <a:noFill/>
        </p:spPr>
        <p:txBody>
          <a:bodyPr wrap="square">
            <a:spAutoFit/>
          </a:bodyPr>
          <a:lstStyle/>
          <a:p>
            <a:pPr algn="l"/>
            <a:r>
              <a:rPr sz="1200" b="0" i="0">
                <a:solidFill>
                  <a:srgbClr val="1A1A2E"/>
                </a:solidFill>
              </a:rPr>
              <a:t>Each Re-Match appends a new probability entry with the finding IDs that moved it. The trajectory from first guess to current estimate is always auditable.</a:t>
            </a:r>
          </a:p>
        </p:txBody>
      </p:sp>
      <p:sp>
        <p:nvSpPr>
          <p:cNvPr id="23" name="TextBox 22"/>
          <p:cNvSpPr txBox="1"/>
          <p:nvPr/>
        </p:nvSpPr>
        <p:spPr>
          <a:xfrm>
            <a:off x="548640" y="6492240"/>
            <a:ext cx="10972800" cy="274320"/>
          </a:xfrm>
          <a:prstGeom prst="rect">
            <a:avLst/>
          </a:prstGeom>
          <a:noFill/>
        </p:spPr>
        <p:txBody>
          <a:bodyPr wrap="square">
            <a:spAutoFit/>
          </a:bodyPr>
          <a:lstStyle/>
          <a:p>
            <a:pPr algn="l"/>
            <a:r>
              <a:rPr sz="900" b="0" i="0">
                <a:solidFill>
                  <a:srgbClr val="6C757D"/>
                </a:solidFill>
              </a:rPr>
              <a:t>Problem-Knowledge Coupler · RCN ·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502920"/>
          </a:xfrm>
          <a:prstGeom prst="rect">
            <a:avLst/>
          </a:prstGeom>
          <a:noFill/>
        </p:spPr>
        <p:txBody>
          <a:bodyPr wrap="square">
            <a:spAutoFit/>
          </a:bodyPr>
          <a:lstStyle/>
          <a:p>
            <a:pPr algn="l"/>
            <a:r>
              <a:rPr sz="2800" b="1" i="0">
                <a:solidFill>
                  <a:srgbClr val="FFFFFF"/>
                </a:solidFill>
              </a:rPr>
              <a:t>Three roles, one record</a:t>
            </a:r>
          </a:p>
        </p:txBody>
      </p:sp>
      <p:sp>
        <p:nvSpPr>
          <p:cNvPr id="4" name="TextBox 3"/>
          <p:cNvSpPr txBox="1"/>
          <p:nvPr/>
        </p:nvSpPr>
        <p:spPr>
          <a:xfrm>
            <a:off x="548640" y="594360"/>
            <a:ext cx="10058400" cy="365760"/>
          </a:xfrm>
          <a:prstGeom prst="rect">
            <a:avLst/>
          </a:prstGeom>
          <a:noFill/>
        </p:spPr>
        <p:txBody>
          <a:bodyPr wrap="square">
            <a:spAutoFit/>
          </a:bodyPr>
          <a:lstStyle/>
          <a:p>
            <a:pPr algn="l"/>
            <a:r>
              <a:rPr sz="1400" b="0" i="0">
                <a:solidFill>
                  <a:srgbClr val="B0C8E8"/>
                </a:solidFill>
              </a:rPr>
              <a:t>Person-controlled, provenance on every entry</a:t>
            </a:r>
          </a:p>
        </p:txBody>
      </p:sp>
      <p:sp>
        <p:nvSpPr>
          <p:cNvPr id="5" name="Rectangle 4"/>
          <p:cNvSpPr/>
          <p:nvPr/>
        </p:nvSpPr>
        <p:spPr>
          <a:xfrm>
            <a:off x="502920" y="1188720"/>
            <a:ext cx="3621024"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88720"/>
            <a:ext cx="3621024" cy="41148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3346704" cy="347472"/>
          </a:xfrm>
          <a:prstGeom prst="rect">
            <a:avLst/>
          </a:prstGeom>
          <a:noFill/>
        </p:spPr>
        <p:txBody>
          <a:bodyPr wrap="square">
            <a:spAutoFit/>
          </a:bodyPr>
          <a:lstStyle/>
          <a:p>
            <a:pPr algn="l"/>
            <a:r>
              <a:rPr sz="1400" b="1" i="0">
                <a:solidFill>
                  <a:srgbClr val="FFFFFF"/>
                </a:solidFill>
              </a:rPr>
              <a:t>Person / Family</a:t>
            </a:r>
          </a:p>
        </p:txBody>
      </p:sp>
      <p:sp>
        <p:nvSpPr>
          <p:cNvPr id="8" name="TextBox 7"/>
          <p:cNvSpPr txBox="1"/>
          <p:nvPr/>
        </p:nvSpPr>
        <p:spPr>
          <a:xfrm>
            <a:off x="640080" y="1691640"/>
            <a:ext cx="3346704" cy="1280160"/>
          </a:xfrm>
          <a:prstGeom prst="rect">
            <a:avLst/>
          </a:prstGeom>
          <a:noFill/>
        </p:spPr>
        <p:txBody>
          <a:bodyPr wrap="square">
            <a:spAutoFit/>
          </a:bodyPr>
          <a:lstStyle/>
          <a:p>
            <a:pPr algn="l"/>
            <a:r>
              <a:rPr sz="1100" b="0" i="0">
                <a:solidFill>
                  <a:srgbClr val="1A1A2E"/>
                </a:solidFill>
              </a:rPr>
              <a:t>Fills in subjective findings from lived experience. Sees the full frame — knows what is being asked and why. "Written by other" flag if a CHW or clinician records on their behalf.</a:t>
            </a:r>
          </a:p>
        </p:txBody>
      </p:sp>
      <p:sp>
        <p:nvSpPr>
          <p:cNvPr id="9" name="Rectangle 8"/>
          <p:cNvSpPr/>
          <p:nvPr/>
        </p:nvSpPr>
        <p:spPr>
          <a:xfrm>
            <a:off x="685800" y="3127248"/>
            <a:ext cx="109728" cy="109728"/>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072384"/>
            <a:ext cx="3108960" cy="475488"/>
          </a:xfrm>
          <a:prstGeom prst="rect">
            <a:avLst/>
          </a:prstGeom>
          <a:noFill/>
        </p:spPr>
        <p:txBody>
          <a:bodyPr wrap="square">
            <a:spAutoFit/>
          </a:bodyPr>
          <a:lstStyle/>
          <a:p>
            <a:pPr algn="l"/>
            <a:r>
              <a:rPr sz="1100" b="0" i="0">
                <a:solidFill>
                  <a:srgbClr val="1A1A2E"/>
                </a:solidFill>
              </a:rPr>
              <a:t>Answers subjective questions</a:t>
            </a:r>
          </a:p>
        </p:txBody>
      </p:sp>
      <p:sp>
        <p:nvSpPr>
          <p:cNvPr id="11" name="Rectangle 10"/>
          <p:cNvSpPr/>
          <p:nvPr/>
        </p:nvSpPr>
        <p:spPr>
          <a:xfrm>
            <a:off x="685800" y="3630168"/>
            <a:ext cx="109728" cy="109728"/>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575304"/>
            <a:ext cx="3108960" cy="475488"/>
          </a:xfrm>
          <a:prstGeom prst="rect">
            <a:avLst/>
          </a:prstGeom>
          <a:noFill/>
        </p:spPr>
        <p:txBody>
          <a:bodyPr wrap="square">
            <a:spAutoFit/>
          </a:bodyPr>
          <a:lstStyle/>
          <a:p>
            <a:pPr algn="l"/>
            <a:r>
              <a:rPr sz="1100" b="0" i="0">
                <a:solidFill>
                  <a:srgbClr val="1A1A2E"/>
                </a:solidFill>
              </a:rPr>
              <a:t>Reviews candidate assessments in plain language</a:t>
            </a:r>
          </a:p>
        </p:txBody>
      </p:sp>
      <p:sp>
        <p:nvSpPr>
          <p:cNvPr id="13" name="Rectangle 12"/>
          <p:cNvSpPr/>
          <p:nvPr/>
        </p:nvSpPr>
        <p:spPr>
          <a:xfrm>
            <a:off x="685800" y="4133088"/>
            <a:ext cx="109728" cy="109728"/>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78224"/>
            <a:ext cx="3108960" cy="475488"/>
          </a:xfrm>
          <a:prstGeom prst="rect">
            <a:avLst/>
          </a:prstGeom>
          <a:noFill/>
        </p:spPr>
        <p:txBody>
          <a:bodyPr wrap="square">
            <a:spAutoFit/>
          </a:bodyPr>
          <a:lstStyle/>
          <a:p>
            <a:pPr algn="l"/>
            <a:r>
              <a:rPr sz="1100" b="0" i="0">
                <a:solidFill>
                  <a:srgbClr val="1A1A2E"/>
                </a:solidFill>
              </a:rPr>
              <a:t>Sees what is still missing and why it matters</a:t>
            </a:r>
          </a:p>
        </p:txBody>
      </p:sp>
      <p:sp>
        <p:nvSpPr>
          <p:cNvPr id="15" name="Rectangle 14"/>
          <p:cNvSpPr/>
          <p:nvPr/>
        </p:nvSpPr>
        <p:spPr>
          <a:xfrm>
            <a:off x="4398264" y="1188720"/>
            <a:ext cx="3621024"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1188720"/>
            <a:ext cx="3621024" cy="41148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234440"/>
            <a:ext cx="3346704" cy="347472"/>
          </a:xfrm>
          <a:prstGeom prst="rect">
            <a:avLst/>
          </a:prstGeom>
          <a:noFill/>
        </p:spPr>
        <p:txBody>
          <a:bodyPr wrap="square">
            <a:spAutoFit/>
          </a:bodyPr>
          <a:lstStyle/>
          <a:p>
            <a:pPr algn="l"/>
            <a:r>
              <a:rPr sz="1400" b="1" i="0">
                <a:solidFill>
                  <a:srgbClr val="FFFFFF"/>
                </a:solidFill>
              </a:rPr>
              <a:t>Community Health Worker</a:t>
            </a:r>
          </a:p>
        </p:txBody>
      </p:sp>
      <p:sp>
        <p:nvSpPr>
          <p:cNvPr id="18" name="TextBox 17"/>
          <p:cNvSpPr txBox="1"/>
          <p:nvPr/>
        </p:nvSpPr>
        <p:spPr>
          <a:xfrm>
            <a:off x="4535424" y="1691640"/>
            <a:ext cx="3346704" cy="1280160"/>
          </a:xfrm>
          <a:prstGeom prst="rect">
            <a:avLst/>
          </a:prstGeom>
          <a:noFill/>
        </p:spPr>
        <p:txBody>
          <a:bodyPr wrap="square">
            <a:spAutoFit/>
          </a:bodyPr>
          <a:lstStyle/>
          <a:p>
            <a:pPr algn="l"/>
            <a:r>
              <a:rPr sz="1100" b="0" i="0">
                <a:solidFill>
                  <a:srgbClr val="1A1A2E"/>
                </a:solidFill>
              </a:rPr>
              <a:t>Facilitates data collection in the field. Records objective findings. Runs Re-Match after each visit to update the picture. Narrate produces a summary paragraph for handoff.</a:t>
            </a:r>
          </a:p>
        </p:txBody>
      </p:sp>
      <p:sp>
        <p:nvSpPr>
          <p:cNvPr id="19" name="Rectangle 18"/>
          <p:cNvSpPr/>
          <p:nvPr/>
        </p:nvSpPr>
        <p:spPr>
          <a:xfrm>
            <a:off x="4581144" y="3127248"/>
            <a:ext cx="109728" cy="109728"/>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64024" y="3072384"/>
            <a:ext cx="3108960" cy="475488"/>
          </a:xfrm>
          <a:prstGeom prst="rect">
            <a:avLst/>
          </a:prstGeom>
          <a:noFill/>
        </p:spPr>
        <p:txBody>
          <a:bodyPr wrap="square">
            <a:spAutoFit/>
          </a:bodyPr>
          <a:lstStyle/>
          <a:p>
            <a:pPr algn="l"/>
            <a:r>
              <a:rPr sz="1100" b="0" i="0">
                <a:solidFill>
                  <a:srgbClr val="1A1A2E"/>
                </a:solidFill>
              </a:rPr>
              <a:t>Records findings with date + provenance</a:t>
            </a:r>
          </a:p>
        </p:txBody>
      </p:sp>
      <p:sp>
        <p:nvSpPr>
          <p:cNvPr id="21" name="Rectangle 20"/>
          <p:cNvSpPr/>
          <p:nvPr/>
        </p:nvSpPr>
        <p:spPr>
          <a:xfrm>
            <a:off x="4581144" y="3630168"/>
            <a:ext cx="109728" cy="109728"/>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64024" y="3575304"/>
            <a:ext cx="3108960" cy="475488"/>
          </a:xfrm>
          <a:prstGeom prst="rect">
            <a:avLst/>
          </a:prstGeom>
          <a:noFill/>
        </p:spPr>
        <p:txBody>
          <a:bodyPr wrap="square">
            <a:spAutoFit/>
          </a:bodyPr>
          <a:lstStyle/>
          <a:p>
            <a:pPr algn="l"/>
            <a:r>
              <a:rPr sz="1100" b="0" i="0">
                <a:solidFill>
                  <a:srgbClr val="1A1A2E"/>
                </a:solidFill>
              </a:rPr>
              <a:t>Runs Re-Match to update probabilities</a:t>
            </a:r>
          </a:p>
        </p:txBody>
      </p:sp>
      <p:sp>
        <p:nvSpPr>
          <p:cNvPr id="23" name="Rectangle 22"/>
          <p:cNvSpPr/>
          <p:nvPr/>
        </p:nvSpPr>
        <p:spPr>
          <a:xfrm>
            <a:off x="4581144" y="4133088"/>
            <a:ext cx="109728" cy="109728"/>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64024" y="4078224"/>
            <a:ext cx="3108960" cy="475488"/>
          </a:xfrm>
          <a:prstGeom prst="rect">
            <a:avLst/>
          </a:prstGeom>
          <a:noFill/>
        </p:spPr>
        <p:txBody>
          <a:bodyPr wrap="square">
            <a:spAutoFit/>
          </a:bodyPr>
          <a:lstStyle/>
          <a:p>
            <a:pPr algn="l"/>
            <a:r>
              <a:rPr sz="1100" b="0" i="0">
                <a:solidFill>
                  <a:srgbClr val="1A1A2E"/>
                </a:solidFill>
              </a:rPr>
              <a:t>Uses Narrate for visit summary</a:t>
            </a:r>
          </a:p>
        </p:txBody>
      </p:sp>
      <p:sp>
        <p:nvSpPr>
          <p:cNvPr id="25" name="Rectangle 24"/>
          <p:cNvSpPr/>
          <p:nvPr/>
        </p:nvSpPr>
        <p:spPr>
          <a:xfrm>
            <a:off x="8293608" y="1188720"/>
            <a:ext cx="3621024"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93608" y="1188720"/>
            <a:ext cx="3621024" cy="411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30768" y="1234440"/>
            <a:ext cx="3346704" cy="347472"/>
          </a:xfrm>
          <a:prstGeom prst="rect">
            <a:avLst/>
          </a:prstGeom>
          <a:noFill/>
        </p:spPr>
        <p:txBody>
          <a:bodyPr wrap="square">
            <a:spAutoFit/>
          </a:bodyPr>
          <a:lstStyle/>
          <a:p>
            <a:pPr algn="l"/>
            <a:r>
              <a:rPr sz="1400" b="1" i="0">
                <a:solidFill>
                  <a:srgbClr val="FFFFFF"/>
                </a:solidFill>
              </a:rPr>
              <a:t>Physician</a:t>
            </a:r>
          </a:p>
        </p:txBody>
      </p:sp>
      <p:sp>
        <p:nvSpPr>
          <p:cNvPr id="28" name="TextBox 27"/>
          <p:cNvSpPr txBox="1"/>
          <p:nvPr/>
        </p:nvSpPr>
        <p:spPr>
          <a:xfrm>
            <a:off x="8430768" y="1691640"/>
            <a:ext cx="3346704" cy="1280160"/>
          </a:xfrm>
          <a:prstGeom prst="rect">
            <a:avLst/>
          </a:prstGeom>
          <a:noFill/>
        </p:spPr>
        <p:txBody>
          <a:bodyPr wrap="square">
            <a:spAutoFit/>
          </a:bodyPr>
          <a:lstStyle/>
          <a:p>
            <a:pPr algn="l"/>
            <a:r>
              <a:rPr sz="1100" b="0" i="0">
                <a:solidFill>
                  <a:srgbClr val="1A1A2E"/>
                </a:solidFill>
              </a:rPr>
              <a:t>Receives a Weed-standard record: every gap explicit, every candidate with evidence basis. The "not yet gathered" list is a teaching instrument. Gaps are not absences — they are assignments.</a:t>
            </a:r>
          </a:p>
        </p:txBody>
      </p:sp>
      <p:sp>
        <p:nvSpPr>
          <p:cNvPr id="29" name="Rectangle 28"/>
          <p:cNvSpPr/>
          <p:nvPr/>
        </p:nvSpPr>
        <p:spPr>
          <a:xfrm>
            <a:off x="8476488" y="3127248"/>
            <a:ext cx="109728" cy="10972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59368" y="3072384"/>
            <a:ext cx="3108960" cy="475488"/>
          </a:xfrm>
          <a:prstGeom prst="rect">
            <a:avLst/>
          </a:prstGeom>
          <a:noFill/>
        </p:spPr>
        <p:txBody>
          <a:bodyPr wrap="square">
            <a:spAutoFit/>
          </a:bodyPr>
          <a:lstStyle/>
          <a:p>
            <a:pPr algn="l"/>
            <a:r>
              <a:rPr sz="1100" b="0" i="0">
                <a:solidFill>
                  <a:srgbClr val="1A1A2E"/>
                </a:solidFill>
              </a:rPr>
              <a:t>Reads a complete differential, not a conclusion</a:t>
            </a:r>
          </a:p>
        </p:txBody>
      </p:sp>
      <p:sp>
        <p:nvSpPr>
          <p:cNvPr id="31" name="Rectangle 30"/>
          <p:cNvSpPr/>
          <p:nvPr/>
        </p:nvSpPr>
        <p:spPr>
          <a:xfrm>
            <a:off x="8476488" y="3630168"/>
            <a:ext cx="109728" cy="10972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59368" y="3575304"/>
            <a:ext cx="3108960" cy="475488"/>
          </a:xfrm>
          <a:prstGeom prst="rect">
            <a:avLst/>
          </a:prstGeom>
          <a:noFill/>
        </p:spPr>
        <p:txBody>
          <a:bodyPr wrap="square">
            <a:spAutoFit/>
          </a:bodyPr>
          <a:lstStyle/>
          <a:p>
            <a:pPr algn="l"/>
            <a:r>
              <a:rPr sz="1100" b="0" i="0">
                <a:solidFill>
                  <a:srgbClr val="1A1A2E"/>
                </a:solidFill>
              </a:rPr>
              <a:t>Sees what evidence supports or refutes each candidate</a:t>
            </a:r>
          </a:p>
        </p:txBody>
      </p:sp>
      <p:sp>
        <p:nvSpPr>
          <p:cNvPr id="33" name="Rectangle 32"/>
          <p:cNvSpPr/>
          <p:nvPr/>
        </p:nvSpPr>
        <p:spPr>
          <a:xfrm>
            <a:off x="8476488" y="4133088"/>
            <a:ext cx="109728" cy="10972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9368" y="4078224"/>
            <a:ext cx="3108960" cy="475488"/>
          </a:xfrm>
          <a:prstGeom prst="rect">
            <a:avLst/>
          </a:prstGeom>
          <a:noFill/>
        </p:spPr>
        <p:txBody>
          <a:bodyPr wrap="square">
            <a:spAutoFit/>
          </a:bodyPr>
          <a:lstStyle/>
          <a:p>
            <a:pPr algn="l"/>
            <a:r>
              <a:rPr sz="1100" b="0" i="0">
                <a:solidFill>
                  <a:srgbClr val="1A1A2E"/>
                </a:solidFill>
              </a:rPr>
              <a:t>Acts on the attention code, not just probability rank</a:t>
            </a:r>
          </a:p>
        </p:txBody>
      </p:sp>
      <p:sp>
        <p:nvSpPr>
          <p:cNvPr id="35" name="TextBox 34"/>
          <p:cNvSpPr txBox="1"/>
          <p:nvPr/>
        </p:nvSpPr>
        <p:spPr>
          <a:xfrm>
            <a:off x="548640" y="6492240"/>
            <a:ext cx="10972800" cy="274320"/>
          </a:xfrm>
          <a:prstGeom prst="rect">
            <a:avLst/>
          </a:prstGeom>
          <a:noFill/>
        </p:spPr>
        <p:txBody>
          <a:bodyPr wrap="square">
            <a:spAutoFit/>
          </a:bodyPr>
          <a:lstStyle/>
          <a:p>
            <a:pPr algn="l"/>
            <a:r>
              <a:rPr sz="900" b="0" i="0">
                <a:solidFill>
                  <a:srgbClr val="6C757D"/>
                </a:solidFill>
              </a:rPr>
              <a:t>Problem-Knowledge Coupler · RCN ·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502920"/>
          </a:xfrm>
          <a:prstGeom prst="rect">
            <a:avLst/>
          </a:prstGeom>
          <a:noFill/>
        </p:spPr>
        <p:txBody>
          <a:bodyPr wrap="square">
            <a:spAutoFit/>
          </a:bodyPr>
          <a:lstStyle/>
          <a:p>
            <a:pPr algn="l"/>
            <a:r>
              <a:rPr sz="2800" b="1" i="0">
                <a:solidFill>
                  <a:srgbClr val="FFFFFF"/>
                </a:solidFill>
              </a:rPr>
              <a:t>AI's role — and its limits</a:t>
            </a:r>
          </a:p>
        </p:txBody>
      </p:sp>
      <p:sp>
        <p:nvSpPr>
          <p:cNvPr id="4" name="TextBox 3"/>
          <p:cNvSpPr txBox="1"/>
          <p:nvPr/>
        </p:nvSpPr>
        <p:spPr>
          <a:xfrm>
            <a:off x="548640" y="594360"/>
            <a:ext cx="10058400" cy="365760"/>
          </a:xfrm>
          <a:prstGeom prst="rect">
            <a:avLst/>
          </a:prstGeom>
          <a:noFill/>
        </p:spPr>
        <p:txBody>
          <a:bodyPr wrap="square">
            <a:spAutoFit/>
          </a:bodyPr>
          <a:lstStyle/>
          <a:p>
            <a:pPr algn="l"/>
            <a:r>
              <a:rPr sz="1400" b="0" i="0">
                <a:solidFill>
                  <a:srgbClr val="B0C8E8"/>
                </a:solidFill>
              </a:rPr>
              <a:t>The LLM drafts frames. It does not decide.</a:t>
            </a:r>
          </a:p>
        </p:txBody>
      </p:sp>
      <p:sp>
        <p:nvSpPr>
          <p:cNvPr id="5" name="Rectangle 4"/>
          <p:cNvSpPr/>
          <p:nvPr/>
        </p:nvSpPr>
        <p:spPr>
          <a:xfrm>
            <a:off x="502920" y="1234440"/>
            <a:ext cx="457200" cy="45720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234440"/>
            <a:ext cx="10058400" cy="384048"/>
          </a:xfrm>
          <a:prstGeom prst="rect">
            <a:avLst/>
          </a:prstGeom>
          <a:noFill/>
        </p:spPr>
        <p:txBody>
          <a:bodyPr wrap="square">
            <a:spAutoFit/>
          </a:bodyPr>
          <a:lstStyle/>
          <a:p>
            <a:pPr algn="l"/>
            <a:r>
              <a:rPr sz="1500" b="1" i="0">
                <a:solidFill>
                  <a:srgbClr val="1E3A5F"/>
                </a:solidFill>
              </a:rPr>
              <a:t>What the AI does</a:t>
            </a:r>
          </a:p>
        </p:txBody>
      </p:sp>
      <p:sp>
        <p:nvSpPr>
          <p:cNvPr id="7" name="TextBox 6"/>
          <p:cNvSpPr txBox="1"/>
          <p:nvPr/>
        </p:nvSpPr>
        <p:spPr>
          <a:xfrm>
            <a:off x="1097280" y="1618488"/>
            <a:ext cx="10515600" cy="1005840"/>
          </a:xfrm>
          <a:prstGeom prst="rect">
            <a:avLst/>
          </a:prstGeom>
          <a:noFill/>
        </p:spPr>
        <p:txBody>
          <a:bodyPr wrap="square">
            <a:spAutoFit/>
          </a:bodyPr>
          <a:lstStyle/>
          <a:p>
            <a:pPr algn="l"/>
            <a:r>
              <a:rPr sz="1300" b="0" i="0">
                <a:solidFill>
                  <a:srgbClr val="1A1A2E"/>
                </a:solidFill>
              </a:rPr>
              <a:t>Generates the coupler frame — the exhaustive list of findings, candidate assessments, probability estimates, severity classes, and plan options. Calibrates estimates to the actual record data, not just textbook base rates. Writes vernacular explanations for every term.</a:t>
            </a:r>
          </a:p>
        </p:txBody>
      </p:sp>
      <p:sp>
        <p:nvSpPr>
          <p:cNvPr id="8" name="Rectangle 7"/>
          <p:cNvSpPr/>
          <p:nvPr/>
        </p:nvSpPr>
        <p:spPr>
          <a:xfrm>
            <a:off x="502920" y="2862072"/>
            <a:ext cx="457200" cy="45720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862072"/>
            <a:ext cx="10058400" cy="384048"/>
          </a:xfrm>
          <a:prstGeom prst="rect">
            <a:avLst/>
          </a:prstGeom>
          <a:noFill/>
        </p:spPr>
        <p:txBody>
          <a:bodyPr wrap="square">
            <a:spAutoFit/>
          </a:bodyPr>
          <a:lstStyle/>
          <a:p>
            <a:pPr algn="l"/>
            <a:r>
              <a:rPr sz="1500" b="1" i="0">
                <a:solidFill>
                  <a:srgbClr val="1E3A5F"/>
                </a:solidFill>
              </a:rPr>
              <a:t>What the AI does not do</a:t>
            </a:r>
          </a:p>
        </p:txBody>
      </p:sp>
      <p:sp>
        <p:nvSpPr>
          <p:cNvPr id="10" name="TextBox 9"/>
          <p:cNvSpPr txBox="1"/>
          <p:nvPr/>
        </p:nvSpPr>
        <p:spPr>
          <a:xfrm>
            <a:off x="1097280" y="3246120"/>
            <a:ext cx="10515600" cy="1005840"/>
          </a:xfrm>
          <a:prstGeom prst="rect">
            <a:avLst/>
          </a:prstGeom>
          <a:noFill/>
        </p:spPr>
        <p:txBody>
          <a:bodyPr wrap="square">
            <a:spAutoFit/>
          </a:bodyPr>
          <a:lstStyle/>
          <a:p>
            <a:pPr algn="l"/>
            <a:r>
              <a:rPr sz="1300" b="0" i="0">
                <a:solidFill>
                  <a:srgbClr val="1A1A2E"/>
                </a:solidFill>
              </a:rPr>
              <a:t>Conclude. Diagnose. Assign attention codes (those are a deterministic table lookup). Overwrite prior probability estimates. Operate on data it has not been given. Make any entry the person of record has not reviewed.</a:t>
            </a:r>
          </a:p>
        </p:txBody>
      </p:sp>
      <p:sp>
        <p:nvSpPr>
          <p:cNvPr id="11" name="Rectangle 10"/>
          <p:cNvSpPr/>
          <p:nvPr/>
        </p:nvSpPr>
        <p:spPr>
          <a:xfrm>
            <a:off x="502920" y="4489704"/>
            <a:ext cx="45720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489704"/>
            <a:ext cx="10058400" cy="384048"/>
          </a:xfrm>
          <a:prstGeom prst="rect">
            <a:avLst/>
          </a:prstGeom>
          <a:noFill/>
        </p:spPr>
        <p:txBody>
          <a:bodyPr wrap="square">
            <a:spAutoFit/>
          </a:bodyPr>
          <a:lstStyle/>
          <a:p>
            <a:pPr algn="l"/>
            <a:r>
              <a:rPr sz="1500" b="1" i="0">
                <a:solidFill>
                  <a:srgbClr val="1E3A5F"/>
                </a:solidFill>
              </a:rPr>
              <a:t>What humans control</a:t>
            </a:r>
          </a:p>
        </p:txBody>
      </p:sp>
      <p:sp>
        <p:nvSpPr>
          <p:cNvPr id="13" name="TextBox 12"/>
          <p:cNvSpPr txBox="1"/>
          <p:nvPr/>
        </p:nvSpPr>
        <p:spPr>
          <a:xfrm>
            <a:off x="1097280" y="4873752"/>
            <a:ext cx="10515600" cy="1005840"/>
          </a:xfrm>
          <a:prstGeom prst="rect">
            <a:avLst/>
          </a:prstGeom>
          <a:noFill/>
        </p:spPr>
        <p:txBody>
          <a:bodyPr wrap="square">
            <a:spAutoFit/>
          </a:bodyPr>
          <a:lstStyle/>
          <a:p>
            <a:pPr algn="l"/>
            <a:r>
              <a:rPr sz="1300" b="0" i="0">
                <a:solidFill>
                  <a:srgbClr val="1A1A2E"/>
                </a:solidFill>
              </a:rPr>
              <a:t>Every frame is stored as human-readable JSON. Any item can be read, questioned, edited, or versioned. The person controls all access. Provenance is on every entry. The differential is explicitly never closed.</a:t>
            </a:r>
          </a:p>
        </p:txBody>
      </p:sp>
      <p:sp>
        <p:nvSpPr>
          <p:cNvPr id="14" name="Rectangle 13"/>
          <p:cNvSpPr/>
          <p:nvPr/>
        </p:nvSpPr>
        <p:spPr>
          <a:xfrm>
            <a:off x="548640" y="6172200"/>
            <a:ext cx="11091672" cy="19050"/>
          </a:xfrm>
          <a:prstGeom prst="rect">
            <a:avLst/>
          </a:prstGeom>
          <a:solidFill>
            <a:srgbClr val="DE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236208"/>
            <a:ext cx="10972800" cy="347472"/>
          </a:xfrm>
          <a:prstGeom prst="rect">
            <a:avLst/>
          </a:prstGeom>
          <a:noFill/>
        </p:spPr>
        <p:txBody>
          <a:bodyPr wrap="square">
            <a:spAutoFit/>
          </a:bodyPr>
          <a:lstStyle/>
          <a:p>
            <a:pPr algn="l"/>
            <a:r>
              <a:rPr sz="1100" b="0" i="1">
                <a:solidFill>
                  <a:srgbClr val="6C757D"/>
                </a:solidFill>
              </a:rPr>
              <a:t>Basis field on every assessment candidate and plan option. Confidence note on every candidate. Uncertainty is stated, not hidden.</a:t>
            </a:r>
          </a:p>
        </p:txBody>
      </p:sp>
      <p:sp>
        <p:nvSpPr>
          <p:cNvPr id="16" name="TextBox 15"/>
          <p:cNvSpPr txBox="1"/>
          <p:nvPr/>
        </p:nvSpPr>
        <p:spPr>
          <a:xfrm>
            <a:off x="548640" y="6492240"/>
            <a:ext cx="10972800" cy="274320"/>
          </a:xfrm>
          <a:prstGeom prst="rect">
            <a:avLst/>
          </a:prstGeom>
          <a:noFill/>
        </p:spPr>
        <p:txBody>
          <a:bodyPr wrap="square">
            <a:spAutoFit/>
          </a:bodyPr>
          <a:lstStyle/>
          <a:p>
            <a:pPr algn="l"/>
            <a:r>
              <a:rPr sz="900" b="0" i="0">
                <a:solidFill>
                  <a:srgbClr val="6C757D"/>
                </a:solidFill>
              </a:rPr>
              <a:t>Problem-Knowledge Coupler · RCN ·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502920"/>
          </a:xfrm>
          <a:prstGeom prst="rect">
            <a:avLst/>
          </a:prstGeom>
          <a:noFill/>
        </p:spPr>
        <p:txBody>
          <a:bodyPr wrap="square">
            <a:spAutoFit/>
          </a:bodyPr>
          <a:lstStyle/>
          <a:p>
            <a:pPr algn="l"/>
            <a:r>
              <a:rPr sz="2800" b="1" i="0">
                <a:solidFill>
                  <a:srgbClr val="FFFFFF"/>
                </a:solidFill>
              </a:rPr>
              <a:t>Activation Band — pacing, not gatekeeping</a:t>
            </a:r>
          </a:p>
        </p:txBody>
      </p:sp>
      <p:sp>
        <p:nvSpPr>
          <p:cNvPr id="4" name="TextBox 3"/>
          <p:cNvSpPr txBox="1"/>
          <p:nvPr/>
        </p:nvSpPr>
        <p:spPr>
          <a:xfrm>
            <a:off x="548640" y="594360"/>
            <a:ext cx="10058400" cy="365760"/>
          </a:xfrm>
          <a:prstGeom prst="rect">
            <a:avLst/>
          </a:prstGeom>
          <a:noFill/>
        </p:spPr>
        <p:txBody>
          <a:bodyPr wrap="square">
            <a:spAutoFit/>
          </a:bodyPr>
          <a:lstStyle/>
          <a:p>
            <a:pPr algn="l"/>
            <a:r>
              <a:rPr sz="1400" b="0" i="0">
                <a:solidFill>
                  <a:srgbClr val="B0C8E8"/>
                </a:solidFill>
              </a:rPr>
              <a:t>Hibbard PAM · Mahoney PANAS proxy · four levels · versioned alongside probability</a:t>
            </a:r>
          </a:p>
        </p:txBody>
      </p:sp>
      <p:sp>
        <p:nvSpPr>
          <p:cNvPr id="5" name="TextBox 4"/>
          <p:cNvSpPr txBox="1"/>
          <p:nvPr/>
        </p:nvSpPr>
        <p:spPr>
          <a:xfrm>
            <a:off x="548640" y="1188720"/>
            <a:ext cx="5303520" cy="347472"/>
          </a:xfrm>
          <a:prstGeom prst="rect">
            <a:avLst/>
          </a:prstGeom>
          <a:noFill/>
        </p:spPr>
        <p:txBody>
          <a:bodyPr wrap="square">
            <a:spAutoFit/>
          </a:bodyPr>
          <a:lstStyle/>
          <a:p>
            <a:pPr algn="l"/>
            <a:r>
              <a:rPr sz="1400" b="1" i="0">
                <a:solidFill>
                  <a:srgbClr val="1E3A5F"/>
                </a:solidFill>
              </a:rPr>
              <a:t>PANAS PA-10 Check-in</a:t>
            </a:r>
          </a:p>
        </p:txBody>
      </p:sp>
      <p:sp>
        <p:nvSpPr>
          <p:cNvPr id="6" name="TextBox 5"/>
          <p:cNvSpPr txBox="1"/>
          <p:nvPr/>
        </p:nvSpPr>
        <p:spPr>
          <a:xfrm>
            <a:off x="548640" y="1572768"/>
            <a:ext cx="5303520" cy="822960"/>
          </a:xfrm>
          <a:prstGeom prst="rect">
            <a:avLst/>
          </a:prstGeom>
          <a:noFill/>
        </p:spPr>
        <p:txBody>
          <a:bodyPr wrap="square">
            <a:spAutoFit/>
          </a:bodyPr>
          <a:lstStyle/>
          <a:p>
            <a:pPr algn="l"/>
            <a:r>
              <a:rPr sz="1100" b="0" i="0">
                <a:solidFill>
                  <a:srgbClr val="1A1A2E"/>
                </a:solidFill>
              </a:rPr>
              <a:t>Ten positive-affect adjectives rated 1–5 for the past week. Self-administered in about one minute. Raw score stored; band derived from a named crosswalk table — updating the table never touches stored scores.</a:t>
            </a:r>
          </a:p>
        </p:txBody>
      </p:sp>
      <p:sp>
        <p:nvSpPr>
          <p:cNvPr id="7" name="Rectangle 6"/>
          <p:cNvSpPr/>
          <p:nvPr/>
        </p:nvSpPr>
        <p:spPr>
          <a:xfrm>
            <a:off x="548640" y="2487168"/>
            <a:ext cx="987552" cy="310896"/>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532888"/>
            <a:ext cx="914400" cy="256032"/>
          </a:xfrm>
          <a:prstGeom prst="rect">
            <a:avLst/>
          </a:prstGeom>
          <a:noFill/>
        </p:spPr>
        <p:txBody>
          <a:bodyPr wrap="square">
            <a:spAutoFit/>
          </a:bodyPr>
          <a:lstStyle/>
          <a:p>
            <a:pPr algn="ctr"/>
            <a:r>
              <a:rPr sz="1000" b="0" i="0">
                <a:solidFill>
                  <a:srgbClr val="FFFFFF"/>
                </a:solidFill>
              </a:rPr>
              <a:t>active</a:t>
            </a:r>
          </a:p>
        </p:txBody>
      </p:sp>
      <p:sp>
        <p:nvSpPr>
          <p:cNvPr id="9" name="Rectangle 8"/>
          <p:cNvSpPr/>
          <p:nvPr/>
        </p:nvSpPr>
        <p:spPr>
          <a:xfrm>
            <a:off x="1609344" y="2487168"/>
            <a:ext cx="987552" cy="310896"/>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2532888"/>
            <a:ext cx="914400" cy="256032"/>
          </a:xfrm>
          <a:prstGeom prst="rect">
            <a:avLst/>
          </a:prstGeom>
          <a:noFill/>
        </p:spPr>
        <p:txBody>
          <a:bodyPr wrap="square">
            <a:spAutoFit/>
          </a:bodyPr>
          <a:lstStyle/>
          <a:p>
            <a:pPr algn="ctr"/>
            <a:r>
              <a:rPr sz="1000" b="0" i="0">
                <a:solidFill>
                  <a:srgbClr val="FFFFFF"/>
                </a:solidFill>
              </a:rPr>
              <a:t>alert</a:t>
            </a:r>
          </a:p>
        </p:txBody>
      </p:sp>
      <p:sp>
        <p:nvSpPr>
          <p:cNvPr id="11" name="Rectangle 10"/>
          <p:cNvSpPr/>
          <p:nvPr/>
        </p:nvSpPr>
        <p:spPr>
          <a:xfrm>
            <a:off x="2670048" y="2487168"/>
            <a:ext cx="987552" cy="310896"/>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2532888"/>
            <a:ext cx="914400" cy="256032"/>
          </a:xfrm>
          <a:prstGeom prst="rect">
            <a:avLst/>
          </a:prstGeom>
          <a:noFill/>
        </p:spPr>
        <p:txBody>
          <a:bodyPr wrap="square">
            <a:spAutoFit/>
          </a:bodyPr>
          <a:lstStyle/>
          <a:p>
            <a:pPr algn="ctr"/>
            <a:r>
              <a:rPr sz="1000" b="0" i="0">
                <a:solidFill>
                  <a:srgbClr val="FFFFFF"/>
                </a:solidFill>
              </a:rPr>
              <a:t>attentive</a:t>
            </a:r>
          </a:p>
        </p:txBody>
      </p:sp>
      <p:sp>
        <p:nvSpPr>
          <p:cNvPr id="13" name="Rectangle 12"/>
          <p:cNvSpPr/>
          <p:nvPr/>
        </p:nvSpPr>
        <p:spPr>
          <a:xfrm>
            <a:off x="3730752" y="2487168"/>
            <a:ext cx="987552" cy="310896"/>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2532888"/>
            <a:ext cx="914400" cy="256032"/>
          </a:xfrm>
          <a:prstGeom prst="rect">
            <a:avLst/>
          </a:prstGeom>
          <a:noFill/>
        </p:spPr>
        <p:txBody>
          <a:bodyPr wrap="square">
            <a:spAutoFit/>
          </a:bodyPr>
          <a:lstStyle/>
          <a:p>
            <a:pPr algn="ctr"/>
            <a:r>
              <a:rPr sz="1000" b="0" i="0">
                <a:solidFill>
                  <a:srgbClr val="FFFFFF"/>
                </a:solidFill>
              </a:rPr>
              <a:t>determined</a:t>
            </a:r>
          </a:p>
        </p:txBody>
      </p:sp>
      <p:sp>
        <p:nvSpPr>
          <p:cNvPr id="15" name="Rectangle 14"/>
          <p:cNvSpPr/>
          <p:nvPr/>
        </p:nvSpPr>
        <p:spPr>
          <a:xfrm>
            <a:off x="4791456" y="2487168"/>
            <a:ext cx="987552" cy="310896"/>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532888"/>
            <a:ext cx="914400" cy="256032"/>
          </a:xfrm>
          <a:prstGeom prst="rect">
            <a:avLst/>
          </a:prstGeom>
          <a:noFill/>
        </p:spPr>
        <p:txBody>
          <a:bodyPr wrap="square">
            <a:spAutoFit/>
          </a:bodyPr>
          <a:lstStyle/>
          <a:p>
            <a:pPr algn="ctr"/>
            <a:r>
              <a:rPr sz="1000" b="0" i="0">
                <a:solidFill>
                  <a:srgbClr val="FFFFFF"/>
                </a:solidFill>
              </a:rPr>
              <a:t>enthusiastic</a:t>
            </a:r>
          </a:p>
        </p:txBody>
      </p:sp>
      <p:sp>
        <p:nvSpPr>
          <p:cNvPr id="17" name="Rectangle 16"/>
          <p:cNvSpPr/>
          <p:nvPr/>
        </p:nvSpPr>
        <p:spPr>
          <a:xfrm>
            <a:off x="548640" y="2871216"/>
            <a:ext cx="987552" cy="310896"/>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 y="2916936"/>
            <a:ext cx="914400" cy="256032"/>
          </a:xfrm>
          <a:prstGeom prst="rect">
            <a:avLst/>
          </a:prstGeom>
          <a:noFill/>
        </p:spPr>
        <p:txBody>
          <a:bodyPr wrap="square">
            <a:spAutoFit/>
          </a:bodyPr>
          <a:lstStyle/>
          <a:p>
            <a:pPr algn="ctr"/>
            <a:r>
              <a:rPr sz="1000" b="0" i="0">
                <a:solidFill>
                  <a:srgbClr val="FFFFFF"/>
                </a:solidFill>
              </a:rPr>
              <a:t>excited</a:t>
            </a:r>
          </a:p>
        </p:txBody>
      </p:sp>
      <p:sp>
        <p:nvSpPr>
          <p:cNvPr id="19" name="Rectangle 18"/>
          <p:cNvSpPr/>
          <p:nvPr/>
        </p:nvSpPr>
        <p:spPr>
          <a:xfrm>
            <a:off x="1609344" y="2871216"/>
            <a:ext cx="987552" cy="310896"/>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45920" y="2916936"/>
            <a:ext cx="914400" cy="256032"/>
          </a:xfrm>
          <a:prstGeom prst="rect">
            <a:avLst/>
          </a:prstGeom>
          <a:noFill/>
        </p:spPr>
        <p:txBody>
          <a:bodyPr wrap="square">
            <a:spAutoFit/>
          </a:bodyPr>
          <a:lstStyle/>
          <a:p>
            <a:pPr algn="ctr"/>
            <a:r>
              <a:rPr sz="1000" b="0" i="0">
                <a:solidFill>
                  <a:srgbClr val="FFFFFF"/>
                </a:solidFill>
              </a:rPr>
              <a:t>inspired</a:t>
            </a:r>
          </a:p>
        </p:txBody>
      </p:sp>
      <p:sp>
        <p:nvSpPr>
          <p:cNvPr id="21" name="Rectangle 20"/>
          <p:cNvSpPr/>
          <p:nvPr/>
        </p:nvSpPr>
        <p:spPr>
          <a:xfrm>
            <a:off x="2670048" y="2871216"/>
            <a:ext cx="987552" cy="310896"/>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06624" y="2916936"/>
            <a:ext cx="914400" cy="256032"/>
          </a:xfrm>
          <a:prstGeom prst="rect">
            <a:avLst/>
          </a:prstGeom>
          <a:noFill/>
        </p:spPr>
        <p:txBody>
          <a:bodyPr wrap="square">
            <a:spAutoFit/>
          </a:bodyPr>
          <a:lstStyle/>
          <a:p>
            <a:pPr algn="ctr"/>
            <a:r>
              <a:rPr sz="1000" b="0" i="0">
                <a:solidFill>
                  <a:srgbClr val="FFFFFF"/>
                </a:solidFill>
              </a:rPr>
              <a:t>interested</a:t>
            </a:r>
          </a:p>
        </p:txBody>
      </p:sp>
      <p:sp>
        <p:nvSpPr>
          <p:cNvPr id="23" name="Rectangle 22"/>
          <p:cNvSpPr/>
          <p:nvPr/>
        </p:nvSpPr>
        <p:spPr>
          <a:xfrm>
            <a:off x="3730752" y="2871216"/>
            <a:ext cx="987552" cy="310896"/>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67328" y="2916936"/>
            <a:ext cx="914400" cy="256032"/>
          </a:xfrm>
          <a:prstGeom prst="rect">
            <a:avLst/>
          </a:prstGeom>
          <a:noFill/>
        </p:spPr>
        <p:txBody>
          <a:bodyPr wrap="square">
            <a:spAutoFit/>
          </a:bodyPr>
          <a:lstStyle/>
          <a:p>
            <a:pPr algn="ctr"/>
            <a:r>
              <a:rPr sz="1000" b="0" i="0">
                <a:solidFill>
                  <a:srgbClr val="FFFFFF"/>
                </a:solidFill>
              </a:rPr>
              <a:t>proud</a:t>
            </a:r>
          </a:p>
        </p:txBody>
      </p:sp>
      <p:sp>
        <p:nvSpPr>
          <p:cNvPr id="25" name="Rectangle 24"/>
          <p:cNvSpPr/>
          <p:nvPr/>
        </p:nvSpPr>
        <p:spPr>
          <a:xfrm>
            <a:off x="4791456" y="2871216"/>
            <a:ext cx="987552" cy="310896"/>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032" y="2916936"/>
            <a:ext cx="914400" cy="256032"/>
          </a:xfrm>
          <a:prstGeom prst="rect">
            <a:avLst/>
          </a:prstGeom>
          <a:noFill/>
        </p:spPr>
        <p:txBody>
          <a:bodyPr wrap="square">
            <a:spAutoFit/>
          </a:bodyPr>
          <a:lstStyle/>
          <a:p>
            <a:pPr algn="ctr"/>
            <a:r>
              <a:rPr sz="1000" b="0" i="0">
                <a:solidFill>
                  <a:srgbClr val="FFFFFF"/>
                </a:solidFill>
              </a:rPr>
              <a:t>strong</a:t>
            </a:r>
          </a:p>
        </p:txBody>
      </p:sp>
      <p:sp>
        <p:nvSpPr>
          <p:cNvPr id="27" name="TextBox 26"/>
          <p:cNvSpPr txBox="1"/>
          <p:nvPr/>
        </p:nvSpPr>
        <p:spPr>
          <a:xfrm>
            <a:off x="548640" y="3337560"/>
            <a:ext cx="5303520" cy="274320"/>
          </a:xfrm>
          <a:prstGeom prst="rect">
            <a:avLst/>
          </a:prstGeom>
          <a:noFill/>
        </p:spPr>
        <p:txBody>
          <a:bodyPr wrap="square">
            <a:spAutoFit/>
          </a:bodyPr>
          <a:lstStyle/>
          <a:p>
            <a:pPr algn="l"/>
            <a:r>
              <a:rPr sz="900" b="0" i="1">
                <a:solidFill>
                  <a:srgbClr val="6C757D"/>
                </a:solidFill>
              </a:rPr>
              <a:t>1 = Very slightly or not at all  ·  5 = Extremely  ·  Past-week instructions</a:t>
            </a:r>
          </a:p>
        </p:txBody>
      </p:sp>
      <p:sp>
        <p:nvSpPr>
          <p:cNvPr id="28" name="Rectangle 27"/>
          <p:cNvSpPr/>
          <p:nvPr/>
        </p:nvSpPr>
        <p:spPr>
          <a:xfrm>
            <a:off x="548640" y="3749039"/>
            <a:ext cx="11091672" cy="19050"/>
          </a:xfrm>
          <a:prstGeom prst="rect">
            <a:avLst/>
          </a:prstGeom>
          <a:solidFill>
            <a:srgbClr val="DE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840480"/>
            <a:ext cx="5303520" cy="320040"/>
          </a:xfrm>
          <a:prstGeom prst="rect">
            <a:avLst/>
          </a:prstGeom>
          <a:noFill/>
        </p:spPr>
        <p:txBody>
          <a:bodyPr wrap="square">
            <a:spAutoFit/>
          </a:bodyPr>
          <a:lstStyle/>
          <a:p>
            <a:pPr algn="l"/>
            <a:r>
              <a:rPr sz="1200" b="1" i="0">
                <a:solidFill>
                  <a:srgbClr val="1E3A5F"/>
                </a:solidFill>
              </a:rPr>
              <a:t>A measurable hypothesis</a:t>
            </a:r>
          </a:p>
        </p:txBody>
      </p:sp>
      <p:sp>
        <p:nvSpPr>
          <p:cNvPr id="30" name="TextBox 29"/>
          <p:cNvSpPr txBox="1"/>
          <p:nvPr/>
        </p:nvSpPr>
        <p:spPr>
          <a:xfrm>
            <a:off x="548640" y="4187952"/>
            <a:ext cx="5303520" cy="868680"/>
          </a:xfrm>
          <a:prstGeom prst="rect">
            <a:avLst/>
          </a:prstGeom>
          <a:noFill/>
        </p:spPr>
        <p:txBody>
          <a:bodyPr wrap="square">
            <a:spAutoFit/>
          </a:bodyPr>
          <a:lstStyle/>
          <a:p>
            <a:pPr algn="l"/>
            <a:r>
              <a:rPr sz="1100" b="0" i="0">
                <a:solidFill>
                  <a:srgbClr val="1A1A2E"/>
                </a:solidFill>
              </a:rPr>
              <a:t>If Weed is right that the record teaches, activation should rise as a person uses the coupler over time. Band history is stored from the first check-in — the trajectory is auditable and publishable.</a:t>
            </a:r>
          </a:p>
        </p:txBody>
      </p:sp>
      <p:sp>
        <p:nvSpPr>
          <p:cNvPr id="31" name="Rectangle 30"/>
          <p:cNvSpPr/>
          <p:nvPr/>
        </p:nvSpPr>
        <p:spPr>
          <a:xfrm>
            <a:off x="6217920" y="1188720"/>
            <a:ext cx="5577840" cy="713232"/>
          </a:xfrm>
          <a:prstGeom prst="rect">
            <a:avLst/>
          </a:prstGeom>
          <a:solidFill>
            <a:srgbClr val="F8D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1188720"/>
            <a:ext cx="475488" cy="713232"/>
          </a:xfrm>
          <a:prstGeom prst="rect">
            <a:avLst/>
          </a:prstGeom>
          <a:solidFill>
            <a:srgbClr val="84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1316736"/>
            <a:ext cx="384048" cy="457200"/>
          </a:xfrm>
          <a:prstGeom prst="rect">
            <a:avLst/>
          </a:prstGeom>
          <a:noFill/>
        </p:spPr>
        <p:txBody>
          <a:bodyPr wrap="square">
            <a:spAutoFit/>
          </a:bodyPr>
          <a:lstStyle/>
          <a:p>
            <a:pPr algn="ctr"/>
            <a:r>
              <a:rPr sz="2200" b="1" i="0">
                <a:solidFill>
                  <a:srgbClr val="FFFFFF"/>
                </a:solidFill>
              </a:rPr>
              <a:t>1</a:t>
            </a:r>
          </a:p>
        </p:txBody>
      </p:sp>
      <p:sp>
        <p:nvSpPr>
          <p:cNvPr id="34" name="TextBox 33"/>
          <p:cNvSpPr txBox="1"/>
          <p:nvPr/>
        </p:nvSpPr>
        <p:spPr>
          <a:xfrm>
            <a:off x="6812280" y="1243584"/>
            <a:ext cx="2926080" cy="292608"/>
          </a:xfrm>
          <a:prstGeom prst="rect">
            <a:avLst/>
          </a:prstGeom>
          <a:noFill/>
        </p:spPr>
        <p:txBody>
          <a:bodyPr wrap="square">
            <a:spAutoFit/>
          </a:bodyPr>
          <a:lstStyle/>
          <a:p>
            <a:pPr algn="l"/>
            <a:r>
              <a:rPr sz="1200" b="1" i="0">
                <a:solidFill>
                  <a:srgbClr val="842029"/>
                </a:solidFill>
              </a:rPr>
              <a:t>Learning the basics</a:t>
            </a:r>
          </a:p>
        </p:txBody>
      </p:sp>
      <p:sp>
        <p:nvSpPr>
          <p:cNvPr id="35" name="TextBox 34"/>
          <p:cNvSpPr txBox="1"/>
          <p:nvPr/>
        </p:nvSpPr>
        <p:spPr>
          <a:xfrm>
            <a:off x="6812280" y="1536192"/>
            <a:ext cx="1828800" cy="256032"/>
          </a:xfrm>
          <a:prstGeom prst="rect">
            <a:avLst/>
          </a:prstGeom>
          <a:noFill/>
        </p:spPr>
        <p:txBody>
          <a:bodyPr wrap="square">
            <a:spAutoFit/>
          </a:bodyPr>
          <a:lstStyle/>
          <a:p>
            <a:pPr algn="l"/>
            <a:r>
              <a:rPr sz="1000" b="0" i="0">
                <a:solidFill>
                  <a:srgbClr val="6C757D"/>
                </a:solidFill>
              </a:rPr>
              <a:t>Score 10 – 24</a:t>
            </a:r>
          </a:p>
        </p:txBody>
      </p:sp>
      <p:sp>
        <p:nvSpPr>
          <p:cNvPr id="36" name="Rectangle 35"/>
          <p:cNvSpPr/>
          <p:nvPr/>
        </p:nvSpPr>
        <p:spPr>
          <a:xfrm>
            <a:off x="6217920" y="1993392"/>
            <a:ext cx="5577840" cy="71323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17920" y="1993392"/>
            <a:ext cx="475488" cy="713232"/>
          </a:xfrm>
          <a:prstGeom prst="rect">
            <a:avLst/>
          </a:prstGeom>
          <a:solidFill>
            <a:srgbClr val="664D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3640" y="2121408"/>
            <a:ext cx="384048" cy="457200"/>
          </a:xfrm>
          <a:prstGeom prst="rect">
            <a:avLst/>
          </a:prstGeom>
          <a:noFill/>
        </p:spPr>
        <p:txBody>
          <a:bodyPr wrap="square">
            <a:spAutoFit/>
          </a:bodyPr>
          <a:lstStyle/>
          <a:p>
            <a:pPr algn="ctr"/>
            <a:r>
              <a:rPr sz="2200" b="1" i="0">
                <a:solidFill>
                  <a:srgbClr val="FFFFFF"/>
                </a:solidFill>
              </a:rPr>
              <a:t>2</a:t>
            </a:r>
          </a:p>
        </p:txBody>
      </p:sp>
      <p:sp>
        <p:nvSpPr>
          <p:cNvPr id="39" name="TextBox 38"/>
          <p:cNvSpPr txBox="1"/>
          <p:nvPr/>
        </p:nvSpPr>
        <p:spPr>
          <a:xfrm>
            <a:off x="6812280" y="2048256"/>
            <a:ext cx="2926080" cy="292608"/>
          </a:xfrm>
          <a:prstGeom prst="rect">
            <a:avLst/>
          </a:prstGeom>
          <a:noFill/>
        </p:spPr>
        <p:txBody>
          <a:bodyPr wrap="square">
            <a:spAutoFit/>
          </a:bodyPr>
          <a:lstStyle/>
          <a:p>
            <a:pPr algn="l"/>
            <a:r>
              <a:rPr sz="1200" b="1" i="0">
                <a:solidFill>
                  <a:srgbClr val="664D03"/>
                </a:solidFill>
              </a:rPr>
              <a:t>Building awareness</a:t>
            </a:r>
          </a:p>
        </p:txBody>
      </p:sp>
      <p:sp>
        <p:nvSpPr>
          <p:cNvPr id="40" name="TextBox 39"/>
          <p:cNvSpPr txBox="1"/>
          <p:nvPr/>
        </p:nvSpPr>
        <p:spPr>
          <a:xfrm>
            <a:off x="6812280" y="2340864"/>
            <a:ext cx="1828800" cy="256032"/>
          </a:xfrm>
          <a:prstGeom prst="rect">
            <a:avLst/>
          </a:prstGeom>
          <a:noFill/>
        </p:spPr>
        <p:txBody>
          <a:bodyPr wrap="square">
            <a:spAutoFit/>
          </a:bodyPr>
          <a:lstStyle/>
          <a:p>
            <a:pPr algn="l"/>
            <a:r>
              <a:rPr sz="1000" b="0" i="0">
                <a:solidFill>
                  <a:srgbClr val="6C757D"/>
                </a:solidFill>
              </a:rPr>
              <a:t>Score 25 – 31</a:t>
            </a:r>
          </a:p>
        </p:txBody>
      </p:sp>
      <p:sp>
        <p:nvSpPr>
          <p:cNvPr id="41" name="Rectangle 40"/>
          <p:cNvSpPr/>
          <p:nvPr/>
        </p:nvSpPr>
        <p:spPr>
          <a:xfrm>
            <a:off x="6217920" y="2798064"/>
            <a:ext cx="5577840" cy="713232"/>
          </a:xfrm>
          <a:prstGeom prst="rect">
            <a:avLst/>
          </a:prstGeom>
          <a:solidFill>
            <a:srgbClr val="D1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7920" y="2798064"/>
            <a:ext cx="475488" cy="713232"/>
          </a:xfrm>
          <a:prstGeom prst="rect">
            <a:avLst/>
          </a:prstGeom>
          <a:solidFill>
            <a:srgbClr val="0F5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2926080"/>
            <a:ext cx="384048" cy="457200"/>
          </a:xfrm>
          <a:prstGeom prst="rect">
            <a:avLst/>
          </a:prstGeom>
          <a:noFill/>
        </p:spPr>
        <p:txBody>
          <a:bodyPr wrap="square">
            <a:spAutoFit/>
          </a:bodyPr>
          <a:lstStyle/>
          <a:p>
            <a:pPr algn="ctr"/>
            <a:r>
              <a:rPr sz="2200" b="1" i="0">
                <a:solidFill>
                  <a:srgbClr val="FFFFFF"/>
                </a:solidFill>
              </a:rPr>
              <a:t>3</a:t>
            </a:r>
          </a:p>
        </p:txBody>
      </p:sp>
      <p:sp>
        <p:nvSpPr>
          <p:cNvPr id="44" name="TextBox 43"/>
          <p:cNvSpPr txBox="1"/>
          <p:nvPr/>
        </p:nvSpPr>
        <p:spPr>
          <a:xfrm>
            <a:off x="6812280" y="2852928"/>
            <a:ext cx="2926080" cy="292608"/>
          </a:xfrm>
          <a:prstGeom prst="rect">
            <a:avLst/>
          </a:prstGeom>
          <a:noFill/>
        </p:spPr>
        <p:txBody>
          <a:bodyPr wrap="square">
            <a:spAutoFit/>
          </a:bodyPr>
          <a:lstStyle/>
          <a:p>
            <a:pPr algn="l"/>
            <a:r>
              <a:rPr sz="1200" b="1" i="0">
                <a:solidFill>
                  <a:srgbClr val="0F5132"/>
                </a:solidFill>
              </a:rPr>
              <a:t>Taking action</a:t>
            </a:r>
          </a:p>
        </p:txBody>
      </p:sp>
      <p:sp>
        <p:nvSpPr>
          <p:cNvPr id="45" name="TextBox 44"/>
          <p:cNvSpPr txBox="1"/>
          <p:nvPr/>
        </p:nvSpPr>
        <p:spPr>
          <a:xfrm>
            <a:off x="6812280" y="3145536"/>
            <a:ext cx="1828800" cy="256032"/>
          </a:xfrm>
          <a:prstGeom prst="rect">
            <a:avLst/>
          </a:prstGeom>
          <a:noFill/>
        </p:spPr>
        <p:txBody>
          <a:bodyPr wrap="square">
            <a:spAutoFit/>
          </a:bodyPr>
          <a:lstStyle/>
          <a:p>
            <a:pPr algn="l"/>
            <a:r>
              <a:rPr sz="1000" b="0" i="0">
                <a:solidFill>
                  <a:srgbClr val="6C757D"/>
                </a:solidFill>
              </a:rPr>
              <a:t>Score 32 – 38</a:t>
            </a:r>
          </a:p>
        </p:txBody>
      </p:sp>
      <p:sp>
        <p:nvSpPr>
          <p:cNvPr id="46" name="Rectangle 45"/>
          <p:cNvSpPr/>
          <p:nvPr/>
        </p:nvSpPr>
        <p:spPr>
          <a:xfrm>
            <a:off x="6217920" y="3602736"/>
            <a:ext cx="5577840" cy="713232"/>
          </a:xfrm>
          <a:prstGeom prst="rect">
            <a:avLst/>
          </a:prstGeom>
          <a:solidFill>
            <a:srgbClr val="CF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3602736"/>
            <a:ext cx="475488" cy="713232"/>
          </a:xfrm>
          <a:prstGeom prst="rect">
            <a:avLst/>
          </a:prstGeom>
          <a:solidFill>
            <a:srgbClr val="084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3730752"/>
            <a:ext cx="384048" cy="457200"/>
          </a:xfrm>
          <a:prstGeom prst="rect">
            <a:avLst/>
          </a:prstGeom>
          <a:noFill/>
        </p:spPr>
        <p:txBody>
          <a:bodyPr wrap="square">
            <a:spAutoFit/>
          </a:bodyPr>
          <a:lstStyle/>
          <a:p>
            <a:pPr algn="ctr"/>
            <a:r>
              <a:rPr sz="2200" b="1" i="0">
                <a:solidFill>
                  <a:srgbClr val="FFFFFF"/>
                </a:solidFill>
              </a:rPr>
              <a:t>4</a:t>
            </a:r>
          </a:p>
        </p:txBody>
      </p:sp>
      <p:sp>
        <p:nvSpPr>
          <p:cNvPr id="49" name="TextBox 48"/>
          <p:cNvSpPr txBox="1"/>
          <p:nvPr/>
        </p:nvSpPr>
        <p:spPr>
          <a:xfrm>
            <a:off x="6812280" y="3657600"/>
            <a:ext cx="2926080" cy="292608"/>
          </a:xfrm>
          <a:prstGeom prst="rect">
            <a:avLst/>
          </a:prstGeom>
          <a:noFill/>
        </p:spPr>
        <p:txBody>
          <a:bodyPr wrap="square">
            <a:spAutoFit/>
          </a:bodyPr>
          <a:lstStyle/>
          <a:p>
            <a:pPr algn="l"/>
            <a:r>
              <a:rPr sz="1200" b="1" i="0">
                <a:solidFill>
                  <a:srgbClr val="084298"/>
                </a:solidFill>
              </a:rPr>
              <a:t>Staying the course</a:t>
            </a:r>
          </a:p>
        </p:txBody>
      </p:sp>
      <p:sp>
        <p:nvSpPr>
          <p:cNvPr id="50" name="TextBox 49"/>
          <p:cNvSpPr txBox="1"/>
          <p:nvPr/>
        </p:nvSpPr>
        <p:spPr>
          <a:xfrm>
            <a:off x="6812280" y="3950208"/>
            <a:ext cx="1828800" cy="256032"/>
          </a:xfrm>
          <a:prstGeom prst="rect">
            <a:avLst/>
          </a:prstGeom>
          <a:noFill/>
        </p:spPr>
        <p:txBody>
          <a:bodyPr wrap="square">
            <a:spAutoFit/>
          </a:bodyPr>
          <a:lstStyle/>
          <a:p>
            <a:pPr algn="l"/>
            <a:r>
              <a:rPr sz="1000" b="0" i="0">
                <a:solidFill>
                  <a:srgbClr val="6C757D"/>
                </a:solidFill>
              </a:rPr>
              <a:t>Score 39 – 50</a:t>
            </a:r>
          </a:p>
        </p:txBody>
      </p:sp>
      <p:sp>
        <p:nvSpPr>
          <p:cNvPr id="51" name="TextBox 50"/>
          <p:cNvSpPr txBox="1"/>
          <p:nvPr/>
        </p:nvSpPr>
        <p:spPr>
          <a:xfrm>
            <a:off x="6217920" y="4462272"/>
            <a:ext cx="5577840" cy="320040"/>
          </a:xfrm>
          <a:prstGeom prst="rect">
            <a:avLst/>
          </a:prstGeom>
          <a:noFill/>
        </p:spPr>
        <p:txBody>
          <a:bodyPr wrap="square">
            <a:spAutoFit/>
          </a:bodyPr>
          <a:lstStyle/>
          <a:p>
            <a:pPr algn="l"/>
            <a:r>
              <a:rPr sz="1200" b="1" i="0">
                <a:solidFill>
                  <a:srgbClr val="1E3A5F"/>
                </a:solidFill>
              </a:rPr>
              <a:t>What changes by band (not what is withheld)</a:t>
            </a:r>
          </a:p>
        </p:txBody>
      </p:sp>
      <p:sp>
        <p:nvSpPr>
          <p:cNvPr id="52" name="Rectangle 51"/>
          <p:cNvSpPr/>
          <p:nvPr/>
        </p:nvSpPr>
        <p:spPr>
          <a:xfrm>
            <a:off x="6217920" y="4828032"/>
            <a:ext cx="164592" cy="347472"/>
          </a:xfrm>
          <a:prstGeom prst="rect">
            <a:avLst/>
          </a:prstGeom>
          <a:solidFill>
            <a:srgbClr val="8420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92240" y="4828032"/>
            <a:ext cx="5212080" cy="384048"/>
          </a:xfrm>
          <a:prstGeom prst="rect">
            <a:avLst/>
          </a:prstGeom>
          <a:noFill/>
        </p:spPr>
        <p:txBody>
          <a:bodyPr wrap="square">
            <a:spAutoFit/>
          </a:bodyPr>
          <a:lstStyle/>
          <a:p>
            <a:pPr algn="l"/>
            <a:r>
              <a:rPr sz="1100" b="0" i="0">
                <a:solidFill>
                  <a:srgbClr val="1A1A2E"/>
                </a:solidFill>
              </a:rPr>
              <a:t>Bands 1–2:  Urgent candidates only · top 3 absent findings · plan options as "ask your care team"</a:t>
            </a:r>
          </a:p>
        </p:txBody>
      </p:sp>
      <p:sp>
        <p:nvSpPr>
          <p:cNvPr id="54" name="Rectangle 53"/>
          <p:cNvSpPr/>
          <p:nvPr/>
        </p:nvSpPr>
        <p:spPr>
          <a:xfrm>
            <a:off x="6217920" y="5321808"/>
            <a:ext cx="164592" cy="347472"/>
          </a:xfrm>
          <a:prstGeom prst="rect">
            <a:avLst/>
          </a:prstGeom>
          <a:solidFill>
            <a:srgbClr val="084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92240" y="5321808"/>
            <a:ext cx="5212080" cy="384048"/>
          </a:xfrm>
          <a:prstGeom prst="rect">
            <a:avLst/>
          </a:prstGeom>
          <a:noFill/>
        </p:spPr>
        <p:txBody>
          <a:bodyPr wrap="square">
            <a:spAutoFit/>
          </a:bodyPr>
          <a:lstStyle/>
          <a:p>
            <a:pPr algn="l"/>
            <a:r>
              <a:rPr sz="1100" b="0" i="0">
                <a:solidFill>
                  <a:srgbClr val="1A1A2E"/>
                </a:solidFill>
              </a:rPr>
              <a:t>Bands 3–4:  Full frame · all candidates · plan options as "what you can do"</a:t>
            </a:r>
          </a:p>
        </p:txBody>
      </p:sp>
      <p:sp>
        <p:nvSpPr>
          <p:cNvPr id="56" name="TextBox 55"/>
          <p:cNvSpPr txBox="1"/>
          <p:nvPr/>
        </p:nvSpPr>
        <p:spPr>
          <a:xfrm>
            <a:off x="6217920" y="5897880"/>
            <a:ext cx="5577840" cy="320040"/>
          </a:xfrm>
          <a:prstGeom prst="rect">
            <a:avLst/>
          </a:prstGeom>
          <a:noFill/>
        </p:spPr>
        <p:txBody>
          <a:bodyPr wrap="square">
            <a:spAutoFit/>
          </a:bodyPr>
          <a:lstStyle/>
          <a:p>
            <a:pPr algn="l"/>
            <a:r>
              <a:rPr sz="1000" b="0" i="1">
                <a:solidFill>
                  <a:srgbClr val="6C757D"/>
                </a:solidFill>
              </a:rPr>
              <a:t>"Show full frame" button always overrides the filter — the record is never withheld.</a:t>
            </a:r>
          </a:p>
        </p:txBody>
      </p:sp>
      <p:sp>
        <p:nvSpPr>
          <p:cNvPr id="57" name="TextBox 56"/>
          <p:cNvSpPr txBox="1"/>
          <p:nvPr/>
        </p:nvSpPr>
        <p:spPr>
          <a:xfrm>
            <a:off x="548640" y="6492240"/>
            <a:ext cx="10972800" cy="274320"/>
          </a:xfrm>
          <a:prstGeom prst="rect">
            <a:avLst/>
          </a:prstGeom>
          <a:noFill/>
        </p:spPr>
        <p:txBody>
          <a:bodyPr wrap="square">
            <a:spAutoFit/>
          </a:bodyPr>
          <a:lstStyle/>
          <a:p>
            <a:pPr algn="l"/>
            <a:r>
              <a:rPr sz="900" b="0" i="0">
                <a:solidFill>
                  <a:srgbClr val="6C757D"/>
                </a:solidFill>
              </a:rPr>
              <a:t>Problem-Knowledge Coupler · RCN ·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058400" cy="502920"/>
          </a:xfrm>
          <a:prstGeom prst="rect">
            <a:avLst/>
          </a:prstGeom>
          <a:noFill/>
        </p:spPr>
        <p:txBody>
          <a:bodyPr wrap="square">
            <a:spAutoFit/>
          </a:bodyPr>
          <a:lstStyle/>
          <a:p>
            <a:pPr algn="l"/>
            <a:r>
              <a:rPr sz="2800" b="1" i="0">
                <a:solidFill>
                  <a:srgbClr val="FFFFFF"/>
                </a:solidFill>
              </a:rPr>
              <a:t>Getting started</a:t>
            </a:r>
          </a:p>
        </p:txBody>
      </p:sp>
      <p:sp>
        <p:nvSpPr>
          <p:cNvPr id="4" name="TextBox 3"/>
          <p:cNvSpPr txBox="1"/>
          <p:nvPr/>
        </p:nvSpPr>
        <p:spPr>
          <a:xfrm>
            <a:off x="548640" y="594360"/>
            <a:ext cx="10058400" cy="365760"/>
          </a:xfrm>
          <a:prstGeom prst="rect">
            <a:avLst/>
          </a:prstGeom>
          <a:noFill/>
        </p:spPr>
        <p:txBody>
          <a:bodyPr wrap="square">
            <a:spAutoFit/>
          </a:bodyPr>
          <a:lstStyle/>
          <a:p>
            <a:pPr algn="l"/>
            <a:r>
              <a:rPr sz="1400" b="0" i="0">
                <a:solidFill>
                  <a:srgbClr val="B0C8E8"/>
                </a:solidFill>
              </a:rPr>
              <a:t>Six steps from install to first frame</a:t>
            </a:r>
          </a:p>
        </p:txBody>
      </p:sp>
      <p:sp>
        <p:nvSpPr>
          <p:cNvPr id="5" name="Rectangle 4"/>
          <p:cNvSpPr/>
          <p:nvPr/>
        </p:nvSpPr>
        <p:spPr>
          <a:xfrm>
            <a:off x="502920" y="1234440"/>
            <a:ext cx="45720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71016"/>
            <a:ext cx="457200" cy="402336"/>
          </a:xfrm>
          <a:prstGeom prst="rect">
            <a:avLst/>
          </a:prstGeom>
          <a:noFill/>
        </p:spPr>
        <p:txBody>
          <a:bodyPr wrap="square">
            <a:spAutoFit/>
          </a:bodyPr>
          <a:lstStyle/>
          <a:p>
            <a:pPr algn="ctr"/>
            <a:r>
              <a:rPr sz="2200" b="1" i="0">
                <a:solidFill>
                  <a:srgbClr val="FFFFFF"/>
                </a:solidFill>
              </a:rPr>
              <a:t>1</a:t>
            </a:r>
          </a:p>
        </p:txBody>
      </p:sp>
      <p:sp>
        <p:nvSpPr>
          <p:cNvPr id="7" name="TextBox 6"/>
          <p:cNvSpPr txBox="1"/>
          <p:nvPr/>
        </p:nvSpPr>
        <p:spPr>
          <a:xfrm>
            <a:off x="1097280" y="1234440"/>
            <a:ext cx="5120640" cy="365760"/>
          </a:xfrm>
          <a:prstGeom prst="rect">
            <a:avLst/>
          </a:prstGeom>
          <a:noFill/>
        </p:spPr>
        <p:txBody>
          <a:bodyPr wrap="square">
            <a:spAutoFit/>
          </a:bodyPr>
          <a:lstStyle/>
          <a:p>
            <a:pPr algn="l"/>
            <a:r>
              <a:rPr sz="1300" b="1" i="0">
                <a:solidFill>
                  <a:srgbClr val="1E3A5F"/>
                </a:solidFill>
              </a:rPr>
              <a:t>Start the proxy</a:t>
            </a:r>
          </a:p>
        </p:txBody>
      </p:sp>
      <p:sp>
        <p:nvSpPr>
          <p:cNvPr id="8" name="TextBox 7"/>
          <p:cNvSpPr txBox="1"/>
          <p:nvPr/>
        </p:nvSpPr>
        <p:spPr>
          <a:xfrm>
            <a:off x="1097280" y="1600200"/>
            <a:ext cx="5120640" cy="1005840"/>
          </a:xfrm>
          <a:prstGeom prst="rect">
            <a:avLst/>
          </a:prstGeom>
          <a:noFill/>
        </p:spPr>
        <p:txBody>
          <a:bodyPr wrap="square">
            <a:spAutoFit/>
          </a:bodyPr>
          <a:lstStyle/>
          <a:p>
            <a:pPr algn="l"/>
            <a:r>
              <a:rPr sz="1100" b="0" i="0">
                <a:solidFill>
                  <a:srgbClr val="1A1A2E"/>
                </a:solidFill>
              </a:rPr>
              <a:t>export ANTHROPIC_API_KEY=sk-ant-...
python3 coupler-proxy.py
→ http://localhost:8766</a:t>
            </a:r>
          </a:p>
        </p:txBody>
      </p:sp>
      <p:sp>
        <p:nvSpPr>
          <p:cNvPr id="9" name="Rectangle 8"/>
          <p:cNvSpPr/>
          <p:nvPr/>
        </p:nvSpPr>
        <p:spPr>
          <a:xfrm>
            <a:off x="6446520" y="1234440"/>
            <a:ext cx="45720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271016"/>
            <a:ext cx="457200" cy="402336"/>
          </a:xfrm>
          <a:prstGeom prst="rect">
            <a:avLst/>
          </a:prstGeom>
          <a:noFill/>
        </p:spPr>
        <p:txBody>
          <a:bodyPr wrap="square">
            <a:spAutoFit/>
          </a:bodyPr>
          <a:lstStyle/>
          <a:p>
            <a:pPr algn="ctr"/>
            <a:r>
              <a:rPr sz="2200" b="1" i="0">
                <a:solidFill>
                  <a:srgbClr val="FFFFFF"/>
                </a:solidFill>
              </a:rPr>
              <a:t>2</a:t>
            </a:r>
          </a:p>
        </p:txBody>
      </p:sp>
      <p:sp>
        <p:nvSpPr>
          <p:cNvPr id="11" name="TextBox 10"/>
          <p:cNvSpPr txBox="1"/>
          <p:nvPr/>
        </p:nvSpPr>
        <p:spPr>
          <a:xfrm>
            <a:off x="7040880" y="1234440"/>
            <a:ext cx="5120640" cy="365760"/>
          </a:xfrm>
          <a:prstGeom prst="rect">
            <a:avLst/>
          </a:prstGeom>
          <a:noFill/>
        </p:spPr>
        <p:txBody>
          <a:bodyPr wrap="square">
            <a:spAutoFit/>
          </a:bodyPr>
          <a:lstStyle/>
          <a:p>
            <a:pPr algn="l"/>
            <a:r>
              <a:rPr sz="1300" b="1" i="0">
                <a:solidFill>
                  <a:srgbClr val="1E3A5F"/>
                </a:solidFill>
              </a:rPr>
              <a:t>Add a person and problem</a:t>
            </a:r>
          </a:p>
        </p:txBody>
      </p:sp>
      <p:sp>
        <p:nvSpPr>
          <p:cNvPr id="12" name="TextBox 11"/>
          <p:cNvSpPr txBox="1"/>
          <p:nvPr/>
        </p:nvSpPr>
        <p:spPr>
          <a:xfrm>
            <a:off x="7040880" y="1600200"/>
            <a:ext cx="5120640" cy="1005840"/>
          </a:xfrm>
          <a:prstGeom prst="rect">
            <a:avLst/>
          </a:prstGeom>
          <a:noFill/>
        </p:spPr>
        <p:txBody>
          <a:bodyPr wrap="square">
            <a:spAutoFit/>
          </a:bodyPr>
          <a:lstStyle/>
          <a:p>
            <a:pPr algn="l"/>
            <a:r>
              <a:rPr sz="1100" b="0" i="0">
                <a:solidFill>
                  <a:srgbClr val="1A1A2E"/>
                </a:solidFill>
              </a:rPr>
              <a:t>Click "+ Person", enter name and DOB.
Click "+ Add problem", enter the plain-language and clinical problem statements.</a:t>
            </a:r>
          </a:p>
        </p:txBody>
      </p:sp>
      <p:sp>
        <p:nvSpPr>
          <p:cNvPr id="13" name="Rectangle 12"/>
          <p:cNvSpPr/>
          <p:nvPr/>
        </p:nvSpPr>
        <p:spPr>
          <a:xfrm>
            <a:off x="502920" y="2880360"/>
            <a:ext cx="45720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916936"/>
            <a:ext cx="457200" cy="402336"/>
          </a:xfrm>
          <a:prstGeom prst="rect">
            <a:avLst/>
          </a:prstGeom>
          <a:noFill/>
        </p:spPr>
        <p:txBody>
          <a:bodyPr wrap="square">
            <a:spAutoFit/>
          </a:bodyPr>
          <a:lstStyle/>
          <a:p>
            <a:pPr algn="ctr"/>
            <a:r>
              <a:rPr sz="2200" b="1" i="0">
                <a:solidFill>
                  <a:srgbClr val="FFFFFF"/>
                </a:solidFill>
              </a:rPr>
              <a:t>3</a:t>
            </a:r>
          </a:p>
        </p:txBody>
      </p:sp>
      <p:sp>
        <p:nvSpPr>
          <p:cNvPr id="15" name="TextBox 14"/>
          <p:cNvSpPr txBox="1"/>
          <p:nvPr/>
        </p:nvSpPr>
        <p:spPr>
          <a:xfrm>
            <a:off x="1097280" y="2880360"/>
            <a:ext cx="5120640" cy="365760"/>
          </a:xfrm>
          <a:prstGeom prst="rect">
            <a:avLst/>
          </a:prstGeom>
          <a:noFill/>
        </p:spPr>
        <p:txBody>
          <a:bodyPr wrap="square">
            <a:spAutoFit/>
          </a:bodyPr>
          <a:lstStyle/>
          <a:p>
            <a:pPr algn="l"/>
            <a:r>
              <a:rPr sz="1300" b="1" i="0">
                <a:solidFill>
                  <a:srgbClr val="1E3A5F"/>
                </a:solidFill>
              </a:rPr>
              <a:t>Generate Frame</a:t>
            </a:r>
          </a:p>
        </p:txBody>
      </p:sp>
      <p:sp>
        <p:nvSpPr>
          <p:cNvPr id="16" name="TextBox 15"/>
          <p:cNvSpPr txBox="1"/>
          <p:nvPr/>
        </p:nvSpPr>
        <p:spPr>
          <a:xfrm>
            <a:off x="1097280" y="3246120"/>
            <a:ext cx="5120640" cy="1005840"/>
          </a:xfrm>
          <a:prstGeom prst="rect">
            <a:avLst/>
          </a:prstGeom>
          <a:noFill/>
        </p:spPr>
        <p:txBody>
          <a:bodyPr wrap="square">
            <a:spAutoFit/>
          </a:bodyPr>
          <a:lstStyle/>
          <a:p>
            <a:pPr algn="l"/>
            <a:r>
              <a:rPr sz="1100" b="0" i="0">
                <a:solidFill>
                  <a:srgbClr val="1A1A2E"/>
                </a:solidFill>
              </a:rPr>
              <a:t>Click Generate Frame. The AI builds the full workup frame (20–30 seconds). All slots start as "absent".</a:t>
            </a:r>
          </a:p>
        </p:txBody>
      </p:sp>
      <p:sp>
        <p:nvSpPr>
          <p:cNvPr id="17" name="Rectangle 16"/>
          <p:cNvSpPr/>
          <p:nvPr/>
        </p:nvSpPr>
        <p:spPr>
          <a:xfrm>
            <a:off x="6446520" y="2880360"/>
            <a:ext cx="45720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916936"/>
            <a:ext cx="457200" cy="402336"/>
          </a:xfrm>
          <a:prstGeom prst="rect">
            <a:avLst/>
          </a:prstGeom>
          <a:noFill/>
        </p:spPr>
        <p:txBody>
          <a:bodyPr wrap="square">
            <a:spAutoFit/>
          </a:bodyPr>
          <a:lstStyle/>
          <a:p>
            <a:pPr algn="ctr"/>
            <a:r>
              <a:rPr sz="2200" b="1" i="0">
                <a:solidFill>
                  <a:srgbClr val="FFFFFF"/>
                </a:solidFill>
              </a:rPr>
              <a:t>4</a:t>
            </a:r>
          </a:p>
        </p:txBody>
      </p:sp>
      <p:sp>
        <p:nvSpPr>
          <p:cNvPr id="19" name="TextBox 18"/>
          <p:cNvSpPr txBox="1"/>
          <p:nvPr/>
        </p:nvSpPr>
        <p:spPr>
          <a:xfrm>
            <a:off x="7040880" y="2880360"/>
            <a:ext cx="5120640" cy="365760"/>
          </a:xfrm>
          <a:prstGeom prst="rect">
            <a:avLst/>
          </a:prstGeom>
          <a:noFill/>
        </p:spPr>
        <p:txBody>
          <a:bodyPr wrap="square">
            <a:spAutoFit/>
          </a:bodyPr>
          <a:lstStyle/>
          <a:p>
            <a:pPr algn="l"/>
            <a:r>
              <a:rPr sz="1300" b="1" i="0">
                <a:solidFill>
                  <a:srgbClr val="1E3A5F"/>
                </a:solidFill>
              </a:rPr>
              <a:t>Take PANAS check-in</a:t>
            </a:r>
          </a:p>
        </p:txBody>
      </p:sp>
      <p:sp>
        <p:nvSpPr>
          <p:cNvPr id="20" name="TextBox 19"/>
          <p:cNvSpPr txBox="1"/>
          <p:nvPr/>
        </p:nvSpPr>
        <p:spPr>
          <a:xfrm>
            <a:off x="7040880" y="3246120"/>
            <a:ext cx="5120640" cy="1005840"/>
          </a:xfrm>
          <a:prstGeom prst="rect">
            <a:avLst/>
          </a:prstGeom>
          <a:noFill/>
        </p:spPr>
        <p:txBody>
          <a:bodyPr wrap="square">
            <a:spAutoFit/>
          </a:bodyPr>
          <a:lstStyle/>
          <a:p>
            <a:pPr algn="l"/>
            <a:r>
              <a:rPr sz="1100" b="0" i="0">
                <a:solidFill>
                  <a:srgbClr val="1A1A2E"/>
                </a:solidFill>
              </a:rPr>
              <a:t>Click "Take PANAS" in the sidebar. Rate 10 words (1–5, past week) to set the activation band. The frame view adapts — override anytime with "Show full frame".</a:t>
            </a:r>
          </a:p>
        </p:txBody>
      </p:sp>
      <p:sp>
        <p:nvSpPr>
          <p:cNvPr id="21" name="Rectangle 20"/>
          <p:cNvSpPr/>
          <p:nvPr/>
        </p:nvSpPr>
        <p:spPr>
          <a:xfrm>
            <a:off x="502920" y="4526280"/>
            <a:ext cx="45720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562856"/>
            <a:ext cx="457200" cy="402336"/>
          </a:xfrm>
          <a:prstGeom prst="rect">
            <a:avLst/>
          </a:prstGeom>
          <a:noFill/>
        </p:spPr>
        <p:txBody>
          <a:bodyPr wrap="square">
            <a:spAutoFit/>
          </a:bodyPr>
          <a:lstStyle/>
          <a:p>
            <a:pPr algn="ctr"/>
            <a:r>
              <a:rPr sz="2200" b="1" i="0">
                <a:solidFill>
                  <a:srgbClr val="FFFFFF"/>
                </a:solidFill>
              </a:rPr>
              <a:t>5</a:t>
            </a:r>
          </a:p>
        </p:txBody>
      </p:sp>
      <p:sp>
        <p:nvSpPr>
          <p:cNvPr id="23" name="TextBox 22"/>
          <p:cNvSpPr txBox="1"/>
          <p:nvPr/>
        </p:nvSpPr>
        <p:spPr>
          <a:xfrm>
            <a:off x="1097280" y="4526280"/>
            <a:ext cx="5120640" cy="365760"/>
          </a:xfrm>
          <a:prstGeom prst="rect">
            <a:avLst/>
          </a:prstGeom>
          <a:noFill/>
        </p:spPr>
        <p:txBody>
          <a:bodyPr wrap="square">
            <a:spAutoFit/>
          </a:bodyPr>
          <a:lstStyle/>
          <a:p>
            <a:pPr algn="l"/>
            <a:r>
              <a:rPr sz="1300" b="1" i="0">
                <a:solidFill>
                  <a:srgbClr val="1E3A5F"/>
                </a:solidFill>
              </a:rPr>
              <a:t>Enter findings · Re-Match</a:t>
            </a:r>
          </a:p>
        </p:txBody>
      </p:sp>
      <p:sp>
        <p:nvSpPr>
          <p:cNvPr id="24" name="TextBox 23"/>
          <p:cNvSpPr txBox="1"/>
          <p:nvPr/>
        </p:nvSpPr>
        <p:spPr>
          <a:xfrm>
            <a:off x="1097280" y="4892040"/>
            <a:ext cx="5120640" cy="1005840"/>
          </a:xfrm>
          <a:prstGeom prst="rect">
            <a:avLst/>
          </a:prstGeom>
          <a:noFill/>
        </p:spPr>
        <p:txBody>
          <a:bodyPr wrap="square">
            <a:spAutoFit/>
          </a:bodyPr>
          <a:lstStyle/>
          <a:p>
            <a:pPr algn="l"/>
            <a:r>
              <a:rPr sz="1100" b="0" i="0">
                <a:solidFill>
                  <a:srgbClr val="1A1A2E"/>
                </a:solidFill>
              </a:rPr>
              <a:t>Click any finding row, enter the value. Click Re-Match after each visit. Probabilities update; history appends.</a:t>
            </a:r>
          </a:p>
        </p:txBody>
      </p:sp>
      <p:sp>
        <p:nvSpPr>
          <p:cNvPr id="25" name="Rectangle 24"/>
          <p:cNvSpPr/>
          <p:nvPr/>
        </p:nvSpPr>
        <p:spPr>
          <a:xfrm>
            <a:off x="6446520" y="4526280"/>
            <a:ext cx="457200" cy="457200"/>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562856"/>
            <a:ext cx="457200" cy="402336"/>
          </a:xfrm>
          <a:prstGeom prst="rect">
            <a:avLst/>
          </a:prstGeom>
          <a:noFill/>
        </p:spPr>
        <p:txBody>
          <a:bodyPr wrap="square">
            <a:spAutoFit/>
          </a:bodyPr>
          <a:lstStyle/>
          <a:p>
            <a:pPr algn="ctr"/>
            <a:r>
              <a:rPr sz="2200" b="1" i="0">
                <a:solidFill>
                  <a:srgbClr val="FFFFFF"/>
                </a:solidFill>
              </a:rPr>
              <a:t>6</a:t>
            </a:r>
          </a:p>
        </p:txBody>
      </p:sp>
      <p:sp>
        <p:nvSpPr>
          <p:cNvPr id="27" name="TextBox 26"/>
          <p:cNvSpPr txBox="1"/>
          <p:nvPr/>
        </p:nvSpPr>
        <p:spPr>
          <a:xfrm>
            <a:off x="7040880" y="4526280"/>
            <a:ext cx="5120640" cy="365760"/>
          </a:xfrm>
          <a:prstGeom prst="rect">
            <a:avLst/>
          </a:prstGeom>
          <a:noFill/>
        </p:spPr>
        <p:txBody>
          <a:bodyPr wrap="square">
            <a:spAutoFit/>
          </a:bodyPr>
          <a:lstStyle/>
          <a:p>
            <a:pPr algn="l"/>
            <a:r>
              <a:rPr sz="1300" b="1" i="0">
                <a:solidFill>
                  <a:srgbClr val="1E3A5F"/>
                </a:solidFill>
              </a:rPr>
              <a:t>Save Bundle to take work elsewhere</a:t>
            </a:r>
          </a:p>
        </p:txBody>
      </p:sp>
      <p:sp>
        <p:nvSpPr>
          <p:cNvPr id="28" name="TextBox 27"/>
          <p:cNvSpPr txBox="1"/>
          <p:nvPr/>
        </p:nvSpPr>
        <p:spPr>
          <a:xfrm>
            <a:off x="7040880" y="4892040"/>
            <a:ext cx="5120640" cy="1005840"/>
          </a:xfrm>
          <a:prstGeom prst="rect">
            <a:avLst/>
          </a:prstGeom>
          <a:noFill/>
        </p:spPr>
        <p:txBody>
          <a:bodyPr wrap="square">
            <a:spAutoFit/>
          </a:bodyPr>
          <a:lstStyle/>
          <a:p>
            <a:pPr algn="l"/>
            <a:r>
              <a:rPr sz="1100" b="0" i="0">
                <a:solidFill>
                  <a:srgbClr val="1A1A2E"/>
                </a:solidFill>
              </a:rPr>
              <a:t>Save Bundle → .coupler.json. Load Bundle on any machine running the proxy to restore everything including activation history.</a:t>
            </a:r>
          </a:p>
        </p:txBody>
      </p:sp>
      <p:sp>
        <p:nvSpPr>
          <p:cNvPr id="29" name="TextBox 28"/>
          <p:cNvSpPr txBox="1"/>
          <p:nvPr/>
        </p:nvSpPr>
        <p:spPr>
          <a:xfrm>
            <a:off x="548640" y="6492240"/>
            <a:ext cx="10972800" cy="274320"/>
          </a:xfrm>
          <a:prstGeom prst="rect">
            <a:avLst/>
          </a:prstGeom>
          <a:noFill/>
        </p:spPr>
        <p:txBody>
          <a:bodyPr wrap="square">
            <a:spAutoFit/>
          </a:bodyPr>
          <a:lstStyle/>
          <a:p>
            <a:pPr algn="l"/>
            <a:r>
              <a:rPr sz="900" b="0" i="0">
                <a:solidFill>
                  <a:srgbClr val="6C757D"/>
                </a:solidFill>
              </a:rPr>
              <a:t>Problem-Knowledge Coupler · RCN · 2026 · localhost:8766 · coupler-proxy.py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640080" y="731520"/>
            <a:ext cx="10881360" cy="640080"/>
          </a:xfrm>
          <a:prstGeom prst="rect">
            <a:avLst/>
          </a:prstGeom>
          <a:noFill/>
        </p:spPr>
        <p:txBody>
          <a:bodyPr wrap="square">
            <a:spAutoFit/>
          </a:bodyPr>
          <a:lstStyle/>
          <a:p>
            <a:pPr algn="l"/>
            <a:r>
              <a:rPr sz="3200" b="1" i="0">
                <a:solidFill>
                  <a:srgbClr val="FFFFFF"/>
                </a:solidFill>
              </a:rPr>
              <a:t>What comes next</a:t>
            </a:r>
          </a:p>
        </p:txBody>
      </p:sp>
      <p:sp>
        <p:nvSpPr>
          <p:cNvPr id="3" name="TextBox 2"/>
          <p:cNvSpPr txBox="1"/>
          <p:nvPr/>
        </p:nvSpPr>
        <p:spPr>
          <a:xfrm>
            <a:off x="640080" y="1325880"/>
            <a:ext cx="10881360" cy="365760"/>
          </a:xfrm>
          <a:prstGeom prst="rect">
            <a:avLst/>
          </a:prstGeom>
          <a:noFill/>
        </p:spPr>
        <p:txBody>
          <a:bodyPr wrap="square">
            <a:spAutoFit/>
          </a:bodyPr>
          <a:lstStyle/>
          <a:p>
            <a:pPr algn="l"/>
            <a:r>
              <a:rPr sz="1400" b="0" i="0">
                <a:solidFill>
                  <a:srgbClr val="B0C8E8"/>
                </a:solidFill>
              </a:rPr>
              <a:t>Seams designed but not yet built</a:t>
            </a:r>
          </a:p>
        </p:txBody>
      </p:sp>
      <p:sp>
        <p:nvSpPr>
          <p:cNvPr id="4" name="Rectangle 3"/>
          <p:cNvSpPr/>
          <p:nvPr/>
        </p:nvSpPr>
        <p:spPr>
          <a:xfrm>
            <a:off x="640080" y="1920240"/>
            <a:ext cx="5394960" cy="1188720"/>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11680"/>
            <a:ext cx="5029200" cy="384048"/>
          </a:xfrm>
          <a:prstGeom prst="rect">
            <a:avLst/>
          </a:prstGeom>
          <a:noFill/>
        </p:spPr>
        <p:txBody>
          <a:bodyPr wrap="square">
            <a:spAutoFit/>
          </a:bodyPr>
          <a:lstStyle/>
          <a:p>
            <a:pPr algn="l"/>
            <a:r>
              <a:rPr sz="1400" b="1" i="0">
                <a:solidFill>
                  <a:srgbClr val="FFFFFF"/>
                </a:solidFill>
              </a:rPr>
              <a:t>Import from SCP</a:t>
            </a:r>
          </a:p>
        </p:txBody>
      </p:sp>
      <p:sp>
        <p:nvSpPr>
          <p:cNvPr id="6" name="TextBox 5"/>
          <p:cNvSpPr txBox="1"/>
          <p:nvPr/>
        </p:nvSpPr>
        <p:spPr>
          <a:xfrm>
            <a:off x="822960" y="2395728"/>
            <a:ext cx="5029200" cy="594360"/>
          </a:xfrm>
          <a:prstGeom prst="rect">
            <a:avLst/>
          </a:prstGeom>
          <a:noFill/>
        </p:spPr>
        <p:txBody>
          <a:bodyPr wrap="square">
            <a:spAutoFit/>
          </a:bodyPr>
          <a:lstStyle/>
          <a:p>
            <a:pPr algn="l"/>
            <a:r>
              <a:rPr sz="1100" b="0" i="0">
                <a:solidFill>
                  <a:srgbClr val="B0C8E8"/>
                </a:solidFill>
              </a:rPr>
              <a:t>Pull existing problems and data from FedWiki Shared Care Plan pages</a:t>
            </a:r>
          </a:p>
        </p:txBody>
      </p:sp>
      <p:sp>
        <p:nvSpPr>
          <p:cNvPr id="7" name="Rectangle 6"/>
          <p:cNvSpPr/>
          <p:nvPr/>
        </p:nvSpPr>
        <p:spPr>
          <a:xfrm>
            <a:off x="6583680" y="1920240"/>
            <a:ext cx="5394960" cy="1188720"/>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2011680"/>
            <a:ext cx="5029200" cy="384048"/>
          </a:xfrm>
          <a:prstGeom prst="rect">
            <a:avLst/>
          </a:prstGeom>
          <a:noFill/>
        </p:spPr>
        <p:txBody>
          <a:bodyPr wrap="square">
            <a:spAutoFit/>
          </a:bodyPr>
          <a:lstStyle/>
          <a:p>
            <a:pPr algn="l"/>
            <a:r>
              <a:rPr sz="1400" b="1" i="0">
                <a:solidFill>
                  <a:srgbClr val="FFFFFF"/>
                </a:solidFill>
              </a:rPr>
              <a:t>Groove workspace</a:t>
            </a:r>
          </a:p>
        </p:txBody>
      </p:sp>
      <p:sp>
        <p:nvSpPr>
          <p:cNvPr id="9" name="TextBox 8"/>
          <p:cNvSpPr txBox="1"/>
          <p:nvPr/>
        </p:nvSpPr>
        <p:spPr>
          <a:xfrm>
            <a:off x="6766560" y="2395728"/>
            <a:ext cx="5029200" cy="594360"/>
          </a:xfrm>
          <a:prstGeom prst="rect">
            <a:avLst/>
          </a:prstGeom>
          <a:noFill/>
        </p:spPr>
        <p:txBody>
          <a:bodyPr wrap="square">
            <a:spAutoFit/>
          </a:bodyPr>
          <a:lstStyle/>
          <a:p>
            <a:pPr algn="l"/>
            <a:r>
              <a:rPr sz="1100" b="0" i="0">
                <a:solidFill>
                  <a:srgbClr val="B0C8E8"/>
                </a:solidFill>
              </a:rPr>
              <a:t>Share coupler pages into a Groove workspace for CHW field use</a:t>
            </a:r>
          </a:p>
        </p:txBody>
      </p:sp>
      <p:sp>
        <p:nvSpPr>
          <p:cNvPr id="10" name="Rectangle 9"/>
          <p:cNvSpPr/>
          <p:nvPr/>
        </p:nvSpPr>
        <p:spPr>
          <a:xfrm>
            <a:off x="640080" y="3337560"/>
            <a:ext cx="5394960" cy="1188720"/>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429000"/>
            <a:ext cx="5029200" cy="384048"/>
          </a:xfrm>
          <a:prstGeom prst="rect">
            <a:avLst/>
          </a:prstGeom>
          <a:noFill/>
        </p:spPr>
        <p:txBody>
          <a:bodyPr wrap="square">
            <a:spAutoFit/>
          </a:bodyPr>
          <a:lstStyle/>
          <a:p>
            <a:pPr algn="l"/>
            <a:r>
              <a:rPr sz="1400" b="1" i="0">
                <a:solidFill>
                  <a:srgbClr val="FFFFFF"/>
                </a:solidFill>
              </a:rPr>
              <a:t>Superior AZ pilot</a:t>
            </a:r>
          </a:p>
        </p:txBody>
      </p:sp>
      <p:sp>
        <p:nvSpPr>
          <p:cNvPr id="12" name="TextBox 11"/>
          <p:cNvSpPr txBox="1"/>
          <p:nvPr/>
        </p:nvSpPr>
        <p:spPr>
          <a:xfrm>
            <a:off x="822960" y="3813048"/>
            <a:ext cx="5029200" cy="594360"/>
          </a:xfrm>
          <a:prstGeom prst="rect">
            <a:avLst/>
          </a:prstGeom>
          <a:noFill/>
        </p:spPr>
        <p:txBody>
          <a:bodyPr wrap="square">
            <a:spAutoFit/>
          </a:bodyPr>
          <a:lstStyle/>
          <a:p>
            <a:pPr algn="l"/>
            <a:r>
              <a:rPr sz="1100" b="0" i="0">
                <a:solidFill>
                  <a:srgbClr val="B0C8E8"/>
                </a:solidFill>
              </a:rPr>
              <a:t>Field test with Chris Casillas — real problem sets, real CHW workflow</a:t>
            </a:r>
          </a:p>
        </p:txBody>
      </p:sp>
      <p:sp>
        <p:nvSpPr>
          <p:cNvPr id="13" name="Rectangle 12"/>
          <p:cNvSpPr/>
          <p:nvPr/>
        </p:nvSpPr>
        <p:spPr>
          <a:xfrm>
            <a:off x="6583680" y="3337560"/>
            <a:ext cx="5394960" cy="1188720"/>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3429000"/>
            <a:ext cx="5029200" cy="384048"/>
          </a:xfrm>
          <a:prstGeom prst="rect">
            <a:avLst/>
          </a:prstGeom>
          <a:noFill/>
        </p:spPr>
        <p:txBody>
          <a:bodyPr wrap="square">
            <a:spAutoFit/>
          </a:bodyPr>
          <a:lstStyle/>
          <a:p>
            <a:pPr algn="l"/>
            <a:r>
              <a:rPr sz="1400" b="1" i="0">
                <a:solidFill>
                  <a:srgbClr val="FFFFFF"/>
                </a:solidFill>
              </a:rPr>
              <a:t>FHIR mapping</a:t>
            </a:r>
          </a:p>
        </p:txBody>
      </p:sp>
      <p:sp>
        <p:nvSpPr>
          <p:cNvPr id="15" name="TextBox 14"/>
          <p:cNvSpPr txBox="1"/>
          <p:nvPr/>
        </p:nvSpPr>
        <p:spPr>
          <a:xfrm>
            <a:off x="6766560" y="3813048"/>
            <a:ext cx="5029200" cy="594360"/>
          </a:xfrm>
          <a:prstGeom prst="rect">
            <a:avLst/>
          </a:prstGeom>
          <a:noFill/>
        </p:spPr>
        <p:txBody>
          <a:bodyPr wrap="square">
            <a:spAutoFit/>
          </a:bodyPr>
          <a:lstStyle/>
          <a:p>
            <a:pPr algn="l"/>
            <a:r>
              <a:rPr sz="1100" b="0" i="0">
                <a:solidFill>
                  <a:srgbClr val="B0C8E8"/>
                </a:solidFill>
              </a:rPr>
              <a:t>Condition, Observation, CarePlan once schemas stabilize</a:t>
            </a:r>
          </a:p>
        </p:txBody>
      </p:sp>
      <p:sp>
        <p:nvSpPr>
          <p:cNvPr id="16" name="Rectangle 15"/>
          <p:cNvSpPr/>
          <p:nvPr/>
        </p:nvSpPr>
        <p:spPr>
          <a:xfrm>
            <a:off x="640080" y="4754880"/>
            <a:ext cx="5394960" cy="1188720"/>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846320"/>
            <a:ext cx="5029200" cy="384048"/>
          </a:xfrm>
          <a:prstGeom prst="rect">
            <a:avLst/>
          </a:prstGeom>
          <a:noFill/>
        </p:spPr>
        <p:txBody>
          <a:bodyPr wrap="square">
            <a:spAutoFit/>
          </a:bodyPr>
          <a:lstStyle/>
          <a:p>
            <a:pPr algn="l"/>
            <a:r>
              <a:rPr sz="1400" b="1" i="0">
                <a:solidFill>
                  <a:srgbClr val="FFFFFF"/>
                </a:solidFill>
              </a:rPr>
              <a:t>Physician review loop</a:t>
            </a:r>
          </a:p>
        </p:txBody>
      </p:sp>
      <p:sp>
        <p:nvSpPr>
          <p:cNvPr id="18" name="TextBox 17"/>
          <p:cNvSpPr txBox="1"/>
          <p:nvPr/>
        </p:nvSpPr>
        <p:spPr>
          <a:xfrm>
            <a:off x="822960" y="5230368"/>
            <a:ext cx="5029200" cy="594360"/>
          </a:xfrm>
          <a:prstGeom prst="rect">
            <a:avLst/>
          </a:prstGeom>
          <a:noFill/>
        </p:spPr>
        <p:txBody>
          <a:bodyPr wrap="square">
            <a:spAutoFit/>
          </a:bodyPr>
          <a:lstStyle/>
          <a:p>
            <a:pPr algn="l"/>
            <a:r>
              <a:rPr sz="1100" b="0" i="0">
                <a:solidFill>
                  <a:srgbClr val="B0C8E8"/>
                </a:solidFill>
              </a:rPr>
              <a:t>Structured feedback path from physician back into the frame</a:t>
            </a:r>
          </a:p>
        </p:txBody>
      </p:sp>
      <p:sp>
        <p:nvSpPr>
          <p:cNvPr id="19" name="Rectangle 18"/>
          <p:cNvSpPr/>
          <p:nvPr/>
        </p:nvSpPr>
        <p:spPr>
          <a:xfrm>
            <a:off x="3611880" y="4754880"/>
            <a:ext cx="5394960" cy="1188720"/>
          </a:xfrm>
          <a:prstGeom prst="rect">
            <a:avLst/>
          </a:prstGeom>
          <a:solidFill>
            <a:srgbClr val="2A4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4760" y="4846320"/>
            <a:ext cx="5029200" cy="384048"/>
          </a:xfrm>
          <a:prstGeom prst="rect">
            <a:avLst/>
          </a:prstGeom>
          <a:noFill/>
        </p:spPr>
        <p:txBody>
          <a:bodyPr wrap="square">
            <a:spAutoFit/>
          </a:bodyPr>
          <a:lstStyle/>
          <a:p>
            <a:pPr algn="l"/>
            <a:r>
              <a:rPr sz="1400" b="1" i="0">
                <a:solidFill>
                  <a:srgbClr val="FFFFFF"/>
                </a:solidFill>
              </a:rPr>
              <a:t>Physician review loop</a:t>
            </a:r>
          </a:p>
        </p:txBody>
      </p:sp>
      <p:sp>
        <p:nvSpPr>
          <p:cNvPr id="21" name="TextBox 20"/>
          <p:cNvSpPr txBox="1"/>
          <p:nvPr/>
        </p:nvSpPr>
        <p:spPr>
          <a:xfrm>
            <a:off x="3794760" y="5230368"/>
            <a:ext cx="5029200" cy="594360"/>
          </a:xfrm>
          <a:prstGeom prst="rect">
            <a:avLst/>
          </a:prstGeom>
          <a:noFill/>
        </p:spPr>
        <p:txBody>
          <a:bodyPr wrap="square">
            <a:spAutoFit/>
          </a:bodyPr>
          <a:lstStyle/>
          <a:p>
            <a:pPr algn="l"/>
            <a:r>
              <a:rPr sz="1100" b="0" i="0">
                <a:solidFill>
                  <a:srgbClr val="B0C8E8"/>
                </a:solidFill>
              </a:rPr>
              <a:t>Structured feedback path from physician back into the frame</a:t>
            </a:r>
          </a:p>
        </p:txBody>
      </p:sp>
      <p:sp>
        <p:nvSpPr>
          <p:cNvPr id="22" name="TextBox 21"/>
          <p:cNvSpPr txBox="1"/>
          <p:nvPr/>
        </p:nvSpPr>
        <p:spPr>
          <a:xfrm>
            <a:off x="640080" y="6492240"/>
            <a:ext cx="10881360" cy="274320"/>
          </a:xfrm>
          <a:prstGeom prst="rect">
            <a:avLst/>
          </a:prstGeom>
          <a:noFill/>
        </p:spPr>
        <p:txBody>
          <a:bodyPr wrap="square">
            <a:spAutoFit/>
          </a:bodyPr>
          <a:lstStyle/>
          <a:p>
            <a:pPr algn="ctr"/>
            <a:r>
              <a:rPr sz="1000" b="0" i="1">
                <a:solidFill>
                  <a:srgbClr val="6A8FB0"/>
                </a:solidFill>
              </a:rPr>
              <a:t>"The record teaches whoever touches it what a complete workup looks like."  — L. Weed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