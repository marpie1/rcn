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5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2A5C3F"/>
                </a:solidFill>
                <a:latin typeface="Arial"/>
              </a:rPr>
              <a:t>The SODOTO Teaching Graph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6B6355"/>
                </a:solidFill>
                <a:latin typeface="Arial"/>
              </a:rPr>
              <a:t>Who taught whom — made queryable. A Neo4j lens over your SODOTO (See One, Do One, Teach One) badges.</a:t>
            </a:r>
          </a:p>
          <a:p>
            <a:pPr>
              <a:spcBef>
                <a:spcPts val="2400"/>
              </a:spcBef>
            </a:pPr>
            <a:r>
              <a:rPr sz="1400">
                <a:solidFill>
                  <a:srgbClr val="6B6355"/>
                </a:solidFill>
                <a:latin typeface="Consolas"/>
              </a:rPr>
              <a:t>ReLocalize Creativity Network ·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5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A1A1A"/>
                </a:solidFill>
                <a:latin typeface="Arial"/>
              </a:rPr>
              <a:t>What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200" b="1">
                <a:solidFill>
                  <a:srgbClr val="1A1A1A"/>
                </a:solidFill>
                <a:latin typeface="Arial"/>
              </a:rPr>
              <a:t>•  Every badge tells one story</a:t>
            </a:r>
            <a:r>
              <a:rPr sz="2000" b="0">
                <a:solidFill>
                  <a:srgbClr val="6B6355"/>
                </a:solidFill>
                <a:latin typeface="Arial"/>
              </a:rPr>
              <a:t>  —  a learner earned a skill, a mentor witnessed, a student was taught</a:t>
            </a:r>
          </a:p>
          <a:p>
            <a:pPr>
              <a:spcAft>
                <a:spcPts val="1800"/>
              </a:spcAft>
            </a:pPr>
            <a:r>
              <a:rPr sz="2200" b="1">
                <a:solidFill>
                  <a:srgbClr val="1A1A1A"/>
                </a:solidFill>
                <a:latin typeface="Arial"/>
              </a:rPr>
              <a:t>•  The graph connects all the stories</a:t>
            </a:r>
            <a:r>
              <a:rPr sz="2000" b="0">
                <a:solidFill>
                  <a:srgbClr val="6B6355"/>
                </a:solidFill>
                <a:latin typeface="Arial"/>
              </a:rPr>
              <a:t>  —  into one picture you can trace threads through</a:t>
            </a:r>
          </a:p>
          <a:p>
            <a:pPr>
              <a:spcAft>
                <a:spcPts val="1800"/>
              </a:spcAft>
            </a:pPr>
            <a:r>
              <a:rPr sz="2200" b="1">
                <a:solidFill>
                  <a:srgbClr val="1A1A1A"/>
                </a:solidFill>
                <a:latin typeface="Arial"/>
              </a:rPr>
              <a:t>•  Ask across the whole network</a:t>
            </a:r>
            <a:r>
              <a:rPr sz="2000" b="0">
                <a:solidFill>
                  <a:srgbClr val="6B6355"/>
                </a:solidFill>
                <a:latin typeface="Arial"/>
              </a:rPr>
              <a:t>  —  lineage · mentors · provenance — not one badge at a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5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A1A1A"/>
                </a:solidFill>
                <a:latin typeface="Arial"/>
              </a:rPr>
              <a:t>Badges are the truth. The graph is a lens.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200" b="1">
                <a:solidFill>
                  <a:srgbClr val="1A1A1A"/>
                </a:solidFill>
                <a:latin typeface="Arial"/>
              </a:rPr>
              <a:t>•  A projection built from the badges</a:t>
            </a:r>
          </a:p>
          <a:p>
            <a:pPr>
              <a:spcAft>
                <a:spcPts val="1800"/>
              </a:spcAft>
            </a:pPr>
            <a:r>
              <a:rPr sz="2200" b="1">
                <a:solidFill>
                  <a:srgbClr val="1A1A1A"/>
                </a:solidFill>
                <a:latin typeface="Arial"/>
              </a:rPr>
              <a:t>•  Delete it, rebuild it from the portfolios</a:t>
            </a:r>
            <a:r>
              <a:rPr sz="2000" b="0">
                <a:solidFill>
                  <a:srgbClr val="6B6355"/>
                </a:solidFill>
                <a:latin typeface="Arial"/>
              </a:rPr>
              <a:t>  —  nothing is lost</a:t>
            </a:r>
          </a:p>
          <a:p>
            <a:pPr>
              <a:spcAft>
                <a:spcPts val="1800"/>
              </a:spcAft>
            </a:pPr>
            <a:r>
              <a:rPr sz="2200" b="1">
                <a:solidFill>
                  <a:srgbClr val="1A1A1A"/>
                </a:solidFill>
                <a:latin typeface="Arial"/>
              </a:rPr>
              <a:t>•  Issuing and verifying never touch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5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A1A1A"/>
                </a:solidFill>
                <a:latin typeface="Arial"/>
              </a:rPr>
              <a:t>The model</a:t>
            </a:r>
          </a:p>
        </p:txBody>
      </p:sp>
      <p:pic>
        <p:nvPicPr>
          <p:cNvPr id="4" name="Picture 3" descr="sodoto-teaching-graph-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600200"/>
            <a:ext cx="9144000" cy="55031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>
                <a:solidFill>
                  <a:srgbClr val="6B6355"/>
                </a:solidFill>
                <a:latin typeface="Arial"/>
              </a:rPr>
              <a:t>Five node types. The issuer is a Neighborhood Development Center (NDC). Teaching edges (TAUGHT) + provenance (ISSUED / HOLDS / CERTIFIES / HAS_GATE).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5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A1A1A"/>
                </a:solidFill>
                <a:latin typeface="Arial"/>
              </a:rPr>
              <a:t>What you can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1A1A1A"/>
                </a:solidFill>
                <a:latin typeface="Arial"/>
              </a:rPr>
              <a:t>•  Teaching lineage</a:t>
            </a:r>
            <a:r>
              <a:rPr sz="1700" b="0">
                <a:solidFill>
                  <a:srgbClr val="6B6355"/>
                </a:solidFill>
                <a:latin typeface="Arial"/>
              </a:rPr>
              <a:t>  —  trace who taught whom, to any depth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A1A1A"/>
                </a:solidFill>
                <a:latin typeface="Arial"/>
              </a:rPr>
              <a:t>•  Most active mentors</a:t>
            </a:r>
            <a:r>
              <a:rPr sz="1700" b="0">
                <a:solidFill>
                  <a:srgbClr val="6B6355"/>
                </a:solidFill>
                <a:latin typeface="Arial"/>
              </a:rPr>
              <a:t>  —  who grew the most practitioners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A1A1A"/>
                </a:solidFill>
                <a:latin typeface="Arial"/>
              </a:rPr>
              <a:t>•  Where a skill entered the network</a:t>
            </a:r>
            <a:r>
              <a:rPr sz="1700" b="0">
                <a:solidFill>
                  <a:srgbClr val="6B6355"/>
                </a:solidFill>
                <a:latin typeface="Arial"/>
              </a:rPr>
              <a:t>  —  the roots of a teaching tree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A1A1A"/>
                </a:solidFill>
                <a:latin typeface="Arial"/>
              </a:rPr>
              <a:t>•  A person's full record</a:t>
            </a:r>
            <a:r>
              <a:rPr sz="1700" b="0">
                <a:solidFill>
                  <a:srgbClr val="6B6355"/>
                </a:solidFill>
                <a:latin typeface="Arial"/>
              </a:rPr>
              <a:t>  —  every credential and everyone they taught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A1A1A"/>
                </a:solidFill>
                <a:latin typeface="Arial"/>
              </a:rPr>
              <a:t>•  Who can do skill X</a:t>
            </a:r>
            <a:r>
              <a:rPr sz="1700" b="0">
                <a:solidFill>
                  <a:srgbClr val="6B6355"/>
                </a:solidFill>
                <a:latin typeface="Arial"/>
              </a:rPr>
              <a:t>  —  and how many gates deep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A1A1A"/>
                </a:solidFill>
                <a:latin typeface="Arial"/>
              </a:rPr>
              <a:t>•  Provenance</a:t>
            </a:r>
            <a:r>
              <a:rPr sz="1700" b="0">
                <a:solidFill>
                  <a:srgbClr val="6B6355"/>
                </a:solidFill>
                <a:latin typeface="Arial"/>
              </a:rPr>
              <a:t>  —  which NDC, which gates, which attestations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5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A1A1A"/>
                </a:solidFill>
                <a:latin typeface="Arial"/>
              </a:rPr>
              <a:t>Build it — three commands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10515600" cy="3108960"/>
          </a:xfrm>
          <a:prstGeom prst="rect">
            <a:avLst/>
          </a:prstGeom>
          <a:solidFill>
            <a:srgbClr val="1E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37160"/>
          <a:lstStyle/>
          <a:p>
            <a:pPr algn="ctr">
              <a:spcAft>
                <a:spcPts val="200"/>
              </a:spcAft>
            </a:pPr>
            <a:r>
              <a:rPr sz="1600">
                <a:solidFill>
                  <a:srgbClr val="E6EDF3"/>
                </a:solidFill>
                <a:latin typeface="Consolas"/>
              </a:rPr>
              <a:t># dry run — what would project (no database needed)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E6EDF3"/>
                </a:solidFill>
                <a:latin typeface="Consolas"/>
              </a:rPr>
              <a:t>python3 substrate/sodoto_projector.py --check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E6EDF3"/>
                </a:solidFill>
                <a:latin typeface="Consolas"/>
              </a:rPr>
              <a:t># project into Neo4j (idempotent — safe to re-run)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E6EDF3"/>
                </a:solidFill>
                <a:latin typeface="Consolas"/>
              </a:rPr>
              <a:t>python3 substrate/sodoto_projector.py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E6EDF3"/>
                </a:solidFill>
                <a:latin typeface="Consolas"/>
              </a:rPr>
              <a:t># project, then a lineage summary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E6EDF3"/>
                </a:solidFill>
                <a:latin typeface="Consolas"/>
              </a:rPr>
              <a:t>python3 substrate/sodoto_projector.py --summary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12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1A1A"/>
                </a:solidFill>
                <a:latin typeface="Arial"/>
              </a:rPr>
              <a:t>Re-run anytime new badges are issued — existing nodes are untouched.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5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A1A1A"/>
                </a:solidFill>
                <a:latin typeface="Arial"/>
              </a:rPr>
              <a:t>Ask it anything — two 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>
                <a:solidFill>
                  <a:srgbClr val="2A5C3F"/>
                </a:solidFill>
                <a:latin typeface="Arial"/>
              </a:rPr>
              <a:t>From the terminal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solidFill>
            <a:srgbClr val="1E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37160"/>
          <a:lstStyle/>
          <a:p>
            <a:pPr algn="ctr">
              <a:spcAft>
                <a:spcPts val="200"/>
              </a:spcAft>
            </a:pPr>
            <a:r>
              <a:rPr sz="1600">
                <a:solidFill>
                  <a:srgbClr val="E6EDF3"/>
                </a:solidFill>
                <a:latin typeface="Consolas"/>
              </a:rPr>
              <a:t>python3 substrate/db.py -q "MATCH (c:Credential) RETURN count(c)"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>
                <a:solidFill>
                  <a:srgbClr val="2A5C3F"/>
                </a:solidFill>
                <a:latin typeface="Arial"/>
              </a:rPr>
              <a:t>In the Neo4j Browser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A1A1A"/>
                </a:solidFill>
                <a:latin typeface="Arial"/>
              </a:rPr>
              <a:t>•  http://localhost:7474</a:t>
            </a:r>
            <a:r>
              <a:rPr sz="1600" b="0">
                <a:solidFill>
                  <a:srgbClr val="6B6355"/>
                </a:solidFill>
                <a:latin typeface="Arial"/>
              </a:rPr>
              <a:t>  —  draws the graph visually — click around lineages and the whole network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5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A1A1A"/>
                </a:solidFill>
                <a:latin typeface="Arial"/>
              </a:rPr>
              <a:t>Example — teaching lineage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37360"/>
            <a:ext cx="10515600" cy="1828800"/>
          </a:xfrm>
          <a:prstGeom prst="rect">
            <a:avLst/>
          </a:prstGeom>
          <a:solidFill>
            <a:srgbClr val="1E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37160"/>
          <a:lstStyle/>
          <a:p>
            <a:pPr algn="ctr">
              <a:spcAft>
                <a:spcPts val="200"/>
              </a:spcAft>
            </a:pPr>
            <a:r>
              <a:rPr sz="1600">
                <a:solidFill>
                  <a:srgbClr val="E6EDF3"/>
                </a:solidFill>
                <a:latin typeface="Consolas"/>
              </a:rPr>
              <a:t>MATCH path=(root:Person)-[:TAUGHT*]-&gt;(leaf:Person)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E6EDF3"/>
                </a:solidFill>
                <a:latin typeface="Consolas"/>
              </a:rPr>
              <a:t>WHERE NOT ()-[:TAUGHT]-&gt;(root)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E6EDF3"/>
                </a:solidFill>
                <a:latin typeface="Consolas"/>
              </a:rPr>
              <a:t>RETURN [n IN nodes(path) | n.name] AS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6A34A"/>
                </a:solidFill>
                <a:latin typeface="Arial"/>
              </a:rPr>
              <a:t>→  </a:t>
            </a:r>
            <a:r>
              <a:rPr sz="2400" b="1">
                <a:solidFill>
                  <a:srgbClr val="1A1A1A"/>
                </a:solidFill>
                <a:latin typeface="Arial"/>
              </a:rPr>
              <a:t>Kerry Turner  →  Marc Pierson  →  Noah Williams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5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A1A1A"/>
                </a:solidFill>
                <a:latin typeface="Arial"/>
              </a:rPr>
              <a:t>Example — most active mentors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37360"/>
            <a:ext cx="10515600" cy="1828800"/>
          </a:xfrm>
          <a:prstGeom prst="rect">
            <a:avLst/>
          </a:prstGeom>
          <a:solidFill>
            <a:srgbClr val="1E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37160"/>
          <a:lstStyle/>
          <a:p>
            <a:pPr algn="ctr">
              <a:spcAft>
                <a:spcPts val="200"/>
              </a:spcAft>
            </a:pPr>
            <a:r>
              <a:rPr sz="1600">
                <a:solidFill>
                  <a:srgbClr val="E6EDF3"/>
                </a:solidFill>
                <a:latin typeface="Consolas"/>
              </a:rPr>
              <a:t>MATCH (m:Person)-[:TAUGHT]-&gt;(l:Person)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E6EDF3"/>
                </a:solidFill>
                <a:latin typeface="Consolas"/>
              </a:rPr>
              <a:t>RETURN m.name AS mentor, count(DISTINCT l) AS learners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E6EDF3"/>
                </a:solidFill>
                <a:latin typeface="Consolas"/>
              </a:rPr>
              <a:t>ORDER BY learners DESC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A1A1A"/>
                </a:solidFill>
                <a:latin typeface="Arial"/>
              </a:rPr>
              <a:t>→  Kerry Turner</a:t>
            </a:r>
            <a:r>
              <a:rPr sz="2000">
                <a:solidFill>
                  <a:srgbClr val="6B6355"/>
                </a:solidFill>
                <a:latin typeface="Arial"/>
              </a:rPr>
              <a:t>   —   3 learners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A1A1A"/>
                </a:solidFill>
                <a:latin typeface="Arial"/>
              </a:rPr>
              <a:t>→  Marc Pierson</a:t>
            </a:r>
            <a:r>
              <a:rPr sz="2000">
                <a:solidFill>
                  <a:srgbClr val="6B6355"/>
                </a:solidFill>
                <a:latin typeface="Arial"/>
              </a:rPr>
              <a:t>   —   3 learners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5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A1A1A"/>
                </a:solidFill>
                <a:latin typeface="Arial"/>
              </a:rPr>
              <a:t>What it's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200" b="1">
                <a:solidFill>
                  <a:srgbClr val="1A1A1A"/>
                </a:solidFill>
                <a:latin typeface="Arial"/>
              </a:rPr>
              <a:t>•  Not a dependency</a:t>
            </a:r>
            <a:r>
              <a:rPr sz="2000" b="0">
                <a:solidFill>
                  <a:srgbClr val="6B6355"/>
                </a:solidFill>
                <a:latin typeface="Arial"/>
              </a:rPr>
              <a:t>  —  runs on the Desktop Substrate, separate from live WikiCafe</a:t>
            </a:r>
          </a:p>
          <a:p>
            <a:pPr>
              <a:spcAft>
                <a:spcPts val="1800"/>
              </a:spcAft>
            </a:pPr>
            <a:r>
              <a:rPr sz="2200" b="1">
                <a:solidFill>
                  <a:srgbClr val="1A1A1A"/>
                </a:solidFill>
                <a:latin typeface="Arial"/>
              </a:rPr>
              <a:t>•  No debt or value node</a:t>
            </a:r>
            <a:r>
              <a:rPr sz="2000" b="0">
                <a:solidFill>
                  <a:srgbClr val="6B6355"/>
                </a:solidFill>
                <a:latin typeface="Arial"/>
              </a:rPr>
              <a:t>  —  that is the separate currency layer (CfA-dSC)</a:t>
            </a:r>
          </a:p>
          <a:p>
            <a:pPr>
              <a:spcAft>
                <a:spcPts val="1800"/>
              </a:spcAft>
            </a:pPr>
            <a:r>
              <a:rPr sz="2200" b="1">
                <a:solidFill>
                  <a:srgbClr val="1A1A1A"/>
                </a:solidFill>
                <a:latin typeface="Arial"/>
              </a:rPr>
              <a:t>•  Not the source of truth</a:t>
            </a:r>
            <a:r>
              <a:rPr sz="2000" b="0">
                <a:solidFill>
                  <a:srgbClr val="6B6355"/>
                </a:solidFill>
                <a:latin typeface="Arial"/>
              </a:rPr>
              <a:t>  —  if the graph and a badge disagree, the badge wins — rebuild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5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A1A1A"/>
                </a:solidFill>
                <a:latin typeface="Arial"/>
              </a:rPr>
              <a:t>In short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 b="1">
                <a:solidFill>
                  <a:srgbClr val="1A1A1A"/>
                </a:solidFill>
                <a:latin typeface="Arial"/>
              </a:rPr>
              <a:t>•  Badges → projector → Neo4j lens</a:t>
            </a:r>
          </a:p>
          <a:p>
            <a:pPr>
              <a:spcAft>
                <a:spcPts val="1600"/>
              </a:spcAft>
            </a:pPr>
            <a:r>
              <a:rPr sz="2200" b="1">
                <a:solidFill>
                  <a:srgbClr val="1A1A1A"/>
                </a:solidFill>
                <a:latin typeface="Arial"/>
              </a:rPr>
              <a:t>•  Teaching lineage + provenance, queryable</a:t>
            </a:r>
          </a:p>
          <a:p>
            <a:pPr>
              <a:spcAft>
                <a:spcPts val="1600"/>
              </a:spcAft>
            </a:pPr>
            <a:r>
              <a:rPr sz="2200" b="1">
                <a:solidFill>
                  <a:srgbClr val="1A1A1A"/>
                </a:solidFill>
                <a:latin typeface="Arial"/>
              </a:rPr>
              <a:t>•  Idempotent, rebuildable, Desktop-only</a:t>
            </a:r>
          </a:p>
          <a:p>
            <a:pPr>
              <a:spcAft>
                <a:spcPts val="1600"/>
              </a:spcAft>
            </a:pPr>
            <a:r>
              <a:rPr sz="2200" b="1">
                <a:solidFill>
                  <a:srgbClr val="1A1A1A"/>
                </a:solidFill>
                <a:latin typeface="Arial"/>
              </a:rPr>
              <a:t>•  Full how-to + query library</a:t>
            </a:r>
            <a:r>
              <a:rPr sz="2000" b="0">
                <a:solidFill>
                  <a:srgbClr val="6B6355"/>
                </a:solidFill>
                <a:latin typeface="Arial"/>
              </a:rPr>
              <a:t>  —  docs/sodoto-teaching-graph-intro.html · …-manual.html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