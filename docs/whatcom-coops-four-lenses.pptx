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7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4-gra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521207"/>
            <a:ext cx="6519672" cy="381558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143000"/>
            <a:ext cx="292608" cy="29260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127" y="1143000"/>
            <a:ext cx="292608" cy="2926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08176" y="1143000"/>
            <a:ext cx="292608" cy="292608"/>
          </a:xfrm>
          <a:prstGeom prst="rect">
            <a:avLst/>
          </a:prstGeom>
          <a:solidFill>
            <a:srgbClr val="8E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92224" y="1143000"/>
            <a:ext cx="292608" cy="292608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76272" y="1143000"/>
            <a:ext cx="292608" cy="292608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0" y="1143000"/>
            <a:ext cx="292608" cy="292608"/>
          </a:xfrm>
          <a:prstGeom prst="rect">
            <a:avLst/>
          </a:prstGeom>
          <a:solidFill>
            <a:srgbClr val="D45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Co-ops of</a:t>
            </a:r>
          </a:p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Whatcom County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11880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CBD5E1"/>
                </a:solidFill>
                <a:latin typeface="Calibri"/>
              </a:rPr>
              <a:t>One dataset, four RCN lenses —</a:t>
            </a:r>
          </a:p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CBD5E1"/>
                </a:solidFill>
                <a:latin typeface="Calibri"/>
              </a:rPr>
              <a:t>Map · Graph · Timeline · Table —</a:t>
            </a:r>
          </a:p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CBD5E1"/>
                </a:solidFill>
                <a:latin typeface="Calibri"/>
              </a:rPr>
              <a:t>and a FedWiki page for every co-op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94A3B8"/>
                </a:solidFill>
                <a:latin typeface="Calibri"/>
              </a:rPr>
              <a:t>22 organisations · 21 sourced ties · contacts checked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0350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CBD5E1"/>
                </a:solidFill>
                <a:latin typeface="Calibri"/>
              </a:rPr>
              <a:t>Marc Pierson with Claude Opus 5.5 ·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D45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D4549A"/>
                </a:solidFill>
                <a:latin typeface="Calibri"/>
              </a:rPr>
              <a:t>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One file of co-ops, read four 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26517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2651760" cy="731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C0392B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organisations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0896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475569"/>
                </a:solidFill>
                <a:latin typeface="Calibri"/>
              </a:rPr>
              <a:t>Every co-op we could verify in Whatcom, plus two Skagit bodies that built Whatcom-serving co-ops.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600200"/>
            <a:ext cx="26517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600200"/>
            <a:ext cx="2651760" cy="73152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78308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A7A4A"/>
                </a:solidFill>
                <a:latin typeface="Calibri"/>
              </a:rP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5146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sourced 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10896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475569"/>
                </a:solidFill>
                <a:latin typeface="Calibri"/>
              </a:rPr>
              <a:t>Membership, money, trade, and “built or helped build”. A line only where a public source says so.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600200"/>
            <a:ext cx="26517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600200"/>
            <a:ext cx="2651760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78308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563EB"/>
                </a:solidFill>
                <a:latin typeface="Calibr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146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kinds of co-op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10896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475569"/>
                </a:solidFill>
                <a:latin typeface="Calibri"/>
              </a:rPr>
              <a:t>Worker, consumer / credit union, producer, social, development support, network.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600200"/>
            <a:ext cx="26517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560" y="1600200"/>
            <a:ext cx="2651760" cy="73152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178308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D4A017"/>
                </a:solidFill>
                <a:latin typeface="Calibri"/>
              </a:rP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25146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reachable by phone or name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310896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475569"/>
                </a:solidFill>
                <a:latin typeface="Calibri"/>
              </a:rPr>
              <a:t>Websites, phones and named leaders, each checked against the organisation’s own site where it could be read.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3891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D4549A"/>
                </a:solidFill>
                <a:latin typeface="Calibri"/>
              </a:rPr>
              <a:t>WHERE EACH LENS GETS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70916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Map — the issue file tools/issue-data/whatcom-wa--cooperatives.json: points, ties, kinds, contact block.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Graph Tool — the Map’s “Open in Graph Tool” button, then laid out by hand (the layout shown is Marc’s).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Timeline — tools/whatcom-coops-timeline.json: when each co-op began, converted or merged.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Table — Neo4j database whatcomcoops, loaded from the same issue file by substrate/load_coops.py.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FedWiki — one page per co-op: its record, its graph, its map with ties, its timeline, its website; the table plugin on the index page.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563EB"/>
                </a:solidFill>
                <a:latin typeface="Calibri"/>
              </a:rPr>
              <a:t>RCN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Where the co-ops are, and who is tied to whom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7945142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-map-coun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7890278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Each dot is a co-op, coloured by kind — the legend is top left.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Lines are ties with a public source: dotted pink for network membership, gold for money, green for trade, dashed purple for “built or helped build”.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Most co-ops sit in Bellingham; the farm co-ops run out to Lynden, Everson and Acme, and two ties reach south to Mount Vernon.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RCN Map, issue “Co-ops of Whatcom County”, light basemap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563EB"/>
                </a:solidFill>
                <a:latin typeface="Calibri"/>
              </a:rPr>
              <a:t>RCN MAP — HOVER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Hover a co-op: its website, phone and lead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7945142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-map-h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7890278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Downtown Bellingham, zoomed in: the Food Co-op is the hub for money and trade; the pink dotted lines fan out from Cascade Cooperatives to its members.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Hovering shows the short form — site, phone, first named person.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Where a contact is doubtful, the hover says so in amber before anyone relies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hover on Community Food Co-op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563EB"/>
                </a:solidFill>
                <a:latin typeface="Calibri"/>
              </a:rPr>
              <a:t>RCN MAP — POPUP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Click for the full record, with where it came from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7945142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-map-pop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7890278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Website, phone, address and named people, then the research notes.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“Checked Sep 2026 · communityfood.coop /contact” — every contact says when and from which page it was read.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The same fields travel to the Graph Tool as node properties and to Neo4j as columns.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popup on Community Food Co-op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8E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8E5CC4"/>
                </a:solidFill>
                <a:latin typeface="Calibri"/>
              </a:rPr>
              <a:t>RCN GRAPH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The same ties as a diagram, laid out by the person who reads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7945142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-gra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7890278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8E5CC4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Marc’s layout: Cascade Cooperatives at the centre of its members, the Food Co-op at the centre of money and trade.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Four large organisations — WECU, REI, Darigold, CHS — have no documented tie to the rest. That empty corner is a finding, not a gap in the drawing.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Colours and line styles come from the legend, so the diagram and the map say the same thing.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Graph Tool v22, file Co-ops-of-Whatcom-County (1).json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0392B"/>
                </a:solidFill>
                <a:latin typeface="Calibri"/>
              </a:rPr>
              <a:t>RCN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A century of co-ops, from the 1918 dairymen to the 2023 worker co-ops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7945142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5-timeline-f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7890278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0392B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The three credit unions — WECU (1936), North Coast (1939), Industrial (1941) — head the list; only Darigold’s Lynden roots (1918), further down, are older.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Grey bars are what a co-op was before: A-1 Builders ran as a conventional firm from 1955 until its worker buyout in 2017.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Swipe up and down to scroll the 29 rows; the date axis stays pinned.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RCN Timeline, Fit, top rows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0392B"/>
                </a:solidFill>
                <a:latin typeface="Calibri"/>
              </a:rPr>
              <a:t>RCN TIMELINE — SINCE 2000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The recent wave: development bodies, then the co-ops they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7945142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-timeline-rec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7890278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0392B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NWCDC, C2C and NABC were working before the co-ops they helped start.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Purple links show a tie running during both lives: NABC’s USDA-grant help sits inside the meat co-op’s organising years.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Cascade Cooperatives began in 2014 as the Co-op Education Project and was renamed in 2019.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RCN Timeline zoomed to 2000–2028, scrolled to the lower rows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A7A4A"/>
                </a:solidFill>
                <a:latin typeface="Calibri"/>
              </a:rPr>
              <a:t>RCN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In Neo4j: 22 rows, one per co-op, live from the database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7945142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7-tab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7890278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A7A4A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Database whatcomcoops, kind Coop — the footer says “live records”.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Pick the columns: here founded, people and phone.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The inspector shows the whole row, warnings included: Cascadia Deaf Nation’s website currently answers “Payment Required”.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RCN Table, ?db=whatcomcoops&amp;kind=Coop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A7A4A"/>
                </a:solidFill>
                <a:latin typeface="Calibri"/>
              </a:rPr>
              <a:t>RCN TABLE —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The database draws its own map: 22 points, 21 links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7945142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-table-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7890278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A7A4A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The Table’s Map button reads location and ties straight from Neo4j, with no issue file.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Same network, plainer picture: the database holds the facts, and colour belongs to each lens.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This is the check that the load lost nothing: 22 located, 21 links.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rcn-table-map.html?db=whatcomcoops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B45309"/>
                </a:solidFill>
                <a:latin typeface="Calibri"/>
              </a:rPr>
              <a:t>FEDWIKI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A FedWiki page for every co-op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5384714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9-wiki-line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5329850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B45309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23 pages — an index and one per co-op — in one drop file. Drag it onto any lineup, click a page, fork it.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Each page holds the record, the contact block with when and where it was checked, and the ties as wiki links, each with its source.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The index sits on the left; clicking a co-op opens its page beside it, the ordinary FedWiki way.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local wiki coops.localhost, index and Community Food Co-op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B45309"/>
                </a:solidFill>
                <a:latin typeface="Calibri"/>
              </a:rPr>
              <a:t>FEDWIKI — RCN GRAPH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Click a co-op in its graph and its page opens beside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7804844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0-wiki-graph-cli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7749980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B45309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Every page carries an rcngraph item: the co-op and its nearest neighbours, cut from Marc’s layout.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Every box is a wiki link. Here Cascade Cooperatives was clicked in the Food Co-op’s graph and opened on the right.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“Edit in Graph Tool” reopens the model; hover a box for its contact details, which travel in the model.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click on Cascade Cooperatives in the Food Co-op’s graph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B45309"/>
                </a:solidFill>
                <a:latin typeface="Calibri"/>
              </a:rPr>
              <a:t>FEDWIKI — RCN MAP AND RCN TIMELINE PLUGINS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Its map, with the ties, and its history, with its neighbours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2675030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3-wiki-map-timel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2620166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023360" y="14813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B45309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810512"/>
            <a:ext cx="7589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475569"/>
                </a:solidFill>
                <a:latin typeface="Calibri"/>
              </a:rPr>
              <a:t>—  An RCN Map item draws this co-op and the co-ops it is tied to, with the ties in their colours and line styles. Click a point and its page opens beside this one.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475569"/>
                </a:solidFill>
                <a:latin typeface="Calibri"/>
              </a:rPr>
              <a:t>—  An RCN Timeline item draws the co-op’s own history first, then the history of each co-op it is tied to: the same neighbours as the graph and the map, now in time.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475569"/>
                </a:solidFill>
                <a:latin typeface="Calibri"/>
              </a:rPr>
              <a:t>—  Hover a bar for its dates, how uncertain they are, who says so and how sure. Click it and that co-op’s page opens.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475569"/>
                </a:solidFill>
                <a:latin typeface="Calibri"/>
              </a:rPr>
              <a:t>—  “Open in RCN Timeline ↗” opens the full tool with this timeline in it.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475569"/>
                </a:solidFill>
                <a:latin typeface="Calibri"/>
              </a:rPr>
              <a:t>—  A Frame item, used only for this, shows the co-op’s own website below: 11 of the 22 sites allow it; the rest link out and say why.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North Cascades Meat Producers Cooperative, scrolled to its map and timeline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B45309"/>
                </a:solidFill>
                <a:latin typeface="Calibri"/>
              </a:rPr>
              <a:t>FEDWIKI — RCN TIMELINE PLUGIN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A timeline on 19 co-op pages, and the whole history on the index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3086100" cy="293522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4-wiki-timeline-co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031236" cy="2880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43484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Community Food Co-op: its own history, then the five co-ops it is tied 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5852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200">
                <a:solidFill>
                  <a:srgbClr val="475569"/>
                </a:solidFill>
                <a:latin typeface="Calibri"/>
              </a:rPr>
              <a:t>—  Each interval names the co-op it belongs to, so a page draws the co-op’s own bars and its neighbours’ without a second list to keep in step.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200">
                <a:solidFill>
                  <a:srgbClr val="475569"/>
                </a:solidFill>
                <a:latin typeface="Calibri"/>
              </a:rPr>
              <a:t>—  Grey bars are what a co-op was before: A-1 Builders before A1DesignBuild, the Co-op Education Project before Cascade Cooperatives.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200">
                <a:solidFill>
                  <a:srgbClr val="475569"/>
                </a:solidFill>
                <a:latin typeface="Calibri"/>
              </a:rPr>
              <a:t>—  Only WECU, REI and Darigold have a single bar and no ties; their pages point to the whole timeline instead.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22007" y="1453896"/>
            <a:ext cx="2902077" cy="49011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6-wiki-timeline-index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481328"/>
            <a:ext cx="2847213" cy="4846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9440" y="6400800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The index page: 35 bars, 1918 to 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B45309"/>
                </a:solidFill>
                <a:latin typeface="Calibri"/>
              </a:rPr>
              <a:t>FEDWIKI — PAGES WITH TIMELINES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Two co-op pages side by side, each with its map and its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5139857" cy="471830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7-wiki-lineup-timeli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5084993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0" y="14813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B45309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810512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Left: Cascade Cooperatives, the network. Its map fans out to its 13 members; its timeline puts the network’s own start (2014, renamed 2019) above each member’s history — the credit unions of the 1930s–50s, the worker co-ops of the 2000s and 2020s.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Right: Community to Community (C2C). Its map shows the Food Co-op’s grant and the farmworker co-op it incubated; its timeline shows the grant falling inside C2C’s years, and Tierra y Libertad starting in 2017.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Each page is an ordinary FedWiki page in a lineup: click any bar or point and that co-op’s page opens to the right.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Under each timeline, Open in RCN Timeline ↗ takes it into the full tool.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36207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local wiki coops.localhost, Cascade Cooperatives and Community to Community C2C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B45309"/>
                </a:solidFill>
                <a:latin typeface="Calibri"/>
              </a:rPr>
              <a:t>FEDWIKI — OPEN IN RCN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One click from the page to the full Timeline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6380338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5-timeline-tool-open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6325474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B45309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“Open in RCN Timeline ↗” under any timeline opens the full tool in its own tab, with that timeline loaded: the North Cascades Meat co-op’s 8 intervals here.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Nothing is lost on the way: the bar’s page and co-op links ride along, so the tool can hand them back.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Open a second timeline from another page and the same tab switches to it, as one undo step.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Edit there, press ↩ Save to wiki, and the timeline goes back into the page it came from, as an ordinary FedWiki edit in the page’s history.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RCN Timeline, opened from the North Cascades Meat Producers Cooperative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B45309"/>
                </a:solidFill>
                <a:latin typeface="Calibri"/>
              </a:rPr>
              <a:t>FEDWIKI — CO-OP LINEUP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Open a few co-op pages, and one page shows them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5350634" cy="471830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8-wiki-co-op-line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52957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0" y="14813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B45309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810512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The Food Co-op and Bellingham Bay Builders are open to the left. The Co-op Lineup page to their right collects both: its map shows 7 co-ops and 9 ties, its timeline 14 bars — shared co-ops counted once.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A tie whose ends come from different pages joins them into one network, on the map and in time.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❄ freezes what is showing into the page, so it stays when the lineup changes; shift-click unfreezes. ↻ collects again.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It works the way FedWiki’s own Map plugin combines maps with its LINEUP line — and carries the ties as well as the points. RCN maps also offer their points the way FedWiki’s own Map reads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36207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local wiki, Bellingham Bay Builders beside the Co-op Lineup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B45309"/>
                </a:solidFill>
                <a:latin typeface="Calibri"/>
              </a:rPr>
              <a:t>FEDWIKI — TABLE PLUGIN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The FedWiki table plugin: all 22 co-ops on the index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3255264" cy="213884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2-wiki-table-ite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200400" cy="20839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638461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The rcntable item on the index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6789"/>
            <a:ext cx="39319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200">
                <a:solidFill>
                  <a:srgbClr val="475569"/>
                </a:solidFill>
                <a:latin typeface="Calibri"/>
              </a:rPr>
              <a:t>—  The item names the records: database whatcomcoops, kind Coop.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200">
                <a:solidFill>
                  <a:srgbClr val="475569"/>
                </a:solidFill>
                <a:latin typeface="Calibri"/>
              </a:rPr>
              <a:t>—  Open Table ↗ opens the RCN Table beside the wiki — the same table as slide 9.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200">
                <a:solidFill>
                  <a:srgbClr val="475569"/>
                </a:solidFill>
                <a:latin typeface="Calibri"/>
              </a:rPr>
              <a:t>—  At home it reads Neo4j live through substrate/api.py. On a hosted wiki it reads the exported folder in the site’s own assets, so each site is its own database.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200">
                <a:solidFill>
                  <a:srgbClr val="475569"/>
                </a:solidFill>
                <a:latin typeface="Calibri"/>
              </a:rPr>
              <a:t>—  Every name in the table opens that co-op’s page in the lineup.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27448" y="1453896"/>
            <a:ext cx="6912864" cy="4068451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7-tab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481328"/>
            <a:ext cx="6858000" cy="401358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54880" y="5568067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What Open Table shows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B45309"/>
                </a:solidFill>
                <a:latin typeface="Calibri"/>
              </a:rPr>
              <a:t>FEDWIKI — HOW IT WENT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Making it work: what broke, and what it cannot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0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A7A4A"/>
                </a:solidFill>
                <a:latin typeface="Calibri"/>
              </a:rPr>
              <a:t>FIXED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50292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Clicking a two-line name in a graph did nothing, or reloaded the wiki. Each co-op box is now one link. The real fix belongs in the Graph Tool, for every diagram.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Maps first ran inside Frame items, which tied pages to one wiki. Two plugins of our own replaced them — RCN Map and RCN Timeline — and Frame is kept for websites only.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Timeline labels ran over each other in a narrow column. They now stop where the next begins, in the page and in the full tool.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The Timeline tool dropped fields it did not know, so a co-op link vanished on save; and a second “Open” left it on the first timeline. Both fixed.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554480"/>
            <a:ext cx="5394960" cy="3429000"/>
          </a:xfrm>
          <a:prstGeom prst="rect">
            <a:avLst/>
          </a:prstGeom>
          <a:solidFill>
            <a:srgbClr val="FEF3C7"/>
          </a:solidFill>
          <a:ln w="12700">
            <a:solidFill>
              <a:srgbClr val="FDE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854D0E"/>
                </a:solidFill>
                <a:latin typeface="Calibri"/>
              </a:rPr>
              <a:t>LIMITS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9377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The RCN Map and RCN Timeline plugins run on the local wiki. On Wiki Café they need an npm publish and an image rebuild first; until then, build pages with --map native.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Combining maps and timelines sees only the pages open in this browser window, to the left — the same as FedWiki’s own Map.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Half the co-op websites cannot be shown in a page — ICU, REI, North Coast CU, A1DesignBuild and the Food Hub refuse; Bellingham Bay Builders’ bot check never finishes. Those pages link 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2120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75569"/>
                </a:solidFill>
                <a:latin typeface="Calibri"/>
              </a:rPr>
              <a:t>Checked in a real FedWiki (coops.localhost) with real clicks: a graph box, a map point and a timeline bar each open their page beside; Open in RCN Timeline loads the page’s timeline and Save to wiki brings an edit back; the Co-op Lineup combines and freezes; the websites were tested in the frame plugin’s own sandbox or by their headers — 11 show.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D4A017"/>
                </a:solidFill>
                <a:latin typeface="Calibri"/>
              </a:rPr>
              <a:t>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What the contact check found — and what to verify before calling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A7A4A"/>
                </a:solidFill>
                <a:latin typeface="Calibri"/>
              </a:rPr>
              <a:t>CORRECTED IN THE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Community to Community has moved: 1319 Cornwall Ave, Suite 101 (the map pin is moved).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Cascade Cooperatives incorporated in January 2022, not 2019; it began in 2014 as the Co-op Education Project.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CHS Northwest in Lynden is at 402 Main St.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Industrial Credit Union’s website is industrialcu.com.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Yellow Cab Co-op has its own site, yellowcabcoop.com.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554480"/>
            <a:ext cx="5394960" cy="3108960"/>
          </a:xfrm>
          <a:prstGeom prst="rect">
            <a:avLst/>
          </a:prstGeom>
          <a:solidFill>
            <a:srgbClr val="FEF3C7"/>
          </a:solidFill>
          <a:ln w="12700">
            <a:solidFill>
              <a:srgbClr val="FDE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854D0E"/>
                </a:solidFill>
                <a:latin typeface="Calibri"/>
              </a:rPr>
              <a:t>VERIFY BEFORE RELYING ON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Community Media Cooperative — media-coop.com no longer resolves; it may have closed.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Cascadia Deaf Nation — website answers “Payment Required”; it may have lapsed.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Bellingham Bay Builders — only the 2004 founders are published, not the current owner-members.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WestEdge CU, Yellow Cab Co-op, Circle of Life, CHS — no leader named on their own sites.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Tierra y Libertad — no website of its own; reach it through C2C.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834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75569"/>
                </a:solidFill>
                <a:latin typeface="Calibri"/>
              </a:rPr>
              <a:t>Every contact carries “Checked Sep 2026” and the page it was read from. Phones and names change; the date says how far to trust them.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One dataset, four lenses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—  Map: open the RCN Map and choose the “Co-ops of Whatcom County” issue — hover any dot for its contact.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—  Graph: “Open in Graph Tool” from the map legend, or load tools/whatcom-coops-graph.json (Marc’s layout, with contacts).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—  Timeline: import tools/whatcom-coops-timeline.json into the RCN Timeline.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—  Table: rcn-table.html?db=whatcomcoops&amp;kind=Coop, with substrate/api.py running.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—  FedWiki: drag docs/whatcom-coops-wiki/whatcom-coops-wiki.json onto a lineup on a wiki with the RCN Map and RCN Timeline plugins; “Open in RCN Timeline” opens any page’s timeline in the full tool.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—  To change the data, edit the issue file, then re-run substrate/load_coops.py and build_pages.py so Neo4j and the wiki match.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0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94A3B8"/>
                </a:solidFill>
                <a:latin typeface="Calibri"/>
              </a:rPr>
              <a:t>A line means a public source was found. No line means no tie was found, not that none exists.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CBD5E1"/>
                </a:solidFill>
                <a:latin typeface="Calibri"/>
              </a:rPr>
              <a:t>Marc Pierson with Claude Opus 5.5 · September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