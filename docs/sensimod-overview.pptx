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887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Vester Sensitivity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2788920"/>
            <a:ext cx="6309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  <a:latin typeface="Calibri"/>
              </a:rPr>
              <a:t>A nine-step toolkit for understanding complex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AAD8"/>
                </a:solidFill>
                <a:latin typeface="Calibri"/>
              </a:rPr>
              <a:t>ReLocalize Creativity Network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A80A8"/>
                </a:solidFill>
                <a:latin typeface="Calibri"/>
              </a:rPr>
              <a:t>Based on Frederic Vester  ·  The Art of Interconnected Thinking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WHY THIS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Complex systems don't respond to linear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Fixing one part breaks another — unintended consequences compound.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Optimizing individual variables destroys systemic balance.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Expert knowledge stays siloed — no shared picture of the whole.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  Plans look rational on paper and fail when they meet the real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230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E3A5F"/>
                </a:solidFill>
                <a:latin typeface="Calibri"/>
              </a:rPr>
              <a:t>Vester's method makes the whole visible — so interventions can work with the system, not against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THE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Map influence. Classify roles. Model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The Sensitivity Model is a structured group process that:</a:t>
            </a:r>
          </a:p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  ·  Identifies 20–30 key variables in a system</a:t>
            </a:r>
          </a:p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  ·  Maps how each variable influences every other</a:t>
            </a:r>
          </a:p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  ·  Classifies variables by their systemic role</a:t>
            </a:r>
          </a:p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  ·  Builds a structural model for simulation</a:t>
            </a:r>
          </a:p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  ·  Tests interventions before committing to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691640"/>
            <a:ext cx="4663440" cy="420624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874519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The guiding principle: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 system cannot be understood by analyzing its parts in isolation. Only by tracing influence relationships across the whole can leverage points, instabilities, and safe intervention strategies be identified.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THE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Nine Steps — Analytical  →  Structural  →  Dynamic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00200"/>
            <a:ext cx="329184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ANALYSIS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47672"/>
            <a:ext cx="1069848" cy="109728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0D9488"/>
                </a:solidFill>
                <a:latin typeface="Calibri"/>
              </a:rPr>
              <a:t>1  System
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295144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6192" y="1947672"/>
            <a:ext cx="1069848" cy="109728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0D9488"/>
                </a:solidFill>
                <a:latin typeface="Calibri"/>
              </a:rPr>
              <a:t>2  Variable
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295144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0904" y="1947672"/>
            <a:ext cx="1069848" cy="109728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0D9488"/>
                </a:solidFill>
                <a:latin typeface="Calibri"/>
              </a:rPr>
              <a:t>3  System
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3" y="2258568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600200"/>
            <a:ext cx="329184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645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STRUCTURAL PHASE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947672"/>
            <a:ext cx="1069848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4  Cross-Impact
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295144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9824" y="1947672"/>
            <a:ext cx="1069848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5  System
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295144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4536" y="1947672"/>
            <a:ext cx="1069848" cy="109728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1D4ED8"/>
                </a:solidFill>
                <a:latin typeface="Calibri"/>
              </a:rPr>
              <a:t>6  Partial
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2258568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600200"/>
            <a:ext cx="3291840" cy="29260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1645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DYNAMIC PHASE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1947672"/>
            <a:ext cx="1069848" cy="1097280"/>
          </a:xfrm>
          <a:prstGeom prst="rect">
            <a:avLst/>
          </a:prstGeom>
          <a:solidFill>
            <a:srgbClr val="1E3A5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DBEAFE"/>
                </a:solidFill>
                <a:latin typeface="Calibri"/>
              </a:rPr>
              <a:t>7  Stock &amp; Flow
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295144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63456" y="1947672"/>
            <a:ext cx="1069848" cy="1097280"/>
          </a:xfrm>
          <a:prstGeom prst="rect">
            <a:avLst/>
          </a:prstGeom>
          <a:solidFill>
            <a:srgbClr val="1E3A5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DBEAFE"/>
                </a:solidFill>
                <a:latin typeface="Calibri"/>
              </a:rPr>
              <a:t>8  Lookup
Table Curves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3304" y="2295144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88167" y="1947672"/>
            <a:ext cx="1069848" cy="1097280"/>
          </a:xfrm>
          <a:prstGeom prst="rect">
            <a:avLst/>
          </a:prstGeom>
          <a:solidFill>
            <a:srgbClr val="1E3A5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200" b="1">
                <a:solidFill>
                  <a:srgbClr val="DBEAFE"/>
                </a:solidFill>
                <a:latin typeface="Calibri"/>
              </a:rPr>
              <a:t>9 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Vester app  (vester.relocalizecreativity.net)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852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RCN Graph Tool — SFD mode  (graph-tool-v22.html)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263640"/>
            <a:ext cx="5029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6263640"/>
            <a:ext cx="466344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STEPS 1–3  ·  ANALYSIS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Define the system. Identify variables. Classify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1  System Description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Define the boundary, purpose, and problem in plain language. Who is affected? What is inside vs. outside the system?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Tip: Budget 30–60 min in workshop.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691640"/>
            <a:ext cx="3657600" cy="41148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2  Variable Set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20–30 key variables. Each has a name, description, and 0–30 scale with observable anchor points and an optional optimum.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Tip: Short names (2–4 words) for matrix legibility.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3024" y="1691640"/>
            <a:ext cx="3657600" cy="41148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3  System Criteria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Assess each variable against 24 criteria in 5 groups: Spheres of Life, Physical, Dynamical, System Relationships, CPC.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Tip: Labels and definitions are editable for your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Calibri"/>
              </a:rPr>
              <a:t>Built and working  ✓  ·  Vester app  ·  vester.relocalizecreativity.net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STEPS 4–6  ·  STRUCTURAL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Score influence. Classify roles. Build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4  Cross-Impact Matrix</a:t>
            </a:r>
          </a:p>
          <a:p>
            <a:r>
              <a:rPr sz="1100" b="0" i="0">
                <a:solidFill>
                  <a:srgbClr val="166534"/>
                </a:solidFill>
                <a:latin typeface="Calibri"/>
              </a:rPr>
              <a:t>✓ Built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>N×N grid. Click to score how strongly each variable influences every other (0–3). Active Sum = driver score. Passive Sum = receiver score.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1">
                <a:solidFill>
                  <a:srgbClr val="475569"/>
                </a:solidFill>
                <a:latin typeface="Calibri"/>
              </a:rPr>
              <a:t>Tip: Score row by row as a group — 2–3 hrs for 20 variables.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691640"/>
            <a:ext cx="3657600" cy="411480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5  System Roles</a:t>
            </a:r>
          </a:p>
          <a:p>
            <a:r>
              <a:rPr sz="1100" b="0" i="0">
                <a:solidFill>
                  <a:srgbClr val="166534"/>
                </a:solidFill>
                <a:latin typeface="Calibri"/>
              </a:rPr>
              <a:t>✓ Built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>Plot variables on the Active × Passive quadrant. Classify as: Active (drivers), Passive (indicators), Critical (both high), Buffering (both low). Q-isolines show systemic relevance.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1">
                <a:solidFill>
                  <a:srgbClr val="475569"/>
                </a:solidFill>
                <a:latin typeface="Calibri"/>
              </a:rPr>
              <a:t>Tip: Reveals where to intervene — and where not 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3024" y="1691640"/>
            <a:ext cx="3657600" cy="411480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 i="0">
                <a:solidFill>
                  <a:srgbClr val="1D4ED8"/>
                </a:solidFill>
                <a:latin typeface="Calibri"/>
              </a:rPr>
              <a:t>6  Partial Scenario</a:t>
            </a:r>
          </a:p>
          <a:p>
            <a:r>
              <a:rPr sz="1100" b="0" i="0">
                <a:solidFill>
                  <a:srgbClr val="166534"/>
                </a:solidFill>
                <a:latin typeface="Calibri"/>
              </a:rPr>
              <a:t>✓ Built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>Select 2–4 leverage variables. Define alternative states. Trace first-order consequences through the matrix.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1">
                <a:solidFill>
                  <a:srgbClr val="475569"/>
                </a:solidFill>
                <a:latin typeface="Calibri"/>
              </a:rPr>
              <a:t>Tip: Setup for SFD initial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Calibri"/>
              </a:rPr>
              <a:t>Steps 4–6 built ✓  ·  Vester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STEP 5  ·  SYSTEM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Every variable has a role in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743200" cy="2331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554480"/>
            <a:ext cx="2743200" cy="2331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886200"/>
            <a:ext cx="2743200" cy="23317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3886200"/>
            <a:ext cx="2743200" cy="233172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1256" y="1554480"/>
            <a:ext cx="18288" cy="4663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877056"/>
            <a:ext cx="54864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93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4ED8"/>
                </a:solidFill>
                <a:latin typeface="Calibri"/>
              </a:rPr>
              <a:t>High AS · Low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402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Strong drivers.
Few feedbacks.
Good levers.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93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High AS · High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2402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High leverage.
Unpredictable.
Handle carefully.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6534"/>
                </a:solidFill>
                <a:latin typeface="Calibri"/>
              </a:rPr>
              <a:t>BUFFERING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25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6534"/>
                </a:solidFill>
                <a:latin typeface="Calibri"/>
              </a:rPr>
              <a:t>Low AS · Low 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Stable dampers.
Absorb shocks.
Preserve these.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75569"/>
                </a:solidFill>
                <a:latin typeface="Calibri"/>
              </a:rPr>
              <a:t>PASSIVE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3251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Low AS · High 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720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Result variables.
Reflect system
state. Measure 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1207007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▲  Active Sum (AS)  —  how much this variable drives others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Passive Sum (PS)  —  how much others drive this variable  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Why roles matter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Intervening on a Critical variable amplifies disturbances through the whole system. A small push creates large, hard-to-predict effects.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Buffering variables seem unimportant — low scores in both directions. But they are the system's shock absorbers. Destroying them increases volatility everywhere.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Active variables are the cleanest levers: they drive others but aren't strongly driven back. They respond predictably to intervention.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Passive variables are the best measurement points — they reflect overall system state without feeding back noise into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Calibri"/>
              </a:rPr>
              <a:t>STEPS 7–9  ·  DYNAMIC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Formalize structure. Build curves. Simulate.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3657600" cy="411480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7  Stock &amp; Flow
Diagram</a:t>
            </a:r>
          </a:p>
          <a:p>
            <a:r>
              <a:rPr sz="1100" b="0" i="0">
                <a:solidFill>
                  <a:srgbClr val="166534"/>
                </a:solidFill>
                <a:latin typeface="Calibri"/>
              </a:rPr>
              <a:t>✓ Built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>Translate variable relationships into stocks, flows, auxiliaries, and clouds. Built in RCN Graph Tool SFD mode. XMILE export to Vensim / Insightmaker.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1">
                <a:solidFill>
                  <a:srgbClr val="475569"/>
                </a:solidFill>
                <a:latin typeface="Calibri"/>
              </a:rPr>
              <a:t>Note: Auto-valve insertion on stock→stock connections.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691640"/>
            <a:ext cx="3657600" cy="4114800"/>
          </a:xfrm>
          <a:prstGeom prst="rect">
            <a:avLst/>
          </a:prstGeom>
          <a:solidFill>
            <a:srgbClr val="FFF3CD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400" b="1" i="0">
                <a:solidFill>
                  <a:srgbClr val="92400E"/>
                </a:solidFill>
                <a:latin typeface="Calibri"/>
              </a:rPr>
              <a:t>8  Lookup Table
Curves</a:t>
            </a:r>
          </a:p>
          <a:p>
            <a:r>
              <a:rPr sz="1100" b="0" i="0">
                <a:solidFill>
                  <a:srgbClr val="92400E"/>
                </a:solidFill>
                <a:latin typeface="Calibri"/>
              </a:rPr>
              <a:t>· Planned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>Group-constructed graphical functions replace equations. Each curve maps an input variable to an output effect. Expert knowledge captured in the curve shape, not a formula.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1">
                <a:solidFill>
                  <a:srgbClr val="475569"/>
                </a:solidFill>
                <a:latin typeface="Calibri"/>
              </a:rPr>
              <a:t>Note: The key Vester insight — debate the curve, own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93024" y="1691640"/>
            <a:ext cx="3657600" cy="4114800"/>
          </a:xfrm>
          <a:prstGeom prst="rect">
            <a:avLst/>
          </a:prstGeom>
          <a:solidFill>
            <a:srgbClr val="FFF3CD"/>
          </a:solidFill>
          <a:ln w="254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400" b="1" i="0">
                <a:solidFill>
                  <a:srgbClr val="92400E"/>
                </a:solidFill>
                <a:latin typeface="Calibri"/>
              </a:rPr>
              <a:t>9  Simulation</a:t>
            </a:r>
          </a:p>
          <a:p>
            <a:r>
              <a:rPr sz="1100" b="0" i="0">
                <a:solidFill>
                  <a:srgbClr val="92400E"/>
                </a:solidFill>
                <a:latin typeface="Calibri"/>
              </a:rPr>
              <a:t>· Planned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>Euler integration reads from lookup tables. What-if scenario runs. Results evaluated against Vester's 8 biocybernetic basic rules as a diagnostic layer.</a:t>
            </a:r>
          </a:p>
          <a:p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r>
              <a:rPr sz="1200" b="0" i="1">
                <a:solidFill>
                  <a:srgbClr val="475569"/>
                </a:solidFill>
                <a:latin typeface="Calibri"/>
              </a:rPr>
              <a:t>Note: XMILE export is the bridge to Vensim/Insightmaker while this is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Step 7 built ✓  ·  Steps 8–9 planned  ·  RCN Graph Tool  (graph-tool-v22.html)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GROUP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The answers come from the system — not from an analyst.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1430000" cy="13716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  <a:latin typeface="Calibri"/>
              </a:rPr>
              <a:t>The group owns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Every scoring decision is visible to everyone. Disagreements surface in the matrix and get resolved in the room — not in a report that no one reads. When the model is finished, everyone has seen it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46120"/>
            <a:ext cx="1143000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3558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  <a:latin typeface="Calibri"/>
              </a:rPr>
              <a:t>Variables are scored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7647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Going row by row ("How much does X influence Y?") produces faster consensus than solo scoring. The debate about each cell is the work — it surfaces hidden assumptions and boundary disagreements.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800600"/>
            <a:ext cx="11430000" cy="1371600"/>
          </a:xfrm>
          <a:prstGeom prst="rect">
            <a:avLst/>
          </a:prstGeom>
          <a:solidFill>
            <a:srgbClr val="FAFAF8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9103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Calibri"/>
              </a:rPr>
              <a:t>Lookup table curves are constructed in workshops.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3095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curve shape is debated. A nurse knows something an economist doesn't; an elder knows something a planner doesn't. Integrating that knowledge directly into the model structure is the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D9488"/>
                </a:solidFill>
                <a:latin typeface="Calibri"/>
              </a:rPr>
              <a:t>This is not a consultant's tool. It is a shared modeling process.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CURRENT STATE  · 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What's Built and What's Planned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6766560" cy="4846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  <a:latin typeface="Calibri"/>
              </a:rPr>
              <a:t>Working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1: System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2: Variable Set  (with 0–30 scales)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3: System Criteria  (24 criteria × 5 groups)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4: Cross-Impact Matrix  (with live AS/PS totals)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5: System Roles  (AS × PS quadrant, Q-isolines)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6: Partial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Step 7: SFD mode in RCN Graph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XMILE export  (Vensim / Insightmaker)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62940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✓  Save / Load 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691640"/>
            <a:ext cx="4572000" cy="4846320"/>
          </a:xfrm>
          <a:prstGeom prst="rect">
            <a:avLst/>
          </a:prstGeom>
          <a:solidFill>
            <a:srgbClr val="FFF3CD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83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  <a:latin typeface="Calibri"/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2402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Variable bridge: Vester app → SFD  (shared IDs)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89864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Step 8: Lookup Table curve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5570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Step 9: Simulation engine  (Euler)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1538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→  Biocybernetic evaluation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  <a:latin typeface="Calibri"/>
              </a:rPr>
              <a:t>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20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Two tools. One shared variable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394960" cy="4572000"/>
          </a:xfrm>
          <a:prstGeom prst="rect">
            <a:avLst/>
          </a:prstGeom>
          <a:solidFill>
            <a:srgbClr val="F0FDFA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Calibri"/>
              </a:rPr>
              <a:t>Vester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vester.relocalizecreativity.net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1 — System Description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2 — Variable Set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7413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3 — System Criteria 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962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4 — Cross-Impact Matrix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251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5 — System Roles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6 — Partial Scenario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1546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  <a:latin typeface="Calibri"/>
              </a:rPr>
              <a:t>→
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554480"/>
            <a:ext cx="5029200" cy="4572000"/>
          </a:xfrm>
          <a:prstGeom prst="rect">
            <a:avLst/>
          </a:prstGeom>
          <a:solidFill>
            <a:srgbClr val="EFF6FF"/>
          </a:solidFill>
          <a:ln w="317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6642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RCN Graph Tool — SFD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574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graph-tool-v22.html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423160"/>
            <a:ext cx="4663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7 — Stock &amp; Flow Diagram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90088"/>
            <a:ext cx="4663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6534"/>
                </a:solidFill>
                <a:latin typeface="Calibri"/>
              </a:rPr>
              <a:t>Step 7 — XMILE export 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557015"/>
            <a:ext cx="4663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Step 8 — Lookup Table Curves  ·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123944"/>
            <a:ext cx="4663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Step 9 — Simulation  · 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690872"/>
            <a:ext cx="4663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Step 9 — Biocybernetic Eval  · 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Variables defined in the Vester app become the shared objects in the SFD. Changing a variable name or scale in the Vester app will update it everywhere — the "control the whole space" requirement.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"The most important thing a systemic model
gives you is not the answer —
it is a shared picture of the question."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3840480"/>
            <a:ext cx="6309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  <a:latin typeface="Calibri"/>
              </a:rPr>
              <a:t>Variables you can see. Relationships you can debate.
Interventions you can test — before committing.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AAAD8"/>
                </a:solidFill>
                <a:latin typeface="Calibri"/>
              </a:rPr>
              <a:t>Vester Sensitivity Model  ·  RCN Implementation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