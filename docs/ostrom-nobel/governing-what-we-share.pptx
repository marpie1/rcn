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c7d50ab-a563-0179-ebd2-d00be3eb6300}">
          <p14:sldIdLst>
            <p14:sldId id="256"/>
            <p14:sldId id="257"/>
            <p14:sldId id="258"/>
            <p14:sldId id="259"/>
            <p14:sldId id="260"/>
            <p14:sldId id="315"/>
            <p14:sldId id="316"/>
            <p14:sldId id="317"/>
            <p14:sldId id="318"/>
          </p14:sldIdLst>
        </p14:section>
        <p14:section name="1 · The people and the place" id="{88a7351a-ee8c-f8fd-d1b9-0f51c72bf75f}">
          <p14:sldIdLst>
            <p14:sldId id="261"/>
            <p14:sldId id="262"/>
            <p14:sldId id="263"/>
            <p14:sldId id="264"/>
            <p14:sldId id="265"/>
            <p14:sldId id="266"/>
            <p14:sldId id="267"/>
          </p14:sldIdLst>
        </p14:section>
        <p14:section name="2 · What we're sharing" id="{ce3191cb-6c7e-9316-9358-e8e6a3942ea1}">
          <p14:sldIdLst>
            <p14:sldId id="268"/>
            <p14:sldId id="269"/>
            <p14:sldId id="270"/>
            <p14:sldId id="271"/>
            <p14:sldId id="272"/>
          </p14:sldIdLst>
        </p14:section>
        <p14:section name="3 · Where we meet and choose" id="{137af76e-fc6d-a3af-365b-d72ef276af71}">
          <p14:sldIdLst>
            <p14:sldId id="273"/>
            <p14:sldId id="274"/>
            <p14:sldId id="275"/>
            <p14:sldId id="276"/>
            <p14:sldId id="277"/>
            <p14:sldId id="278"/>
          </p14:sldIdLst>
        </p14:section>
        <p14:section name="4 · Who sets the rules" id="{efb7a90b-ad0a-5088-0cb2-a7a83d723b51}">
          <p14:sldIdLst>
            <p14:sldId id="279"/>
            <p14:sldId id="280"/>
            <p14:sldId id="281"/>
            <p14:sldId id="282"/>
            <p14:sldId id="283"/>
            <p14:sldId id="284"/>
            <p14:sldId id="285"/>
          </p14:sldIdLst>
        </p14:section>
        <p14:section name="5 · What's going on when we meet" id="{7fead4e3-5de1-9f52-734e-c3ec17f3a05f}">
          <p14:sldIdLst>
            <p14:sldId id="286"/>
            <p14:sldId id="287"/>
            <p14:sldId id="288"/>
            <p14:sldId id="289"/>
          </p14:sldIdLst>
        </p14:section>
        <p14:section name="6 · The house rules" id="{6f902c4e-a9ae-ce6a-a690-4fcf9b2263a3}">
          <p14:sldIdLst>
            <p14:sldId id="290"/>
            <p14:sldId id="291"/>
            <p14:sldId id="292"/>
            <p14:sldId id="293"/>
            <p14:sldId id="294"/>
            <p14:sldId id="295"/>
            <p14:sldId id="296"/>
            <p14:sldId id="297"/>
          </p14:sldIdLst>
        </p14:section>
        <p14:section name="7 · What long-lasting groups do" id="{d9b68181-03b3-6a07-41bf-c4f93b062051}">
          <p14:sldIdLst>
            <p14:sldId id="298"/>
            <p14:sldId id="299"/>
            <p14:sldId id="300"/>
            <p14:sldId id="301"/>
            <p14:sldId id="302"/>
          </p14:sldIdLst>
        </p14:section>
        <p14:section name="8 · How a rule is put together" id="{56195cfc-0f2a-4a0b-0d8f-90d6c6fc6b87}">
          <p14:sldIdLst>
            <p14:sldId id="303"/>
            <p14:sldId id="304"/>
            <p14:sldId id="305"/>
            <p14:sldId id="306"/>
            <p14:sldId id="307"/>
            <p14:sldId id="308"/>
          </p14:sldIdLst>
        </p14:section>
        <p14:section name="9 · Do I do my share?" id="{cd299c79-5c62-eb81-4750-63cf91fc2c55}">
          <p14:sldIdLst>
            <p14:sldId id="309"/>
            <p14:sldId id="310"/>
            <p14:sldId id="311"/>
            <p14:sldId id="312"/>
            <p14:sldId id="313"/>
            <p14:sldId id="314"/>
          </p14:sldIdLst>
        </p14:section>
        <p14:section name="Closing" id="{833c0e98-df90-f99f-d703-489e94a188c4}">
          <p14:sldIdLst>
            <p14:sldId id="31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people new to Elinor Ostrom and new to community organizing. The deck goes one step at a time, from the widest view (the people and the place) to the narrowest (one person deciding whether to do their share). Each step starts from something everyone has lived through, says the point in plain words, and only then shows Ostrom's picture. Her technical words appear in small type as 'Ostrom's word', for anyone who wants to read her.
Marc Pierson and Claude Opus 5.5 ·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 studied ordinary communities: fishing villages, farmers sharing irrigation ditches, villagers sharing mountain pastures and forests. What she found is what people in such places already know. Her words are hard because she was arguing with economists in their own language. In this deck the everyday words come first and her words come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Garrett Hardin's 1968 essay 'The Tragedy of the Commons' said anything shared gets ruined, because each person gains by taking a little more. The usual answers were: the government takes control, or the thing is divided up and sold. Ostrom went and looked at real places and found that people often look after shared things themselves. The Swiss village of Torbel formally organized its shared meadows in 1483. In 2009 she became the first woman to receive the Nobel Prize in Economics.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a camera zooming in. Each step asks one plain question. A problem you notice at one step is often fixed at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imagined community garden we follow through every step. The same ideas fit a tool library, a neighborhood fund, a food pantry, or a health co-op. A second example, a community health worker who is never at the table, comes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the widest view. Start from the office fridge, then show Ostrom's picture of the same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office fridge is a small commons. Ask the room who has seen a shared fridge go bad, and what happened next. Everything on the next slide is already in that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Ostrom's Figure 6. Read from the middle out. Point to each corner and name its office-fridge version, then its Elm Street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the everyday words first, what they mean, and the word Ostrom used.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the everyday words first, what they mean, and the word Ostrom used.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 sides, in the garden. Ask your own group to fill in the four sides of whatever you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Ostrom's 2009 paper and her Nobel lecture: ten things that, across many places, made it more likely that people would organize themselves to look after something shared. Each is common sense once it is said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Before any rules, ask what kind of thing is shared. Start from a party.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nothing more. Get the room to sort a few things from their own lives before showing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Ostrom's Figure 1. Translate the long labels out loud: 'subtractability of use' is 'does it run out', and 'difficulty of excluding potential beneficiaries' is 'can we keep people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the everyday words first, what they mean, and the word Ostrom used.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group to place the things it shares. The point is not the box; it is the trouble each box brings.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Zoom in from the whole picture to one get-together. Start from a family dinner.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next picture is in the dinner story. The judging afterwards, and the changing of rules, is the part that matters most for organizing.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Ostrom's Figure 2. The green title is Marc's: the two halves of the story, building trust and making rules that fit the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the everyday words first, what they mean, and the word Ostrom used.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the everyday words first, what they mean, and the word Ostrom used.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knows the difference between the rule on the wall and how things really work. Ostrom said: study how things really work. You find it by watching and 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Start from a household: who follows bedtime, who sets it, and who counts as a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Each one decides the rules for the one below. That's the whole idea of the next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added panel. The lecture mentions these layers in one sentence and has no picture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the everyday words first, what they mean, and the word Ostrom used.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garden, four layers. Each higher decision is rarer and changes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it in any meeting. When someone proposes a change, ask which of these three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second example: a neighborhood health co-op whose community health worker is never part of decisions. Read at each layer, the same complaint means something different, and only the top reading points to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Open up one get-together. Ostrom built these parts with a game theorist, so start from a game everyone knows.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moving parts. Every meeting, market, watering day and family dinner has the same seven. The next picture just names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Ostrom's Figure 3. Her one-sentence version: people in roles choose what to do, depending on what they know, how their choices add up, and what it costs and pays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the everyday words first, what they mean, and the word Ostrom used.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Every board game comes with rules for each moving part. So does every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kind of rule shapes one moving part from step 5. The next picture draws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Ostrom's Figure 4. Her advice: ask of any rule, which moving part does it shape? That sorts every rule into one of seven kinds.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picture, enlarged. Point to a blue rule box, follow its red arrow to the part it shapes, then read Marc's green question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the everyday words first, a garden example, and the word Ostrom used.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 draws the get-together from outside, like an observer. Marc's labels draw it from inside, like a participant.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 draws the get-together from outside, like an observer. Marc's labels draw it from inside, like a participant.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Groups rarely write down how they decide. Two people can honestly disagree about whether something passed because each assumed a different way of deciding. One set of votes, four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Ostrom looked for the one rule that always works and found none: what works differs from place to place. So she looked one step up, at what lasting groups have in common. She was clear the people in them never had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to name a group they know that has lasted, and what it does. You will usually hear most of the 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Ostrom's design principles, as updated by Cox, Arnold and Villamayor Tomas (2010), who checked them against more than 100 studies. About two-thirds found that lasting groups had most of these, and failed ones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own summary, not Ostrom's: which of the seven kinds of house rule each one depends on, and which layer from step 4 it sits on. Number 2A is the exception: whether rules fit a place is something you judge by looking at the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sounds simple. The house rules split it into five questions, and a group can miss any one while sincerely believing it includes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Sue Crawford and Ostrom showed that every rule has the same few parts. Start from a parking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rule-like sentence has these parts. A missing part is a gap you can point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one sentence from the garden bylaw and ask it the questions. Each part does a job. The OR ELSE is the one most often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the everyday words first, what they mean, and the word Ostrom used.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Sentences come in three strengths. In real bylaws the "or else" is usually missing, which tells you what will actually happen: people will drift away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gaps the questions find that a quick read misses. Each connects one sentence back to what lasting groups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the smallest scale. Rules matter, but people pitch in when they trust others will too. Start from a group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has been in this spot. Ostrom's Figure 5 draws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Ostrom's Figure 5. People are not the pure money-grubbers of older economics: they learn and they pick up shared habits. But they will not keep pitching in if they think others won't. Marc's question from step 6, 'Is it worth the effort and risk?', is answered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the everyday words first, what they mean, and the word Ostrom used.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Ostrom's six, from experiments and real places (lecture pp. 661-662). The link to the eight things lasting groups do (step 7) is our reading, not hers: it shows how house rules build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can't rewrite who sets the rules this month. You can change these six small things now, and they are where trust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steps are one picture seen from different distances. A problem noticed at one step is often fixed at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question per step. Start anywhere; most groups start with the last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Alphabetical by the everyday words, with the word Ostrom used.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Alphabetical by the everyday words, with the word Ostrom used.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Diagrams: the RCN Graph Tool drawings in docs/ostrom-nobel/, rebuilt from the lecture figures with Marc's annotations. The layers panel, the everyday examples and the Elm Street garden are additions, not Ostrom's.
Marc Pierson and Claude Opus 5.5 ·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371600"/>
          </a:xfrm>
          <a:prstGeom prst="rect">
            <a:avLst/>
          </a:prstGeom>
          <a:noFill/>
          <a:ln/>
        </p:spPr>
        <p:txBody>
          <a:bodyPr wrap="square" rtlCol="0"/>
          <a:lstStyle>
            <a:lvl1pPr indent="0" marL="0">
              <a:buNone/>
              <a:defRPr lang="en-US" sz="4800" b="1" dirty="0">
                <a:solidFill>
                  <a:schemeClr val="bg1"/>
                </a:solidFill>
              </a:defRPr>
            </a:lvl1pPr>
          </a:lstStyle>
          <a:p>
            <a:pPr indent="0" marL="0">
              <a:buNone/>
            </a:pPr>
            <a:endParaRPr lang="en-US" sz="4800" dirty="0"/>
          </a:p>
        </p:txBody>
      </p:sp>
      <p:sp>
        <p:nvSpPr>
          <p:cNvPr id="3" name="Text 0"/>
          <p:cNvSpPr/>
          <p:nvPr>
            <p:ph idx="101" type="body" hasCustomPrompt="1"/>
          </p:nvPr>
        </p:nvSpPr>
        <p:spPr>
          <a:xfrm>
            <a:off x="731520" y="3291840"/>
            <a:ext cx="10058400" cy="118872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
        <p:nvSpPr>
          <p:cNvPr id="4" name="Text 0"/>
          <p:cNvSpPr/>
          <p:nvPr>
            <p:ph idx="102" type="body" hasCustomPrompt="1"/>
          </p:nvPr>
        </p:nvSpPr>
        <p:spPr>
          <a:xfrm>
            <a:off x="731520" y="5760720"/>
            <a:ext cx="10058400" cy="457200"/>
          </a:xfrm>
          <a:prstGeom prst="rect">
            <a:avLst/>
          </a:prstGeom>
          <a:noFill/>
          <a:ln/>
        </p:spPr>
        <p:txBody>
          <a:bodyPr wrap="square" rtlCol="0"/>
          <a:lstStyle>
            <a:lvl1pPr indent="0" marL="0">
              <a:buNone/>
              <a:defRPr lang="en-US" sz="1400" dirty="0">
                <a:solidFill>
                  <a:schemeClr val="accent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lvl1pPr indent="0" marL="0">
              <a:buNone/>
              <a:defRPr lang="en-US" sz="1200" b="1" spc="1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4" name="Text 0"/>
          <p:cNvSpPr/>
          <p:nvPr/>
        </p:nvSpPr>
        <p:spPr>
          <a:xfrm>
            <a:off x="548640" y="6446520"/>
            <a:ext cx="5486400" cy="274320"/>
          </a:xfrm>
          <a:prstGeom prst="rect">
            <a:avLst/>
          </a:prstGeom>
          <a:noFill/>
          <a:ln/>
        </p:spPr>
        <p:txBody>
          <a:bodyPr wrap="square" rtlCol="0" anchor="ctr"/>
          <a:lstStyle/>
          <a:p>
            <a:pPr indent="0" marL="0">
              <a:buNone/>
            </a:pPr>
            <a:r>
              <a:rPr lang="en-US" sz="1000" dirty="0">
                <a:solidFill>
                  <a:srgbClr val="6B7A70"/>
                </a:solidFill>
              </a:rPr>
              <a:t>Governing What We Share</a:t>
            </a:r>
            <a:endParaRPr lang="en-US" sz="10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371600"/>
          </a:xfrm>
          <a:prstGeom prst="rect">
            <a:avLst/>
          </a:prstGeom>
          <a:noFill/>
          <a:ln/>
        </p:spPr>
        <p:txBody>
          <a:bodyPr wrap="square" rtlCol="0" anchor="b"/>
          <a:lstStyle/>
          <a:p>
            <a:pPr indent="0" marL="0">
              <a:buNone/>
            </a:pPr>
            <a:r>
              <a:rPr lang="en-US" sz="4800" b="1" dirty="0">
                <a:solidFill>
                  <a:schemeClr val="bg1"/>
                </a:solidFill>
              </a:rPr>
              <a:t>Governing What We Share</a:t>
            </a:r>
            <a:endParaRPr lang="en-US" sz="4800" dirty="0"/>
          </a:p>
        </p:txBody>
      </p:sp>
      <p:sp>
        <p:nvSpPr>
          <p:cNvPr id="3" name="Text 0"/>
          <p:cNvSpPr/>
          <p:nvPr>
            <p:ph idx="101" type="body" hasCustomPrompt="1"/>
          </p:nvPr>
        </p:nvSpPr>
        <p:spPr>
          <a:xfrm>
            <a:off x="731520" y="3291840"/>
            <a:ext cx="10058400" cy="1188720"/>
          </a:xfrm>
          <a:prstGeom prst="rect">
            <a:avLst/>
          </a:prstGeom>
          <a:noFill/>
          <a:ln/>
        </p:spPr>
        <p:txBody>
          <a:bodyPr wrap="square" rtlCol="0" anchor="t"/>
          <a:lstStyle/>
          <a:p>
            <a:pPr indent="0" marL="0">
              <a:buNone/>
            </a:pPr>
            <a:r>
              <a:rPr lang="en-US" sz="2200" dirty="0">
                <a:solidFill>
                  <a:schemeClr val="bg2"/>
                </a:solidFill>
              </a:rPr>
              <a:t>What people who share things already know, as Elinor Ostrom found it, one step at a time</a:t>
            </a:r>
            <a:endParaRPr lang="en-US" sz="2200" dirty="0"/>
          </a:p>
        </p:txBody>
      </p:sp>
      <p:sp>
        <p:nvSpPr>
          <p:cNvPr id="4" name="Text 0"/>
          <p:cNvSpPr/>
          <p:nvPr>
            <p:ph idx="102" type="body" hasCustomPrompt="1"/>
          </p:nvPr>
        </p:nvSpPr>
        <p:spPr>
          <a:xfrm>
            <a:off x="731520" y="5760720"/>
            <a:ext cx="10058400" cy="457200"/>
          </a:xfrm>
          <a:prstGeom prst="rect">
            <a:avLst/>
          </a:prstGeom>
          <a:noFill/>
          <a:ln/>
        </p:spPr>
        <p:txBody>
          <a:bodyPr wrap="square" rtlCol="0"/>
          <a:lstStyle/>
          <a:p>
            <a:pPr indent="0" marL="0">
              <a:buNone/>
            </a:pPr>
            <a:r>
              <a:rPr lang="en-US" sz="1400" dirty="0">
                <a:solidFill>
                  <a:schemeClr val="accent2"/>
                </a:solidFill>
              </a:rPr>
              <a:t>Marc Pierson and Claude Opus 5.5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OPENING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You already know most of this</a:t>
            </a:r>
            <a:endParaRPr lang="en-US" sz="3200" dirty="0"/>
          </a:p>
        </p:txBody>
      </p:sp>
      <p:sp>
        <p:nvSpPr>
          <p:cNvPr id="5" name="card She studied ordinary places"/>
          <p:cNvSpPr/>
          <p:nvPr/>
        </p:nvSpPr>
        <p:spPr>
          <a:xfrm>
            <a:off x="548640" y="1463040"/>
            <a:ext cx="3566160" cy="2743200"/>
          </a:xfrm>
          <a:prstGeom prst="roundRect">
            <a:avLst>
              <a:gd name="adj" fmla="val 2667"/>
            </a:avLst>
          </a:prstGeom>
          <a:solidFill>
            <a:schemeClr val="bg2"/>
          </a:solidFill>
          <a:ln w="12700">
            <a:solidFill>
              <a:schemeClr val="bg2"/>
            </a:solidFill>
            <a:prstDash val="solid"/>
          </a:ln>
        </p:spPr>
      </p:sp>
      <p:sp>
        <p:nvSpPr>
          <p:cNvPr id="6" name="Text 3"/>
          <p:cNvSpPr txBox="1"/>
          <p:nvPr/>
        </p:nvSpPr>
        <p:spPr>
          <a:xfrm>
            <a:off x="685800" y="1554480"/>
            <a:ext cx="3291840" cy="256032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She studied ordinary places</a:t>
            </a:r>
            <a:endParaRPr lang="en-US" sz="1800" dirty="0"/>
          </a:p>
          <a:p>
            <a:pPr indent="0" marL="0">
              <a:spcAft>
                <a:spcPts val="400"/>
              </a:spcAft>
              <a:buNone/>
            </a:pPr>
            <a:r>
              <a:rPr lang="en-US" sz="1600" dirty="0">
                <a:solidFill>
                  <a:schemeClr val="tx1"/>
                </a:solidFill>
              </a:rPr>
              <a:t>Fishing villages. Farmers sharing water ditches. Villages sharing mountain meadows and forests. Neighbors, not experts.</a:t>
            </a:r>
            <a:endParaRPr lang="en-US" sz="1800" dirty="0"/>
          </a:p>
        </p:txBody>
      </p:sp>
      <p:sp>
        <p:nvSpPr>
          <p:cNvPr id="7" name="card She found common sense"/>
          <p:cNvSpPr/>
          <p:nvPr/>
        </p:nvSpPr>
        <p:spPr>
          <a:xfrm>
            <a:off x="4297680" y="1463040"/>
            <a:ext cx="3566160" cy="2743200"/>
          </a:xfrm>
          <a:prstGeom prst="roundRect">
            <a:avLst>
              <a:gd name="adj" fmla="val 2667"/>
            </a:avLst>
          </a:prstGeom>
          <a:solidFill>
            <a:schemeClr val="bg2"/>
          </a:solidFill>
          <a:ln w="12700">
            <a:solidFill>
              <a:schemeClr val="bg2"/>
            </a:solidFill>
            <a:prstDash val="solid"/>
          </a:ln>
        </p:spPr>
      </p:sp>
      <p:sp>
        <p:nvSpPr>
          <p:cNvPr id="8" name="Text 5"/>
          <p:cNvSpPr txBox="1"/>
          <p:nvPr/>
        </p:nvSpPr>
        <p:spPr>
          <a:xfrm>
            <a:off x="4434840" y="1554480"/>
            <a:ext cx="3291840" cy="256032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She found common sense</a:t>
            </a:r>
            <a:endParaRPr lang="en-US" sz="1800" dirty="0"/>
          </a:p>
          <a:p>
            <a:pPr indent="0" marL="0">
              <a:spcAft>
                <a:spcPts val="400"/>
              </a:spcAft>
              <a:buNone/>
            </a:pPr>
            <a:r>
              <a:rPr lang="en-US" sz="1600" dirty="0">
                <a:solidFill>
                  <a:schemeClr val="tx1"/>
                </a:solidFill>
              </a:rPr>
              <a:t>People who share something make their own rules, keep an eye on each other, settle their arguments, and look after the thing, often for centuries.</a:t>
            </a:r>
            <a:endParaRPr lang="en-US" sz="1800" dirty="0"/>
          </a:p>
        </p:txBody>
      </p:sp>
      <p:sp>
        <p:nvSpPr>
          <p:cNvPr id="9" name="card Her words came from economics"/>
          <p:cNvSpPr/>
          <p:nvPr/>
        </p:nvSpPr>
        <p:spPr>
          <a:xfrm>
            <a:off x="8046720" y="1463040"/>
            <a:ext cx="3566160" cy="2743200"/>
          </a:xfrm>
          <a:prstGeom prst="roundRect">
            <a:avLst>
              <a:gd name="adj" fmla="val 2667"/>
            </a:avLst>
          </a:prstGeom>
          <a:solidFill>
            <a:schemeClr val="bg2"/>
          </a:solidFill>
          <a:ln w="12700">
            <a:solidFill>
              <a:schemeClr val="bg2"/>
            </a:solidFill>
            <a:prstDash val="solid"/>
          </a:ln>
        </p:spPr>
      </p:sp>
      <p:sp>
        <p:nvSpPr>
          <p:cNvPr id="10" name="Text 7"/>
          <p:cNvSpPr txBox="1"/>
          <p:nvPr/>
        </p:nvSpPr>
        <p:spPr>
          <a:xfrm>
            <a:off x="8183880" y="1554480"/>
            <a:ext cx="3291840" cy="256032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Her words came from economics</a:t>
            </a:r>
            <a:endParaRPr lang="en-US" sz="1800" dirty="0"/>
          </a:p>
          <a:p>
            <a:pPr indent="0" marL="0">
              <a:spcAft>
                <a:spcPts val="400"/>
              </a:spcAft>
              <a:buNone/>
            </a:pPr>
            <a:r>
              <a:rPr lang="en-US" sz="1600" dirty="0">
                <a:solidFill>
                  <a:schemeClr val="tx1"/>
                </a:solidFill>
              </a:rPr>
              <a:t>She was proving economists wrong, so she wrote in their language. Here the everyday words come first; hers are in small type.</a:t>
            </a:r>
            <a:endParaRPr lang="en-US" sz="1800" dirty="0"/>
          </a:p>
        </p:txBody>
      </p:sp>
      <p:sp>
        <p:nvSpPr>
          <p:cNvPr id="11" name="Text 8"/>
          <p:cNvSpPr txBox="1"/>
          <p:nvPr/>
        </p:nvSpPr>
        <p:spPr>
          <a:xfrm>
            <a:off x="548640" y="4572000"/>
            <a:ext cx="11064240" cy="1097280"/>
          </a:xfrm>
          <a:prstGeom prst="rect">
            <a:avLst/>
          </a:prstGeom>
          <a:noFill/>
          <a:ln/>
        </p:spPr>
        <p:txBody>
          <a:bodyPr wrap="square" lIns="0" tIns="0" rIns="0" bIns="0" rtlCol="0" anchor="t"/>
          <a:lstStyle/>
          <a:p>
            <a:pPr indent="0" marL="0">
              <a:spcAft>
                <a:spcPts val="600"/>
              </a:spcAft>
              <a:buNone/>
            </a:pPr>
            <a:r>
              <a:rPr lang="en-US" sz="2000" i="1" dirty="0">
                <a:solidFill>
                  <a:schemeClr val="accent1"/>
                </a:solidFill>
              </a:rPr>
              <a:t>If something in this deck sounds strange, the fault is in the words, not in you. Every idea here is something you have seen happen.</a:t>
            </a:r>
            <a:endParaRPr lang="en-US" sz="20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OPENING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What Ostrom set out to show</a:t>
            </a:r>
            <a:endParaRPr lang="en-US" sz="3200" dirty="0"/>
          </a:p>
        </p:txBody>
      </p:sp>
      <p:sp>
        <p:nvSpPr>
          <p:cNvPr id="5" name="card What people were told"/>
          <p:cNvSpPr/>
          <p:nvPr/>
        </p:nvSpPr>
        <p:spPr>
          <a:xfrm>
            <a:off x="548640" y="1463040"/>
            <a:ext cx="5394960" cy="2194560"/>
          </a:xfrm>
          <a:prstGeom prst="roundRect">
            <a:avLst>
              <a:gd name="adj" fmla="val 3333"/>
            </a:avLst>
          </a:prstGeom>
          <a:solidFill>
            <a:srgbClr val="F6E9E4"/>
          </a:solidFill>
          <a:ln w="12700">
            <a:solidFill>
              <a:srgbClr val="F6E9E4"/>
            </a:solidFill>
            <a:prstDash val="solid"/>
          </a:ln>
        </p:spPr>
      </p:sp>
      <p:sp>
        <p:nvSpPr>
          <p:cNvPr id="6" name="Text 3"/>
          <p:cNvSpPr txBox="1"/>
          <p:nvPr/>
        </p:nvSpPr>
        <p:spPr>
          <a:xfrm>
            <a:off x="685800" y="1554480"/>
            <a:ext cx="5120640" cy="2011680"/>
          </a:xfrm>
          <a:prstGeom prst="rect">
            <a:avLst/>
          </a:prstGeom>
          <a:noFill/>
          <a:ln/>
        </p:spPr>
        <p:txBody>
          <a:bodyPr wrap="square" lIns="0" tIns="0" rIns="0" bIns="0" rtlCol="0" anchor="t"/>
          <a:lstStyle/>
          <a:p>
            <a:pPr indent="0" marL="0">
              <a:spcAft>
                <a:spcPts val="400"/>
              </a:spcAft>
              <a:buNone/>
            </a:pPr>
            <a:r>
              <a:rPr lang="en-US" sz="1800" b="1" dirty="0">
                <a:solidFill>
                  <a:schemeClr val="accent4"/>
                </a:solidFill>
              </a:rPr>
              <a:t>What people were told</a:t>
            </a:r>
            <a:endParaRPr lang="en-US" sz="1800" dirty="0"/>
          </a:p>
          <a:p>
            <a:pPr indent="0" marL="0">
              <a:spcAft>
                <a:spcPts val="400"/>
              </a:spcAft>
              <a:buNone/>
            </a:pPr>
            <a:r>
              <a:rPr lang="en-US" sz="1600" dirty="0">
                <a:solidFill>
                  <a:schemeClr val="tx1"/>
                </a:solidFill>
              </a:rPr>
              <a:t>Anything shared gets used up. Each person takes a little more, and together they ruin it. So either the government runs it, or it gets divided up and sold.</a:t>
            </a:r>
            <a:endParaRPr lang="en-US" sz="1800" dirty="0"/>
          </a:p>
        </p:txBody>
      </p:sp>
      <p:sp>
        <p:nvSpPr>
          <p:cNvPr id="7" name="card What she found"/>
          <p:cNvSpPr/>
          <p:nvPr/>
        </p:nvSpPr>
        <p:spPr>
          <a:xfrm>
            <a:off x="6217920" y="1463040"/>
            <a:ext cx="5394960" cy="2194560"/>
          </a:xfrm>
          <a:prstGeom prst="roundRect">
            <a:avLst>
              <a:gd name="adj" fmla="val 3333"/>
            </a:avLst>
          </a:prstGeom>
          <a:solidFill>
            <a:schemeClr val="bg2"/>
          </a:solidFill>
          <a:ln w="12700">
            <a:solidFill>
              <a:schemeClr val="bg2"/>
            </a:solidFill>
            <a:prstDash val="solid"/>
          </a:ln>
        </p:spPr>
      </p:sp>
      <p:sp>
        <p:nvSpPr>
          <p:cNvPr id="8" name="Text 5"/>
          <p:cNvSpPr txBox="1"/>
          <p:nvPr/>
        </p:nvSpPr>
        <p:spPr>
          <a:xfrm>
            <a:off x="6355080" y="1554480"/>
            <a:ext cx="5120640" cy="2011680"/>
          </a:xfrm>
          <a:prstGeom prst="rect">
            <a:avLst/>
          </a:prstGeom>
          <a:noFill/>
          <a:ln/>
        </p:spPr>
        <p:txBody>
          <a:bodyPr wrap="square" lIns="0" tIns="0" rIns="0" bIns="0" rtlCol="0" anchor="t"/>
          <a:lstStyle/>
          <a:p>
            <a:pPr indent="0" marL="0">
              <a:spcAft>
                <a:spcPts val="400"/>
              </a:spcAft>
              <a:buNone/>
            </a:pPr>
            <a:r>
              <a:rPr lang="en-US" sz="1800" b="1" dirty="0">
                <a:solidFill>
                  <a:schemeClr val="accent1"/>
                </a:solidFill>
              </a:rPr>
              <a:t>What she found</a:t>
            </a:r>
            <a:endParaRPr lang="en-US" sz="1800" dirty="0"/>
          </a:p>
          <a:p>
            <a:pPr indent="0" marL="0">
              <a:spcAft>
                <a:spcPts val="400"/>
              </a:spcAft>
              <a:buNone/>
            </a:pPr>
            <a:r>
              <a:rPr lang="en-US" sz="1600" dirty="0">
                <a:solidFill>
                  <a:schemeClr val="tx1"/>
                </a:solidFill>
              </a:rPr>
              <a:t>Neighbors who share something often run it well themselves, for generations. Not always. So: what do the ones that last do?</a:t>
            </a:r>
            <a:endParaRPr lang="en-US" sz="1800" dirty="0"/>
          </a:p>
        </p:txBody>
      </p:sp>
      <p:sp>
        <p:nvSpPr>
          <p:cNvPr id="9" name="Text 6"/>
          <p:cNvSpPr txBox="1"/>
          <p:nvPr/>
        </p:nvSpPr>
        <p:spPr>
          <a:xfrm>
            <a:off x="548640" y="3977640"/>
            <a:ext cx="5394960" cy="2103120"/>
          </a:xfrm>
          <a:prstGeom prst="rect">
            <a:avLst/>
          </a:prstGeom>
          <a:noFill/>
          <a:ln/>
        </p:spPr>
        <p:txBody>
          <a:bodyPr wrap="square" lIns="0" tIns="0" rIns="0" bIns="0" rtlCol="0" anchor="t"/>
          <a:lstStyle/>
          <a:p>
            <a:pPr indent="0" marL="0">
              <a:buNone/>
            </a:pPr>
            <a:r>
              <a:rPr lang="en-US" sz="5400" b="1" dirty="0">
                <a:solidFill>
                  <a:schemeClr val="accent2"/>
                </a:solidFill>
              </a:rPr>
              <a:t>1483</a:t>
            </a:r>
            <a:endParaRPr lang="en-US" sz="5400" dirty="0"/>
          </a:p>
          <a:p>
            <a:pPr indent="0" marL="0">
              <a:buNone/>
            </a:pPr>
            <a:r>
              <a:rPr lang="en-US" sz="1500" dirty="0">
                <a:solidFill>
                  <a:schemeClr val="tx1"/>
                </a:solidFill>
              </a:rPr>
              <a:t>the Swiss village of Torbel writes down how it shares its mountain meadows</a:t>
            </a:r>
            <a:endParaRPr lang="en-US" sz="5400" dirty="0"/>
          </a:p>
        </p:txBody>
      </p:sp>
      <p:sp>
        <p:nvSpPr>
          <p:cNvPr id="10" name="Text 7"/>
          <p:cNvSpPr txBox="1"/>
          <p:nvPr/>
        </p:nvSpPr>
        <p:spPr>
          <a:xfrm>
            <a:off x="6217920" y="3977640"/>
            <a:ext cx="5394960" cy="2103120"/>
          </a:xfrm>
          <a:prstGeom prst="rect">
            <a:avLst/>
          </a:prstGeom>
          <a:noFill/>
          <a:ln/>
        </p:spPr>
        <p:txBody>
          <a:bodyPr wrap="square" lIns="0" tIns="0" rIns="0" bIns="0" rtlCol="0" anchor="t"/>
          <a:lstStyle/>
          <a:p>
            <a:pPr indent="0" marL="0">
              <a:buNone/>
            </a:pPr>
            <a:r>
              <a:rPr lang="en-US" sz="5400" b="1" dirty="0">
                <a:solidFill>
                  <a:schemeClr val="accent2"/>
                </a:solidFill>
              </a:rPr>
              <a:t>2009</a:t>
            </a:r>
            <a:endParaRPr lang="en-US" sz="5400" dirty="0"/>
          </a:p>
          <a:p>
            <a:pPr indent="0" marL="0">
              <a:buNone/>
            </a:pPr>
            <a:r>
              <a:rPr lang="en-US" sz="1500" dirty="0">
                <a:solidFill>
                  <a:schemeClr val="tx1"/>
                </a:solidFill>
              </a:rPr>
              <a:t>Ostrom is the first woman to win the Nobel Prize in Economics. Her lecture is where these pictures come from.</a:t>
            </a:r>
            <a:endParaRPr lang="en-US" sz="5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OPENING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Nine steps, from the widest view to one person</a:t>
            </a:r>
            <a:endParaRPr lang="en-US" sz="3200" dirty="0"/>
          </a:p>
        </p:txBody>
      </p:sp>
      <p:sp>
        <p:nvSpPr>
          <p:cNvPr id="5" name="Text 2"/>
          <p:cNvSpPr/>
          <p:nvPr/>
        </p:nvSpPr>
        <p:spPr>
          <a:xfrm>
            <a:off x="548640" y="1463040"/>
            <a:ext cx="411480" cy="41148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3"/>
          <p:cNvSpPr txBox="1"/>
          <p:nvPr/>
        </p:nvSpPr>
        <p:spPr>
          <a:xfrm>
            <a:off x="1097280" y="1463040"/>
            <a:ext cx="8595360" cy="411480"/>
          </a:xfrm>
          <a:prstGeom prst="rect">
            <a:avLst/>
          </a:prstGeom>
          <a:noFill/>
          <a:ln/>
        </p:spPr>
        <p:txBody>
          <a:bodyPr wrap="square" lIns="0" tIns="0" rIns="0" bIns="0" rtlCol="0" anchor="ctr"/>
          <a:lstStyle/>
          <a:p>
            <a:pPr indent="0" marL="0">
              <a:buNone/>
            </a:pPr>
            <a:r>
              <a:rPr lang="en-US" sz="1600" b="1" dirty="0">
                <a:solidFill>
                  <a:schemeClr val="tx2"/>
                </a:solidFill>
              </a:rPr>
              <a:t>The people and the place   </a:t>
            </a:r>
            <a:pPr indent="0" marL="0">
              <a:buNone/>
            </a:pPr>
            <a:r>
              <a:rPr lang="en-US" sz="1600" dirty="0">
                <a:solidFill>
                  <a:srgbClr val="3E4A42"/>
                </a:solidFill>
              </a:rPr>
              <a:t>What is around the thing we share?</a:t>
            </a:r>
            <a:endParaRPr lang="en-US" sz="1600" dirty="0"/>
          </a:p>
        </p:txBody>
      </p:sp>
      <p:sp>
        <p:nvSpPr>
          <p:cNvPr id="7" name="Text 4"/>
          <p:cNvSpPr/>
          <p:nvPr/>
        </p:nvSpPr>
        <p:spPr>
          <a:xfrm>
            <a:off x="777240" y="1984248"/>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8" name="Text 5"/>
          <p:cNvSpPr txBox="1"/>
          <p:nvPr/>
        </p:nvSpPr>
        <p:spPr>
          <a:xfrm>
            <a:off x="1325880" y="1984248"/>
            <a:ext cx="8595360" cy="411480"/>
          </a:xfrm>
          <a:prstGeom prst="rect">
            <a:avLst/>
          </a:prstGeom>
          <a:noFill/>
          <a:ln/>
        </p:spPr>
        <p:txBody>
          <a:bodyPr wrap="square" lIns="0" tIns="0" rIns="0" bIns="0" rtlCol="0" anchor="ctr"/>
          <a:lstStyle/>
          <a:p>
            <a:pPr indent="0" marL="0">
              <a:buNone/>
            </a:pPr>
            <a:r>
              <a:rPr lang="en-US" sz="1600" b="1" dirty="0">
                <a:solidFill>
                  <a:schemeClr val="tx2"/>
                </a:solidFill>
              </a:rPr>
              <a:t>What we're sharing   </a:t>
            </a:r>
            <a:pPr indent="0" marL="0">
              <a:buNone/>
            </a:pPr>
            <a:r>
              <a:rPr lang="en-US" sz="1600" dirty="0">
                <a:solidFill>
                  <a:srgbClr val="3E4A42"/>
                </a:solidFill>
              </a:rPr>
              <a:t>Does it run out? Can we keep people out?</a:t>
            </a:r>
            <a:endParaRPr lang="en-US" sz="1600" dirty="0"/>
          </a:p>
        </p:txBody>
      </p:sp>
      <p:sp>
        <p:nvSpPr>
          <p:cNvPr id="9" name="Text 6"/>
          <p:cNvSpPr/>
          <p:nvPr/>
        </p:nvSpPr>
        <p:spPr>
          <a:xfrm>
            <a:off x="1005840" y="2505456"/>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0" name="Text 7"/>
          <p:cNvSpPr txBox="1"/>
          <p:nvPr/>
        </p:nvSpPr>
        <p:spPr>
          <a:xfrm>
            <a:off x="1554480" y="2505456"/>
            <a:ext cx="8595360" cy="411480"/>
          </a:xfrm>
          <a:prstGeom prst="rect">
            <a:avLst/>
          </a:prstGeom>
          <a:noFill/>
          <a:ln/>
        </p:spPr>
        <p:txBody>
          <a:bodyPr wrap="square" lIns="0" tIns="0" rIns="0" bIns="0" rtlCol="0" anchor="ctr"/>
          <a:lstStyle/>
          <a:p>
            <a:pPr indent="0" marL="0">
              <a:buNone/>
            </a:pPr>
            <a:r>
              <a:rPr lang="en-US" sz="1600" b="1" dirty="0">
                <a:solidFill>
                  <a:schemeClr val="tx2"/>
                </a:solidFill>
              </a:rPr>
              <a:t>Where we meet and choose   </a:t>
            </a:r>
            <a:pPr indent="0" marL="0">
              <a:buNone/>
            </a:pPr>
            <a:r>
              <a:rPr lang="en-US" sz="1600" dirty="0">
                <a:solidFill>
                  <a:srgbClr val="3E4A42"/>
                </a:solidFill>
              </a:rPr>
              <a:t>What shapes what happens when we get together?</a:t>
            </a:r>
            <a:endParaRPr lang="en-US" sz="1600" dirty="0"/>
          </a:p>
        </p:txBody>
      </p:sp>
      <p:sp>
        <p:nvSpPr>
          <p:cNvPr id="11" name="Text 8"/>
          <p:cNvSpPr/>
          <p:nvPr/>
        </p:nvSpPr>
        <p:spPr>
          <a:xfrm>
            <a:off x="1234440" y="3026664"/>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2" name="Text 9"/>
          <p:cNvSpPr txBox="1"/>
          <p:nvPr/>
        </p:nvSpPr>
        <p:spPr>
          <a:xfrm>
            <a:off x="1783080" y="3026664"/>
            <a:ext cx="8595360" cy="411480"/>
          </a:xfrm>
          <a:prstGeom prst="rect">
            <a:avLst/>
          </a:prstGeom>
          <a:noFill/>
          <a:ln/>
        </p:spPr>
        <p:txBody>
          <a:bodyPr wrap="square" lIns="0" tIns="0" rIns="0" bIns="0" rtlCol="0" anchor="ctr"/>
          <a:lstStyle/>
          <a:p>
            <a:pPr indent="0" marL="0">
              <a:buNone/>
            </a:pPr>
            <a:r>
              <a:rPr lang="en-US" sz="1600" b="1" dirty="0">
                <a:solidFill>
                  <a:schemeClr val="tx2"/>
                </a:solidFill>
              </a:rPr>
              <a:t>Who sets the rules   </a:t>
            </a:r>
            <a:pPr indent="0" marL="0">
              <a:buNone/>
            </a:pPr>
            <a:r>
              <a:rPr lang="en-US" sz="1600" dirty="0">
                <a:solidFill>
                  <a:srgbClr val="3E4A42"/>
                </a:solidFill>
              </a:rPr>
              <a:t>Who decides the rules, and who decides who decides?</a:t>
            </a:r>
            <a:endParaRPr lang="en-US" sz="1600" dirty="0"/>
          </a:p>
        </p:txBody>
      </p:sp>
      <p:sp>
        <p:nvSpPr>
          <p:cNvPr id="13" name="Text 10"/>
          <p:cNvSpPr/>
          <p:nvPr/>
        </p:nvSpPr>
        <p:spPr>
          <a:xfrm>
            <a:off x="1463040" y="3547872"/>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14" name="Text 11"/>
          <p:cNvSpPr txBox="1"/>
          <p:nvPr/>
        </p:nvSpPr>
        <p:spPr>
          <a:xfrm>
            <a:off x="2011680" y="3547872"/>
            <a:ext cx="8595360" cy="411480"/>
          </a:xfrm>
          <a:prstGeom prst="rect">
            <a:avLst/>
          </a:prstGeom>
          <a:noFill/>
          <a:ln/>
        </p:spPr>
        <p:txBody>
          <a:bodyPr wrap="square" lIns="0" tIns="0" rIns="0" bIns="0" rtlCol="0" anchor="ctr"/>
          <a:lstStyle/>
          <a:p>
            <a:pPr indent="0" marL="0">
              <a:buNone/>
            </a:pPr>
            <a:r>
              <a:rPr lang="en-US" sz="1600" b="1" dirty="0">
                <a:solidFill>
                  <a:schemeClr val="tx2"/>
                </a:solidFill>
              </a:rPr>
              <a:t>What's going on when we meet   </a:t>
            </a:r>
            <a:pPr indent="0" marL="0">
              <a:buNone/>
            </a:pPr>
            <a:r>
              <a:rPr lang="en-US" sz="1600" dirty="0">
                <a:solidFill>
                  <a:srgbClr val="3E4A42"/>
                </a:solidFill>
              </a:rPr>
              <a:t>What are the moving parts of any get-together?</a:t>
            </a:r>
            <a:endParaRPr lang="en-US" sz="1600" dirty="0"/>
          </a:p>
        </p:txBody>
      </p:sp>
      <p:sp>
        <p:nvSpPr>
          <p:cNvPr id="15" name="Text 12"/>
          <p:cNvSpPr/>
          <p:nvPr/>
        </p:nvSpPr>
        <p:spPr>
          <a:xfrm>
            <a:off x="1691640" y="4069080"/>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16" name="Text 13"/>
          <p:cNvSpPr txBox="1"/>
          <p:nvPr/>
        </p:nvSpPr>
        <p:spPr>
          <a:xfrm>
            <a:off x="2240280" y="4069080"/>
            <a:ext cx="8595360" cy="411480"/>
          </a:xfrm>
          <a:prstGeom prst="rect">
            <a:avLst/>
          </a:prstGeom>
          <a:noFill/>
          <a:ln/>
        </p:spPr>
        <p:txBody>
          <a:bodyPr wrap="square" lIns="0" tIns="0" rIns="0" bIns="0" rtlCol="0" anchor="ctr"/>
          <a:lstStyle/>
          <a:p>
            <a:pPr indent="0" marL="0">
              <a:buNone/>
            </a:pPr>
            <a:r>
              <a:rPr lang="en-US" sz="1600" b="1" dirty="0">
                <a:solidFill>
                  <a:schemeClr val="tx2"/>
                </a:solidFill>
              </a:rPr>
              <a:t>The house rules   </a:t>
            </a:r>
            <a:pPr indent="0" marL="0">
              <a:buNone/>
            </a:pPr>
            <a:r>
              <a:rPr lang="en-US" sz="1600" dirty="0">
                <a:solidFill>
                  <a:srgbClr val="3E4A42"/>
                </a:solidFill>
              </a:rPr>
              <a:t>Which rule shapes which part?</a:t>
            </a:r>
            <a:endParaRPr lang="en-US" sz="1600" dirty="0"/>
          </a:p>
        </p:txBody>
      </p:sp>
      <p:sp>
        <p:nvSpPr>
          <p:cNvPr id="17" name="Text 14"/>
          <p:cNvSpPr/>
          <p:nvPr/>
        </p:nvSpPr>
        <p:spPr>
          <a:xfrm>
            <a:off x="1920240" y="4590288"/>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18" name="Text 15"/>
          <p:cNvSpPr txBox="1"/>
          <p:nvPr/>
        </p:nvSpPr>
        <p:spPr>
          <a:xfrm>
            <a:off x="2468880" y="4590288"/>
            <a:ext cx="8595360" cy="411480"/>
          </a:xfrm>
          <a:prstGeom prst="rect">
            <a:avLst/>
          </a:prstGeom>
          <a:noFill/>
          <a:ln/>
        </p:spPr>
        <p:txBody>
          <a:bodyPr wrap="square" lIns="0" tIns="0" rIns="0" bIns="0" rtlCol="0" anchor="ctr"/>
          <a:lstStyle/>
          <a:p>
            <a:pPr indent="0" marL="0">
              <a:buNone/>
            </a:pPr>
            <a:r>
              <a:rPr lang="en-US" sz="1600" b="1" dirty="0">
                <a:solidFill>
                  <a:schemeClr val="tx2"/>
                </a:solidFill>
              </a:rPr>
              <a:t>What long-lasting groups do   </a:t>
            </a:r>
            <a:pPr indent="0" marL="0">
              <a:buNone/>
            </a:pPr>
            <a:r>
              <a:rPr lang="en-US" sz="1600" dirty="0">
                <a:solidFill>
                  <a:srgbClr val="3E4A42"/>
                </a:solidFill>
              </a:rPr>
              <a:t>What do groups that last a long time have in common?</a:t>
            </a:r>
            <a:endParaRPr lang="en-US" sz="1600" dirty="0"/>
          </a:p>
        </p:txBody>
      </p:sp>
      <p:sp>
        <p:nvSpPr>
          <p:cNvPr id="19" name="Text 16"/>
          <p:cNvSpPr/>
          <p:nvPr/>
        </p:nvSpPr>
        <p:spPr>
          <a:xfrm>
            <a:off x="2148840" y="5111496"/>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20" name="Text 17"/>
          <p:cNvSpPr txBox="1"/>
          <p:nvPr/>
        </p:nvSpPr>
        <p:spPr>
          <a:xfrm>
            <a:off x="2697480" y="5111496"/>
            <a:ext cx="8595360" cy="411480"/>
          </a:xfrm>
          <a:prstGeom prst="rect">
            <a:avLst/>
          </a:prstGeom>
          <a:noFill/>
          <a:ln/>
        </p:spPr>
        <p:txBody>
          <a:bodyPr wrap="square" lIns="0" tIns="0" rIns="0" bIns="0" rtlCol="0" anchor="ctr"/>
          <a:lstStyle/>
          <a:p>
            <a:pPr indent="0" marL="0">
              <a:buNone/>
            </a:pPr>
            <a:r>
              <a:rPr lang="en-US" sz="1600" b="1" dirty="0">
                <a:solidFill>
                  <a:schemeClr val="tx2"/>
                </a:solidFill>
              </a:rPr>
              <a:t>How a rule is put together   </a:t>
            </a:r>
            <a:pPr indent="0" marL="0">
              <a:buNone/>
            </a:pPr>
            <a:r>
              <a:rPr lang="en-US" sz="1600" dirty="0">
                <a:solidFill>
                  <a:srgbClr val="3E4A42"/>
                </a:solidFill>
              </a:rPr>
              <a:t>What are the parts of one rule?</a:t>
            </a:r>
            <a:endParaRPr lang="en-US" sz="1600" dirty="0"/>
          </a:p>
        </p:txBody>
      </p:sp>
      <p:sp>
        <p:nvSpPr>
          <p:cNvPr id="21" name="Text 18"/>
          <p:cNvSpPr/>
          <p:nvPr/>
        </p:nvSpPr>
        <p:spPr>
          <a:xfrm>
            <a:off x="2377440" y="5632704"/>
            <a:ext cx="411480" cy="41148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9</a:t>
            </a:r>
            <a:endParaRPr lang="en-US" sz="1500" dirty="0"/>
          </a:p>
        </p:txBody>
      </p:sp>
      <p:sp>
        <p:nvSpPr>
          <p:cNvPr id="22" name="Text 19"/>
          <p:cNvSpPr txBox="1"/>
          <p:nvPr/>
        </p:nvSpPr>
        <p:spPr>
          <a:xfrm>
            <a:off x="2926080" y="5632704"/>
            <a:ext cx="8595360" cy="411480"/>
          </a:xfrm>
          <a:prstGeom prst="rect">
            <a:avLst/>
          </a:prstGeom>
          <a:noFill/>
          <a:ln/>
        </p:spPr>
        <p:txBody>
          <a:bodyPr wrap="square" lIns="0" tIns="0" rIns="0" bIns="0" rtlCol="0" anchor="ctr"/>
          <a:lstStyle/>
          <a:p>
            <a:pPr indent="0" marL="0">
              <a:buNone/>
            </a:pPr>
            <a:r>
              <a:rPr lang="en-US" sz="1600" b="1" dirty="0">
                <a:solidFill>
                  <a:schemeClr val="tx2"/>
                </a:solidFill>
              </a:rPr>
              <a:t>Do I do my share?   </a:t>
            </a:r>
            <a:pPr indent="0" marL="0">
              <a:buNone/>
            </a:pPr>
            <a:r>
              <a:rPr lang="en-US" sz="1600" dirty="0">
                <a:solidFill>
                  <a:srgbClr val="3E4A42"/>
                </a:solidFill>
              </a:rPr>
              <a:t>Why would I do my share?</a:t>
            </a:r>
            <a:endParaRPr lang="en-US" sz="1600" dirty="0"/>
          </a:p>
        </p:txBody>
      </p:sp>
      <p:sp>
        <p:nvSpPr>
          <p:cNvPr id="23" name="Text 20"/>
          <p:cNvSpPr txBox="1"/>
          <p:nvPr/>
        </p:nvSpPr>
        <p:spPr>
          <a:xfrm>
            <a:off x="9966960" y="1463040"/>
            <a:ext cx="1645920" cy="411480"/>
          </a:xfrm>
          <a:prstGeom prst="rect">
            <a:avLst/>
          </a:prstGeom>
          <a:noFill/>
          <a:ln/>
        </p:spPr>
        <p:txBody>
          <a:bodyPr wrap="square" lIns="0" tIns="0" rIns="0" bIns="0" rtlCol="0" anchor="ctr"/>
          <a:lstStyle/>
          <a:p>
            <a:pPr algn="r" indent="0" marL="0">
              <a:buNone/>
            </a:pPr>
            <a:r>
              <a:rPr lang="en-US" sz="1300" i="1" dirty="0">
                <a:solidFill>
                  <a:srgbClr val="5B6B60"/>
                </a:solidFill>
              </a:rPr>
              <a:t>widest</a:t>
            </a:r>
            <a:endParaRPr lang="en-US" sz="1300" dirty="0"/>
          </a:p>
        </p:txBody>
      </p:sp>
      <p:sp>
        <p:nvSpPr>
          <p:cNvPr id="24" name="Text 21"/>
          <p:cNvSpPr txBox="1"/>
          <p:nvPr/>
        </p:nvSpPr>
        <p:spPr>
          <a:xfrm>
            <a:off x="9966960" y="5632704"/>
            <a:ext cx="1645920" cy="411480"/>
          </a:xfrm>
          <a:prstGeom prst="rect">
            <a:avLst/>
          </a:prstGeom>
          <a:noFill/>
          <a:ln/>
        </p:spPr>
        <p:txBody>
          <a:bodyPr wrap="square" lIns="0" tIns="0" rIns="0" bIns="0" rtlCol="0" anchor="ctr"/>
          <a:lstStyle/>
          <a:p>
            <a:pPr algn="r" indent="0" marL="0">
              <a:buNone/>
            </a:pPr>
            <a:r>
              <a:rPr lang="en-US" sz="1300" i="1" dirty="0">
                <a:solidFill>
                  <a:srgbClr val="5B6B60"/>
                </a:solidFill>
              </a:rPr>
              <a:t>one person</a:t>
            </a:r>
            <a:endParaRPr lang="en-US" sz="13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OPENING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One example all the way down: the Elm Street garden</a:t>
            </a:r>
            <a:endParaRPr lang="en-US" sz="3200" dirty="0"/>
          </a:p>
        </p:txBody>
      </p:sp>
      <p:sp>
        <p:nvSpPr>
          <p:cNvPr id="5" name="card 30 plots, one water tank"/>
          <p:cNvSpPr/>
          <p:nvPr/>
        </p:nvSpPr>
        <p:spPr>
          <a:xfrm>
            <a:off x="548640" y="1554480"/>
            <a:ext cx="5440680" cy="2103120"/>
          </a:xfrm>
          <a:prstGeom prst="roundRect">
            <a:avLst>
              <a:gd name="adj" fmla="val 3478"/>
            </a:avLst>
          </a:prstGeom>
          <a:solidFill>
            <a:schemeClr val="bg2"/>
          </a:solidFill>
          <a:ln w="12700">
            <a:solidFill>
              <a:schemeClr val="bg2"/>
            </a:solidFill>
            <a:prstDash val="solid"/>
          </a:ln>
        </p:spPr>
      </p:sp>
      <p:sp>
        <p:nvSpPr>
          <p:cNvPr id="6" name="Text 3"/>
          <p:cNvSpPr txBox="1"/>
          <p:nvPr/>
        </p:nvSpPr>
        <p:spPr>
          <a:xfrm>
            <a:off x="685800" y="1645920"/>
            <a:ext cx="5166360" cy="1920240"/>
          </a:xfrm>
          <a:prstGeom prst="rect">
            <a:avLst/>
          </a:prstGeom>
          <a:noFill/>
          <a:ln/>
        </p:spPr>
        <p:txBody>
          <a:bodyPr wrap="square" lIns="0" tIns="0" rIns="0" bIns="0" rtlCol="0" anchor="t"/>
          <a:lstStyle/>
          <a:p>
            <a:pPr indent="0" marL="0">
              <a:spcAft>
                <a:spcPts val="400"/>
              </a:spcAft>
              <a:buNone/>
            </a:pPr>
            <a:r>
              <a:rPr lang="en-US" sz="2000" b="1" dirty="0">
                <a:solidFill>
                  <a:schemeClr val="tx2"/>
                </a:solidFill>
              </a:rPr>
              <a:t>30 plots, one water tank</a:t>
            </a:r>
            <a:endParaRPr lang="en-US" sz="2000" dirty="0"/>
          </a:p>
          <a:p>
            <a:pPr indent="0" marL="0">
              <a:spcAft>
                <a:spcPts val="400"/>
              </a:spcAft>
              <a:buNone/>
            </a:pPr>
            <a:r>
              <a:rPr lang="en-US" sz="1700" dirty="0">
                <a:solidFill>
                  <a:schemeClr val="tx1"/>
                </a:solidFill>
              </a:rPr>
              <a:t>The garden shares a single rain-fed tank. In a dry summer there is not enough for everyone.</a:t>
            </a:r>
            <a:endParaRPr lang="en-US" sz="2000" dirty="0"/>
          </a:p>
        </p:txBody>
      </p:sp>
      <p:sp>
        <p:nvSpPr>
          <p:cNvPr id="7" name="card A written bylaw"/>
          <p:cNvSpPr/>
          <p:nvPr/>
        </p:nvSpPr>
        <p:spPr>
          <a:xfrm>
            <a:off x="6172200" y="1554480"/>
            <a:ext cx="5440680" cy="2103120"/>
          </a:xfrm>
          <a:prstGeom prst="roundRect">
            <a:avLst>
              <a:gd name="adj" fmla="val 3478"/>
            </a:avLst>
          </a:prstGeom>
          <a:solidFill>
            <a:schemeClr val="bg2"/>
          </a:solidFill>
          <a:ln w="12700">
            <a:solidFill>
              <a:schemeClr val="bg2"/>
            </a:solidFill>
            <a:prstDash val="solid"/>
          </a:ln>
        </p:spPr>
      </p:sp>
      <p:sp>
        <p:nvSpPr>
          <p:cNvPr id="8" name="Text 5"/>
          <p:cNvSpPr txBox="1"/>
          <p:nvPr/>
        </p:nvSpPr>
        <p:spPr>
          <a:xfrm>
            <a:off x="6309360" y="1645920"/>
            <a:ext cx="5166360" cy="1920240"/>
          </a:xfrm>
          <a:prstGeom prst="rect">
            <a:avLst/>
          </a:prstGeom>
          <a:noFill/>
          <a:ln/>
        </p:spPr>
        <p:txBody>
          <a:bodyPr wrap="square" lIns="0" tIns="0" rIns="0" bIns="0" rtlCol="0" anchor="t"/>
          <a:lstStyle/>
          <a:p>
            <a:pPr indent="0" marL="0">
              <a:spcAft>
                <a:spcPts val="400"/>
              </a:spcAft>
              <a:buNone/>
            </a:pPr>
            <a:r>
              <a:rPr lang="en-US" sz="2000" b="1" dirty="0">
                <a:solidFill>
                  <a:schemeClr val="tx2"/>
                </a:solidFill>
              </a:rPr>
              <a:t>A written bylaw</a:t>
            </a:r>
            <a:endParaRPr lang="en-US" sz="2000" dirty="0"/>
          </a:p>
          <a:p>
            <a:pPr indent="0" marL="0">
              <a:spcAft>
                <a:spcPts val="400"/>
              </a:spcAft>
              <a:buNone/>
            </a:pPr>
            <a:r>
              <a:rPr lang="en-US" sz="1700" dirty="0">
                <a:solidFill>
                  <a:schemeClr val="tx1"/>
                </a:solidFill>
              </a:rPr>
              <a:t>Everyone has watering days. No sprinklers when the tank is below half.</a:t>
            </a:r>
            <a:endParaRPr lang="en-US" sz="2000" dirty="0"/>
          </a:p>
        </p:txBody>
      </p:sp>
      <p:sp>
        <p:nvSpPr>
          <p:cNvPr id="9" name="card A water keeper"/>
          <p:cNvSpPr/>
          <p:nvPr/>
        </p:nvSpPr>
        <p:spPr>
          <a:xfrm>
            <a:off x="548640" y="3886200"/>
            <a:ext cx="5440680" cy="2103120"/>
          </a:xfrm>
          <a:prstGeom prst="roundRect">
            <a:avLst>
              <a:gd name="adj" fmla="val 3478"/>
            </a:avLst>
          </a:prstGeom>
          <a:solidFill>
            <a:schemeClr val="bg2"/>
          </a:solidFill>
          <a:ln w="12700">
            <a:solidFill>
              <a:schemeClr val="bg2"/>
            </a:solidFill>
            <a:prstDash val="solid"/>
          </a:ln>
        </p:spPr>
      </p:sp>
      <p:sp>
        <p:nvSpPr>
          <p:cNvPr id="10" name="Text 7"/>
          <p:cNvSpPr txBox="1"/>
          <p:nvPr/>
        </p:nvSpPr>
        <p:spPr>
          <a:xfrm>
            <a:off x="685800" y="3977640"/>
            <a:ext cx="5166360" cy="1920240"/>
          </a:xfrm>
          <a:prstGeom prst="rect">
            <a:avLst/>
          </a:prstGeom>
          <a:noFill/>
          <a:ln/>
        </p:spPr>
        <p:txBody>
          <a:bodyPr wrap="square" lIns="0" tIns="0" rIns="0" bIns="0" rtlCol="0" anchor="t"/>
          <a:lstStyle/>
          <a:p>
            <a:pPr indent="0" marL="0">
              <a:spcAft>
                <a:spcPts val="400"/>
              </a:spcAft>
              <a:buNone/>
            </a:pPr>
            <a:r>
              <a:rPr lang="en-US" sz="2000" b="1" dirty="0">
                <a:solidFill>
                  <a:schemeClr val="tx2"/>
                </a:solidFill>
              </a:rPr>
              <a:t>A water keeper</a:t>
            </a:r>
            <a:endParaRPr lang="en-US" sz="2000" dirty="0"/>
          </a:p>
          <a:p>
            <a:pPr indent="0" marL="0">
              <a:spcAft>
                <a:spcPts val="400"/>
              </a:spcAft>
              <a:buNone/>
            </a:pPr>
            <a:r>
              <a:rPr lang="en-US" sz="1700" dirty="0">
                <a:solidFill>
                  <a:schemeClr val="tx1"/>
                </a:solidFill>
              </a:rPr>
              <a:t>A gardener chosen each spring to keep an eye on the tank and on the watering.</a:t>
            </a:r>
            <a:endParaRPr lang="en-US" sz="2000" dirty="0"/>
          </a:p>
        </p:txBody>
      </p:sp>
      <p:sp>
        <p:nvSpPr>
          <p:cNvPr id="11" name="card A spring meeting"/>
          <p:cNvSpPr/>
          <p:nvPr/>
        </p:nvSpPr>
        <p:spPr>
          <a:xfrm>
            <a:off x="6172200" y="3886200"/>
            <a:ext cx="5440680" cy="2103120"/>
          </a:xfrm>
          <a:prstGeom prst="roundRect">
            <a:avLst>
              <a:gd name="adj" fmla="val 3478"/>
            </a:avLst>
          </a:prstGeom>
          <a:solidFill>
            <a:schemeClr val="bg2"/>
          </a:solidFill>
          <a:ln w="12700">
            <a:solidFill>
              <a:schemeClr val="bg2"/>
            </a:solidFill>
            <a:prstDash val="solid"/>
          </a:ln>
        </p:spPr>
      </p:sp>
      <p:sp>
        <p:nvSpPr>
          <p:cNvPr id="12" name="Text 9"/>
          <p:cNvSpPr txBox="1"/>
          <p:nvPr/>
        </p:nvSpPr>
        <p:spPr>
          <a:xfrm>
            <a:off x="6309360" y="3977640"/>
            <a:ext cx="5166360" cy="1920240"/>
          </a:xfrm>
          <a:prstGeom prst="rect">
            <a:avLst/>
          </a:prstGeom>
          <a:noFill/>
          <a:ln/>
        </p:spPr>
        <p:txBody>
          <a:bodyPr wrap="square" lIns="0" tIns="0" rIns="0" bIns="0" rtlCol="0" anchor="t"/>
          <a:lstStyle/>
          <a:p>
            <a:pPr indent="0" marL="0">
              <a:spcAft>
                <a:spcPts val="400"/>
              </a:spcAft>
              <a:buNone/>
            </a:pPr>
            <a:r>
              <a:rPr lang="en-US" sz="2000" b="1" dirty="0">
                <a:solidFill>
                  <a:schemeClr val="tx2"/>
                </a:solidFill>
              </a:rPr>
              <a:t>A spring meeting</a:t>
            </a:r>
            <a:endParaRPr lang="en-US" sz="2000" dirty="0"/>
          </a:p>
          <a:p>
            <a:pPr indent="0" marL="0">
              <a:spcAft>
                <a:spcPts val="400"/>
              </a:spcAft>
              <a:buNone/>
            </a:pPr>
            <a:r>
              <a:rPr lang="en-US" sz="1700" dirty="0">
                <a:solidFill>
                  <a:schemeClr val="tx1"/>
                </a:solidFill>
              </a:rPr>
              <a:t>Where the gardeners change their rules. The city leases them the land.</a:t>
            </a:r>
            <a:endParaRPr lang="en-US" sz="20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The people and the place</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Nothing shared stands alone. It sits among people, a place, some rules, and the wider world.</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1   The people and the place</a:t>
            </a:r>
            <a:endParaRPr lang="en-US" sz="1500" dirty="0"/>
          </a:p>
        </p:txBody>
      </p:sp>
      <p:sp>
        <p:nvSpPr>
          <p:cNvPr id="6" name="rung 2"/>
          <p:cNvSpPr/>
          <p:nvPr/>
        </p:nvSpPr>
        <p:spPr>
          <a:xfrm>
            <a:off x="7333488" y="1444752"/>
            <a:ext cx="418795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2   What we're sharing</a:t>
            </a:r>
            <a:endParaRPr lang="en-US" sz="1500" dirty="0"/>
          </a:p>
        </p:txBody>
      </p:sp>
      <p:sp>
        <p:nvSpPr>
          <p:cNvPr id="7" name="rung 3"/>
          <p:cNvSpPr/>
          <p:nvPr/>
        </p:nvSpPr>
        <p:spPr>
          <a:xfrm>
            <a:off x="7443216" y="1975104"/>
            <a:ext cx="407822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3   Where we meet and choose</a:t>
            </a:r>
            <a:endParaRPr lang="en-US" sz="1500" dirty="0"/>
          </a:p>
        </p:txBody>
      </p:sp>
      <p:sp>
        <p:nvSpPr>
          <p:cNvPr id="8" name="rung 4"/>
          <p:cNvSpPr/>
          <p:nvPr/>
        </p:nvSpPr>
        <p:spPr>
          <a:xfrm>
            <a:off x="7552944" y="2505456"/>
            <a:ext cx="396849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4   Who sets the rules</a:t>
            </a:r>
            <a:endParaRPr lang="en-US" sz="1500" dirty="0"/>
          </a:p>
        </p:txBody>
      </p:sp>
      <p:sp>
        <p:nvSpPr>
          <p:cNvPr id="9" name="rung 5"/>
          <p:cNvSpPr/>
          <p:nvPr/>
        </p:nvSpPr>
        <p:spPr>
          <a:xfrm>
            <a:off x="7662672" y="3035808"/>
            <a:ext cx="3858768"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5   What's going on when we meet</a:t>
            </a:r>
            <a:endParaRPr lang="en-US" sz="1500" dirty="0"/>
          </a:p>
        </p:txBody>
      </p:sp>
      <p:sp>
        <p:nvSpPr>
          <p:cNvPr id="10" name="rung 6"/>
          <p:cNvSpPr/>
          <p:nvPr/>
        </p:nvSpPr>
        <p:spPr>
          <a:xfrm>
            <a:off x="7772400" y="3566160"/>
            <a:ext cx="374904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6   The house rules</a:t>
            </a:r>
            <a:endParaRPr lang="en-US" sz="1500" dirty="0"/>
          </a:p>
        </p:txBody>
      </p:sp>
      <p:sp>
        <p:nvSpPr>
          <p:cNvPr id="11" name="rung 7"/>
          <p:cNvSpPr/>
          <p:nvPr/>
        </p:nvSpPr>
        <p:spPr>
          <a:xfrm>
            <a:off x="7882128" y="4096512"/>
            <a:ext cx="363931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7   What long-lasting groups do</a:t>
            </a:r>
            <a:endParaRPr lang="en-US" sz="1500" dirty="0"/>
          </a:p>
        </p:txBody>
      </p:sp>
      <p:sp>
        <p:nvSpPr>
          <p:cNvPr id="12" name="rung 8"/>
          <p:cNvSpPr/>
          <p:nvPr/>
        </p:nvSpPr>
        <p:spPr>
          <a:xfrm>
            <a:off x="7991856" y="4626864"/>
            <a:ext cx="352958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8   How a rule is put together</a:t>
            </a:r>
            <a:endParaRPr lang="en-US" sz="1500" dirty="0"/>
          </a:p>
        </p:txBody>
      </p:sp>
      <p:sp>
        <p:nvSpPr>
          <p:cNvPr id="13" name="rung 9"/>
          <p:cNvSpPr/>
          <p:nvPr/>
        </p:nvSpPr>
        <p:spPr>
          <a:xfrm>
            <a:off x="8101584" y="5157216"/>
            <a:ext cx="341985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9   Do I do my share?</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1 · THE PEOPLE AND THE PLACE · YOU ALREADY KNOW THIS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Think of the office fridge</a:t>
            </a:r>
            <a:endParaRPr lang="en-US" sz="3200" dirty="0"/>
          </a:p>
        </p:txBody>
      </p:sp>
      <p:sp>
        <p:nvSpPr>
          <p:cNvPr id="5" name="card The office fridge"/>
          <p:cNvSpPr/>
          <p:nvPr/>
        </p:nvSpPr>
        <p:spPr>
          <a:xfrm>
            <a:off x="548640" y="1463040"/>
            <a:ext cx="5120640" cy="4754880"/>
          </a:xfrm>
          <a:prstGeom prst="roundRect">
            <a:avLst>
              <a:gd name="adj" fmla="val 1538"/>
            </a:avLst>
          </a:prstGeom>
          <a:solidFill>
            <a:srgbClr val="FBF3E6"/>
          </a:solidFill>
          <a:ln w="12700">
            <a:solidFill>
              <a:srgbClr val="FBF3E6"/>
            </a:solidFill>
            <a:prstDash val="solid"/>
          </a:ln>
        </p:spPr>
      </p:sp>
      <p:sp>
        <p:nvSpPr>
          <p:cNvPr id="6" name="Text 3"/>
          <p:cNvSpPr txBox="1"/>
          <p:nvPr/>
        </p:nvSpPr>
        <p:spPr>
          <a:xfrm>
            <a:off x="685800" y="1554480"/>
            <a:ext cx="4846320" cy="457200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The office fridge</a:t>
            </a:r>
            <a:endParaRPr lang="en-US" sz="2000" dirty="0"/>
          </a:p>
          <a:p>
            <a:pPr indent="0" marL="0">
              <a:spcAft>
                <a:spcPts val="400"/>
              </a:spcAft>
              <a:buNone/>
            </a:pPr>
            <a:r>
              <a:rPr lang="en-US" sz="1700" dirty="0">
                <a:solidFill>
                  <a:schemeClr val="tx1"/>
                </a:solidFill>
              </a:rPr>
              <a:t>Whether it stays clean depends on the fridge itself, how big it is, how many people use it, the sign on the door, who cleans it on Fridays, and the building it sits in. When it gets gross, people change the sign, or start a cleaning rota.</a:t>
            </a:r>
            <a:endParaRPr lang="en-US" sz="2000" dirty="0"/>
          </a:p>
        </p:txBody>
      </p:sp>
      <p:sp>
        <p:nvSpPr>
          <p:cNvPr id="7" name="Text 4"/>
          <p:cNvSpPr/>
          <p:nvPr/>
        </p:nvSpPr>
        <p:spPr>
          <a:xfrm>
            <a:off x="5989320" y="146304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Text 5"/>
          <p:cNvSpPr txBox="1"/>
          <p:nvPr/>
        </p:nvSpPr>
        <p:spPr>
          <a:xfrm>
            <a:off x="6629400" y="1481328"/>
            <a:ext cx="4983480" cy="149352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Every shared thing has four sides: the thing itself, the bits people take from it, the people, and the rules.</a:t>
            </a:r>
            <a:endParaRPr lang="en-US" sz="1700" dirty="0"/>
          </a:p>
        </p:txBody>
      </p:sp>
      <p:sp>
        <p:nvSpPr>
          <p:cNvPr id="9" name="Text 6"/>
          <p:cNvSpPr/>
          <p:nvPr/>
        </p:nvSpPr>
        <p:spPr>
          <a:xfrm>
            <a:off x="5989320" y="304800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7"/>
          <p:cNvSpPr txBox="1"/>
          <p:nvPr/>
        </p:nvSpPr>
        <p:spPr>
          <a:xfrm>
            <a:off x="6629400" y="3066288"/>
            <a:ext cx="4983480" cy="149352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They all push on each other. What people do changes the thing; the state of the thing changes what people do.</a:t>
            </a:r>
            <a:endParaRPr lang="en-US" sz="1700" dirty="0"/>
          </a:p>
        </p:txBody>
      </p:sp>
      <p:sp>
        <p:nvSpPr>
          <p:cNvPr id="11" name="Text 8"/>
          <p:cNvSpPr/>
          <p:nvPr/>
        </p:nvSpPr>
        <p:spPr>
          <a:xfrm>
            <a:off x="5989320" y="463296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9"/>
          <p:cNvSpPr txBox="1"/>
          <p:nvPr/>
        </p:nvSpPr>
        <p:spPr>
          <a:xfrm>
            <a:off x="6629400" y="4651248"/>
            <a:ext cx="4983480" cy="149352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Around it all is a wider world: money, laws, the weather, the neighborhood.</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1 · THE PEOPLE AND THE PLACE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The thing we share, the people, the rules, and the world around them</a:t>
            </a:r>
            <a:endParaRPr lang="en-US" sz="3200" dirty="0"/>
          </a:p>
        </p:txBody>
      </p:sp>
      <p:pic>
        <p:nvPicPr>
          <p:cNvPr id="5" name="Image 0" descr="The thing we share, the people, the rules, and the world around them">    </p:cNvPr>
          <p:cNvPicPr>
            <a:picLocks noChangeAspect="1"/>
          </p:cNvPicPr>
          <p:nvPr/>
        </p:nvPicPr>
        <p:blipFill>
          <a:blip r:embed="rId1"/>
          <a:stretch>
            <a:fillRect/>
          </a:stretch>
        </p:blipFill>
        <p:spPr>
          <a:xfrm>
            <a:off x="1673134" y="1417320"/>
            <a:ext cx="5157651" cy="4709160"/>
          </a:xfrm>
          <a:prstGeom prst="rect">
            <a:avLst/>
          </a:prstGeom>
        </p:spPr>
      </p:pic>
      <p:sp>
        <p:nvSpPr>
          <p:cNvPr id="6" name="Text 2"/>
          <p:cNvSpPr txBox="1"/>
          <p:nvPr/>
        </p:nvSpPr>
        <p:spPr>
          <a:xfrm>
            <a:off x="1673134" y="6172200"/>
            <a:ext cx="5157651" cy="274320"/>
          </a:xfrm>
          <a:prstGeom prst="rect">
            <a:avLst/>
          </a:prstGeom>
          <a:noFill/>
          <a:ln/>
        </p:spPr>
        <p:txBody>
          <a:bodyPr wrap="square" lIns="0" tIns="0" rIns="0" bIns="0" rtlCol="0" anchor="ctr"/>
          <a:lstStyle/>
          <a:p>
            <a:pPr indent="0" marL="0">
              <a:buNone/>
            </a:pPr>
            <a:r>
              <a:rPr lang="en-US" sz="1000" i="1" dirty="0">
                <a:solidFill>
                  <a:srgbClr val="5B6B60"/>
                </a:solidFill>
              </a:rPr>
              <a:t>Ostrom 2010, Figure 6, adapted from Ostrom 2007</a:t>
            </a:r>
            <a:endParaRPr lang="en-US" sz="1000" dirty="0"/>
          </a:p>
        </p:txBody>
      </p:sp>
      <p:sp>
        <p:nvSpPr>
          <p:cNvPr id="7" name="reading panel"/>
          <p:cNvSpPr/>
          <p:nvPr/>
        </p:nvSpPr>
        <p:spPr>
          <a:xfrm>
            <a:off x="8321040" y="1417320"/>
            <a:ext cx="3429000" cy="4846320"/>
          </a:xfrm>
          <a:prstGeom prst="roundRect">
            <a:avLst>
              <a:gd name="adj" fmla="val 2133"/>
            </a:avLst>
          </a:prstGeom>
          <a:solidFill>
            <a:schemeClr val="bg2"/>
          </a:solidFill>
          <a:ln w="12700">
            <a:solidFill>
              <a:schemeClr val="bg2"/>
            </a:solidFill>
            <a:prstDash val="solid"/>
          </a:ln>
        </p:spPr>
      </p:sp>
      <p:sp>
        <p:nvSpPr>
          <p:cNvPr id="8" name="Text 4"/>
          <p:cNvSpPr txBox="1"/>
          <p:nvPr/>
        </p:nvSpPr>
        <p:spPr>
          <a:xfrm>
            <a:off x="8503920" y="1554480"/>
            <a:ext cx="31089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READING THE PICTURE</a:t>
            </a:r>
            <a:endParaRPr lang="en-US" sz="1200" dirty="0"/>
          </a:p>
        </p:txBody>
      </p:sp>
      <p:sp>
        <p:nvSpPr>
          <p:cNvPr id="9" name="Text 5"/>
          <p:cNvSpPr txBox="1"/>
          <p:nvPr/>
        </p:nvSpPr>
        <p:spPr>
          <a:xfrm>
            <a:off x="8503920" y="1920240"/>
            <a:ext cx="3108960" cy="4251960"/>
          </a:xfrm>
          <a:prstGeom prst="rect">
            <a:avLst/>
          </a:prstGeom>
          <a:noFill/>
          <a:ln/>
        </p:spPr>
        <p:txBody>
          <a:bodyPr wrap="square" lIns="0" tIns="0" rIns="0" bIns="0" rtlCol="0" anchor="t"/>
          <a:lstStyle/>
          <a:p>
            <a:pPr marL="190500" indent="-190500">
              <a:spcAft>
                <a:spcPts val="800"/>
              </a:spcAft>
              <a:buSzPct val="100000"/>
              <a:buChar char="•"/>
            </a:pPr>
            <a:r>
              <a:rPr lang="en-US" sz="1400" dirty="0">
                <a:solidFill>
                  <a:schemeClr val="tx1"/>
                </a:solidFill>
              </a:rPr>
              <a:t>Four corners: the shared thing (top left), what people take from it (bottom left), the rules and who makes them (top right), the people (bottom right).</a:t>
            </a:r>
            <a:endParaRPr lang="en-US" sz="1400" dirty="0"/>
          </a:p>
          <a:p>
            <a:pPr marL="190500" indent="-190500">
              <a:spcAft>
                <a:spcPts val="800"/>
              </a:spcAft>
              <a:buSzPct val="100000"/>
              <a:buChar char="•"/>
            </a:pPr>
            <a:r>
              <a:rPr lang="en-US" sz="1400" dirty="0">
                <a:solidFill>
                  <a:schemeClr val="tx1"/>
                </a:solidFill>
              </a:rPr>
              <a:t>Middle: where people meet and make choices.</a:t>
            </a:r>
            <a:endParaRPr lang="en-US" sz="1400" dirty="0"/>
          </a:p>
          <a:p>
            <a:pPr marL="190500" indent="-190500">
              <a:spcAft>
                <a:spcPts val="800"/>
              </a:spcAft>
              <a:buSzPct val="100000"/>
              <a:buChar char="•"/>
            </a:pPr>
            <a:r>
              <a:rPr lang="en-US" sz="1400" dirty="0">
                <a:solidFill>
                  <a:schemeClr val="tx1"/>
                </a:solidFill>
              </a:rPr>
              <a:t>Solid arrows: this affects that. Dashed arrows: the results come back around.</a:t>
            </a:r>
            <a:endParaRPr lang="en-US" sz="1400" dirty="0"/>
          </a:p>
          <a:p>
            <a:pPr marL="190500" indent="-190500">
              <a:spcAft>
                <a:spcPts val="800"/>
              </a:spcAft>
              <a:buSzPct val="100000"/>
              <a:buChar char="•"/>
            </a:pPr>
            <a:r>
              <a:rPr lang="en-US" sz="1400" dirty="0">
                <a:solidFill>
                  <a:schemeClr val="tx1"/>
                </a:solidFill>
              </a:rPr>
              <a:t>Above and below: the wider world, and the nature next door.</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1 · THE PEOPLE AND THE PLACE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Reading the picture, in everyday words (1 of 2)</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Each card: the everyday words first, what they mean, and the word Ostrom used.</a:t>
            </a:r>
            <a:endParaRPr lang="en-US" sz="1500" dirty="0"/>
          </a:p>
        </p:txBody>
      </p:sp>
      <p:sp>
        <p:nvSpPr>
          <p:cNvPr id="6" name="card The people and the place, together"/>
          <p:cNvSpPr/>
          <p:nvPr/>
        </p:nvSpPr>
        <p:spPr>
          <a:xfrm>
            <a:off x="548640" y="1828800"/>
            <a:ext cx="5477256" cy="1405128"/>
          </a:xfrm>
          <a:prstGeom prst="roundRect">
            <a:avLst>
              <a:gd name="adj" fmla="val 5206"/>
            </a:avLst>
          </a:prstGeom>
          <a:solidFill>
            <a:schemeClr val="bg2"/>
          </a:solidFill>
          <a:ln w="12700">
            <a:solidFill>
              <a:schemeClr val="bg2"/>
            </a:solidFill>
            <a:prstDash val="solid"/>
          </a:ln>
        </p:spPr>
      </p:sp>
      <p:sp>
        <p:nvSpPr>
          <p:cNvPr id="7" name="Text 4"/>
          <p:cNvSpPr txBox="1"/>
          <p:nvPr/>
        </p:nvSpPr>
        <p:spPr>
          <a:xfrm>
            <a:off x="685800" y="1920240"/>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people and the place, together</a:t>
            </a:r>
            <a:endParaRPr lang="en-US" sz="1500" dirty="0"/>
          </a:p>
          <a:p>
            <a:pPr indent="0" marL="0">
              <a:spcAft>
                <a:spcPts val="400"/>
              </a:spcAft>
              <a:buNone/>
            </a:pPr>
            <a:r>
              <a:rPr lang="en-US" sz="1400" dirty="0">
                <a:solidFill>
                  <a:schemeClr val="tx1"/>
                </a:solidFill>
              </a:rPr>
              <a:t>People and nature tangled up, looked at as one thing rather than two.</a:t>
            </a:r>
            <a:endParaRPr lang="en-US" sz="1500" dirty="0"/>
          </a:p>
          <a:p>
            <a:pPr indent="0" marL="0">
              <a:spcAft>
                <a:spcPts val="400"/>
              </a:spcAft>
              <a:buNone/>
            </a:pPr>
            <a:r>
              <a:rPr lang="en-US" sz="1200" i="1" dirty="0">
                <a:solidFill>
                  <a:srgbClr val="6B7A70"/>
                </a:solidFill>
              </a:rPr>
              <a:t>Ostrom's word: social-ecological system (SES)</a:t>
            </a:r>
            <a:endParaRPr lang="en-US" sz="1500" dirty="0"/>
          </a:p>
        </p:txBody>
      </p:sp>
      <p:sp>
        <p:nvSpPr>
          <p:cNvPr id="8" name="card The shared thing"/>
          <p:cNvSpPr/>
          <p:nvPr/>
        </p:nvSpPr>
        <p:spPr>
          <a:xfrm>
            <a:off x="548640" y="3343656"/>
            <a:ext cx="5477256" cy="1405128"/>
          </a:xfrm>
          <a:prstGeom prst="roundRect">
            <a:avLst>
              <a:gd name="adj" fmla="val 5206"/>
            </a:avLst>
          </a:prstGeom>
          <a:solidFill>
            <a:schemeClr val="bg2"/>
          </a:solidFill>
          <a:ln w="12700">
            <a:solidFill>
              <a:schemeClr val="bg2"/>
            </a:solidFill>
            <a:prstDash val="solid"/>
          </a:ln>
        </p:spPr>
      </p:sp>
      <p:sp>
        <p:nvSpPr>
          <p:cNvPr id="9" name="Text 6"/>
          <p:cNvSpPr txBox="1"/>
          <p:nvPr/>
        </p:nvSpPr>
        <p:spPr>
          <a:xfrm>
            <a:off x="685800" y="3435096"/>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shared thing</a:t>
            </a:r>
            <a:endParaRPr lang="en-US" sz="1500" dirty="0"/>
          </a:p>
          <a:p>
            <a:pPr indent="0" marL="0">
              <a:spcAft>
                <a:spcPts val="400"/>
              </a:spcAft>
              <a:buNone/>
            </a:pPr>
            <a:r>
              <a:rPr lang="en-US" sz="1400" dirty="0">
                <a:solidFill>
                  <a:schemeClr val="tx1"/>
                </a:solidFill>
              </a:rPr>
              <a:t>The garden, the lake, the forest, the fridge, the fund.</a:t>
            </a:r>
            <a:endParaRPr lang="en-US" sz="1500" dirty="0"/>
          </a:p>
          <a:p>
            <a:pPr indent="0" marL="0">
              <a:spcAft>
                <a:spcPts val="400"/>
              </a:spcAft>
              <a:buNone/>
            </a:pPr>
            <a:r>
              <a:rPr lang="en-US" sz="1200" i="1" dirty="0">
                <a:solidFill>
                  <a:srgbClr val="6B7A70"/>
                </a:solidFill>
              </a:rPr>
              <a:t>Ostrom's word: resource system (RS)</a:t>
            </a:r>
            <a:endParaRPr lang="en-US" sz="1500" dirty="0"/>
          </a:p>
        </p:txBody>
      </p:sp>
      <p:sp>
        <p:nvSpPr>
          <p:cNvPr id="10" name="card The bits we take or use"/>
          <p:cNvSpPr/>
          <p:nvPr/>
        </p:nvSpPr>
        <p:spPr>
          <a:xfrm>
            <a:off x="548640" y="4858512"/>
            <a:ext cx="5477256" cy="1405128"/>
          </a:xfrm>
          <a:prstGeom prst="roundRect">
            <a:avLst>
              <a:gd name="adj" fmla="val 5206"/>
            </a:avLst>
          </a:prstGeom>
          <a:solidFill>
            <a:schemeClr val="bg2"/>
          </a:solidFill>
          <a:ln w="12700">
            <a:solidFill>
              <a:schemeClr val="bg2"/>
            </a:solidFill>
            <a:prstDash val="solid"/>
          </a:ln>
        </p:spPr>
      </p:sp>
      <p:sp>
        <p:nvSpPr>
          <p:cNvPr id="11" name="Text 8"/>
          <p:cNvSpPr txBox="1"/>
          <p:nvPr/>
        </p:nvSpPr>
        <p:spPr>
          <a:xfrm>
            <a:off x="685800" y="4949952"/>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bits we take or use</a:t>
            </a:r>
            <a:endParaRPr lang="en-US" sz="1500" dirty="0"/>
          </a:p>
          <a:p>
            <a:pPr indent="0" marL="0">
              <a:spcAft>
                <a:spcPts val="400"/>
              </a:spcAft>
              <a:buNone/>
            </a:pPr>
            <a:r>
              <a:rPr lang="en-US" sz="1400" dirty="0">
                <a:solidFill>
                  <a:schemeClr val="tx1"/>
                </a:solidFill>
              </a:rPr>
              <a:t>Gallons of water, fish, plots, shelf space, hours, dollars.</a:t>
            </a:r>
            <a:endParaRPr lang="en-US" sz="1500" dirty="0"/>
          </a:p>
          <a:p>
            <a:pPr indent="0" marL="0">
              <a:spcAft>
                <a:spcPts val="400"/>
              </a:spcAft>
              <a:buNone/>
            </a:pPr>
            <a:r>
              <a:rPr lang="en-US" sz="1200" i="1" dirty="0">
                <a:solidFill>
                  <a:srgbClr val="6B7A70"/>
                </a:solidFill>
              </a:rPr>
              <a:t>Ostrom's word: resource units (RU)</a:t>
            </a:r>
            <a:endParaRPr lang="en-US" sz="1500" dirty="0"/>
          </a:p>
        </p:txBody>
      </p:sp>
      <p:sp>
        <p:nvSpPr>
          <p:cNvPr id="12" name="card The rules and who makes them"/>
          <p:cNvSpPr/>
          <p:nvPr/>
        </p:nvSpPr>
        <p:spPr>
          <a:xfrm>
            <a:off x="6135624" y="1828800"/>
            <a:ext cx="5477256" cy="1405128"/>
          </a:xfrm>
          <a:prstGeom prst="roundRect">
            <a:avLst>
              <a:gd name="adj" fmla="val 5206"/>
            </a:avLst>
          </a:prstGeom>
          <a:solidFill>
            <a:schemeClr val="bg2"/>
          </a:solidFill>
          <a:ln w="12700">
            <a:solidFill>
              <a:schemeClr val="bg2"/>
            </a:solidFill>
            <a:prstDash val="solid"/>
          </a:ln>
        </p:spPr>
      </p:sp>
      <p:sp>
        <p:nvSpPr>
          <p:cNvPr id="13" name="Text 10"/>
          <p:cNvSpPr txBox="1"/>
          <p:nvPr/>
        </p:nvSpPr>
        <p:spPr>
          <a:xfrm>
            <a:off x="6272784" y="1920240"/>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rules and who makes them</a:t>
            </a:r>
            <a:endParaRPr lang="en-US" sz="1500" dirty="0"/>
          </a:p>
          <a:p>
            <a:pPr indent="0" marL="0">
              <a:spcAft>
                <a:spcPts val="400"/>
              </a:spcAft>
              <a:buNone/>
            </a:pPr>
            <a:r>
              <a:rPr lang="en-US" sz="1400" dirty="0">
                <a:solidFill>
                  <a:schemeClr val="tx1"/>
                </a:solidFill>
              </a:rPr>
              <a:t>The bylaw, the spring meeting, the water keeper, the city.</a:t>
            </a:r>
            <a:endParaRPr lang="en-US" sz="1500" dirty="0"/>
          </a:p>
          <a:p>
            <a:pPr indent="0" marL="0">
              <a:spcAft>
                <a:spcPts val="400"/>
              </a:spcAft>
              <a:buNone/>
            </a:pPr>
            <a:r>
              <a:rPr lang="en-US" sz="1200" i="1" dirty="0">
                <a:solidFill>
                  <a:srgbClr val="6B7A70"/>
                </a:solidFill>
              </a:rPr>
              <a:t>Ostrom's word: governance system (GS)</a:t>
            </a:r>
            <a:endParaRPr lang="en-US" sz="1500" dirty="0"/>
          </a:p>
        </p:txBody>
      </p:sp>
      <p:sp>
        <p:nvSpPr>
          <p:cNvPr id="14" name="card The people who use it"/>
          <p:cNvSpPr/>
          <p:nvPr/>
        </p:nvSpPr>
        <p:spPr>
          <a:xfrm>
            <a:off x="6135624" y="3343656"/>
            <a:ext cx="5477256" cy="1405128"/>
          </a:xfrm>
          <a:prstGeom prst="roundRect">
            <a:avLst>
              <a:gd name="adj" fmla="val 5206"/>
            </a:avLst>
          </a:prstGeom>
          <a:solidFill>
            <a:schemeClr val="bg2"/>
          </a:solidFill>
          <a:ln w="12700">
            <a:solidFill>
              <a:schemeClr val="bg2"/>
            </a:solidFill>
            <a:prstDash val="solid"/>
          </a:ln>
        </p:spPr>
      </p:sp>
      <p:sp>
        <p:nvSpPr>
          <p:cNvPr id="15" name="Text 12"/>
          <p:cNvSpPr txBox="1"/>
          <p:nvPr/>
        </p:nvSpPr>
        <p:spPr>
          <a:xfrm>
            <a:off x="6272784" y="3435096"/>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people who use it</a:t>
            </a:r>
            <a:endParaRPr lang="en-US" sz="1500" dirty="0"/>
          </a:p>
          <a:p>
            <a:pPr indent="0" marL="0">
              <a:spcAft>
                <a:spcPts val="400"/>
              </a:spcAft>
              <a:buNone/>
            </a:pPr>
            <a:r>
              <a:rPr lang="en-US" sz="1400" dirty="0">
                <a:solidFill>
                  <a:schemeClr val="tx1"/>
                </a:solidFill>
              </a:rPr>
              <a:t>Gardeners, coworkers, fishers, neighbors.</a:t>
            </a:r>
            <a:endParaRPr lang="en-US" sz="1500" dirty="0"/>
          </a:p>
          <a:p>
            <a:pPr indent="0" marL="0">
              <a:spcAft>
                <a:spcPts val="400"/>
              </a:spcAft>
              <a:buNone/>
            </a:pPr>
            <a:r>
              <a:rPr lang="en-US" sz="1200" i="1" dirty="0">
                <a:solidFill>
                  <a:srgbClr val="6B7A70"/>
                </a:solidFill>
              </a:rPr>
              <a:t>Ostrom's word: users (U), later "actors"</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1 · THE PEOPLE AND THE PLACE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Reading the picture, in everyday words (2 of 2)</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Each card: the everyday words first, what they mean, and the word Ostrom used.</a:t>
            </a:r>
            <a:endParaRPr lang="en-US" sz="1500" dirty="0"/>
          </a:p>
        </p:txBody>
      </p:sp>
      <p:sp>
        <p:nvSpPr>
          <p:cNvPr id="6" name="card Where we meet and choose"/>
          <p:cNvSpPr/>
          <p:nvPr/>
        </p:nvSpPr>
        <p:spPr>
          <a:xfrm>
            <a:off x="548640" y="1828800"/>
            <a:ext cx="5477256" cy="1405128"/>
          </a:xfrm>
          <a:prstGeom prst="roundRect">
            <a:avLst>
              <a:gd name="adj" fmla="val 5206"/>
            </a:avLst>
          </a:prstGeom>
          <a:solidFill>
            <a:schemeClr val="bg2"/>
          </a:solidFill>
          <a:ln w="12700">
            <a:solidFill>
              <a:schemeClr val="bg2"/>
            </a:solidFill>
            <a:prstDash val="solid"/>
          </a:ln>
        </p:spPr>
      </p:sp>
      <p:sp>
        <p:nvSpPr>
          <p:cNvPr id="7" name="Text 4"/>
          <p:cNvSpPr txBox="1"/>
          <p:nvPr/>
        </p:nvSpPr>
        <p:spPr>
          <a:xfrm>
            <a:off x="685800" y="1920240"/>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Where we meet and choose</a:t>
            </a:r>
            <a:endParaRPr lang="en-US" sz="1500" dirty="0"/>
          </a:p>
          <a:p>
            <a:pPr indent="0" marL="0">
              <a:spcAft>
                <a:spcPts val="400"/>
              </a:spcAft>
              <a:buNone/>
            </a:pPr>
            <a:r>
              <a:rPr lang="en-US" sz="1400" dirty="0">
                <a:solidFill>
                  <a:schemeClr val="tx1"/>
                </a:solidFill>
              </a:rPr>
              <a:t>Any time people get together and make choices that affect each other. Step 3 opens it up.</a:t>
            </a:r>
            <a:endParaRPr lang="en-US" sz="1500" dirty="0"/>
          </a:p>
          <a:p>
            <a:pPr indent="0" marL="0">
              <a:spcAft>
                <a:spcPts val="400"/>
              </a:spcAft>
              <a:buNone/>
            </a:pPr>
            <a:r>
              <a:rPr lang="en-US" sz="1200" i="1" dirty="0">
                <a:solidFill>
                  <a:srgbClr val="6B7A70"/>
                </a:solidFill>
              </a:rPr>
              <a:t>Ostrom's word: action situation</a:t>
            </a:r>
            <a:endParaRPr lang="en-US" sz="1500" dirty="0"/>
          </a:p>
        </p:txBody>
      </p:sp>
      <p:sp>
        <p:nvSpPr>
          <p:cNvPr id="8" name="card What we do, and what comes of it"/>
          <p:cNvSpPr/>
          <p:nvPr/>
        </p:nvSpPr>
        <p:spPr>
          <a:xfrm>
            <a:off x="548640" y="3343656"/>
            <a:ext cx="5477256" cy="1405128"/>
          </a:xfrm>
          <a:prstGeom prst="roundRect">
            <a:avLst>
              <a:gd name="adj" fmla="val 5206"/>
            </a:avLst>
          </a:prstGeom>
          <a:solidFill>
            <a:schemeClr val="bg2"/>
          </a:solidFill>
          <a:ln w="12700">
            <a:solidFill>
              <a:schemeClr val="bg2"/>
            </a:solidFill>
            <a:prstDash val="solid"/>
          </a:ln>
        </p:spPr>
      </p:sp>
      <p:sp>
        <p:nvSpPr>
          <p:cNvPr id="9" name="Text 6"/>
          <p:cNvSpPr txBox="1"/>
          <p:nvPr/>
        </p:nvSpPr>
        <p:spPr>
          <a:xfrm>
            <a:off x="685800" y="3435096"/>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What we do, and what comes of it</a:t>
            </a:r>
            <a:endParaRPr lang="en-US" sz="1500" dirty="0"/>
          </a:p>
          <a:p>
            <a:pPr indent="0" marL="0">
              <a:spcAft>
                <a:spcPts val="400"/>
              </a:spcAft>
              <a:buNone/>
            </a:pPr>
            <a:r>
              <a:rPr lang="en-US" sz="1400" dirty="0">
                <a:solidFill>
                  <a:schemeClr val="tx1"/>
                </a:solidFill>
              </a:rPr>
              <a:t>Taking, sharing news, arguing, pitching in; and how it turns out for people and the place.</a:t>
            </a:r>
            <a:endParaRPr lang="en-US" sz="1500" dirty="0"/>
          </a:p>
          <a:p>
            <a:pPr indent="0" marL="0">
              <a:spcAft>
                <a:spcPts val="400"/>
              </a:spcAft>
              <a:buNone/>
            </a:pPr>
            <a:r>
              <a:rPr lang="en-US" sz="1200" i="1" dirty="0">
                <a:solidFill>
                  <a:srgbClr val="6B7A70"/>
                </a:solidFill>
              </a:rPr>
              <a:t>Ostrom's word: interactions (I), outcomes (O)</a:t>
            </a:r>
            <a:endParaRPr lang="en-US" sz="1500" dirty="0"/>
          </a:p>
        </p:txBody>
      </p:sp>
      <p:sp>
        <p:nvSpPr>
          <p:cNvPr id="10" name="card The wider world"/>
          <p:cNvSpPr/>
          <p:nvPr/>
        </p:nvSpPr>
        <p:spPr>
          <a:xfrm>
            <a:off x="548640" y="4858512"/>
            <a:ext cx="5477256" cy="1405128"/>
          </a:xfrm>
          <a:prstGeom prst="roundRect">
            <a:avLst>
              <a:gd name="adj" fmla="val 5206"/>
            </a:avLst>
          </a:prstGeom>
          <a:solidFill>
            <a:schemeClr val="bg2"/>
          </a:solidFill>
          <a:ln w="12700">
            <a:solidFill>
              <a:schemeClr val="bg2"/>
            </a:solidFill>
            <a:prstDash val="solid"/>
          </a:ln>
        </p:spPr>
      </p:sp>
      <p:sp>
        <p:nvSpPr>
          <p:cNvPr id="11" name="Text 8"/>
          <p:cNvSpPr txBox="1"/>
          <p:nvPr/>
        </p:nvSpPr>
        <p:spPr>
          <a:xfrm>
            <a:off x="685800" y="4949952"/>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wider world</a:t>
            </a:r>
            <a:endParaRPr lang="en-US" sz="1500" dirty="0"/>
          </a:p>
          <a:p>
            <a:pPr indent="0" marL="0">
              <a:spcAft>
                <a:spcPts val="400"/>
              </a:spcAft>
              <a:buNone/>
            </a:pPr>
            <a:r>
              <a:rPr lang="en-US" sz="1400" dirty="0">
                <a:solidFill>
                  <a:schemeClr val="tx1"/>
                </a:solidFill>
              </a:rPr>
              <a:t>The economy, the law, politics, the news, rents.</a:t>
            </a:r>
            <a:endParaRPr lang="en-US" sz="1500" dirty="0"/>
          </a:p>
          <a:p>
            <a:pPr indent="0" marL="0">
              <a:spcAft>
                <a:spcPts val="400"/>
              </a:spcAft>
              <a:buNone/>
            </a:pPr>
            <a:r>
              <a:rPr lang="en-US" sz="1200" i="1" dirty="0">
                <a:solidFill>
                  <a:srgbClr val="6B7A70"/>
                </a:solidFill>
              </a:rPr>
              <a:t>Ostrom's word: social, economic and political settings (S)</a:t>
            </a:r>
            <a:endParaRPr lang="en-US" sz="1500" dirty="0"/>
          </a:p>
        </p:txBody>
      </p:sp>
      <p:sp>
        <p:nvSpPr>
          <p:cNvPr id="12" name="card The nature next door"/>
          <p:cNvSpPr/>
          <p:nvPr/>
        </p:nvSpPr>
        <p:spPr>
          <a:xfrm>
            <a:off x="6135624" y="1828800"/>
            <a:ext cx="5477256" cy="1405128"/>
          </a:xfrm>
          <a:prstGeom prst="roundRect">
            <a:avLst>
              <a:gd name="adj" fmla="val 5206"/>
            </a:avLst>
          </a:prstGeom>
          <a:solidFill>
            <a:schemeClr val="bg2"/>
          </a:solidFill>
          <a:ln w="12700">
            <a:solidFill>
              <a:schemeClr val="bg2"/>
            </a:solidFill>
            <a:prstDash val="solid"/>
          </a:ln>
        </p:spPr>
      </p:sp>
      <p:sp>
        <p:nvSpPr>
          <p:cNvPr id="13" name="Text 10"/>
          <p:cNvSpPr txBox="1"/>
          <p:nvPr/>
        </p:nvSpPr>
        <p:spPr>
          <a:xfrm>
            <a:off x="6272784" y="1920240"/>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nature next door</a:t>
            </a:r>
            <a:endParaRPr lang="en-US" sz="1500" dirty="0"/>
          </a:p>
          <a:p>
            <a:pPr indent="0" marL="0">
              <a:spcAft>
                <a:spcPts val="400"/>
              </a:spcAft>
              <a:buNone/>
            </a:pPr>
            <a:r>
              <a:rPr lang="en-US" sz="1400" dirty="0">
                <a:solidFill>
                  <a:schemeClr val="tx1"/>
                </a:solidFill>
              </a:rPr>
              <a:t>Weather, the watershed, pollution drifting in.</a:t>
            </a:r>
            <a:endParaRPr lang="en-US" sz="1500" dirty="0"/>
          </a:p>
          <a:p>
            <a:pPr indent="0" marL="0">
              <a:spcAft>
                <a:spcPts val="400"/>
              </a:spcAft>
              <a:buNone/>
            </a:pPr>
            <a:r>
              <a:rPr lang="en-US" sz="1200" i="1" dirty="0">
                <a:solidFill>
                  <a:srgbClr val="6B7A70"/>
                </a:solidFill>
              </a:rPr>
              <a:t>Ostrom's word: related ecosystems (ECO)</a:t>
            </a:r>
            <a:endParaRPr lang="en-US" sz="1500" dirty="0"/>
          </a:p>
        </p:txBody>
      </p:sp>
      <p:sp>
        <p:nvSpPr>
          <p:cNvPr id="14" name="card Solid and dashed arrows"/>
          <p:cNvSpPr/>
          <p:nvPr/>
        </p:nvSpPr>
        <p:spPr>
          <a:xfrm>
            <a:off x="6135624" y="3343656"/>
            <a:ext cx="5477256" cy="1405128"/>
          </a:xfrm>
          <a:prstGeom prst="roundRect">
            <a:avLst>
              <a:gd name="adj" fmla="val 5206"/>
            </a:avLst>
          </a:prstGeom>
          <a:solidFill>
            <a:schemeClr val="bg2"/>
          </a:solidFill>
          <a:ln w="12700">
            <a:solidFill>
              <a:schemeClr val="bg2"/>
            </a:solidFill>
            <a:prstDash val="solid"/>
          </a:ln>
        </p:spPr>
      </p:sp>
      <p:sp>
        <p:nvSpPr>
          <p:cNvPr id="15" name="Text 12"/>
          <p:cNvSpPr txBox="1"/>
          <p:nvPr/>
        </p:nvSpPr>
        <p:spPr>
          <a:xfrm>
            <a:off x="6272784" y="3435096"/>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Solid and dashed arrows</a:t>
            </a:r>
            <a:endParaRPr lang="en-US" sz="1500" dirty="0"/>
          </a:p>
          <a:p>
            <a:pPr indent="0" marL="0">
              <a:spcAft>
                <a:spcPts val="400"/>
              </a:spcAft>
              <a:buNone/>
            </a:pPr>
            <a:r>
              <a:rPr lang="en-US" sz="1400" dirty="0">
                <a:solidFill>
                  <a:schemeClr val="tx1"/>
                </a:solidFill>
              </a:rPr>
              <a:t>Solid: this affects that. Dashed: results come back and change things.</a:t>
            </a:r>
            <a:endParaRPr lang="en-US" sz="1500" dirty="0"/>
          </a:p>
          <a:p>
            <a:pPr indent="0" marL="0">
              <a:spcAft>
                <a:spcPts val="400"/>
              </a:spcAft>
              <a:buNone/>
            </a:pPr>
            <a:r>
              <a:rPr lang="en-US" sz="1200" i="1" dirty="0">
                <a:solidFill>
                  <a:srgbClr val="6B7A70"/>
                </a:solidFill>
              </a:rPr>
              <a:t>Ostrom's word: direct causal link; feedback</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1 · THE PEOPLE AND THE PLACE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The four sides at Elm Street</a:t>
            </a:r>
            <a:endParaRPr lang="en-US" sz="3200" dirty="0"/>
          </a:p>
        </p:txBody>
      </p:sp>
      <p:sp>
        <p:nvSpPr>
          <p:cNvPr id="5" name="card The shared thing"/>
          <p:cNvSpPr/>
          <p:nvPr/>
        </p:nvSpPr>
        <p:spPr>
          <a:xfrm>
            <a:off x="548640" y="1463040"/>
            <a:ext cx="5440680" cy="1417320"/>
          </a:xfrm>
          <a:prstGeom prst="roundRect">
            <a:avLst>
              <a:gd name="adj" fmla="val 5161"/>
            </a:avLst>
          </a:prstGeom>
          <a:solidFill>
            <a:srgbClr val="ECECD9"/>
          </a:solidFill>
          <a:ln w="12700">
            <a:solidFill>
              <a:srgbClr val="ECECD9"/>
            </a:solidFill>
            <a:prstDash val="solid"/>
          </a:ln>
        </p:spPr>
      </p:sp>
      <p:sp>
        <p:nvSpPr>
          <p:cNvPr id="6" name="Text 3"/>
          <p:cNvSpPr txBox="1"/>
          <p:nvPr/>
        </p:nvSpPr>
        <p:spPr>
          <a:xfrm>
            <a:off x="685800" y="1554480"/>
            <a:ext cx="5166360" cy="12344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The shared thing</a:t>
            </a:r>
            <a:endParaRPr lang="en-US" sz="1800" dirty="0"/>
          </a:p>
          <a:p>
            <a:pPr indent="0" marL="0">
              <a:spcAft>
                <a:spcPts val="400"/>
              </a:spcAft>
              <a:buNone/>
            </a:pPr>
            <a:r>
              <a:rPr lang="en-US" sz="1600" dirty="0">
                <a:solidFill>
                  <a:schemeClr val="tx1"/>
                </a:solidFill>
              </a:rPr>
              <a:t>The garden and its rain-fed tank.</a:t>
            </a:r>
            <a:endParaRPr lang="en-US" sz="1800" dirty="0"/>
          </a:p>
        </p:txBody>
      </p:sp>
      <p:sp>
        <p:nvSpPr>
          <p:cNvPr id="7" name="card The bits we take or use"/>
          <p:cNvSpPr/>
          <p:nvPr/>
        </p:nvSpPr>
        <p:spPr>
          <a:xfrm>
            <a:off x="6172200" y="1463040"/>
            <a:ext cx="5440680" cy="1417320"/>
          </a:xfrm>
          <a:prstGeom prst="roundRect">
            <a:avLst>
              <a:gd name="adj" fmla="val 5161"/>
            </a:avLst>
          </a:prstGeom>
          <a:solidFill>
            <a:srgbClr val="ECECD9"/>
          </a:solidFill>
          <a:ln w="12700">
            <a:solidFill>
              <a:srgbClr val="ECECD9"/>
            </a:solidFill>
            <a:prstDash val="solid"/>
          </a:ln>
        </p:spPr>
      </p:sp>
      <p:sp>
        <p:nvSpPr>
          <p:cNvPr id="8" name="Text 5"/>
          <p:cNvSpPr txBox="1"/>
          <p:nvPr/>
        </p:nvSpPr>
        <p:spPr>
          <a:xfrm>
            <a:off x="6309360" y="1554480"/>
            <a:ext cx="5166360" cy="12344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The bits we take or use</a:t>
            </a:r>
            <a:endParaRPr lang="en-US" sz="1800" dirty="0"/>
          </a:p>
          <a:p>
            <a:pPr indent="0" marL="0">
              <a:spcAft>
                <a:spcPts val="400"/>
              </a:spcAft>
              <a:buNone/>
            </a:pPr>
            <a:r>
              <a:rPr lang="en-US" sz="1600" dirty="0">
                <a:solidFill>
                  <a:schemeClr val="tx1"/>
                </a:solidFill>
              </a:rPr>
              <a:t>Gallons of water. Plots. The harvest.</a:t>
            </a:r>
            <a:endParaRPr lang="en-US" sz="1800" dirty="0"/>
          </a:p>
        </p:txBody>
      </p:sp>
      <p:sp>
        <p:nvSpPr>
          <p:cNvPr id="9" name="card The rules and who makes them"/>
          <p:cNvSpPr/>
          <p:nvPr/>
        </p:nvSpPr>
        <p:spPr>
          <a:xfrm>
            <a:off x="548640" y="3063240"/>
            <a:ext cx="5440680" cy="1417320"/>
          </a:xfrm>
          <a:prstGeom prst="roundRect">
            <a:avLst>
              <a:gd name="adj" fmla="val 5161"/>
            </a:avLst>
          </a:prstGeom>
          <a:solidFill>
            <a:srgbClr val="DCE8F4"/>
          </a:solidFill>
          <a:ln w="12700">
            <a:solidFill>
              <a:srgbClr val="DCE8F4"/>
            </a:solidFill>
            <a:prstDash val="solid"/>
          </a:ln>
        </p:spPr>
      </p:sp>
      <p:sp>
        <p:nvSpPr>
          <p:cNvPr id="10" name="Text 7"/>
          <p:cNvSpPr txBox="1"/>
          <p:nvPr/>
        </p:nvSpPr>
        <p:spPr>
          <a:xfrm>
            <a:off x="685800" y="3154680"/>
            <a:ext cx="5166360" cy="12344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The rules and who makes them</a:t>
            </a:r>
            <a:endParaRPr lang="en-US" sz="1800" dirty="0"/>
          </a:p>
          <a:p>
            <a:pPr indent="0" marL="0">
              <a:spcAft>
                <a:spcPts val="400"/>
              </a:spcAft>
              <a:buNone/>
            </a:pPr>
            <a:r>
              <a:rPr lang="en-US" sz="1600" dirty="0">
                <a:solidFill>
                  <a:schemeClr val="tx1"/>
                </a:solidFill>
              </a:rPr>
              <a:t>The bylaw, the spring meeting, the water keeper, the city lease.</a:t>
            </a:r>
            <a:endParaRPr lang="en-US" sz="1800" dirty="0"/>
          </a:p>
        </p:txBody>
      </p:sp>
      <p:sp>
        <p:nvSpPr>
          <p:cNvPr id="11" name="card The people who use it"/>
          <p:cNvSpPr/>
          <p:nvPr/>
        </p:nvSpPr>
        <p:spPr>
          <a:xfrm>
            <a:off x="6172200" y="3063240"/>
            <a:ext cx="5440680" cy="1417320"/>
          </a:xfrm>
          <a:prstGeom prst="roundRect">
            <a:avLst>
              <a:gd name="adj" fmla="val 5161"/>
            </a:avLst>
          </a:prstGeom>
          <a:solidFill>
            <a:srgbClr val="F8E6CF"/>
          </a:solidFill>
          <a:ln w="12700">
            <a:solidFill>
              <a:srgbClr val="F8E6CF"/>
            </a:solidFill>
            <a:prstDash val="solid"/>
          </a:ln>
        </p:spPr>
      </p:sp>
      <p:sp>
        <p:nvSpPr>
          <p:cNvPr id="12" name="Text 9"/>
          <p:cNvSpPr txBox="1"/>
          <p:nvPr/>
        </p:nvSpPr>
        <p:spPr>
          <a:xfrm>
            <a:off x="6309360" y="3154680"/>
            <a:ext cx="5166360" cy="12344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The people who use it</a:t>
            </a:r>
            <a:endParaRPr lang="en-US" sz="1800" dirty="0"/>
          </a:p>
          <a:p>
            <a:pPr indent="0" marL="0">
              <a:spcAft>
                <a:spcPts val="400"/>
              </a:spcAft>
              <a:buNone/>
            </a:pPr>
            <a:r>
              <a:rPr lang="en-US" sz="1600" dirty="0">
                <a:solidFill>
                  <a:schemeClr val="tx1"/>
                </a:solidFill>
              </a:rPr>
              <a:t>30 gardeners, their families, and newcomers on the waiting list.</a:t>
            </a:r>
            <a:endParaRPr lang="en-US" sz="1800" dirty="0"/>
          </a:p>
        </p:txBody>
      </p:sp>
      <p:sp>
        <p:nvSpPr>
          <p:cNvPr id="13" name="card The wider world"/>
          <p:cNvSpPr/>
          <p:nvPr/>
        </p:nvSpPr>
        <p:spPr>
          <a:xfrm>
            <a:off x="548640" y="4754880"/>
            <a:ext cx="5440680" cy="1463040"/>
          </a:xfrm>
          <a:prstGeom prst="roundRect">
            <a:avLst>
              <a:gd name="adj" fmla="val 5000"/>
            </a:avLst>
          </a:prstGeom>
          <a:solidFill>
            <a:srgbClr val="FFFFFF"/>
          </a:solidFill>
          <a:ln w="12700">
            <a:solidFill>
              <a:srgbClr val="C9D3CC"/>
            </a:solidFill>
            <a:prstDash val="solid"/>
          </a:ln>
        </p:spPr>
      </p:sp>
      <p:sp>
        <p:nvSpPr>
          <p:cNvPr id="14" name="Text 11"/>
          <p:cNvSpPr txBox="1"/>
          <p:nvPr/>
        </p:nvSpPr>
        <p:spPr>
          <a:xfrm>
            <a:off x="685800" y="4846320"/>
            <a:ext cx="5166360" cy="12801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The wider world</a:t>
            </a:r>
            <a:endParaRPr lang="en-US" sz="1800" dirty="0"/>
          </a:p>
          <a:p>
            <a:pPr indent="0" marL="0">
              <a:spcAft>
                <a:spcPts val="400"/>
              </a:spcAft>
              <a:buNone/>
            </a:pPr>
            <a:r>
              <a:rPr lang="en-US" sz="1600" dirty="0">
                <a:solidFill>
                  <a:schemeClr val="tx1"/>
                </a:solidFill>
              </a:rPr>
              <a:t>The city budget and drought rules. Rents. Who has time to garden.</a:t>
            </a:r>
            <a:endParaRPr lang="en-US" sz="1800" dirty="0"/>
          </a:p>
        </p:txBody>
      </p:sp>
      <p:sp>
        <p:nvSpPr>
          <p:cNvPr id="15" name="card The nature next door"/>
          <p:cNvSpPr/>
          <p:nvPr/>
        </p:nvSpPr>
        <p:spPr>
          <a:xfrm>
            <a:off x="6172200" y="4754880"/>
            <a:ext cx="5440680" cy="1463040"/>
          </a:xfrm>
          <a:prstGeom prst="roundRect">
            <a:avLst>
              <a:gd name="adj" fmla="val 5000"/>
            </a:avLst>
          </a:prstGeom>
          <a:solidFill>
            <a:srgbClr val="FFFFFF"/>
          </a:solidFill>
          <a:ln w="12700">
            <a:solidFill>
              <a:srgbClr val="C9D3CC"/>
            </a:solidFill>
            <a:prstDash val="solid"/>
          </a:ln>
        </p:spPr>
      </p:sp>
      <p:sp>
        <p:nvSpPr>
          <p:cNvPr id="16" name="Text 13"/>
          <p:cNvSpPr txBox="1"/>
          <p:nvPr/>
        </p:nvSpPr>
        <p:spPr>
          <a:xfrm>
            <a:off x="6309360" y="4846320"/>
            <a:ext cx="5166360" cy="12801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The nature next door</a:t>
            </a:r>
            <a:endParaRPr lang="en-US" sz="1800" dirty="0"/>
          </a:p>
          <a:p>
            <a:pPr indent="0" marL="0">
              <a:spcAft>
                <a:spcPts val="400"/>
              </a:spcAft>
              <a:buNone/>
            </a:pPr>
            <a:r>
              <a:rPr lang="en-US" sz="1600" dirty="0">
                <a:solidFill>
                  <a:schemeClr val="tx1"/>
                </a:solidFill>
              </a:rPr>
              <a:t>The watershed. Rainfall. Heat waves.</a:t>
            </a:r>
            <a:endParaRPr lang="en-US" sz="18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1 · THE PEOPLE AND THE PLACE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When do neighbors get organized at all?</a:t>
            </a:r>
            <a:endParaRPr lang="en-US" sz="3200" dirty="0"/>
          </a:p>
        </p:txBody>
      </p:sp>
      <p:sp>
        <p:nvSpPr>
          <p:cNvPr id="5" name="card It is not too big"/>
          <p:cNvSpPr/>
          <p:nvPr/>
        </p:nvSpPr>
        <p:spPr>
          <a:xfrm>
            <a:off x="548640" y="1417320"/>
            <a:ext cx="5440680" cy="868680"/>
          </a:xfrm>
          <a:prstGeom prst="roundRect">
            <a:avLst>
              <a:gd name="adj" fmla="val 8421"/>
            </a:avLst>
          </a:prstGeom>
          <a:solidFill>
            <a:schemeClr val="bg2"/>
          </a:solidFill>
          <a:ln w="12700">
            <a:solidFill>
              <a:schemeClr val="bg2"/>
            </a:solidFill>
            <a:prstDash val="solid"/>
          </a:ln>
        </p:spPr>
      </p:sp>
      <p:sp>
        <p:nvSpPr>
          <p:cNvPr id="6" name="Text 3"/>
          <p:cNvSpPr txBox="1"/>
          <p:nvPr/>
        </p:nvSpPr>
        <p:spPr>
          <a:xfrm>
            <a:off x="685800" y="1508760"/>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It is not too big</a:t>
            </a:r>
            <a:endParaRPr lang="en-US" sz="1500" dirty="0"/>
          </a:p>
          <a:p>
            <a:pPr indent="0" marL="0">
              <a:spcAft>
                <a:spcPts val="400"/>
              </a:spcAft>
              <a:buNone/>
            </a:pPr>
            <a:r>
              <a:rPr lang="en-US" sz="1400" dirty="0">
                <a:solidFill>
                  <a:schemeClr val="tx1"/>
                </a:solidFill>
              </a:rPr>
              <a:t>People can see and know the whole thing.  (Ostrom: size)</a:t>
            </a:r>
            <a:endParaRPr lang="en-US" sz="1500" dirty="0"/>
          </a:p>
        </p:txBody>
      </p:sp>
      <p:sp>
        <p:nvSpPr>
          <p:cNvPr id="7" name="card It is worth saving"/>
          <p:cNvSpPr/>
          <p:nvPr/>
        </p:nvSpPr>
        <p:spPr>
          <a:xfrm>
            <a:off x="6172200" y="1417320"/>
            <a:ext cx="5440680" cy="868680"/>
          </a:xfrm>
          <a:prstGeom prst="roundRect">
            <a:avLst>
              <a:gd name="adj" fmla="val 8421"/>
            </a:avLst>
          </a:prstGeom>
          <a:solidFill>
            <a:schemeClr val="bg2"/>
          </a:solidFill>
          <a:ln w="12700">
            <a:solidFill>
              <a:schemeClr val="bg2"/>
            </a:solidFill>
            <a:prstDash val="solid"/>
          </a:ln>
        </p:spPr>
      </p:sp>
      <p:sp>
        <p:nvSpPr>
          <p:cNvPr id="8" name="Text 5"/>
          <p:cNvSpPr txBox="1"/>
          <p:nvPr/>
        </p:nvSpPr>
        <p:spPr>
          <a:xfrm>
            <a:off x="6309360" y="1508760"/>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It is worth saving</a:t>
            </a:r>
            <a:endParaRPr lang="en-US" sz="1500" dirty="0"/>
          </a:p>
          <a:p>
            <a:pPr indent="0" marL="0">
              <a:spcAft>
                <a:spcPts val="400"/>
              </a:spcAft>
              <a:buNone/>
            </a:pPr>
            <a:r>
              <a:rPr lang="en-US" sz="1400" dirty="0">
                <a:solidFill>
                  <a:schemeClr val="tx1"/>
                </a:solidFill>
              </a:rPr>
              <a:t>Not ruined, not so plentiful nobody cares.  (Ostrom: productivity)</a:t>
            </a:r>
            <a:endParaRPr lang="en-US" sz="1500" dirty="0"/>
          </a:p>
        </p:txBody>
      </p:sp>
      <p:sp>
        <p:nvSpPr>
          <p:cNvPr id="9" name="card It behaves predictably"/>
          <p:cNvSpPr/>
          <p:nvPr/>
        </p:nvSpPr>
        <p:spPr>
          <a:xfrm>
            <a:off x="548640" y="2395728"/>
            <a:ext cx="5440680" cy="868680"/>
          </a:xfrm>
          <a:prstGeom prst="roundRect">
            <a:avLst>
              <a:gd name="adj" fmla="val 8421"/>
            </a:avLst>
          </a:prstGeom>
          <a:solidFill>
            <a:schemeClr val="bg2"/>
          </a:solidFill>
          <a:ln w="12700">
            <a:solidFill>
              <a:schemeClr val="bg2"/>
            </a:solidFill>
            <a:prstDash val="solid"/>
          </a:ln>
        </p:spPr>
      </p:sp>
      <p:sp>
        <p:nvSpPr>
          <p:cNvPr id="10" name="Text 7"/>
          <p:cNvSpPr txBox="1"/>
          <p:nvPr/>
        </p:nvSpPr>
        <p:spPr>
          <a:xfrm>
            <a:off x="685800" y="2487168"/>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It behaves predictably</a:t>
            </a:r>
            <a:endParaRPr lang="en-US" sz="1500" dirty="0"/>
          </a:p>
          <a:p>
            <a:pPr indent="0" marL="0">
              <a:spcAft>
                <a:spcPts val="400"/>
              </a:spcAft>
              <a:buNone/>
            </a:pPr>
            <a:r>
              <a:rPr lang="en-US" sz="1400" dirty="0">
                <a:solidFill>
                  <a:schemeClr val="tx1"/>
                </a:solidFill>
              </a:rPr>
              <a:t>People can tell what it will do next.  (Ostrom: predictability)</a:t>
            </a:r>
            <a:endParaRPr lang="en-US" sz="1500" dirty="0"/>
          </a:p>
        </p:txBody>
      </p:sp>
      <p:sp>
        <p:nvSpPr>
          <p:cNvPr id="11" name="card It stays put"/>
          <p:cNvSpPr/>
          <p:nvPr/>
        </p:nvSpPr>
        <p:spPr>
          <a:xfrm>
            <a:off x="6172200" y="2395728"/>
            <a:ext cx="5440680" cy="868680"/>
          </a:xfrm>
          <a:prstGeom prst="roundRect">
            <a:avLst>
              <a:gd name="adj" fmla="val 8421"/>
            </a:avLst>
          </a:prstGeom>
          <a:solidFill>
            <a:schemeClr val="bg2"/>
          </a:solidFill>
          <a:ln w="12700">
            <a:solidFill>
              <a:schemeClr val="bg2"/>
            </a:solidFill>
            <a:prstDash val="solid"/>
          </a:ln>
        </p:spPr>
      </p:sp>
      <p:sp>
        <p:nvSpPr>
          <p:cNvPr id="12" name="Text 9"/>
          <p:cNvSpPr txBox="1"/>
          <p:nvPr/>
        </p:nvSpPr>
        <p:spPr>
          <a:xfrm>
            <a:off x="6309360" y="2487168"/>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It stays put</a:t>
            </a:r>
            <a:endParaRPr lang="en-US" sz="1500" dirty="0"/>
          </a:p>
          <a:p>
            <a:pPr indent="0" marL="0">
              <a:spcAft>
                <a:spcPts val="400"/>
              </a:spcAft>
              <a:buNone/>
            </a:pPr>
            <a:r>
              <a:rPr lang="en-US" sz="1400" dirty="0">
                <a:solidFill>
                  <a:schemeClr val="tx1"/>
                </a:solidFill>
              </a:rPr>
              <a:t>Plots stay put; water and fish wander off.  (Ostrom: mobility of units)</a:t>
            </a:r>
            <a:endParaRPr lang="en-US" sz="1500" dirty="0"/>
          </a:p>
        </p:txBody>
      </p:sp>
      <p:sp>
        <p:nvSpPr>
          <p:cNvPr id="13" name="card We can change our own rules"/>
          <p:cNvSpPr/>
          <p:nvPr/>
        </p:nvSpPr>
        <p:spPr>
          <a:xfrm>
            <a:off x="548640" y="3374136"/>
            <a:ext cx="5440680" cy="868680"/>
          </a:xfrm>
          <a:prstGeom prst="roundRect">
            <a:avLst>
              <a:gd name="adj" fmla="val 8421"/>
            </a:avLst>
          </a:prstGeom>
          <a:solidFill>
            <a:schemeClr val="bg2"/>
          </a:solidFill>
          <a:ln w="12700">
            <a:solidFill>
              <a:schemeClr val="bg2"/>
            </a:solidFill>
            <a:prstDash val="solid"/>
          </a:ln>
        </p:spPr>
      </p:sp>
      <p:sp>
        <p:nvSpPr>
          <p:cNvPr id="14" name="Text 11"/>
          <p:cNvSpPr txBox="1"/>
          <p:nvPr/>
        </p:nvSpPr>
        <p:spPr>
          <a:xfrm>
            <a:off x="685800" y="3465576"/>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We can change our own rules</a:t>
            </a:r>
            <a:endParaRPr lang="en-US" sz="1500" dirty="0"/>
          </a:p>
          <a:p>
            <a:pPr indent="0" marL="0">
              <a:spcAft>
                <a:spcPts val="400"/>
              </a:spcAft>
              <a:buNone/>
            </a:pPr>
            <a:r>
              <a:rPr lang="en-US" sz="1400" dirty="0">
                <a:solidFill>
                  <a:schemeClr val="tx1"/>
                </a:solidFill>
              </a:rPr>
              <a:t>Nobody outside has to sign off.  (Ostrom: collective-choice rules)</a:t>
            </a:r>
            <a:endParaRPr lang="en-US" sz="1500" dirty="0"/>
          </a:p>
        </p:txBody>
      </p:sp>
      <p:sp>
        <p:nvSpPr>
          <p:cNvPr id="15" name="card Not too many of us"/>
          <p:cNvSpPr/>
          <p:nvPr/>
        </p:nvSpPr>
        <p:spPr>
          <a:xfrm>
            <a:off x="6172200" y="3374136"/>
            <a:ext cx="5440680" cy="868680"/>
          </a:xfrm>
          <a:prstGeom prst="roundRect">
            <a:avLst>
              <a:gd name="adj" fmla="val 8421"/>
            </a:avLst>
          </a:prstGeom>
          <a:solidFill>
            <a:schemeClr val="bg2"/>
          </a:solidFill>
          <a:ln w="12700">
            <a:solidFill>
              <a:schemeClr val="bg2"/>
            </a:solidFill>
            <a:prstDash val="solid"/>
          </a:ln>
        </p:spPr>
      </p:sp>
      <p:sp>
        <p:nvSpPr>
          <p:cNvPr id="16" name="Text 13"/>
          <p:cNvSpPr txBox="1"/>
          <p:nvPr/>
        </p:nvSpPr>
        <p:spPr>
          <a:xfrm>
            <a:off x="6309360" y="3465576"/>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Not too many of us</a:t>
            </a:r>
            <a:endParaRPr lang="en-US" sz="1500" dirty="0"/>
          </a:p>
          <a:p>
            <a:pPr indent="0" marL="0">
              <a:spcAft>
                <a:spcPts val="400"/>
              </a:spcAft>
              <a:buNone/>
            </a:pPr>
            <a:r>
              <a:rPr lang="en-US" sz="1400" dirty="0">
                <a:solidFill>
                  <a:schemeClr val="tx1"/>
                </a:solidFill>
              </a:rPr>
              <a:t>Enough to do the work, few enough to know each other.  (Ostrom: number of users)</a:t>
            </a:r>
            <a:endParaRPr lang="en-US" sz="1500" dirty="0"/>
          </a:p>
        </p:txBody>
      </p:sp>
      <p:sp>
        <p:nvSpPr>
          <p:cNvPr id="17" name="card Someone gets it started"/>
          <p:cNvSpPr/>
          <p:nvPr/>
        </p:nvSpPr>
        <p:spPr>
          <a:xfrm>
            <a:off x="548640" y="4352544"/>
            <a:ext cx="5440680" cy="868680"/>
          </a:xfrm>
          <a:prstGeom prst="roundRect">
            <a:avLst>
              <a:gd name="adj" fmla="val 8421"/>
            </a:avLst>
          </a:prstGeom>
          <a:solidFill>
            <a:schemeClr val="bg2"/>
          </a:solidFill>
          <a:ln w="12700">
            <a:solidFill>
              <a:schemeClr val="bg2"/>
            </a:solidFill>
            <a:prstDash val="solid"/>
          </a:ln>
        </p:spPr>
      </p:sp>
      <p:sp>
        <p:nvSpPr>
          <p:cNvPr id="18" name="Text 15"/>
          <p:cNvSpPr txBox="1"/>
          <p:nvPr/>
        </p:nvSpPr>
        <p:spPr>
          <a:xfrm>
            <a:off x="685800" y="4443984"/>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Someone gets it started</a:t>
            </a:r>
            <a:endParaRPr lang="en-US" sz="1500" dirty="0"/>
          </a:p>
          <a:p>
            <a:pPr indent="0" marL="0">
              <a:spcAft>
                <a:spcPts val="400"/>
              </a:spcAft>
              <a:buNone/>
            </a:pPr>
            <a:r>
              <a:rPr lang="en-US" sz="1400" dirty="0">
                <a:solidFill>
                  <a:schemeClr val="tx1"/>
                </a:solidFill>
              </a:rPr>
              <a:t>A person willing to call the first meeting.  (Ostrom: leadership)</a:t>
            </a:r>
            <a:endParaRPr lang="en-US" sz="1500" dirty="0"/>
          </a:p>
        </p:txBody>
      </p:sp>
      <p:sp>
        <p:nvSpPr>
          <p:cNvPr id="19" name="card We already trust each other"/>
          <p:cNvSpPr/>
          <p:nvPr/>
        </p:nvSpPr>
        <p:spPr>
          <a:xfrm>
            <a:off x="6172200" y="4352544"/>
            <a:ext cx="5440680" cy="868680"/>
          </a:xfrm>
          <a:prstGeom prst="roundRect">
            <a:avLst>
              <a:gd name="adj" fmla="val 8421"/>
            </a:avLst>
          </a:prstGeom>
          <a:solidFill>
            <a:schemeClr val="bg2"/>
          </a:solidFill>
          <a:ln w="12700">
            <a:solidFill>
              <a:schemeClr val="bg2"/>
            </a:solidFill>
            <a:prstDash val="solid"/>
          </a:ln>
        </p:spPr>
      </p:sp>
      <p:sp>
        <p:nvSpPr>
          <p:cNvPr id="20" name="Text 17"/>
          <p:cNvSpPr txBox="1"/>
          <p:nvPr/>
        </p:nvSpPr>
        <p:spPr>
          <a:xfrm>
            <a:off x="6309360" y="4443984"/>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We already trust each other</a:t>
            </a:r>
            <a:endParaRPr lang="en-US" sz="1500" dirty="0"/>
          </a:p>
          <a:p>
            <a:pPr indent="0" marL="0">
              <a:spcAft>
                <a:spcPts val="400"/>
              </a:spcAft>
              <a:buNone/>
            </a:pPr>
            <a:r>
              <a:rPr lang="en-US" sz="1400" dirty="0">
                <a:solidFill>
                  <a:schemeClr val="tx1"/>
                </a:solidFill>
              </a:rPr>
              <a:t>Some shared habits and goodwill are there.  (Ostrom: norms, social capital)</a:t>
            </a:r>
            <a:endParaRPr lang="en-US" sz="1500" dirty="0"/>
          </a:p>
        </p:txBody>
      </p:sp>
      <p:sp>
        <p:nvSpPr>
          <p:cNvPr id="21" name="card We understand how it works"/>
          <p:cNvSpPr/>
          <p:nvPr/>
        </p:nvSpPr>
        <p:spPr>
          <a:xfrm>
            <a:off x="548640" y="5330952"/>
            <a:ext cx="5440680" cy="868680"/>
          </a:xfrm>
          <a:prstGeom prst="roundRect">
            <a:avLst>
              <a:gd name="adj" fmla="val 8421"/>
            </a:avLst>
          </a:prstGeom>
          <a:solidFill>
            <a:schemeClr val="bg2"/>
          </a:solidFill>
          <a:ln w="12700">
            <a:solidFill>
              <a:schemeClr val="bg2"/>
            </a:solidFill>
            <a:prstDash val="solid"/>
          </a:ln>
        </p:spPr>
      </p:sp>
      <p:sp>
        <p:nvSpPr>
          <p:cNvPr id="22" name="Text 19"/>
          <p:cNvSpPr txBox="1"/>
          <p:nvPr/>
        </p:nvSpPr>
        <p:spPr>
          <a:xfrm>
            <a:off x="685800" y="5422392"/>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We understand how it works</a:t>
            </a:r>
            <a:endParaRPr lang="en-US" sz="1500" dirty="0"/>
          </a:p>
          <a:p>
            <a:pPr indent="0" marL="0">
              <a:spcAft>
                <a:spcPts val="400"/>
              </a:spcAft>
              <a:buNone/>
            </a:pPr>
            <a:r>
              <a:rPr lang="en-US" sz="1400" dirty="0">
                <a:solidFill>
                  <a:schemeClr val="tx1"/>
                </a:solidFill>
              </a:rPr>
              <a:t>We know how the tank fills and empties.  (Ostrom: knowledge of the system)</a:t>
            </a:r>
            <a:endParaRPr lang="en-US" sz="1500" dirty="0"/>
          </a:p>
        </p:txBody>
      </p:sp>
      <p:sp>
        <p:nvSpPr>
          <p:cNvPr id="23" name="card It matters to us"/>
          <p:cNvSpPr/>
          <p:nvPr/>
        </p:nvSpPr>
        <p:spPr>
          <a:xfrm>
            <a:off x="6172200" y="5330952"/>
            <a:ext cx="5440680" cy="868680"/>
          </a:xfrm>
          <a:prstGeom prst="roundRect">
            <a:avLst>
              <a:gd name="adj" fmla="val 8421"/>
            </a:avLst>
          </a:prstGeom>
          <a:solidFill>
            <a:schemeClr val="bg2"/>
          </a:solidFill>
          <a:ln w="12700">
            <a:solidFill>
              <a:schemeClr val="bg2"/>
            </a:solidFill>
            <a:prstDash val="solid"/>
          </a:ln>
        </p:spPr>
      </p:sp>
      <p:sp>
        <p:nvSpPr>
          <p:cNvPr id="24" name="Text 21"/>
          <p:cNvSpPr txBox="1"/>
          <p:nvPr/>
        </p:nvSpPr>
        <p:spPr>
          <a:xfrm>
            <a:off x="6309360" y="5422392"/>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It matters to us</a:t>
            </a:r>
            <a:endParaRPr lang="en-US" sz="1500" dirty="0"/>
          </a:p>
          <a:p>
            <a:pPr indent="0" marL="0">
              <a:spcAft>
                <a:spcPts val="400"/>
              </a:spcAft>
              <a:buNone/>
            </a:pPr>
            <a:r>
              <a:rPr lang="en-US" sz="1400" dirty="0">
                <a:solidFill>
                  <a:schemeClr val="tx1"/>
                </a:solidFill>
              </a:rPr>
              <a:t>Enough to be worth the bother.  (Ostrom: importance to users)</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What we're sharing</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Two plain questions tell you what kind of trouble to expect: does it run out, and can you keep people out?</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1   The people and the place</a:t>
            </a:r>
            <a:endParaRPr lang="en-US" sz="1500" dirty="0"/>
          </a:p>
        </p:txBody>
      </p:sp>
      <p:sp>
        <p:nvSpPr>
          <p:cNvPr id="6" name="rung 2"/>
          <p:cNvSpPr/>
          <p:nvPr/>
        </p:nvSpPr>
        <p:spPr>
          <a:xfrm>
            <a:off x="7333488" y="1444752"/>
            <a:ext cx="4187952"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2   What we're sharing</a:t>
            </a:r>
            <a:endParaRPr lang="en-US" sz="1500" dirty="0"/>
          </a:p>
        </p:txBody>
      </p:sp>
      <p:sp>
        <p:nvSpPr>
          <p:cNvPr id="7" name="rung 3"/>
          <p:cNvSpPr/>
          <p:nvPr/>
        </p:nvSpPr>
        <p:spPr>
          <a:xfrm>
            <a:off x="7443216" y="1975104"/>
            <a:ext cx="407822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3   Where we meet and choose</a:t>
            </a:r>
            <a:endParaRPr lang="en-US" sz="1500" dirty="0"/>
          </a:p>
        </p:txBody>
      </p:sp>
      <p:sp>
        <p:nvSpPr>
          <p:cNvPr id="8" name="rung 4"/>
          <p:cNvSpPr/>
          <p:nvPr/>
        </p:nvSpPr>
        <p:spPr>
          <a:xfrm>
            <a:off x="7552944" y="2505456"/>
            <a:ext cx="396849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4   Who sets the rules</a:t>
            </a:r>
            <a:endParaRPr lang="en-US" sz="1500" dirty="0"/>
          </a:p>
        </p:txBody>
      </p:sp>
      <p:sp>
        <p:nvSpPr>
          <p:cNvPr id="9" name="rung 5"/>
          <p:cNvSpPr/>
          <p:nvPr/>
        </p:nvSpPr>
        <p:spPr>
          <a:xfrm>
            <a:off x="7662672" y="3035808"/>
            <a:ext cx="3858768"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5   What's going on when we meet</a:t>
            </a:r>
            <a:endParaRPr lang="en-US" sz="1500" dirty="0"/>
          </a:p>
        </p:txBody>
      </p:sp>
      <p:sp>
        <p:nvSpPr>
          <p:cNvPr id="10" name="rung 6"/>
          <p:cNvSpPr/>
          <p:nvPr/>
        </p:nvSpPr>
        <p:spPr>
          <a:xfrm>
            <a:off x="7772400" y="3566160"/>
            <a:ext cx="374904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6   The house rules</a:t>
            </a:r>
            <a:endParaRPr lang="en-US" sz="1500" dirty="0"/>
          </a:p>
        </p:txBody>
      </p:sp>
      <p:sp>
        <p:nvSpPr>
          <p:cNvPr id="11" name="rung 7"/>
          <p:cNvSpPr/>
          <p:nvPr/>
        </p:nvSpPr>
        <p:spPr>
          <a:xfrm>
            <a:off x="7882128" y="4096512"/>
            <a:ext cx="363931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7   What long-lasting groups do</a:t>
            </a:r>
            <a:endParaRPr lang="en-US" sz="1500" dirty="0"/>
          </a:p>
        </p:txBody>
      </p:sp>
      <p:sp>
        <p:nvSpPr>
          <p:cNvPr id="12" name="rung 8"/>
          <p:cNvSpPr/>
          <p:nvPr/>
        </p:nvSpPr>
        <p:spPr>
          <a:xfrm>
            <a:off x="7991856" y="4626864"/>
            <a:ext cx="352958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8   How a rule is put together</a:t>
            </a:r>
            <a:endParaRPr lang="en-US" sz="1500" dirty="0"/>
          </a:p>
        </p:txBody>
      </p:sp>
      <p:sp>
        <p:nvSpPr>
          <p:cNvPr id="13" name="rung 9"/>
          <p:cNvSpPr/>
          <p:nvPr/>
        </p:nvSpPr>
        <p:spPr>
          <a:xfrm>
            <a:off x="8101584" y="5157216"/>
            <a:ext cx="341985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9   Do I do my share?</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2 · WHAT WE'RE SHARING · YOU ALREADY KNOW THIS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Think of a party</a:t>
            </a:r>
            <a:endParaRPr lang="en-US" sz="3200" dirty="0"/>
          </a:p>
        </p:txBody>
      </p:sp>
      <p:sp>
        <p:nvSpPr>
          <p:cNvPr id="5" name="card At a party"/>
          <p:cNvSpPr/>
          <p:nvPr/>
        </p:nvSpPr>
        <p:spPr>
          <a:xfrm>
            <a:off x="548640" y="1463040"/>
            <a:ext cx="5120640" cy="4754880"/>
          </a:xfrm>
          <a:prstGeom prst="roundRect">
            <a:avLst>
              <a:gd name="adj" fmla="val 1538"/>
            </a:avLst>
          </a:prstGeom>
          <a:solidFill>
            <a:srgbClr val="FBF3E6"/>
          </a:solidFill>
          <a:ln w="12700">
            <a:solidFill>
              <a:srgbClr val="FBF3E6"/>
            </a:solidFill>
            <a:prstDash val="solid"/>
          </a:ln>
        </p:spPr>
      </p:sp>
      <p:sp>
        <p:nvSpPr>
          <p:cNvPr id="6" name="Text 3"/>
          <p:cNvSpPr txBox="1"/>
          <p:nvPr/>
        </p:nvSpPr>
        <p:spPr>
          <a:xfrm>
            <a:off x="685800" y="1554480"/>
            <a:ext cx="4846320" cy="457200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At a party</a:t>
            </a:r>
            <a:endParaRPr lang="en-US" sz="2000" dirty="0"/>
          </a:p>
          <a:p>
            <a:pPr indent="0" marL="0">
              <a:spcAft>
                <a:spcPts val="400"/>
              </a:spcAft>
              <a:buNone/>
            </a:pPr>
            <a:r>
              <a:rPr lang="en-US" sz="1700" dirty="0">
                <a:solidFill>
                  <a:schemeClr val="tx1"/>
                </a:solidFill>
              </a:rPr>
              <a:t>The pizza runs out: every slice someone eats is gone. The music does not: everyone hears it no matter how many dance. The coat room is easy to guard; the music next door is not.</a:t>
            </a:r>
            <a:endParaRPr lang="en-US" sz="2000" dirty="0"/>
          </a:p>
        </p:txBody>
      </p:sp>
      <p:sp>
        <p:nvSpPr>
          <p:cNvPr id="7" name="Text 4"/>
          <p:cNvSpPr/>
          <p:nvPr/>
        </p:nvSpPr>
        <p:spPr>
          <a:xfrm>
            <a:off x="5989320" y="146304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Text 5"/>
          <p:cNvSpPr txBox="1"/>
          <p:nvPr/>
        </p:nvSpPr>
        <p:spPr>
          <a:xfrm>
            <a:off x="6629400" y="1481328"/>
            <a:ext cx="4983480" cy="149352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Some things run out when people use them. Some do not.</a:t>
            </a:r>
            <a:endParaRPr lang="en-US" sz="1700" dirty="0"/>
          </a:p>
        </p:txBody>
      </p:sp>
      <p:sp>
        <p:nvSpPr>
          <p:cNvPr id="9" name="Text 6"/>
          <p:cNvSpPr/>
          <p:nvPr/>
        </p:nvSpPr>
        <p:spPr>
          <a:xfrm>
            <a:off x="5989320" y="304800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7"/>
          <p:cNvSpPr txBox="1"/>
          <p:nvPr/>
        </p:nvSpPr>
        <p:spPr>
          <a:xfrm>
            <a:off x="6629400" y="3066288"/>
            <a:ext cx="4983480" cy="149352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Some things are easy to keep people out of. Some are not.</a:t>
            </a:r>
            <a:endParaRPr lang="en-US" sz="1700" dirty="0"/>
          </a:p>
        </p:txBody>
      </p:sp>
      <p:sp>
        <p:nvSpPr>
          <p:cNvPr id="11" name="Text 8"/>
          <p:cNvSpPr/>
          <p:nvPr/>
        </p:nvSpPr>
        <p:spPr>
          <a:xfrm>
            <a:off x="5989320" y="463296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9"/>
          <p:cNvSpPr txBox="1"/>
          <p:nvPr/>
        </p:nvSpPr>
        <p:spPr>
          <a:xfrm>
            <a:off x="6629400" y="4651248"/>
            <a:ext cx="4983480" cy="149352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Those two questions tell you what will go wrong: things taken too fast, or nobody pitching in.</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2 · WHAT WE'RE SHARING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Two questions sort everything people share</a:t>
            </a:r>
            <a:endParaRPr lang="en-US" sz="3200" dirty="0"/>
          </a:p>
        </p:txBody>
      </p:sp>
      <p:pic>
        <p:nvPicPr>
          <p:cNvPr id="5" name="Image 0" descr="Two questions sort everything people share">    </p:cNvPr>
          <p:cNvPicPr>
            <a:picLocks noChangeAspect="1"/>
          </p:cNvPicPr>
          <p:nvPr/>
        </p:nvPicPr>
        <p:blipFill>
          <a:blip r:embed="rId1"/>
          <a:stretch>
            <a:fillRect/>
          </a:stretch>
        </p:blipFill>
        <p:spPr>
          <a:xfrm>
            <a:off x="767849" y="1417320"/>
            <a:ext cx="6968223" cy="4709160"/>
          </a:xfrm>
          <a:prstGeom prst="rect">
            <a:avLst/>
          </a:prstGeom>
        </p:spPr>
      </p:pic>
      <p:sp>
        <p:nvSpPr>
          <p:cNvPr id="6" name="Text 2"/>
          <p:cNvSpPr txBox="1"/>
          <p:nvPr/>
        </p:nvSpPr>
        <p:spPr>
          <a:xfrm>
            <a:off x="767849" y="6172200"/>
            <a:ext cx="6968223" cy="274320"/>
          </a:xfrm>
          <a:prstGeom prst="rect">
            <a:avLst/>
          </a:prstGeom>
          <a:noFill/>
          <a:ln/>
        </p:spPr>
        <p:txBody>
          <a:bodyPr wrap="square" lIns="0" tIns="0" rIns="0" bIns="0" rtlCol="0" anchor="ctr"/>
          <a:lstStyle/>
          <a:p>
            <a:pPr indent="0" marL="0">
              <a:buNone/>
            </a:pPr>
            <a:r>
              <a:rPr lang="en-US" sz="1000" i="1" dirty="0">
                <a:solidFill>
                  <a:srgbClr val="5B6B60"/>
                </a:solidFill>
              </a:rPr>
              <a:t>Ostrom 2010, Figure 1, adapted from Ostrom 2005</a:t>
            </a:r>
            <a:endParaRPr lang="en-US" sz="1000" dirty="0"/>
          </a:p>
        </p:txBody>
      </p:sp>
      <p:sp>
        <p:nvSpPr>
          <p:cNvPr id="7" name="reading panel"/>
          <p:cNvSpPr/>
          <p:nvPr/>
        </p:nvSpPr>
        <p:spPr>
          <a:xfrm>
            <a:off x="8321040" y="1417320"/>
            <a:ext cx="3429000" cy="4846320"/>
          </a:xfrm>
          <a:prstGeom prst="roundRect">
            <a:avLst>
              <a:gd name="adj" fmla="val 2133"/>
            </a:avLst>
          </a:prstGeom>
          <a:solidFill>
            <a:schemeClr val="bg2"/>
          </a:solidFill>
          <a:ln w="12700">
            <a:solidFill>
              <a:schemeClr val="bg2"/>
            </a:solidFill>
            <a:prstDash val="solid"/>
          </a:ln>
        </p:spPr>
      </p:sp>
      <p:sp>
        <p:nvSpPr>
          <p:cNvPr id="8" name="Text 4"/>
          <p:cNvSpPr txBox="1"/>
          <p:nvPr/>
        </p:nvSpPr>
        <p:spPr>
          <a:xfrm>
            <a:off x="8503920" y="1554480"/>
            <a:ext cx="31089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READING THE PICTURE</a:t>
            </a:r>
            <a:endParaRPr lang="en-US" sz="1200" dirty="0"/>
          </a:p>
        </p:txBody>
      </p:sp>
      <p:sp>
        <p:nvSpPr>
          <p:cNvPr id="9" name="Text 5"/>
          <p:cNvSpPr txBox="1"/>
          <p:nvPr/>
        </p:nvSpPr>
        <p:spPr>
          <a:xfrm>
            <a:off x="8503920" y="1920240"/>
            <a:ext cx="3108960" cy="4251960"/>
          </a:xfrm>
          <a:prstGeom prst="rect">
            <a:avLst/>
          </a:prstGeom>
          <a:noFill/>
          <a:ln/>
        </p:spPr>
        <p:txBody>
          <a:bodyPr wrap="square" lIns="0" tIns="0" rIns="0" bIns="0" rtlCol="0" anchor="t"/>
          <a:lstStyle/>
          <a:p>
            <a:pPr marL="190500" indent="-190500">
              <a:spcAft>
                <a:spcPts val="800"/>
              </a:spcAft>
              <a:buSzPct val="100000"/>
              <a:buChar char="•"/>
            </a:pPr>
            <a:r>
              <a:rPr lang="en-US" sz="1400" dirty="0">
                <a:solidFill>
                  <a:schemeClr val="tx1"/>
                </a:solidFill>
              </a:rPr>
              <a:t>Across the top: does it run out when people use it? (High = yes.)</a:t>
            </a:r>
            <a:endParaRPr lang="en-US" sz="1400" dirty="0"/>
          </a:p>
          <a:p>
            <a:pPr marL="190500" indent="-190500">
              <a:spcAft>
                <a:spcPts val="800"/>
              </a:spcAft>
              <a:buSzPct val="100000"/>
              <a:buChar char="•"/>
            </a:pPr>
            <a:r>
              <a:rPr lang="en-US" sz="1400" dirty="0">
                <a:solidFill>
                  <a:schemeClr val="tx1"/>
                </a:solidFill>
              </a:rPr>
              <a:t>Down the side: is it hard to keep people out? (High = yes, hard.)</a:t>
            </a:r>
            <a:endParaRPr lang="en-US" sz="1400" dirty="0"/>
          </a:p>
          <a:p>
            <a:pPr marL="190500" indent="-190500">
              <a:spcAft>
                <a:spcPts val="800"/>
              </a:spcAft>
              <a:buSzPct val="100000"/>
              <a:buChar char="•"/>
            </a:pPr>
            <a:r>
              <a:rPr lang="en-US" sz="1400" dirty="0">
                <a:solidFill>
                  <a:schemeClr val="tx1"/>
                </a:solidFill>
              </a:rPr>
              <a:t>Four boxes, four kinds of trouble.</a:t>
            </a:r>
            <a:endParaRPr lang="en-US" sz="1400" dirty="0"/>
          </a:p>
          <a:p>
            <a:pPr marL="190500" indent="-190500">
              <a:spcAft>
                <a:spcPts val="800"/>
              </a:spcAft>
              <a:buSzPct val="100000"/>
              <a:buChar char="•"/>
            </a:pPr>
            <a:r>
              <a:rPr lang="en-US" sz="1400" dirty="0">
                <a:solidFill>
                  <a:schemeClr val="tx1"/>
                </a:solidFill>
              </a:rPr>
              <a:t>Ostrom's work was mostly about the top-left box: things that run out and are hard to fence off.</a:t>
            </a:r>
            <a:endParaRPr lang="en-US" sz="1400" dirty="0"/>
          </a:p>
          <a:p>
            <a:pPr marL="190500" indent="-190500">
              <a:spcAft>
                <a:spcPts val="800"/>
              </a:spcAft>
              <a:buSzPct val="100000"/>
              <a:buChar char="•"/>
            </a:pPr>
            <a:r>
              <a:rPr lang="en-US" sz="1400" dirty="0">
                <a:solidFill>
                  <a:schemeClr val="tx1"/>
                </a:solidFill>
              </a:rPr>
              <a:t>These are regions, not boxes. Things slide between them.</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2 · WHAT WE'RE SHARING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Reading the picture, in everyday words</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Each card: the everyday words first, what they mean, and the word Ostrom used.</a:t>
            </a:r>
            <a:endParaRPr lang="en-US" sz="1500" dirty="0"/>
          </a:p>
        </p:txBody>
      </p:sp>
      <p:sp>
        <p:nvSpPr>
          <p:cNvPr id="6" name="card Things we value"/>
          <p:cNvSpPr/>
          <p:nvPr/>
        </p:nvSpPr>
        <p:spPr>
          <a:xfrm>
            <a:off x="548640" y="1828800"/>
            <a:ext cx="5477256" cy="1026414"/>
          </a:xfrm>
          <a:prstGeom prst="roundRect">
            <a:avLst>
              <a:gd name="adj" fmla="val 7127"/>
            </a:avLst>
          </a:prstGeom>
          <a:solidFill>
            <a:schemeClr val="bg2"/>
          </a:solidFill>
          <a:ln w="12700">
            <a:solidFill>
              <a:schemeClr val="bg2"/>
            </a:solidFill>
            <a:prstDash val="solid"/>
          </a:ln>
        </p:spPr>
      </p:sp>
      <p:sp>
        <p:nvSpPr>
          <p:cNvPr id="7" name="Text 4"/>
          <p:cNvSpPr txBox="1"/>
          <p:nvPr/>
        </p:nvSpPr>
        <p:spPr>
          <a:xfrm>
            <a:off x="685800"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Things we value</a:t>
            </a:r>
            <a:endParaRPr lang="en-US" sz="1500" dirty="0"/>
          </a:p>
          <a:p>
            <a:pPr indent="0" marL="0">
              <a:spcAft>
                <a:spcPts val="400"/>
              </a:spcAft>
              <a:buNone/>
            </a:pPr>
            <a:r>
              <a:rPr lang="en-US" sz="1400" dirty="0">
                <a:solidFill>
                  <a:schemeClr val="tx1"/>
                </a:solidFill>
              </a:rPr>
              <a:t>Anything people want or use, not only things for sale: water, safety, know-how, a hall.</a:t>
            </a:r>
            <a:endParaRPr lang="en-US" sz="1500" dirty="0"/>
          </a:p>
          <a:p>
            <a:pPr indent="0" marL="0">
              <a:spcAft>
                <a:spcPts val="400"/>
              </a:spcAft>
              <a:buNone/>
            </a:pPr>
            <a:r>
              <a:rPr lang="en-US" sz="1200" i="1" dirty="0">
                <a:solidFill>
                  <a:srgbClr val="6B7A70"/>
                </a:solidFill>
              </a:rPr>
              <a:t>Ostrom's word: goods</a:t>
            </a:r>
            <a:endParaRPr lang="en-US" sz="1500" dirty="0"/>
          </a:p>
        </p:txBody>
      </p:sp>
      <p:sp>
        <p:nvSpPr>
          <p:cNvPr id="8" name="card Does it run out?"/>
          <p:cNvSpPr/>
          <p:nvPr/>
        </p:nvSpPr>
        <p:spPr>
          <a:xfrm>
            <a:off x="548640" y="2964942"/>
            <a:ext cx="5477256" cy="1026414"/>
          </a:xfrm>
          <a:prstGeom prst="roundRect">
            <a:avLst>
              <a:gd name="adj" fmla="val 7127"/>
            </a:avLst>
          </a:prstGeom>
          <a:solidFill>
            <a:schemeClr val="bg2"/>
          </a:solidFill>
          <a:ln w="12700">
            <a:solidFill>
              <a:schemeClr val="bg2"/>
            </a:solidFill>
            <a:prstDash val="solid"/>
          </a:ln>
        </p:spPr>
      </p:sp>
      <p:sp>
        <p:nvSpPr>
          <p:cNvPr id="9" name="Text 6"/>
          <p:cNvSpPr txBox="1"/>
          <p:nvPr/>
        </p:nvSpPr>
        <p:spPr>
          <a:xfrm>
            <a:off x="685800"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Does it run out?</a:t>
            </a:r>
            <a:endParaRPr lang="en-US" sz="1500" dirty="0"/>
          </a:p>
          <a:p>
            <a:pPr indent="0" marL="0">
              <a:spcAft>
                <a:spcPts val="400"/>
              </a:spcAft>
              <a:buNone/>
            </a:pPr>
            <a:r>
              <a:rPr lang="en-US" sz="1400" dirty="0">
                <a:solidFill>
                  <a:schemeClr val="tx1"/>
                </a:solidFill>
              </a:rPr>
              <a:t>Does my use leave less for you?</a:t>
            </a:r>
            <a:endParaRPr lang="en-US" sz="1500" dirty="0"/>
          </a:p>
          <a:p>
            <a:pPr indent="0" marL="0">
              <a:spcAft>
                <a:spcPts val="400"/>
              </a:spcAft>
              <a:buNone/>
            </a:pPr>
            <a:r>
              <a:rPr lang="en-US" sz="1200" i="1" dirty="0">
                <a:solidFill>
                  <a:srgbClr val="6B7A70"/>
                </a:solidFill>
              </a:rPr>
              <a:t>Ostrom's word: subtractability of use</a:t>
            </a:r>
            <a:endParaRPr lang="en-US" sz="1500" dirty="0"/>
          </a:p>
        </p:txBody>
      </p:sp>
      <p:sp>
        <p:nvSpPr>
          <p:cNvPr id="10" name="card Can we keep people out?"/>
          <p:cNvSpPr/>
          <p:nvPr/>
        </p:nvSpPr>
        <p:spPr>
          <a:xfrm>
            <a:off x="548640" y="4101084"/>
            <a:ext cx="5477256" cy="1026414"/>
          </a:xfrm>
          <a:prstGeom prst="roundRect">
            <a:avLst>
              <a:gd name="adj" fmla="val 7127"/>
            </a:avLst>
          </a:prstGeom>
          <a:solidFill>
            <a:schemeClr val="bg2"/>
          </a:solidFill>
          <a:ln w="12700">
            <a:solidFill>
              <a:schemeClr val="bg2"/>
            </a:solidFill>
            <a:prstDash val="solid"/>
          </a:ln>
        </p:spPr>
      </p:sp>
      <p:sp>
        <p:nvSpPr>
          <p:cNvPr id="11" name="Text 8"/>
          <p:cNvSpPr txBox="1"/>
          <p:nvPr/>
        </p:nvSpPr>
        <p:spPr>
          <a:xfrm>
            <a:off x="685800"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Can we keep people out?</a:t>
            </a:r>
            <a:endParaRPr lang="en-US" sz="1500" dirty="0"/>
          </a:p>
          <a:p>
            <a:pPr indent="0" marL="0">
              <a:spcAft>
                <a:spcPts val="400"/>
              </a:spcAft>
              <a:buNone/>
            </a:pPr>
            <a:r>
              <a:rPr lang="en-US" sz="1400" dirty="0">
                <a:solidFill>
                  <a:schemeClr val="tx1"/>
                </a:solidFill>
              </a:rPr>
              <a:t>How hard it is to stop people who didn't pay or help from getting it anyway.</a:t>
            </a:r>
            <a:endParaRPr lang="en-US" sz="1500" dirty="0"/>
          </a:p>
          <a:p>
            <a:pPr indent="0" marL="0">
              <a:spcAft>
                <a:spcPts val="400"/>
              </a:spcAft>
              <a:buNone/>
            </a:pPr>
            <a:r>
              <a:rPr lang="en-US" sz="1200" i="1" dirty="0">
                <a:solidFill>
                  <a:srgbClr val="6B7A70"/>
                </a:solidFill>
              </a:rPr>
              <a:t>Ostrom's word: difficulty of excluding potential beneficiaries</a:t>
            </a:r>
            <a:endParaRPr lang="en-US" sz="1500" dirty="0"/>
          </a:p>
        </p:txBody>
      </p:sp>
      <p:sp>
        <p:nvSpPr>
          <p:cNvPr id="12" name="card Something we all draw from that can run out"/>
          <p:cNvSpPr/>
          <p:nvPr/>
        </p:nvSpPr>
        <p:spPr>
          <a:xfrm>
            <a:off x="548640" y="5237226"/>
            <a:ext cx="5477256" cy="1026414"/>
          </a:xfrm>
          <a:prstGeom prst="roundRect">
            <a:avLst>
              <a:gd name="adj" fmla="val 7127"/>
            </a:avLst>
          </a:prstGeom>
          <a:solidFill>
            <a:schemeClr val="bg2"/>
          </a:solidFill>
          <a:ln w="12700">
            <a:solidFill>
              <a:schemeClr val="bg2"/>
            </a:solidFill>
            <a:prstDash val="solid"/>
          </a:ln>
        </p:spPr>
      </p:sp>
      <p:sp>
        <p:nvSpPr>
          <p:cNvPr id="13" name="Text 10"/>
          <p:cNvSpPr txBox="1"/>
          <p:nvPr/>
        </p:nvSpPr>
        <p:spPr>
          <a:xfrm>
            <a:off x="685800"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Something we all draw from that can run out</a:t>
            </a:r>
            <a:endParaRPr lang="en-US" sz="1500" dirty="0"/>
          </a:p>
          <a:p>
            <a:pPr indent="0" marL="0">
              <a:spcAft>
                <a:spcPts val="400"/>
              </a:spcAft>
              <a:buNone/>
            </a:pPr>
            <a:r>
              <a:rPr lang="en-US" sz="1400" dirty="0">
                <a:solidFill>
                  <a:schemeClr val="tx1"/>
                </a:solidFill>
              </a:rPr>
              <a:t>Hard to keep people out, and it gets used up: groundwater, fish, the garden tank in August.</a:t>
            </a:r>
            <a:endParaRPr lang="en-US" sz="1500" dirty="0"/>
          </a:p>
          <a:p>
            <a:pPr indent="0" marL="0">
              <a:spcAft>
                <a:spcPts val="400"/>
              </a:spcAft>
              <a:buNone/>
            </a:pPr>
            <a:r>
              <a:rPr lang="en-US" sz="1200" i="1" dirty="0">
                <a:solidFill>
                  <a:srgbClr val="6B7A70"/>
                </a:solidFill>
              </a:rPr>
              <a:t>Ostrom's word: common-pool resource</a:t>
            </a:r>
            <a:endParaRPr lang="en-US" sz="1500" dirty="0"/>
          </a:p>
        </p:txBody>
      </p:sp>
      <p:sp>
        <p:nvSpPr>
          <p:cNvPr id="14" name="card Something everyone gets, helped or not"/>
          <p:cNvSpPr/>
          <p:nvPr/>
        </p:nvSpPr>
        <p:spPr>
          <a:xfrm>
            <a:off x="6135624" y="1828800"/>
            <a:ext cx="5477256" cy="1026414"/>
          </a:xfrm>
          <a:prstGeom prst="roundRect">
            <a:avLst>
              <a:gd name="adj" fmla="val 7127"/>
            </a:avLst>
          </a:prstGeom>
          <a:solidFill>
            <a:schemeClr val="bg2"/>
          </a:solidFill>
          <a:ln w="12700">
            <a:solidFill>
              <a:schemeClr val="bg2"/>
            </a:solidFill>
            <a:prstDash val="solid"/>
          </a:ln>
        </p:spPr>
      </p:sp>
      <p:sp>
        <p:nvSpPr>
          <p:cNvPr id="15" name="Text 12"/>
          <p:cNvSpPr txBox="1"/>
          <p:nvPr/>
        </p:nvSpPr>
        <p:spPr>
          <a:xfrm>
            <a:off x="6272784"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Something everyone gets, helped or not</a:t>
            </a:r>
            <a:endParaRPr lang="en-US" sz="1500" dirty="0"/>
          </a:p>
          <a:p>
            <a:pPr indent="0" marL="0">
              <a:spcAft>
                <a:spcPts val="400"/>
              </a:spcAft>
              <a:buNone/>
            </a:pPr>
            <a:r>
              <a:rPr lang="en-US" sz="1400" dirty="0">
                <a:solidFill>
                  <a:schemeClr val="tx1"/>
                </a:solidFill>
              </a:rPr>
              <a:t>Hard to keep people out, and it doesn't run out: safety, know-how, a weather forecast.</a:t>
            </a:r>
            <a:endParaRPr lang="en-US" sz="1500" dirty="0"/>
          </a:p>
          <a:p>
            <a:pPr indent="0" marL="0">
              <a:spcAft>
                <a:spcPts val="400"/>
              </a:spcAft>
              <a:buNone/>
            </a:pPr>
            <a:r>
              <a:rPr lang="en-US" sz="1200" i="1" dirty="0">
                <a:solidFill>
                  <a:srgbClr val="6B7A70"/>
                </a:solidFill>
              </a:rPr>
              <a:t>Ostrom's word: public good</a:t>
            </a:r>
            <a:endParaRPr lang="en-US" sz="1500" dirty="0"/>
          </a:p>
        </p:txBody>
      </p:sp>
      <p:sp>
        <p:nvSpPr>
          <p:cNvPr id="16" name="card Members only"/>
          <p:cNvSpPr/>
          <p:nvPr/>
        </p:nvSpPr>
        <p:spPr>
          <a:xfrm>
            <a:off x="6135624" y="2964942"/>
            <a:ext cx="5477256" cy="1026414"/>
          </a:xfrm>
          <a:prstGeom prst="roundRect">
            <a:avLst>
              <a:gd name="adj" fmla="val 7127"/>
            </a:avLst>
          </a:prstGeom>
          <a:solidFill>
            <a:schemeClr val="bg2"/>
          </a:solidFill>
          <a:ln w="12700">
            <a:solidFill>
              <a:schemeClr val="bg2"/>
            </a:solidFill>
            <a:prstDash val="solid"/>
          </a:ln>
        </p:spPr>
      </p:sp>
      <p:sp>
        <p:nvSpPr>
          <p:cNvPr id="17" name="Text 14"/>
          <p:cNvSpPr txBox="1"/>
          <p:nvPr/>
        </p:nvSpPr>
        <p:spPr>
          <a:xfrm>
            <a:off x="6272784"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Members only</a:t>
            </a:r>
            <a:endParaRPr lang="en-US" sz="1500" dirty="0"/>
          </a:p>
          <a:p>
            <a:pPr indent="0" marL="0">
              <a:spcAft>
                <a:spcPts val="400"/>
              </a:spcAft>
              <a:buNone/>
            </a:pPr>
            <a:r>
              <a:rPr lang="en-US" sz="1400" dirty="0">
                <a:solidFill>
                  <a:schemeClr val="tx1"/>
                </a:solidFill>
              </a:rPr>
              <a:t>Easy to keep people out, and it only runs short when crowded: a theater, a club, a daycare.</a:t>
            </a:r>
            <a:endParaRPr lang="en-US" sz="1500" dirty="0"/>
          </a:p>
          <a:p>
            <a:pPr indent="0" marL="0">
              <a:spcAft>
                <a:spcPts val="400"/>
              </a:spcAft>
              <a:buNone/>
            </a:pPr>
            <a:r>
              <a:rPr lang="en-US" sz="1200" i="1" dirty="0">
                <a:solidFill>
                  <a:srgbClr val="6B7A70"/>
                </a:solidFill>
              </a:rPr>
              <a:t>Ostrom's word: toll good (club good)</a:t>
            </a:r>
            <a:endParaRPr lang="en-US" sz="1500" dirty="0"/>
          </a:p>
        </p:txBody>
      </p:sp>
      <p:sp>
        <p:nvSpPr>
          <p:cNvPr id="18" name="card Mine"/>
          <p:cNvSpPr/>
          <p:nvPr/>
        </p:nvSpPr>
        <p:spPr>
          <a:xfrm>
            <a:off x="6135624" y="4101084"/>
            <a:ext cx="5477256" cy="1026414"/>
          </a:xfrm>
          <a:prstGeom prst="roundRect">
            <a:avLst>
              <a:gd name="adj" fmla="val 7127"/>
            </a:avLst>
          </a:prstGeom>
          <a:solidFill>
            <a:schemeClr val="bg2"/>
          </a:solidFill>
          <a:ln w="12700">
            <a:solidFill>
              <a:schemeClr val="bg2"/>
            </a:solidFill>
            <a:prstDash val="solid"/>
          </a:ln>
        </p:spPr>
      </p:sp>
      <p:sp>
        <p:nvSpPr>
          <p:cNvPr id="19" name="Text 16"/>
          <p:cNvSpPr txBox="1"/>
          <p:nvPr/>
        </p:nvSpPr>
        <p:spPr>
          <a:xfrm>
            <a:off x="6272784"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Mine</a:t>
            </a:r>
            <a:endParaRPr lang="en-US" sz="1500" dirty="0"/>
          </a:p>
          <a:p>
            <a:pPr indent="0" marL="0">
              <a:spcAft>
                <a:spcPts val="400"/>
              </a:spcAft>
              <a:buNone/>
            </a:pPr>
            <a:r>
              <a:rPr lang="en-US" sz="1400" dirty="0">
                <a:solidFill>
                  <a:schemeClr val="tx1"/>
                </a:solidFill>
              </a:rPr>
              <a:t>Easy to keep people out, and it runs out: food, clothes, a car.</a:t>
            </a:r>
            <a:endParaRPr lang="en-US" sz="1500" dirty="0"/>
          </a:p>
          <a:p>
            <a:pPr indent="0" marL="0">
              <a:spcAft>
                <a:spcPts val="400"/>
              </a:spcAft>
              <a:buNone/>
            </a:pPr>
            <a:r>
              <a:rPr lang="en-US" sz="1200" i="1" dirty="0">
                <a:solidFill>
                  <a:srgbClr val="6B7A70"/>
                </a:solidFill>
              </a:rPr>
              <a:t>Ostrom's word: private good</a:t>
            </a:r>
            <a:endParaRPr lang="en-US" sz="1500" dirty="0"/>
          </a:p>
        </p:txBody>
      </p:sp>
      <p:sp>
        <p:nvSpPr>
          <p:cNvPr id="20" name="card Getting a free ride"/>
          <p:cNvSpPr/>
          <p:nvPr/>
        </p:nvSpPr>
        <p:spPr>
          <a:xfrm>
            <a:off x="6135624" y="5237226"/>
            <a:ext cx="5477256" cy="1026414"/>
          </a:xfrm>
          <a:prstGeom prst="roundRect">
            <a:avLst>
              <a:gd name="adj" fmla="val 7127"/>
            </a:avLst>
          </a:prstGeom>
          <a:solidFill>
            <a:schemeClr val="bg2"/>
          </a:solidFill>
          <a:ln w="12700">
            <a:solidFill>
              <a:schemeClr val="bg2"/>
            </a:solidFill>
            <a:prstDash val="solid"/>
          </a:ln>
        </p:spPr>
      </p:sp>
      <p:sp>
        <p:nvSpPr>
          <p:cNvPr id="21" name="Text 18"/>
          <p:cNvSpPr txBox="1"/>
          <p:nvPr/>
        </p:nvSpPr>
        <p:spPr>
          <a:xfrm>
            <a:off x="6272784"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Getting a free ride</a:t>
            </a:r>
            <a:endParaRPr lang="en-US" sz="1500" dirty="0"/>
          </a:p>
          <a:p>
            <a:pPr indent="0" marL="0">
              <a:spcAft>
                <a:spcPts val="400"/>
              </a:spcAft>
              <a:buNone/>
            </a:pPr>
            <a:r>
              <a:rPr lang="en-US" sz="1400" dirty="0">
                <a:solidFill>
                  <a:schemeClr val="tx1"/>
                </a:solidFill>
              </a:rPr>
              <a:t>Enjoying it without doing your share.</a:t>
            </a:r>
            <a:endParaRPr lang="en-US" sz="1500" dirty="0"/>
          </a:p>
          <a:p>
            <a:pPr indent="0" marL="0">
              <a:spcAft>
                <a:spcPts val="400"/>
              </a:spcAft>
              <a:buNone/>
            </a:pPr>
            <a:r>
              <a:rPr lang="en-US" sz="1200" i="1" dirty="0">
                <a:solidFill>
                  <a:srgbClr val="6B7A70"/>
                </a:solidFill>
              </a:rPr>
              <a:t>Ostrom's word: free-riding</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2 · WHAT WE'RE SHARING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Neighborhood things, sorted</a:t>
            </a:r>
            <a:endParaRPr lang="en-US" sz="3200" dirty="0"/>
          </a:p>
        </p:txBody>
      </p:sp>
      <p:sp>
        <p:nvSpPr>
          <p:cNvPr id="5" name="card Can run out, hard to fence off: the garden water, a shared fund, volunteer hours"/>
          <p:cNvSpPr/>
          <p:nvPr/>
        </p:nvSpPr>
        <p:spPr>
          <a:xfrm>
            <a:off x="548640" y="1463040"/>
            <a:ext cx="5440680" cy="1783080"/>
          </a:xfrm>
          <a:prstGeom prst="roundRect">
            <a:avLst>
              <a:gd name="adj" fmla="val 4103"/>
            </a:avLst>
          </a:prstGeom>
          <a:solidFill>
            <a:srgbClr val="FBEFCB"/>
          </a:solidFill>
          <a:ln w="12700">
            <a:solidFill>
              <a:srgbClr val="FBEFCB"/>
            </a:solidFill>
            <a:prstDash val="solid"/>
          </a:ln>
        </p:spPr>
      </p:sp>
      <p:sp>
        <p:nvSpPr>
          <p:cNvPr id="6" name="Text 3"/>
          <p:cNvSpPr txBox="1"/>
          <p:nvPr/>
        </p:nvSpPr>
        <p:spPr>
          <a:xfrm>
            <a:off x="685800" y="1554480"/>
            <a:ext cx="5166360" cy="16002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Can run out, hard to fence off: the garden water, a shared fund, volunteer hours</a:t>
            </a:r>
            <a:endParaRPr lang="en-US" sz="1600" dirty="0"/>
          </a:p>
          <a:p>
            <a:pPr indent="0" marL="0">
              <a:spcAft>
                <a:spcPts val="400"/>
              </a:spcAft>
              <a:buNone/>
            </a:pPr>
            <a:r>
              <a:rPr lang="en-US" sz="1500" dirty="0">
                <a:solidFill>
                  <a:schemeClr val="tx1"/>
                </a:solidFill>
              </a:rPr>
              <a:t>Two troubles at once: some take too much, too few put back. You need rules for both taking and giving.</a:t>
            </a:r>
            <a:endParaRPr lang="en-US" sz="1600" dirty="0"/>
          </a:p>
        </p:txBody>
      </p:sp>
      <p:sp>
        <p:nvSpPr>
          <p:cNvPr id="7" name="card Everyone gets it: neighborhood safety, a shared know-how wiki"/>
          <p:cNvSpPr/>
          <p:nvPr/>
        </p:nvSpPr>
        <p:spPr>
          <a:xfrm>
            <a:off x="6172200" y="1463040"/>
            <a:ext cx="5440680" cy="1783080"/>
          </a:xfrm>
          <a:prstGeom prst="roundRect">
            <a:avLst>
              <a:gd name="adj" fmla="val 4103"/>
            </a:avLst>
          </a:prstGeom>
          <a:solidFill>
            <a:srgbClr val="DCE8F4"/>
          </a:solidFill>
          <a:ln w="12700">
            <a:solidFill>
              <a:srgbClr val="DCE8F4"/>
            </a:solidFill>
            <a:prstDash val="solid"/>
          </a:ln>
        </p:spPr>
      </p:sp>
      <p:sp>
        <p:nvSpPr>
          <p:cNvPr id="8" name="Text 5"/>
          <p:cNvSpPr txBox="1"/>
          <p:nvPr/>
        </p:nvSpPr>
        <p:spPr>
          <a:xfrm>
            <a:off x="6309360" y="1554480"/>
            <a:ext cx="5166360" cy="16002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Everyone gets it: neighborhood safety, a shared know-how wiki</a:t>
            </a:r>
            <a:endParaRPr lang="en-US" sz="1600" dirty="0"/>
          </a:p>
          <a:p>
            <a:pPr indent="0" marL="0">
              <a:spcAft>
                <a:spcPts val="400"/>
              </a:spcAft>
              <a:buNone/>
            </a:pPr>
            <a:r>
              <a:rPr lang="en-US" sz="1500" dirty="0">
                <a:solidFill>
                  <a:schemeClr val="tx1"/>
                </a:solidFill>
              </a:rPr>
              <a:t>Everyone benefits whether or not they helped, so the trouble is getting enough people to chip in.</a:t>
            </a:r>
            <a:endParaRPr lang="en-US" sz="1600" dirty="0"/>
          </a:p>
        </p:txBody>
      </p:sp>
      <p:sp>
        <p:nvSpPr>
          <p:cNvPr id="9" name="card Members only: a tool library, a co-op's services, a meeting hall"/>
          <p:cNvSpPr/>
          <p:nvPr/>
        </p:nvSpPr>
        <p:spPr>
          <a:xfrm>
            <a:off x="548640" y="3383280"/>
            <a:ext cx="5440680" cy="1783080"/>
          </a:xfrm>
          <a:prstGeom prst="roundRect">
            <a:avLst>
              <a:gd name="adj" fmla="val 4103"/>
            </a:avLst>
          </a:prstGeom>
          <a:solidFill>
            <a:srgbClr val="E6E1F2"/>
          </a:solidFill>
          <a:ln w="12700">
            <a:solidFill>
              <a:srgbClr val="E6E1F2"/>
            </a:solidFill>
            <a:prstDash val="solid"/>
          </a:ln>
        </p:spPr>
      </p:sp>
      <p:sp>
        <p:nvSpPr>
          <p:cNvPr id="10" name="Text 7"/>
          <p:cNvSpPr txBox="1"/>
          <p:nvPr/>
        </p:nvSpPr>
        <p:spPr>
          <a:xfrm>
            <a:off x="685800" y="3474720"/>
            <a:ext cx="5166360" cy="16002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Members only: a tool library, a co-op's services, a meeting hall</a:t>
            </a:r>
            <a:endParaRPr lang="en-US" sz="1600" dirty="0"/>
          </a:p>
          <a:p>
            <a:pPr indent="0" marL="0">
              <a:spcAft>
                <a:spcPts val="400"/>
              </a:spcAft>
              <a:buNone/>
            </a:pPr>
            <a:r>
              <a:rPr lang="en-US" sz="1500" dirty="0">
                <a:solidFill>
                  <a:schemeClr val="tx1"/>
                </a:solidFill>
              </a:rPr>
              <a:t>Most of the work is deciding who is a member, what they pay, and what happens when it gets crowded.</a:t>
            </a:r>
            <a:endParaRPr lang="en-US" sz="1600" dirty="0"/>
          </a:p>
        </p:txBody>
      </p:sp>
      <p:sp>
        <p:nvSpPr>
          <p:cNvPr id="11" name="card Mine: the vegetables from your own plot"/>
          <p:cNvSpPr/>
          <p:nvPr/>
        </p:nvSpPr>
        <p:spPr>
          <a:xfrm>
            <a:off x="6172200" y="3383280"/>
            <a:ext cx="5440680" cy="1783080"/>
          </a:xfrm>
          <a:prstGeom prst="roundRect">
            <a:avLst>
              <a:gd name="adj" fmla="val 4103"/>
            </a:avLst>
          </a:prstGeom>
          <a:solidFill>
            <a:srgbClr val="ECEEEC"/>
          </a:solidFill>
          <a:ln w="12700">
            <a:solidFill>
              <a:srgbClr val="ECEEEC"/>
            </a:solidFill>
            <a:prstDash val="solid"/>
          </a:ln>
        </p:spPr>
      </p:sp>
      <p:sp>
        <p:nvSpPr>
          <p:cNvPr id="12" name="Text 9"/>
          <p:cNvSpPr txBox="1"/>
          <p:nvPr/>
        </p:nvSpPr>
        <p:spPr>
          <a:xfrm>
            <a:off x="6309360" y="3474720"/>
            <a:ext cx="5166360" cy="16002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Mine: the vegetables from your own plot</a:t>
            </a:r>
            <a:endParaRPr lang="en-US" sz="1600" dirty="0"/>
          </a:p>
          <a:p>
            <a:pPr indent="0" marL="0">
              <a:spcAft>
                <a:spcPts val="400"/>
              </a:spcAft>
              <a:buNone/>
            </a:pPr>
            <a:r>
              <a:rPr lang="en-US" sz="1500" dirty="0">
                <a:solidFill>
                  <a:schemeClr val="tx1"/>
                </a:solidFill>
              </a:rPr>
              <a:t>Little to sort out together. Your plot, your tomatoes.</a:t>
            </a:r>
            <a:endParaRPr lang="en-US" sz="1600" dirty="0"/>
          </a:p>
        </p:txBody>
      </p:sp>
      <p:sp>
        <p:nvSpPr>
          <p:cNvPr id="13" name="Text 10"/>
          <p:cNvSpPr txBox="1"/>
          <p:nvPr/>
        </p:nvSpPr>
        <p:spPr>
          <a:xfrm>
            <a:off x="548640" y="5440680"/>
            <a:ext cx="11064240" cy="731520"/>
          </a:xfrm>
          <a:prstGeom prst="rect">
            <a:avLst/>
          </a:prstGeom>
          <a:noFill/>
          <a:ln/>
        </p:spPr>
        <p:txBody>
          <a:bodyPr wrap="square" lIns="0" tIns="0" rIns="0" bIns="0" rtlCol="0" anchor="t"/>
          <a:lstStyle/>
          <a:p>
            <a:pPr indent="0" marL="0">
              <a:spcAft>
                <a:spcPts val="600"/>
              </a:spcAft>
              <a:buNone/>
            </a:pPr>
            <a:r>
              <a:rPr lang="en-US" sz="1600" i="1" dirty="0">
                <a:solidFill>
                  <a:schemeClr val="accent1"/>
                </a:solidFill>
              </a:rPr>
              <a:t>In a wet spring nobody fights over the garden water. In a drought, every gallon counts. The same thing can slide from one box toward another.</a:t>
            </a:r>
            <a:endParaRPr lang="en-US" sz="16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Where we meet and choose</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What happens when people get together depends on the place, the people, and the rules they really follow.</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1   The people and the place</a:t>
            </a:r>
            <a:endParaRPr lang="en-US" sz="1500" dirty="0"/>
          </a:p>
        </p:txBody>
      </p:sp>
      <p:sp>
        <p:nvSpPr>
          <p:cNvPr id="6" name="rung 2"/>
          <p:cNvSpPr/>
          <p:nvPr/>
        </p:nvSpPr>
        <p:spPr>
          <a:xfrm>
            <a:off x="7333488" y="1444752"/>
            <a:ext cx="418795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2   What we're sharing</a:t>
            </a:r>
            <a:endParaRPr lang="en-US" sz="1500" dirty="0"/>
          </a:p>
        </p:txBody>
      </p:sp>
      <p:sp>
        <p:nvSpPr>
          <p:cNvPr id="7" name="rung 3"/>
          <p:cNvSpPr/>
          <p:nvPr/>
        </p:nvSpPr>
        <p:spPr>
          <a:xfrm>
            <a:off x="7443216" y="1975104"/>
            <a:ext cx="4078224"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3   Where we meet and choose</a:t>
            </a:r>
            <a:endParaRPr lang="en-US" sz="1500" dirty="0"/>
          </a:p>
        </p:txBody>
      </p:sp>
      <p:sp>
        <p:nvSpPr>
          <p:cNvPr id="8" name="rung 4"/>
          <p:cNvSpPr/>
          <p:nvPr/>
        </p:nvSpPr>
        <p:spPr>
          <a:xfrm>
            <a:off x="7552944" y="2505456"/>
            <a:ext cx="396849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4   Who sets the rules</a:t>
            </a:r>
            <a:endParaRPr lang="en-US" sz="1500" dirty="0"/>
          </a:p>
        </p:txBody>
      </p:sp>
      <p:sp>
        <p:nvSpPr>
          <p:cNvPr id="9" name="rung 5"/>
          <p:cNvSpPr/>
          <p:nvPr/>
        </p:nvSpPr>
        <p:spPr>
          <a:xfrm>
            <a:off x="7662672" y="3035808"/>
            <a:ext cx="3858768"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5   What's going on when we meet</a:t>
            </a:r>
            <a:endParaRPr lang="en-US" sz="1500" dirty="0"/>
          </a:p>
        </p:txBody>
      </p:sp>
      <p:sp>
        <p:nvSpPr>
          <p:cNvPr id="10" name="rung 6"/>
          <p:cNvSpPr/>
          <p:nvPr/>
        </p:nvSpPr>
        <p:spPr>
          <a:xfrm>
            <a:off x="7772400" y="3566160"/>
            <a:ext cx="374904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6   The house rules</a:t>
            </a:r>
            <a:endParaRPr lang="en-US" sz="1500" dirty="0"/>
          </a:p>
        </p:txBody>
      </p:sp>
      <p:sp>
        <p:nvSpPr>
          <p:cNvPr id="11" name="rung 7"/>
          <p:cNvSpPr/>
          <p:nvPr/>
        </p:nvSpPr>
        <p:spPr>
          <a:xfrm>
            <a:off x="7882128" y="4096512"/>
            <a:ext cx="363931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7   What long-lasting groups do</a:t>
            </a:r>
            <a:endParaRPr lang="en-US" sz="1500" dirty="0"/>
          </a:p>
        </p:txBody>
      </p:sp>
      <p:sp>
        <p:nvSpPr>
          <p:cNvPr id="12" name="rung 8"/>
          <p:cNvSpPr/>
          <p:nvPr/>
        </p:nvSpPr>
        <p:spPr>
          <a:xfrm>
            <a:off x="7991856" y="4626864"/>
            <a:ext cx="352958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8   How a rule is put together</a:t>
            </a:r>
            <a:endParaRPr lang="en-US" sz="1500" dirty="0"/>
          </a:p>
        </p:txBody>
      </p:sp>
      <p:sp>
        <p:nvSpPr>
          <p:cNvPr id="13" name="rung 9"/>
          <p:cNvSpPr/>
          <p:nvPr/>
        </p:nvSpPr>
        <p:spPr>
          <a:xfrm>
            <a:off x="8101584" y="5157216"/>
            <a:ext cx="341985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9   Do I do my share?</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3 · WHERE WE MEET AND CHOOSE · YOU ALREADY KNOW THIS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Think of a family dinner</a:t>
            </a:r>
            <a:endParaRPr lang="en-US" sz="3200" dirty="0"/>
          </a:p>
        </p:txBody>
      </p:sp>
      <p:sp>
        <p:nvSpPr>
          <p:cNvPr id="5" name="card A family dinner"/>
          <p:cNvSpPr/>
          <p:nvPr/>
        </p:nvSpPr>
        <p:spPr>
          <a:xfrm>
            <a:off x="548640" y="1463040"/>
            <a:ext cx="5120640" cy="4754880"/>
          </a:xfrm>
          <a:prstGeom prst="roundRect">
            <a:avLst>
              <a:gd name="adj" fmla="val 1538"/>
            </a:avLst>
          </a:prstGeom>
          <a:solidFill>
            <a:srgbClr val="FBF3E6"/>
          </a:solidFill>
          <a:ln w="12700">
            <a:solidFill>
              <a:srgbClr val="FBF3E6"/>
            </a:solidFill>
            <a:prstDash val="solid"/>
          </a:ln>
        </p:spPr>
      </p:sp>
      <p:sp>
        <p:nvSpPr>
          <p:cNvPr id="6" name="Text 3"/>
          <p:cNvSpPr txBox="1"/>
          <p:nvPr/>
        </p:nvSpPr>
        <p:spPr>
          <a:xfrm>
            <a:off x="685800" y="1554480"/>
            <a:ext cx="4846320" cy="457200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A family dinner</a:t>
            </a:r>
            <a:endParaRPr lang="en-US" sz="2000" dirty="0"/>
          </a:p>
          <a:p>
            <a:pPr indent="0" marL="0">
              <a:spcAft>
                <a:spcPts val="400"/>
              </a:spcAft>
              <a:buNone/>
            </a:pPr>
            <a:r>
              <a:rPr lang="en-US" sz="1700" dirty="0">
                <a:solidFill>
                  <a:schemeClr val="tx1"/>
                </a:solidFill>
              </a:rPr>
              <a:t>What happens depends on what's in the fridge, who's at the table and how they get along, and the house rules (phones away, kids clear the plates). Afterwards everyone has an opinion on how it went. Next time, something changes.</a:t>
            </a:r>
            <a:endParaRPr lang="en-US" sz="2000" dirty="0"/>
          </a:p>
        </p:txBody>
      </p:sp>
      <p:sp>
        <p:nvSpPr>
          <p:cNvPr id="7" name="Text 4"/>
          <p:cNvSpPr/>
          <p:nvPr/>
        </p:nvSpPr>
        <p:spPr>
          <a:xfrm>
            <a:off x="5989320" y="146304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Text 5"/>
          <p:cNvSpPr txBox="1"/>
          <p:nvPr/>
        </p:nvSpPr>
        <p:spPr>
          <a:xfrm>
            <a:off x="6629400" y="1481328"/>
            <a:ext cx="4983480" cy="149352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Three things set the scene: the stuff, the people, and the rules people really follow.</a:t>
            </a:r>
            <a:endParaRPr lang="en-US" sz="1700" dirty="0"/>
          </a:p>
        </p:txBody>
      </p:sp>
      <p:sp>
        <p:nvSpPr>
          <p:cNvPr id="9" name="Text 6"/>
          <p:cNvSpPr/>
          <p:nvPr/>
        </p:nvSpPr>
        <p:spPr>
          <a:xfrm>
            <a:off x="5989320" y="304800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7"/>
          <p:cNvSpPr txBox="1"/>
          <p:nvPr/>
        </p:nvSpPr>
        <p:spPr>
          <a:xfrm>
            <a:off x="6629400" y="3066288"/>
            <a:ext cx="4983480" cy="149352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Then people do things, and something comes of it.</a:t>
            </a:r>
            <a:endParaRPr lang="en-US" sz="1700" dirty="0"/>
          </a:p>
        </p:txBody>
      </p:sp>
      <p:sp>
        <p:nvSpPr>
          <p:cNvPr id="11" name="Text 8"/>
          <p:cNvSpPr/>
          <p:nvPr/>
        </p:nvSpPr>
        <p:spPr>
          <a:xfrm>
            <a:off x="5989320" y="463296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9"/>
          <p:cNvSpPr txBox="1"/>
          <p:nvPr/>
        </p:nvSpPr>
        <p:spPr>
          <a:xfrm>
            <a:off x="6629400" y="4651248"/>
            <a:ext cx="4983480" cy="149352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People judge how it went, and that changes the next time. Sometimes it changes the rules.</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3 · WHERE WE MEET AND CHOOSE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What shapes what happens when we get together</a:t>
            </a:r>
            <a:endParaRPr lang="en-US" sz="3200" dirty="0"/>
          </a:p>
        </p:txBody>
      </p:sp>
      <p:pic>
        <p:nvPicPr>
          <p:cNvPr id="5" name="Image 0" descr="What shapes what happens when we get together">    </p:cNvPr>
          <p:cNvPicPr>
            <a:picLocks noChangeAspect="1"/>
          </p:cNvPicPr>
          <p:nvPr/>
        </p:nvPicPr>
        <p:blipFill>
          <a:blip r:embed="rId1"/>
          <a:stretch>
            <a:fillRect/>
          </a:stretch>
        </p:blipFill>
        <p:spPr>
          <a:xfrm>
            <a:off x="457200" y="1553401"/>
            <a:ext cx="7589520" cy="4436999"/>
          </a:xfrm>
          <a:prstGeom prst="rect">
            <a:avLst/>
          </a:prstGeom>
        </p:spPr>
      </p:pic>
      <p:sp>
        <p:nvSpPr>
          <p:cNvPr id="6" name="Text 2"/>
          <p:cNvSpPr txBox="1"/>
          <p:nvPr/>
        </p:nvSpPr>
        <p:spPr>
          <a:xfrm>
            <a:off x="457200" y="6036119"/>
            <a:ext cx="7589520" cy="274320"/>
          </a:xfrm>
          <a:prstGeom prst="rect">
            <a:avLst/>
          </a:prstGeom>
          <a:noFill/>
          <a:ln/>
        </p:spPr>
        <p:txBody>
          <a:bodyPr wrap="square" lIns="0" tIns="0" rIns="0" bIns="0" rtlCol="0" anchor="ctr"/>
          <a:lstStyle/>
          <a:p>
            <a:pPr indent="0" marL="0">
              <a:buNone/>
            </a:pPr>
            <a:r>
              <a:rPr lang="en-US" sz="1000" i="1" dirty="0">
                <a:solidFill>
                  <a:srgbClr val="5B6B60"/>
                </a:solidFill>
              </a:rPr>
              <a:t>Ostrom 2010, Figure 2, adapted from Ostrom 2005. Green title: Marc's</a:t>
            </a:r>
            <a:endParaRPr lang="en-US" sz="1000" dirty="0"/>
          </a:p>
        </p:txBody>
      </p:sp>
      <p:sp>
        <p:nvSpPr>
          <p:cNvPr id="7" name="reading panel"/>
          <p:cNvSpPr/>
          <p:nvPr/>
        </p:nvSpPr>
        <p:spPr>
          <a:xfrm>
            <a:off x="8321040" y="1417320"/>
            <a:ext cx="3429000" cy="4846320"/>
          </a:xfrm>
          <a:prstGeom prst="roundRect">
            <a:avLst>
              <a:gd name="adj" fmla="val 2133"/>
            </a:avLst>
          </a:prstGeom>
          <a:solidFill>
            <a:schemeClr val="bg2"/>
          </a:solidFill>
          <a:ln w="12700">
            <a:solidFill>
              <a:schemeClr val="bg2"/>
            </a:solidFill>
            <a:prstDash val="solid"/>
          </a:ln>
        </p:spPr>
      </p:sp>
      <p:sp>
        <p:nvSpPr>
          <p:cNvPr id="8" name="Text 4"/>
          <p:cNvSpPr txBox="1"/>
          <p:nvPr/>
        </p:nvSpPr>
        <p:spPr>
          <a:xfrm>
            <a:off x="8503920" y="1554480"/>
            <a:ext cx="31089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READING THE PICTURE</a:t>
            </a:r>
            <a:endParaRPr lang="en-US" sz="1200" dirty="0"/>
          </a:p>
        </p:txBody>
      </p:sp>
      <p:sp>
        <p:nvSpPr>
          <p:cNvPr id="9" name="Text 5"/>
          <p:cNvSpPr txBox="1"/>
          <p:nvPr/>
        </p:nvSpPr>
        <p:spPr>
          <a:xfrm>
            <a:off x="8503920" y="1920240"/>
            <a:ext cx="3108960" cy="4251960"/>
          </a:xfrm>
          <a:prstGeom prst="rect">
            <a:avLst/>
          </a:prstGeom>
          <a:noFill/>
          <a:ln/>
        </p:spPr>
        <p:txBody>
          <a:bodyPr wrap="square" lIns="0" tIns="0" rIns="0" bIns="0" rtlCol="0" anchor="t"/>
          <a:lstStyle/>
          <a:p>
            <a:pPr marL="190500" indent="-190500">
              <a:spcAft>
                <a:spcPts val="800"/>
              </a:spcAft>
              <a:buSzPct val="100000"/>
              <a:buChar char="•"/>
            </a:pPr>
            <a:r>
              <a:rPr lang="en-US" sz="1400" dirty="0">
                <a:solidFill>
                  <a:schemeClr val="tx1"/>
                </a:solidFill>
              </a:rPr>
              <a:t>Left: the stuff, the people, and the rules they really follow.</a:t>
            </a:r>
            <a:endParaRPr lang="en-US" sz="1400" dirty="0"/>
          </a:p>
          <a:p>
            <a:pPr marL="190500" indent="-190500">
              <a:spcAft>
                <a:spcPts val="800"/>
              </a:spcAft>
              <a:buSzPct val="100000"/>
              <a:buChar char="•"/>
            </a:pPr>
            <a:r>
              <a:rPr lang="en-US" sz="1400" dirty="0">
                <a:solidFill>
                  <a:schemeClr val="tx1"/>
                </a:solidFill>
              </a:rPr>
              <a:t>Middle: the get-together, where people choose.</a:t>
            </a:r>
            <a:endParaRPr lang="en-US" sz="1400" dirty="0"/>
          </a:p>
          <a:p>
            <a:pPr marL="190500" indent="-190500">
              <a:spcAft>
                <a:spcPts val="800"/>
              </a:spcAft>
              <a:buSzPct val="100000"/>
              <a:buChar char="•"/>
            </a:pPr>
            <a:r>
              <a:rPr lang="en-US" sz="1400" dirty="0">
                <a:solidFill>
                  <a:schemeClr val="tx1"/>
                </a:solidFill>
              </a:rPr>
              <a:t>Right: what people do, how it turns out, and how we judge whether it worked.</a:t>
            </a:r>
            <a:endParaRPr lang="en-US" sz="1400" dirty="0"/>
          </a:p>
          <a:p>
            <a:pPr marL="190500" indent="-190500">
              <a:spcAft>
                <a:spcPts val="800"/>
              </a:spcAft>
              <a:buSzPct val="100000"/>
              <a:buChar char="•"/>
            </a:pPr>
            <a:r>
              <a:rPr lang="en-US" sz="1400" dirty="0">
                <a:solidFill>
                  <a:schemeClr val="tx1"/>
                </a:solidFill>
              </a:rPr>
              <a:t>Dashed arrows: how it went comes back around. The long one is people changing their own rules.</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3 · WHERE WE MEET AND CHOOSE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Reading the picture, in everyday words (1 of 2)</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Each card: the everyday words first, what they mean, and the word Ostrom used.</a:t>
            </a:r>
            <a:endParaRPr lang="en-US" sz="1500" dirty="0"/>
          </a:p>
        </p:txBody>
      </p:sp>
      <p:sp>
        <p:nvSpPr>
          <p:cNvPr id="6" name="card How rules shape what people do"/>
          <p:cNvSpPr/>
          <p:nvPr/>
        </p:nvSpPr>
        <p:spPr>
          <a:xfrm>
            <a:off x="548640" y="1828800"/>
            <a:ext cx="5477256" cy="1405128"/>
          </a:xfrm>
          <a:prstGeom prst="roundRect">
            <a:avLst>
              <a:gd name="adj" fmla="val 5206"/>
            </a:avLst>
          </a:prstGeom>
          <a:solidFill>
            <a:schemeClr val="bg2"/>
          </a:solidFill>
          <a:ln w="12700">
            <a:solidFill>
              <a:schemeClr val="bg2"/>
            </a:solidFill>
            <a:prstDash val="solid"/>
          </a:ln>
        </p:spPr>
      </p:sp>
      <p:sp>
        <p:nvSpPr>
          <p:cNvPr id="7" name="Text 4"/>
          <p:cNvSpPr txBox="1"/>
          <p:nvPr/>
        </p:nvSpPr>
        <p:spPr>
          <a:xfrm>
            <a:off x="685800" y="1920240"/>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How rules shape what people do</a:t>
            </a:r>
            <a:endParaRPr lang="en-US" sz="1500" dirty="0"/>
          </a:p>
          <a:p>
            <a:pPr indent="0" marL="0">
              <a:spcAft>
                <a:spcPts val="400"/>
              </a:spcAft>
              <a:buNone/>
            </a:pPr>
            <a:r>
              <a:rPr lang="en-US" sz="1400" dirty="0">
                <a:solidFill>
                  <a:schemeClr val="tx1"/>
                </a:solidFill>
              </a:rPr>
              <a:t>Ostrom's whole way of looking at things, named after the job it does.</a:t>
            </a:r>
            <a:endParaRPr lang="en-US" sz="1500" dirty="0"/>
          </a:p>
          <a:p>
            <a:pPr indent="0" marL="0">
              <a:spcAft>
                <a:spcPts val="400"/>
              </a:spcAft>
              <a:buNone/>
            </a:pPr>
            <a:r>
              <a:rPr lang="en-US" sz="1200" i="1" dirty="0">
                <a:solidFill>
                  <a:srgbClr val="6B7A70"/>
                </a:solidFill>
              </a:rPr>
              <a:t>Ostrom's word: IAD (Institutional Analysis and Development) framework</a:t>
            </a:r>
            <a:endParaRPr lang="en-US" sz="1500" dirty="0"/>
          </a:p>
        </p:txBody>
      </p:sp>
      <p:sp>
        <p:nvSpPr>
          <p:cNvPr id="8" name="card The ways we do things here"/>
          <p:cNvSpPr/>
          <p:nvPr/>
        </p:nvSpPr>
        <p:spPr>
          <a:xfrm>
            <a:off x="548640" y="3343656"/>
            <a:ext cx="5477256" cy="1405128"/>
          </a:xfrm>
          <a:prstGeom prst="roundRect">
            <a:avLst>
              <a:gd name="adj" fmla="val 5206"/>
            </a:avLst>
          </a:prstGeom>
          <a:solidFill>
            <a:schemeClr val="bg2"/>
          </a:solidFill>
          <a:ln w="12700">
            <a:solidFill>
              <a:schemeClr val="bg2"/>
            </a:solidFill>
            <a:prstDash val="solid"/>
          </a:ln>
        </p:spPr>
      </p:sp>
      <p:sp>
        <p:nvSpPr>
          <p:cNvPr id="9" name="Text 6"/>
          <p:cNvSpPr txBox="1"/>
          <p:nvPr/>
        </p:nvSpPr>
        <p:spPr>
          <a:xfrm>
            <a:off x="685800" y="3435096"/>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ways we do things here</a:t>
            </a:r>
            <a:endParaRPr lang="en-US" sz="1500" dirty="0"/>
          </a:p>
          <a:p>
            <a:pPr indent="0" marL="0">
              <a:spcAft>
                <a:spcPts val="400"/>
              </a:spcAft>
              <a:buNone/>
            </a:pPr>
            <a:r>
              <a:rPr lang="en-US" sz="1400" dirty="0">
                <a:solidFill>
                  <a:schemeClr val="tx1"/>
                </a:solidFill>
              </a:rPr>
              <a:t>Rules, habits and expectations. Not a building or an agency.</a:t>
            </a:r>
            <a:endParaRPr lang="en-US" sz="1500" dirty="0"/>
          </a:p>
          <a:p>
            <a:pPr indent="0" marL="0">
              <a:spcAft>
                <a:spcPts val="400"/>
              </a:spcAft>
              <a:buNone/>
            </a:pPr>
            <a:r>
              <a:rPr lang="en-US" sz="1200" i="1" dirty="0">
                <a:solidFill>
                  <a:srgbClr val="6B7A70"/>
                </a:solidFill>
              </a:rPr>
              <a:t>Ostrom's word: institution</a:t>
            </a:r>
            <a:endParaRPr lang="en-US" sz="1500" dirty="0"/>
          </a:p>
        </p:txBody>
      </p:sp>
      <p:sp>
        <p:nvSpPr>
          <p:cNvPr id="10" name="card Things set from outside"/>
          <p:cNvSpPr/>
          <p:nvPr/>
        </p:nvSpPr>
        <p:spPr>
          <a:xfrm>
            <a:off x="548640" y="4858512"/>
            <a:ext cx="5477256" cy="1405128"/>
          </a:xfrm>
          <a:prstGeom prst="roundRect">
            <a:avLst>
              <a:gd name="adj" fmla="val 5206"/>
            </a:avLst>
          </a:prstGeom>
          <a:solidFill>
            <a:schemeClr val="bg2"/>
          </a:solidFill>
          <a:ln w="12700">
            <a:solidFill>
              <a:schemeClr val="bg2"/>
            </a:solidFill>
            <a:prstDash val="solid"/>
          </a:ln>
        </p:spPr>
      </p:sp>
      <p:sp>
        <p:nvSpPr>
          <p:cNvPr id="11" name="Text 8"/>
          <p:cNvSpPr txBox="1"/>
          <p:nvPr/>
        </p:nvSpPr>
        <p:spPr>
          <a:xfrm>
            <a:off x="685800" y="4949952"/>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Things set from outside</a:t>
            </a:r>
            <a:endParaRPr lang="en-US" sz="1500" dirty="0"/>
          </a:p>
          <a:p>
            <a:pPr indent="0" marL="0">
              <a:spcAft>
                <a:spcPts val="400"/>
              </a:spcAft>
              <a:buNone/>
            </a:pPr>
            <a:r>
              <a:rPr lang="en-US" sz="1400" dirty="0">
                <a:solidFill>
                  <a:schemeClr val="tx1"/>
                </a:solidFill>
              </a:rPr>
              <a:t>What the people at the table can't change in the moment.</a:t>
            </a:r>
            <a:endParaRPr lang="en-US" sz="1500" dirty="0"/>
          </a:p>
          <a:p>
            <a:pPr indent="0" marL="0">
              <a:spcAft>
                <a:spcPts val="400"/>
              </a:spcAft>
              <a:buNone/>
            </a:pPr>
            <a:r>
              <a:rPr lang="en-US" sz="1200" i="1" dirty="0">
                <a:solidFill>
                  <a:srgbClr val="6B7A70"/>
                </a:solidFill>
              </a:rPr>
              <a:t>Ostrom's word: external variables (exogenous)</a:t>
            </a:r>
            <a:endParaRPr lang="en-US" sz="1500" dirty="0"/>
          </a:p>
        </p:txBody>
      </p:sp>
      <p:sp>
        <p:nvSpPr>
          <p:cNvPr id="12" name="card The stuff"/>
          <p:cNvSpPr/>
          <p:nvPr/>
        </p:nvSpPr>
        <p:spPr>
          <a:xfrm>
            <a:off x="6135624" y="1828800"/>
            <a:ext cx="5477256" cy="1405128"/>
          </a:xfrm>
          <a:prstGeom prst="roundRect">
            <a:avLst>
              <a:gd name="adj" fmla="val 5206"/>
            </a:avLst>
          </a:prstGeom>
          <a:solidFill>
            <a:schemeClr val="bg2"/>
          </a:solidFill>
          <a:ln w="12700">
            <a:solidFill>
              <a:schemeClr val="bg2"/>
            </a:solidFill>
            <a:prstDash val="solid"/>
          </a:ln>
        </p:spPr>
      </p:sp>
      <p:sp>
        <p:nvSpPr>
          <p:cNvPr id="13" name="Text 10"/>
          <p:cNvSpPr txBox="1"/>
          <p:nvPr/>
        </p:nvSpPr>
        <p:spPr>
          <a:xfrm>
            <a:off x="6272784" y="1920240"/>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stuff</a:t>
            </a:r>
            <a:endParaRPr lang="en-US" sz="1500" dirty="0"/>
          </a:p>
          <a:p>
            <a:pPr indent="0" marL="0">
              <a:spcAft>
                <a:spcPts val="400"/>
              </a:spcAft>
              <a:buNone/>
            </a:pPr>
            <a:r>
              <a:rPr lang="en-US" sz="1400" dirty="0">
                <a:solidFill>
                  <a:schemeClr val="tx1"/>
                </a:solidFill>
              </a:rPr>
              <a:t>The physical facts: the water, the soil, the weather, the room.</a:t>
            </a:r>
            <a:endParaRPr lang="en-US" sz="1500" dirty="0"/>
          </a:p>
          <a:p>
            <a:pPr indent="0" marL="0">
              <a:spcAft>
                <a:spcPts val="400"/>
              </a:spcAft>
              <a:buNone/>
            </a:pPr>
            <a:r>
              <a:rPr lang="en-US" sz="1200" i="1" dirty="0">
                <a:solidFill>
                  <a:srgbClr val="6B7A70"/>
                </a:solidFill>
              </a:rPr>
              <a:t>Ostrom's word: biophysical conditions</a:t>
            </a:r>
            <a:endParaRPr lang="en-US" sz="1500" dirty="0"/>
          </a:p>
        </p:txBody>
      </p:sp>
      <p:sp>
        <p:nvSpPr>
          <p:cNvPr id="14" name="card The people"/>
          <p:cNvSpPr/>
          <p:nvPr/>
        </p:nvSpPr>
        <p:spPr>
          <a:xfrm>
            <a:off x="6135624" y="3343656"/>
            <a:ext cx="5477256" cy="1405128"/>
          </a:xfrm>
          <a:prstGeom prst="roundRect">
            <a:avLst>
              <a:gd name="adj" fmla="val 5206"/>
            </a:avLst>
          </a:prstGeom>
          <a:solidFill>
            <a:schemeClr val="bg2"/>
          </a:solidFill>
          <a:ln w="12700">
            <a:solidFill>
              <a:schemeClr val="bg2"/>
            </a:solidFill>
            <a:prstDash val="solid"/>
          </a:ln>
        </p:spPr>
      </p:sp>
      <p:sp>
        <p:nvSpPr>
          <p:cNvPr id="15" name="Text 12"/>
          <p:cNvSpPr txBox="1"/>
          <p:nvPr/>
        </p:nvSpPr>
        <p:spPr>
          <a:xfrm>
            <a:off x="6272784" y="3435096"/>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people</a:t>
            </a:r>
            <a:endParaRPr lang="en-US" sz="1500" dirty="0"/>
          </a:p>
          <a:p>
            <a:pPr indent="0" marL="0">
              <a:spcAft>
                <a:spcPts val="400"/>
              </a:spcAft>
              <a:buNone/>
            </a:pPr>
            <a:r>
              <a:rPr lang="en-US" sz="1400" dirty="0">
                <a:solidFill>
                  <a:schemeClr val="tx1"/>
                </a:solidFill>
              </a:rPr>
              <a:t>Who they are, their history together, what they know, how far they trust each other.</a:t>
            </a:r>
            <a:endParaRPr lang="en-US" sz="1500" dirty="0"/>
          </a:p>
          <a:p>
            <a:pPr indent="0" marL="0">
              <a:spcAft>
                <a:spcPts val="400"/>
              </a:spcAft>
              <a:buNone/>
            </a:pPr>
            <a:r>
              <a:rPr lang="en-US" sz="1200" i="1" dirty="0">
                <a:solidFill>
                  <a:srgbClr val="6B7A70"/>
                </a:solidFill>
              </a:rPr>
              <a:t>Ostrom's word: attributes of community</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3 · WHERE WE MEET AND CHOOSE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Reading the picture, in everyday words (2 of 2)</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Each card: the everyday words first, what they mean, and the word Ostrom used.</a:t>
            </a:r>
            <a:endParaRPr lang="en-US" sz="1500" dirty="0"/>
          </a:p>
        </p:txBody>
      </p:sp>
      <p:sp>
        <p:nvSpPr>
          <p:cNvPr id="6" name="card How things really work here"/>
          <p:cNvSpPr/>
          <p:nvPr/>
        </p:nvSpPr>
        <p:spPr>
          <a:xfrm>
            <a:off x="548640" y="1828800"/>
            <a:ext cx="5477256" cy="1405128"/>
          </a:xfrm>
          <a:prstGeom prst="roundRect">
            <a:avLst>
              <a:gd name="adj" fmla="val 5206"/>
            </a:avLst>
          </a:prstGeom>
          <a:solidFill>
            <a:schemeClr val="bg2"/>
          </a:solidFill>
          <a:ln w="12700">
            <a:solidFill>
              <a:schemeClr val="bg2"/>
            </a:solidFill>
            <a:prstDash val="solid"/>
          </a:ln>
        </p:spPr>
      </p:sp>
      <p:sp>
        <p:nvSpPr>
          <p:cNvPr id="7" name="Text 4"/>
          <p:cNvSpPr txBox="1"/>
          <p:nvPr/>
        </p:nvSpPr>
        <p:spPr>
          <a:xfrm>
            <a:off x="685800" y="1920240"/>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How things really work here</a:t>
            </a:r>
            <a:endParaRPr lang="en-US" sz="1500" dirty="0"/>
          </a:p>
          <a:p>
            <a:pPr indent="0" marL="0">
              <a:spcAft>
                <a:spcPts val="400"/>
              </a:spcAft>
              <a:buNone/>
            </a:pPr>
            <a:r>
              <a:rPr lang="en-US" sz="1400" dirty="0">
                <a:solidFill>
                  <a:schemeClr val="tx1"/>
                </a:solidFill>
              </a:rPr>
              <a:t>The rules people actually follow, which may not be the ones written down.</a:t>
            </a:r>
            <a:endParaRPr lang="en-US" sz="1500" dirty="0"/>
          </a:p>
          <a:p>
            <a:pPr indent="0" marL="0">
              <a:spcAft>
                <a:spcPts val="400"/>
              </a:spcAft>
              <a:buNone/>
            </a:pPr>
            <a:r>
              <a:rPr lang="en-US" sz="1200" i="1" dirty="0">
                <a:solidFill>
                  <a:srgbClr val="6B7A70"/>
                </a:solidFill>
              </a:rPr>
              <a:t>Ostrom's word: rules-in-use</a:t>
            </a:r>
            <a:endParaRPr lang="en-US" sz="1500" dirty="0"/>
          </a:p>
        </p:txBody>
      </p:sp>
      <p:sp>
        <p:nvSpPr>
          <p:cNvPr id="8" name="card Where we meet and choose"/>
          <p:cNvSpPr/>
          <p:nvPr/>
        </p:nvSpPr>
        <p:spPr>
          <a:xfrm>
            <a:off x="548640" y="3343656"/>
            <a:ext cx="5477256" cy="1405128"/>
          </a:xfrm>
          <a:prstGeom prst="roundRect">
            <a:avLst>
              <a:gd name="adj" fmla="val 5206"/>
            </a:avLst>
          </a:prstGeom>
          <a:solidFill>
            <a:schemeClr val="bg2"/>
          </a:solidFill>
          <a:ln w="12700">
            <a:solidFill>
              <a:schemeClr val="bg2"/>
            </a:solidFill>
            <a:prstDash val="solid"/>
          </a:ln>
        </p:spPr>
      </p:sp>
      <p:sp>
        <p:nvSpPr>
          <p:cNvPr id="9" name="Text 6"/>
          <p:cNvSpPr txBox="1"/>
          <p:nvPr/>
        </p:nvSpPr>
        <p:spPr>
          <a:xfrm>
            <a:off x="685800" y="3435096"/>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Where we meet and choose</a:t>
            </a:r>
            <a:endParaRPr lang="en-US" sz="1500" dirty="0"/>
          </a:p>
          <a:p>
            <a:pPr indent="0" marL="0">
              <a:spcAft>
                <a:spcPts val="400"/>
              </a:spcAft>
              <a:buNone/>
            </a:pPr>
            <a:r>
              <a:rPr lang="en-US" sz="1400" dirty="0">
                <a:solidFill>
                  <a:schemeClr val="tx1"/>
                </a:solidFill>
              </a:rPr>
              <a:t>Any get-together where choices affect each other: a meeting, watering day, a market.</a:t>
            </a:r>
            <a:endParaRPr lang="en-US" sz="1500" dirty="0"/>
          </a:p>
          <a:p>
            <a:pPr indent="0" marL="0">
              <a:spcAft>
                <a:spcPts val="400"/>
              </a:spcAft>
              <a:buNone/>
            </a:pPr>
            <a:r>
              <a:rPr lang="en-US" sz="1200" i="1" dirty="0">
                <a:solidFill>
                  <a:srgbClr val="6B7A70"/>
                </a:solidFill>
              </a:rPr>
              <a:t>Ostrom's word: action situation</a:t>
            </a:r>
            <a:endParaRPr lang="en-US" sz="1500" dirty="0"/>
          </a:p>
        </p:txBody>
      </p:sp>
      <p:sp>
        <p:nvSpPr>
          <p:cNvPr id="10" name="card What we did, and what came of it"/>
          <p:cNvSpPr/>
          <p:nvPr/>
        </p:nvSpPr>
        <p:spPr>
          <a:xfrm>
            <a:off x="548640" y="4858512"/>
            <a:ext cx="5477256" cy="1405128"/>
          </a:xfrm>
          <a:prstGeom prst="roundRect">
            <a:avLst>
              <a:gd name="adj" fmla="val 5206"/>
            </a:avLst>
          </a:prstGeom>
          <a:solidFill>
            <a:schemeClr val="bg2"/>
          </a:solidFill>
          <a:ln w="12700">
            <a:solidFill>
              <a:schemeClr val="bg2"/>
            </a:solidFill>
            <a:prstDash val="solid"/>
          </a:ln>
        </p:spPr>
      </p:sp>
      <p:sp>
        <p:nvSpPr>
          <p:cNvPr id="11" name="Text 8"/>
          <p:cNvSpPr txBox="1"/>
          <p:nvPr/>
        </p:nvSpPr>
        <p:spPr>
          <a:xfrm>
            <a:off x="685800" y="4949952"/>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What we did, and what came of it</a:t>
            </a:r>
            <a:endParaRPr lang="en-US" sz="1500" dirty="0"/>
          </a:p>
          <a:p>
            <a:pPr indent="0" marL="0">
              <a:spcAft>
                <a:spcPts val="400"/>
              </a:spcAft>
              <a:buNone/>
            </a:pPr>
            <a:r>
              <a:rPr lang="en-US" sz="1400" dirty="0">
                <a:solidFill>
                  <a:schemeClr val="tx1"/>
                </a:solidFill>
              </a:rPr>
              <a:t>What people actually did, and how it turned out.</a:t>
            </a:r>
            <a:endParaRPr lang="en-US" sz="1500" dirty="0"/>
          </a:p>
          <a:p>
            <a:pPr indent="0" marL="0">
              <a:spcAft>
                <a:spcPts val="400"/>
              </a:spcAft>
              <a:buNone/>
            </a:pPr>
            <a:r>
              <a:rPr lang="en-US" sz="1200" i="1" dirty="0">
                <a:solidFill>
                  <a:srgbClr val="6B7A70"/>
                </a:solidFill>
              </a:rPr>
              <a:t>Ostrom's word: interactions, outcomes</a:t>
            </a:r>
            <a:endParaRPr lang="en-US" sz="1500" dirty="0"/>
          </a:p>
        </p:txBody>
      </p:sp>
      <p:sp>
        <p:nvSpPr>
          <p:cNvPr id="12" name="card How we judge whether it worked"/>
          <p:cNvSpPr/>
          <p:nvPr/>
        </p:nvSpPr>
        <p:spPr>
          <a:xfrm>
            <a:off x="6135624" y="1828800"/>
            <a:ext cx="5477256" cy="1405128"/>
          </a:xfrm>
          <a:prstGeom prst="roundRect">
            <a:avLst>
              <a:gd name="adj" fmla="val 5206"/>
            </a:avLst>
          </a:prstGeom>
          <a:solidFill>
            <a:schemeClr val="bg2"/>
          </a:solidFill>
          <a:ln w="12700">
            <a:solidFill>
              <a:schemeClr val="bg2"/>
            </a:solidFill>
            <a:prstDash val="solid"/>
          </a:ln>
        </p:spPr>
      </p:sp>
      <p:sp>
        <p:nvSpPr>
          <p:cNvPr id="13" name="Text 10"/>
          <p:cNvSpPr txBox="1"/>
          <p:nvPr/>
        </p:nvSpPr>
        <p:spPr>
          <a:xfrm>
            <a:off x="6272784" y="1920240"/>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How we judge whether it worked</a:t>
            </a:r>
            <a:endParaRPr lang="en-US" sz="1500" dirty="0"/>
          </a:p>
          <a:p>
            <a:pPr indent="0" marL="0">
              <a:spcAft>
                <a:spcPts val="400"/>
              </a:spcAft>
              <a:buNone/>
            </a:pPr>
            <a:r>
              <a:rPr lang="en-US" sz="1400" dirty="0">
                <a:solidFill>
                  <a:schemeClr val="tx1"/>
                </a:solidFill>
              </a:rPr>
              <a:t>Was it fair? Did it waste anything? Can we see who did what? Will it last?</a:t>
            </a:r>
            <a:endParaRPr lang="en-US" sz="1500" dirty="0"/>
          </a:p>
          <a:p>
            <a:pPr indent="0" marL="0">
              <a:spcAft>
                <a:spcPts val="400"/>
              </a:spcAft>
              <a:buNone/>
            </a:pPr>
            <a:r>
              <a:rPr lang="en-US" sz="1200" i="1" dirty="0">
                <a:solidFill>
                  <a:srgbClr val="6B7A70"/>
                </a:solidFill>
              </a:rPr>
              <a:t>Ostrom's word: evaluative criteria</a:t>
            </a:r>
            <a:endParaRPr lang="en-US" sz="1500" dirty="0"/>
          </a:p>
        </p:txBody>
      </p:sp>
      <p:sp>
        <p:nvSpPr>
          <p:cNvPr id="14" name="card Coming back around"/>
          <p:cNvSpPr/>
          <p:nvPr/>
        </p:nvSpPr>
        <p:spPr>
          <a:xfrm>
            <a:off x="6135624" y="3343656"/>
            <a:ext cx="5477256" cy="1405128"/>
          </a:xfrm>
          <a:prstGeom prst="roundRect">
            <a:avLst>
              <a:gd name="adj" fmla="val 5206"/>
            </a:avLst>
          </a:prstGeom>
          <a:solidFill>
            <a:schemeClr val="bg2"/>
          </a:solidFill>
          <a:ln w="12700">
            <a:solidFill>
              <a:schemeClr val="bg2"/>
            </a:solidFill>
            <a:prstDash val="solid"/>
          </a:ln>
        </p:spPr>
      </p:sp>
      <p:sp>
        <p:nvSpPr>
          <p:cNvPr id="15" name="Text 12"/>
          <p:cNvSpPr txBox="1"/>
          <p:nvPr/>
        </p:nvSpPr>
        <p:spPr>
          <a:xfrm>
            <a:off x="6272784" y="3435096"/>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Coming back around</a:t>
            </a:r>
            <a:endParaRPr lang="en-US" sz="1500" dirty="0"/>
          </a:p>
          <a:p>
            <a:pPr indent="0" marL="0">
              <a:spcAft>
                <a:spcPts val="400"/>
              </a:spcAft>
              <a:buNone/>
            </a:pPr>
            <a:r>
              <a:rPr lang="en-US" sz="1400" dirty="0">
                <a:solidFill>
                  <a:schemeClr val="tx1"/>
                </a:solidFill>
              </a:rPr>
              <a:t>How it went changes the next time, and sometimes the rules.</a:t>
            </a:r>
            <a:endParaRPr lang="en-US" sz="1500" dirty="0"/>
          </a:p>
          <a:p>
            <a:pPr indent="0" marL="0">
              <a:spcAft>
                <a:spcPts val="400"/>
              </a:spcAft>
              <a:buNone/>
            </a:pPr>
            <a:r>
              <a:rPr lang="en-US" sz="1200" i="1" dirty="0">
                <a:solidFill>
                  <a:srgbClr val="6B7A70"/>
                </a:solidFill>
              </a:rPr>
              <a:t>Ostrom's word: feedback</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3 · WHERE WE MEET AND CHOOSE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The rules on paper, and how things really work</a:t>
            </a:r>
            <a:endParaRPr lang="en-US" sz="3200" dirty="0"/>
          </a:p>
        </p:txBody>
      </p:sp>
      <p:sp>
        <p:nvSpPr>
          <p:cNvPr id="5" name="card The rules on paper (the bylaw)"/>
          <p:cNvSpPr/>
          <p:nvPr/>
        </p:nvSpPr>
        <p:spPr>
          <a:xfrm>
            <a:off x="548640" y="1463040"/>
            <a:ext cx="5440680" cy="3108960"/>
          </a:xfrm>
          <a:prstGeom prst="roundRect">
            <a:avLst>
              <a:gd name="adj" fmla="val 2353"/>
            </a:avLst>
          </a:prstGeom>
          <a:solidFill>
            <a:srgbClr val="ECEEEC"/>
          </a:solidFill>
          <a:ln w="12700">
            <a:solidFill>
              <a:srgbClr val="ECEEEC"/>
            </a:solidFill>
            <a:prstDash val="solid"/>
          </a:ln>
        </p:spPr>
      </p:sp>
      <p:sp>
        <p:nvSpPr>
          <p:cNvPr id="6" name="Text 3"/>
          <p:cNvSpPr txBox="1"/>
          <p:nvPr/>
        </p:nvSpPr>
        <p:spPr>
          <a:xfrm>
            <a:off x="685800" y="1554480"/>
            <a:ext cx="5166360" cy="29260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The rules on paper (the bylaw)</a:t>
            </a:r>
            <a:endParaRPr lang="en-US" sz="1800" dirty="0"/>
          </a:p>
          <a:p>
            <a:pPr indent="0" marL="0">
              <a:spcAft>
                <a:spcPts val="400"/>
              </a:spcAft>
              <a:buNone/>
            </a:pPr>
            <a:r>
              <a:rPr lang="en-US" sz="1700" dirty="0">
                <a:solidFill>
                  <a:schemeClr val="tx1"/>
                </a:solidFill>
              </a:rPr>
              <a:t>Water only on your day.</a:t>
            </a:r>
            <a:endParaRPr lang="en-US" sz="1800" dirty="0"/>
          </a:p>
          <a:p>
            <a:pPr indent="0" marL="0">
              <a:spcAft>
                <a:spcPts val="400"/>
              </a:spcAft>
              <a:buNone/>
            </a:pPr>
            <a:endParaRPr lang="en-US" sz="1800" dirty="0"/>
          </a:p>
          <a:p>
            <a:pPr indent="0" marL="0">
              <a:spcAft>
                <a:spcPts val="400"/>
              </a:spcAft>
              <a:buNone/>
            </a:pPr>
            <a:r>
              <a:rPr lang="en-US" sz="1700" dirty="0">
                <a:solidFill>
                  <a:schemeClr val="tx1"/>
                </a:solidFill>
              </a:rPr>
              <a:t>No sprinklers when the tank is below half.</a:t>
            </a:r>
            <a:endParaRPr lang="en-US" sz="1800" dirty="0"/>
          </a:p>
          <a:p>
            <a:pPr indent="0" marL="0">
              <a:spcAft>
                <a:spcPts val="400"/>
              </a:spcAft>
              <a:buNone/>
            </a:pPr>
            <a:endParaRPr lang="en-US" sz="1800" dirty="0"/>
          </a:p>
          <a:p>
            <a:pPr indent="0" marL="0">
              <a:spcAft>
                <a:spcPts val="400"/>
              </a:spcAft>
              <a:buNone/>
            </a:pPr>
            <a:r>
              <a:rPr lang="en-US" sz="1700" dirty="0">
                <a:solidFill>
                  <a:schemeClr val="tx1"/>
                </a:solidFill>
              </a:rPr>
              <a:t>The water keeper suspends anyone who breaks the rules.</a:t>
            </a:r>
            <a:endParaRPr lang="en-US" sz="1800" dirty="0"/>
          </a:p>
        </p:txBody>
      </p:sp>
      <p:sp>
        <p:nvSpPr>
          <p:cNvPr id="7" name="card How things really work"/>
          <p:cNvSpPr/>
          <p:nvPr/>
        </p:nvSpPr>
        <p:spPr>
          <a:xfrm>
            <a:off x="6172200" y="1463040"/>
            <a:ext cx="5440680" cy="3108960"/>
          </a:xfrm>
          <a:prstGeom prst="roundRect">
            <a:avLst>
              <a:gd name="adj" fmla="val 2353"/>
            </a:avLst>
          </a:prstGeom>
          <a:solidFill>
            <a:schemeClr val="bg2"/>
          </a:solidFill>
          <a:ln w="12700">
            <a:solidFill>
              <a:schemeClr val="bg2"/>
            </a:solidFill>
            <a:prstDash val="solid"/>
          </a:ln>
        </p:spPr>
      </p:sp>
      <p:sp>
        <p:nvSpPr>
          <p:cNvPr id="8" name="Text 5"/>
          <p:cNvSpPr txBox="1"/>
          <p:nvPr/>
        </p:nvSpPr>
        <p:spPr>
          <a:xfrm>
            <a:off x="6309360" y="1554480"/>
            <a:ext cx="5166360" cy="29260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How things really work</a:t>
            </a:r>
            <a:endParaRPr lang="en-US" sz="1800" dirty="0"/>
          </a:p>
          <a:p>
            <a:pPr indent="0" marL="0">
              <a:spcAft>
                <a:spcPts val="400"/>
              </a:spcAft>
              <a:buNone/>
            </a:pPr>
            <a:r>
              <a:rPr lang="en-US" sz="1700" dirty="0">
                <a:solidFill>
                  <a:schemeClr val="tx1"/>
                </a:solidFill>
              </a:rPr>
              <a:t>Early risers water any day; nobody minds.</a:t>
            </a:r>
            <a:endParaRPr lang="en-US" sz="1800" dirty="0"/>
          </a:p>
          <a:p>
            <a:pPr indent="0" marL="0">
              <a:spcAft>
                <a:spcPts val="400"/>
              </a:spcAft>
              <a:buNone/>
            </a:pPr>
            <a:endParaRPr lang="en-US" sz="1800" dirty="0"/>
          </a:p>
          <a:p>
            <a:pPr indent="0" marL="0">
              <a:spcAft>
                <a:spcPts val="400"/>
              </a:spcAft>
              <a:buNone/>
            </a:pPr>
            <a:r>
              <a:rPr lang="en-US" sz="1700" dirty="0">
                <a:solidFill>
                  <a:schemeClr val="tx1"/>
                </a:solidFill>
              </a:rPr>
              <a:t>Nobody reads the tank, so 'below half' never kicks in.</a:t>
            </a:r>
            <a:endParaRPr lang="en-US" sz="1800" dirty="0"/>
          </a:p>
          <a:p>
            <a:pPr indent="0" marL="0">
              <a:spcAft>
                <a:spcPts val="400"/>
              </a:spcAft>
              <a:buNone/>
            </a:pPr>
            <a:endParaRPr lang="en-US" sz="1800" dirty="0"/>
          </a:p>
          <a:p>
            <a:pPr indent="0" marL="0">
              <a:spcAft>
                <a:spcPts val="400"/>
              </a:spcAft>
              <a:buNone/>
            </a:pPr>
            <a:r>
              <a:rPr lang="en-US" sz="1700" dirty="0">
                <a:solidFill>
                  <a:schemeClr val="tx1"/>
                </a:solidFill>
              </a:rPr>
              <a:t>The keeper has never suspended anyone; a quiet word does it.</a:t>
            </a:r>
            <a:endParaRPr lang="en-US" sz="1800" dirty="0"/>
          </a:p>
        </p:txBody>
      </p:sp>
      <p:sp>
        <p:nvSpPr>
          <p:cNvPr id="9" name="Text 6"/>
          <p:cNvSpPr txBox="1"/>
          <p:nvPr/>
        </p:nvSpPr>
        <p:spPr>
          <a:xfrm>
            <a:off x="548640" y="4846320"/>
            <a:ext cx="1106424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The gap is where to look. A rule nobody follows has gone stale. A habit everybody follows is a rule nobody wrote down. Both turn up only when you watch, ask, and keep track over time.</a:t>
            </a:r>
            <a:endParaRPr lang="en-US" sz="18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Who sets the rules</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Rules come from somewhere. Someone makes them, and someone decides who gets to make them.</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1   The people and the place</a:t>
            </a:r>
            <a:endParaRPr lang="en-US" sz="1500" dirty="0"/>
          </a:p>
        </p:txBody>
      </p:sp>
      <p:sp>
        <p:nvSpPr>
          <p:cNvPr id="6" name="rung 2"/>
          <p:cNvSpPr/>
          <p:nvPr/>
        </p:nvSpPr>
        <p:spPr>
          <a:xfrm>
            <a:off x="7333488" y="1444752"/>
            <a:ext cx="418795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2   What we're sharing</a:t>
            </a:r>
            <a:endParaRPr lang="en-US" sz="1500" dirty="0"/>
          </a:p>
        </p:txBody>
      </p:sp>
      <p:sp>
        <p:nvSpPr>
          <p:cNvPr id="7" name="rung 3"/>
          <p:cNvSpPr/>
          <p:nvPr/>
        </p:nvSpPr>
        <p:spPr>
          <a:xfrm>
            <a:off x="7443216" y="1975104"/>
            <a:ext cx="407822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3   Where we meet and choose</a:t>
            </a:r>
            <a:endParaRPr lang="en-US" sz="1500" dirty="0"/>
          </a:p>
        </p:txBody>
      </p:sp>
      <p:sp>
        <p:nvSpPr>
          <p:cNvPr id="8" name="rung 4"/>
          <p:cNvSpPr/>
          <p:nvPr/>
        </p:nvSpPr>
        <p:spPr>
          <a:xfrm>
            <a:off x="7552944" y="2505456"/>
            <a:ext cx="3968496"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4   Who sets the rules</a:t>
            </a:r>
            <a:endParaRPr lang="en-US" sz="1500" dirty="0"/>
          </a:p>
        </p:txBody>
      </p:sp>
      <p:sp>
        <p:nvSpPr>
          <p:cNvPr id="9" name="rung 5"/>
          <p:cNvSpPr/>
          <p:nvPr/>
        </p:nvSpPr>
        <p:spPr>
          <a:xfrm>
            <a:off x="7662672" y="3035808"/>
            <a:ext cx="3858768"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5   What's going on when we meet</a:t>
            </a:r>
            <a:endParaRPr lang="en-US" sz="1500" dirty="0"/>
          </a:p>
        </p:txBody>
      </p:sp>
      <p:sp>
        <p:nvSpPr>
          <p:cNvPr id="10" name="rung 6"/>
          <p:cNvSpPr/>
          <p:nvPr/>
        </p:nvSpPr>
        <p:spPr>
          <a:xfrm>
            <a:off x="7772400" y="3566160"/>
            <a:ext cx="374904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6   The house rules</a:t>
            </a:r>
            <a:endParaRPr lang="en-US" sz="1500" dirty="0"/>
          </a:p>
        </p:txBody>
      </p:sp>
      <p:sp>
        <p:nvSpPr>
          <p:cNvPr id="11" name="rung 7"/>
          <p:cNvSpPr/>
          <p:nvPr/>
        </p:nvSpPr>
        <p:spPr>
          <a:xfrm>
            <a:off x="7882128" y="4096512"/>
            <a:ext cx="363931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7   What long-lasting groups do</a:t>
            </a:r>
            <a:endParaRPr lang="en-US" sz="1500" dirty="0"/>
          </a:p>
        </p:txBody>
      </p:sp>
      <p:sp>
        <p:nvSpPr>
          <p:cNvPr id="12" name="rung 8"/>
          <p:cNvSpPr/>
          <p:nvPr/>
        </p:nvSpPr>
        <p:spPr>
          <a:xfrm>
            <a:off x="7991856" y="4626864"/>
            <a:ext cx="352958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8   How a rule is put together</a:t>
            </a:r>
            <a:endParaRPr lang="en-US" sz="1500" dirty="0"/>
          </a:p>
        </p:txBody>
      </p:sp>
      <p:sp>
        <p:nvSpPr>
          <p:cNvPr id="13" name="rung 9"/>
          <p:cNvSpPr/>
          <p:nvPr/>
        </p:nvSpPr>
        <p:spPr>
          <a:xfrm>
            <a:off x="8101584" y="5157216"/>
            <a:ext cx="341985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9   Do I do my share?</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4 · WHO SETS THE RULES · YOU ALREADY KNOW THIS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Think of bedtime</a:t>
            </a:r>
            <a:endParaRPr lang="en-US" sz="3200" dirty="0"/>
          </a:p>
        </p:txBody>
      </p:sp>
      <p:sp>
        <p:nvSpPr>
          <p:cNvPr id="5" name="card Bedtime in a household"/>
          <p:cNvSpPr/>
          <p:nvPr/>
        </p:nvSpPr>
        <p:spPr>
          <a:xfrm>
            <a:off x="548640" y="1463040"/>
            <a:ext cx="5120640" cy="4754880"/>
          </a:xfrm>
          <a:prstGeom prst="roundRect">
            <a:avLst>
              <a:gd name="adj" fmla="val 1538"/>
            </a:avLst>
          </a:prstGeom>
          <a:solidFill>
            <a:srgbClr val="FBF3E6"/>
          </a:solidFill>
          <a:ln w="12700">
            <a:solidFill>
              <a:srgbClr val="FBF3E6"/>
            </a:solidFill>
            <a:prstDash val="solid"/>
          </a:ln>
        </p:spPr>
      </p:sp>
      <p:sp>
        <p:nvSpPr>
          <p:cNvPr id="6" name="Text 3"/>
          <p:cNvSpPr txBox="1"/>
          <p:nvPr/>
        </p:nvSpPr>
        <p:spPr>
          <a:xfrm>
            <a:off x="685800" y="1554480"/>
            <a:ext cx="4846320" cy="457200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Bedtime in a household</a:t>
            </a:r>
            <a:endParaRPr lang="en-US" sz="2000" dirty="0"/>
          </a:p>
          <a:p>
            <a:pPr indent="0" marL="0">
              <a:spcAft>
                <a:spcPts val="400"/>
              </a:spcAft>
              <a:buNone/>
            </a:pPr>
            <a:r>
              <a:rPr lang="en-US" sz="1700" dirty="0">
                <a:solidFill>
                  <a:schemeClr val="tx1"/>
                </a:solidFill>
              </a:rPr>
              <a:t>The kids go to bed at 8 (that's doing). The parents set 8 o'clock (that's making the house rules). Whether Grandma also gets a say is a different question: who gets to make the rules at all. And underneath, everyone assumes things about what a family is that nobody ever wrote down.</a:t>
            </a:r>
            <a:endParaRPr lang="en-US" sz="2000" dirty="0"/>
          </a:p>
        </p:txBody>
      </p:sp>
      <p:sp>
        <p:nvSpPr>
          <p:cNvPr id="7" name="Text 4"/>
          <p:cNvSpPr/>
          <p:nvPr/>
        </p:nvSpPr>
        <p:spPr>
          <a:xfrm>
            <a:off x="5989320" y="146304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Text 5"/>
          <p:cNvSpPr txBox="1"/>
          <p:nvPr/>
        </p:nvSpPr>
        <p:spPr>
          <a:xfrm>
            <a:off x="6629400" y="1481328"/>
            <a:ext cx="4983480" cy="109728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Doing the thing.</a:t>
            </a:r>
            <a:endParaRPr lang="en-US" sz="1700" dirty="0"/>
          </a:p>
        </p:txBody>
      </p:sp>
      <p:sp>
        <p:nvSpPr>
          <p:cNvPr id="9" name="Text 6"/>
          <p:cNvSpPr/>
          <p:nvPr/>
        </p:nvSpPr>
        <p:spPr>
          <a:xfrm>
            <a:off x="5989320" y="265176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7"/>
          <p:cNvSpPr txBox="1"/>
          <p:nvPr/>
        </p:nvSpPr>
        <p:spPr>
          <a:xfrm>
            <a:off x="6629400" y="2670048"/>
            <a:ext cx="4983480" cy="109728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Making the house rules.</a:t>
            </a:r>
            <a:endParaRPr lang="en-US" sz="1700" dirty="0"/>
          </a:p>
        </p:txBody>
      </p:sp>
      <p:sp>
        <p:nvSpPr>
          <p:cNvPr id="11" name="Text 8"/>
          <p:cNvSpPr/>
          <p:nvPr/>
        </p:nvSpPr>
        <p:spPr>
          <a:xfrm>
            <a:off x="5989320" y="384048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9"/>
          <p:cNvSpPr txBox="1"/>
          <p:nvPr/>
        </p:nvSpPr>
        <p:spPr>
          <a:xfrm>
            <a:off x="6629400" y="3858768"/>
            <a:ext cx="4983480" cy="109728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Deciding who gets to make the house rules.</a:t>
            </a:r>
            <a:endParaRPr lang="en-US" sz="1700" dirty="0"/>
          </a:p>
        </p:txBody>
      </p:sp>
      <p:sp>
        <p:nvSpPr>
          <p:cNvPr id="13" name="Text 10"/>
          <p:cNvSpPr/>
          <p:nvPr/>
        </p:nvSpPr>
        <p:spPr>
          <a:xfrm>
            <a:off x="5989320" y="502920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4" name="Text 11"/>
          <p:cNvSpPr txBox="1"/>
          <p:nvPr/>
        </p:nvSpPr>
        <p:spPr>
          <a:xfrm>
            <a:off x="6629400" y="5047488"/>
            <a:ext cx="4983480" cy="109728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What everybody takes for granted, underneath it all.</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4 · WHO SETS THE RULES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Each layer decides the rules for the layer below</a:t>
            </a:r>
            <a:endParaRPr lang="en-US" sz="3200" dirty="0"/>
          </a:p>
        </p:txBody>
      </p:sp>
      <p:pic>
        <p:nvPicPr>
          <p:cNvPr id="5" name="Image 0" descr="Each layer decides the rules for the layer below">    </p:cNvPr>
          <p:cNvPicPr>
            <a:picLocks noChangeAspect="1"/>
          </p:cNvPicPr>
          <p:nvPr/>
        </p:nvPicPr>
        <p:blipFill>
          <a:blip r:embed="rId1"/>
          <a:stretch>
            <a:fillRect/>
          </a:stretch>
        </p:blipFill>
        <p:spPr>
          <a:xfrm>
            <a:off x="1407237" y="1417320"/>
            <a:ext cx="5689445" cy="4709160"/>
          </a:xfrm>
          <a:prstGeom prst="rect">
            <a:avLst/>
          </a:prstGeom>
        </p:spPr>
      </p:pic>
      <p:sp>
        <p:nvSpPr>
          <p:cNvPr id="6" name="Text 2"/>
          <p:cNvSpPr txBox="1"/>
          <p:nvPr/>
        </p:nvSpPr>
        <p:spPr>
          <a:xfrm>
            <a:off x="1407237" y="6172200"/>
            <a:ext cx="5689445" cy="274320"/>
          </a:xfrm>
          <a:prstGeom prst="rect">
            <a:avLst/>
          </a:prstGeom>
          <a:noFill/>
          <a:ln/>
        </p:spPr>
        <p:txBody>
          <a:bodyPr wrap="square" lIns="0" tIns="0" rIns="0" bIns="0" rtlCol="0" anchor="ctr"/>
          <a:lstStyle/>
          <a:p>
            <a:pPr indent="0" marL="0">
              <a:buNone/>
            </a:pPr>
            <a:r>
              <a:rPr lang="en-US" sz="1000" i="1" dirty="0">
                <a:solidFill>
                  <a:srgbClr val="5B6B60"/>
                </a:solidFill>
              </a:rPr>
              <a:t>Added panel, after Kiser and Ostrom 1982 and Ostrom 2005; not a lecture figure</a:t>
            </a:r>
            <a:endParaRPr lang="en-US" sz="1000" dirty="0"/>
          </a:p>
        </p:txBody>
      </p:sp>
      <p:sp>
        <p:nvSpPr>
          <p:cNvPr id="7" name="reading panel"/>
          <p:cNvSpPr/>
          <p:nvPr/>
        </p:nvSpPr>
        <p:spPr>
          <a:xfrm>
            <a:off x="8321040" y="1417320"/>
            <a:ext cx="3429000" cy="4846320"/>
          </a:xfrm>
          <a:prstGeom prst="roundRect">
            <a:avLst>
              <a:gd name="adj" fmla="val 2133"/>
            </a:avLst>
          </a:prstGeom>
          <a:solidFill>
            <a:schemeClr val="bg2"/>
          </a:solidFill>
          <a:ln w="12700">
            <a:solidFill>
              <a:schemeClr val="bg2"/>
            </a:solidFill>
            <a:prstDash val="solid"/>
          </a:ln>
        </p:spPr>
      </p:sp>
      <p:sp>
        <p:nvSpPr>
          <p:cNvPr id="8" name="Text 4"/>
          <p:cNvSpPr txBox="1"/>
          <p:nvPr/>
        </p:nvSpPr>
        <p:spPr>
          <a:xfrm>
            <a:off x="8503920" y="1554480"/>
            <a:ext cx="31089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READING THE PICTURE</a:t>
            </a:r>
            <a:endParaRPr lang="en-US" sz="1200" dirty="0"/>
          </a:p>
        </p:txBody>
      </p:sp>
      <p:sp>
        <p:nvSpPr>
          <p:cNvPr id="9" name="Text 5"/>
          <p:cNvSpPr txBox="1"/>
          <p:nvPr/>
        </p:nvSpPr>
        <p:spPr>
          <a:xfrm>
            <a:off x="8503920" y="1920240"/>
            <a:ext cx="3108960" cy="4251960"/>
          </a:xfrm>
          <a:prstGeom prst="rect">
            <a:avLst/>
          </a:prstGeom>
          <a:noFill/>
          <a:ln/>
        </p:spPr>
        <p:txBody>
          <a:bodyPr wrap="square" lIns="0" tIns="0" rIns="0" bIns="0" rtlCol="0" anchor="t"/>
          <a:lstStyle/>
          <a:p>
            <a:pPr marL="190500" indent="-190500">
              <a:spcAft>
                <a:spcPts val="800"/>
              </a:spcAft>
              <a:buSzPct val="100000"/>
              <a:buChar char="•"/>
            </a:pPr>
            <a:r>
              <a:rPr lang="en-US" sz="1400" dirty="0">
                <a:solidFill>
                  <a:schemeClr val="tx1"/>
                </a:solidFill>
              </a:rPr>
              <a:t>Read down: what each layer decides becomes the rules the next layer follows.</a:t>
            </a:r>
            <a:endParaRPr lang="en-US" sz="1400" dirty="0"/>
          </a:p>
          <a:p>
            <a:pPr marL="190500" indent="-190500">
              <a:spcAft>
                <a:spcPts val="800"/>
              </a:spcAft>
              <a:buSzPct val="100000"/>
              <a:buChar char="•"/>
            </a:pPr>
            <a:r>
              <a:rPr lang="en-US" sz="1400" dirty="0">
                <a:solidFill>
                  <a:schemeClr val="tx1"/>
                </a:solidFill>
              </a:rPr>
              <a:t>Read up: people see how things turn out and take it to the layer that can change the rule.</a:t>
            </a:r>
            <a:endParaRPr lang="en-US" sz="1400" dirty="0"/>
          </a:p>
          <a:p>
            <a:pPr marL="190500" indent="-190500">
              <a:spcAft>
                <a:spcPts val="800"/>
              </a:spcAft>
              <a:buSzPct val="100000"/>
              <a:buChar char="•"/>
            </a:pPr>
            <a:r>
              <a:rPr lang="en-US" sz="1400" dirty="0">
                <a:solidFill>
                  <a:schemeClr val="tx1"/>
                </a:solidFill>
              </a:rPr>
              <a:t>The higher the layer, the rarer the decision, and the more it changes.</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4 · WHO SETS THE RULES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Reading the picture, in everyday words</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Each card: the everyday words first, what they mean, and the word Ostrom used.</a:t>
            </a:r>
            <a:endParaRPr lang="en-US" sz="1500" dirty="0"/>
          </a:p>
        </p:txBody>
      </p:sp>
      <p:sp>
        <p:nvSpPr>
          <p:cNvPr id="6" name="card Layers of deciding"/>
          <p:cNvSpPr/>
          <p:nvPr/>
        </p:nvSpPr>
        <p:spPr>
          <a:xfrm>
            <a:off x="548640" y="1828800"/>
            <a:ext cx="5477256" cy="1026414"/>
          </a:xfrm>
          <a:prstGeom prst="roundRect">
            <a:avLst>
              <a:gd name="adj" fmla="val 7127"/>
            </a:avLst>
          </a:prstGeom>
          <a:solidFill>
            <a:schemeClr val="bg2"/>
          </a:solidFill>
          <a:ln w="12700">
            <a:solidFill>
              <a:schemeClr val="bg2"/>
            </a:solidFill>
            <a:prstDash val="solid"/>
          </a:ln>
        </p:spPr>
      </p:sp>
      <p:sp>
        <p:nvSpPr>
          <p:cNvPr id="7" name="Text 4"/>
          <p:cNvSpPr txBox="1"/>
          <p:nvPr/>
        </p:nvSpPr>
        <p:spPr>
          <a:xfrm>
            <a:off x="685800"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Layers of deciding</a:t>
            </a:r>
            <a:endParaRPr lang="en-US" sz="1500" dirty="0"/>
          </a:p>
          <a:p>
            <a:pPr indent="0" marL="0">
              <a:spcAft>
                <a:spcPts val="400"/>
              </a:spcAft>
              <a:buNone/>
            </a:pPr>
            <a:r>
              <a:rPr lang="en-US" sz="1400" dirty="0">
                <a:solidFill>
                  <a:schemeClr val="tx1"/>
                </a:solidFill>
              </a:rPr>
              <a:t>Each layer sets the rules for the one below it.</a:t>
            </a:r>
            <a:endParaRPr lang="en-US" sz="1500" dirty="0"/>
          </a:p>
          <a:p>
            <a:pPr indent="0" marL="0">
              <a:spcAft>
                <a:spcPts val="400"/>
              </a:spcAft>
              <a:buNone/>
            </a:pPr>
            <a:r>
              <a:rPr lang="en-US" sz="1200" i="1" dirty="0">
                <a:solidFill>
                  <a:srgbClr val="6B7A70"/>
                </a:solidFill>
              </a:rPr>
              <a:t>Ostrom's word: levels of action</a:t>
            </a:r>
            <a:endParaRPr lang="en-US" sz="1500" dirty="0"/>
          </a:p>
        </p:txBody>
      </p:sp>
      <p:sp>
        <p:nvSpPr>
          <p:cNvPr id="8" name="card Doing the work"/>
          <p:cNvSpPr/>
          <p:nvPr/>
        </p:nvSpPr>
        <p:spPr>
          <a:xfrm>
            <a:off x="548640" y="2964942"/>
            <a:ext cx="5477256" cy="1026414"/>
          </a:xfrm>
          <a:prstGeom prst="roundRect">
            <a:avLst>
              <a:gd name="adj" fmla="val 7127"/>
            </a:avLst>
          </a:prstGeom>
          <a:solidFill>
            <a:schemeClr val="bg2"/>
          </a:solidFill>
          <a:ln w="12700">
            <a:solidFill>
              <a:schemeClr val="bg2"/>
            </a:solidFill>
            <a:prstDash val="solid"/>
          </a:ln>
        </p:spPr>
      </p:sp>
      <p:sp>
        <p:nvSpPr>
          <p:cNvPr id="9" name="Text 6"/>
          <p:cNvSpPr txBox="1"/>
          <p:nvPr/>
        </p:nvSpPr>
        <p:spPr>
          <a:xfrm>
            <a:off x="685800"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Doing the work</a:t>
            </a:r>
            <a:endParaRPr lang="en-US" sz="1500" dirty="0"/>
          </a:p>
          <a:p>
            <a:pPr indent="0" marL="0">
              <a:spcAft>
                <a:spcPts val="400"/>
              </a:spcAft>
              <a:buNone/>
            </a:pPr>
            <a:r>
              <a:rPr lang="en-US" sz="1400" dirty="0">
                <a:solidFill>
                  <a:schemeClr val="tx1"/>
                </a:solidFill>
              </a:rPr>
              <a:t>Watering, harvesting, paying, keeping an eye out, giving someone a warning.</a:t>
            </a:r>
            <a:endParaRPr lang="en-US" sz="1500" dirty="0"/>
          </a:p>
          <a:p>
            <a:pPr indent="0" marL="0">
              <a:spcAft>
                <a:spcPts val="400"/>
              </a:spcAft>
              <a:buNone/>
            </a:pPr>
            <a:r>
              <a:rPr lang="en-US" sz="1200" i="1" dirty="0">
                <a:solidFill>
                  <a:srgbClr val="6B7A70"/>
                </a:solidFill>
              </a:rPr>
              <a:t>Ostrom's word: operational</a:t>
            </a:r>
            <a:endParaRPr lang="en-US" sz="1500" dirty="0"/>
          </a:p>
        </p:txBody>
      </p:sp>
      <p:sp>
        <p:nvSpPr>
          <p:cNvPr id="10" name="card Setting the house rules"/>
          <p:cNvSpPr/>
          <p:nvPr/>
        </p:nvSpPr>
        <p:spPr>
          <a:xfrm>
            <a:off x="548640" y="4101084"/>
            <a:ext cx="5477256" cy="1026414"/>
          </a:xfrm>
          <a:prstGeom prst="roundRect">
            <a:avLst>
              <a:gd name="adj" fmla="val 7127"/>
            </a:avLst>
          </a:prstGeom>
          <a:solidFill>
            <a:schemeClr val="bg2"/>
          </a:solidFill>
          <a:ln w="12700">
            <a:solidFill>
              <a:schemeClr val="bg2"/>
            </a:solidFill>
            <a:prstDash val="solid"/>
          </a:ln>
        </p:spPr>
      </p:sp>
      <p:sp>
        <p:nvSpPr>
          <p:cNvPr id="11" name="Text 8"/>
          <p:cNvSpPr txBox="1"/>
          <p:nvPr/>
        </p:nvSpPr>
        <p:spPr>
          <a:xfrm>
            <a:off x="685800"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Setting the house rules</a:t>
            </a:r>
            <a:endParaRPr lang="en-US" sz="1500" dirty="0"/>
          </a:p>
          <a:p>
            <a:pPr indent="0" marL="0">
              <a:spcAft>
                <a:spcPts val="400"/>
              </a:spcAft>
              <a:buNone/>
            </a:pPr>
            <a:r>
              <a:rPr lang="en-US" sz="1400" dirty="0">
                <a:solidFill>
                  <a:schemeClr val="tx1"/>
                </a:solidFill>
              </a:rPr>
              <a:t>A meeting changes the watering days.</a:t>
            </a:r>
            <a:endParaRPr lang="en-US" sz="1500" dirty="0"/>
          </a:p>
          <a:p>
            <a:pPr indent="0" marL="0">
              <a:spcAft>
                <a:spcPts val="400"/>
              </a:spcAft>
              <a:buNone/>
            </a:pPr>
            <a:r>
              <a:rPr lang="en-US" sz="1200" i="1" dirty="0">
                <a:solidFill>
                  <a:srgbClr val="6B7A70"/>
                </a:solidFill>
              </a:rPr>
              <a:t>Ostrom's word: collective choice</a:t>
            </a:r>
            <a:endParaRPr lang="en-US" sz="1500" dirty="0"/>
          </a:p>
        </p:txBody>
      </p:sp>
      <p:sp>
        <p:nvSpPr>
          <p:cNvPr id="12" name="card Deciding who sets the house rules"/>
          <p:cNvSpPr/>
          <p:nvPr/>
        </p:nvSpPr>
        <p:spPr>
          <a:xfrm>
            <a:off x="548640" y="5237226"/>
            <a:ext cx="5477256" cy="1026414"/>
          </a:xfrm>
          <a:prstGeom prst="roundRect">
            <a:avLst>
              <a:gd name="adj" fmla="val 7127"/>
            </a:avLst>
          </a:prstGeom>
          <a:solidFill>
            <a:schemeClr val="bg2"/>
          </a:solidFill>
          <a:ln w="12700">
            <a:solidFill>
              <a:schemeClr val="bg2"/>
            </a:solidFill>
            <a:prstDash val="solid"/>
          </a:ln>
        </p:spPr>
      </p:sp>
      <p:sp>
        <p:nvSpPr>
          <p:cNvPr id="13" name="Text 10"/>
          <p:cNvSpPr txBox="1"/>
          <p:nvPr/>
        </p:nvSpPr>
        <p:spPr>
          <a:xfrm>
            <a:off x="685800"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Deciding who sets the house rules</a:t>
            </a:r>
            <a:endParaRPr lang="en-US" sz="1500" dirty="0"/>
          </a:p>
          <a:p>
            <a:pPr indent="0" marL="0">
              <a:spcAft>
                <a:spcPts val="400"/>
              </a:spcAft>
              <a:buNone/>
            </a:pPr>
            <a:r>
              <a:rPr lang="en-US" sz="1400" dirty="0">
                <a:solidFill>
                  <a:schemeClr val="tx1"/>
                </a:solidFill>
              </a:rPr>
              <a:t>Who counts as a member, and how the meeting decides.</a:t>
            </a:r>
            <a:endParaRPr lang="en-US" sz="1500" dirty="0"/>
          </a:p>
          <a:p>
            <a:pPr indent="0" marL="0">
              <a:spcAft>
                <a:spcPts val="400"/>
              </a:spcAft>
              <a:buNone/>
            </a:pPr>
            <a:r>
              <a:rPr lang="en-US" sz="1200" i="1" dirty="0">
                <a:solidFill>
                  <a:srgbClr val="6B7A70"/>
                </a:solidFill>
              </a:rPr>
              <a:t>Ostrom's word: constitutional</a:t>
            </a:r>
            <a:endParaRPr lang="en-US" sz="1500" dirty="0"/>
          </a:p>
        </p:txBody>
      </p:sp>
      <p:sp>
        <p:nvSpPr>
          <p:cNvPr id="14" name="card What we all take for granted"/>
          <p:cNvSpPr/>
          <p:nvPr/>
        </p:nvSpPr>
        <p:spPr>
          <a:xfrm>
            <a:off x="6135624" y="1828800"/>
            <a:ext cx="5477256" cy="1026414"/>
          </a:xfrm>
          <a:prstGeom prst="roundRect">
            <a:avLst>
              <a:gd name="adj" fmla="val 7127"/>
            </a:avLst>
          </a:prstGeom>
          <a:solidFill>
            <a:schemeClr val="bg2"/>
          </a:solidFill>
          <a:ln w="12700">
            <a:solidFill>
              <a:schemeClr val="bg2"/>
            </a:solidFill>
            <a:prstDash val="solid"/>
          </a:ln>
        </p:spPr>
      </p:sp>
      <p:sp>
        <p:nvSpPr>
          <p:cNvPr id="15" name="Text 12"/>
          <p:cNvSpPr txBox="1"/>
          <p:nvPr/>
        </p:nvSpPr>
        <p:spPr>
          <a:xfrm>
            <a:off x="6272784"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What we all take for granted</a:t>
            </a:r>
            <a:endParaRPr lang="en-US" sz="1500" dirty="0"/>
          </a:p>
          <a:p>
            <a:pPr indent="0" marL="0">
              <a:spcAft>
                <a:spcPts val="400"/>
              </a:spcAft>
              <a:buNone/>
            </a:pPr>
            <a:r>
              <a:rPr lang="en-US" sz="1400" dirty="0">
                <a:solidFill>
                  <a:schemeClr val="tx1"/>
                </a:solidFill>
              </a:rPr>
              <a:t>What feels fair, who counts, what a rule can even be. Never written down.</a:t>
            </a:r>
            <a:endParaRPr lang="en-US" sz="1500" dirty="0"/>
          </a:p>
          <a:p>
            <a:pPr indent="0" marL="0">
              <a:spcAft>
                <a:spcPts val="400"/>
              </a:spcAft>
              <a:buNone/>
            </a:pPr>
            <a:r>
              <a:rPr lang="en-US" sz="1200" i="1" dirty="0">
                <a:solidFill>
                  <a:srgbClr val="6B7A70"/>
                </a:solidFill>
              </a:rPr>
              <a:t>Ostrom's word: metaconstitutional</a:t>
            </a:r>
            <a:endParaRPr lang="en-US" sz="1500" dirty="0"/>
          </a:p>
        </p:txBody>
      </p:sp>
      <p:sp>
        <p:nvSpPr>
          <p:cNvPr id="16" name="card The rules handed down"/>
          <p:cNvSpPr/>
          <p:nvPr/>
        </p:nvSpPr>
        <p:spPr>
          <a:xfrm>
            <a:off x="6135624" y="2964942"/>
            <a:ext cx="5477256" cy="1026414"/>
          </a:xfrm>
          <a:prstGeom prst="roundRect">
            <a:avLst>
              <a:gd name="adj" fmla="val 7127"/>
            </a:avLst>
          </a:prstGeom>
          <a:solidFill>
            <a:schemeClr val="bg2"/>
          </a:solidFill>
          <a:ln w="12700">
            <a:solidFill>
              <a:schemeClr val="bg2"/>
            </a:solidFill>
            <a:prstDash val="solid"/>
          </a:ln>
        </p:spPr>
      </p:sp>
      <p:sp>
        <p:nvSpPr>
          <p:cNvPr id="17" name="Text 14"/>
          <p:cNvSpPr txBox="1"/>
          <p:nvPr/>
        </p:nvSpPr>
        <p:spPr>
          <a:xfrm>
            <a:off x="6272784"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rules handed down</a:t>
            </a:r>
            <a:endParaRPr lang="en-US" sz="1500" dirty="0"/>
          </a:p>
          <a:p>
            <a:pPr indent="0" marL="0">
              <a:spcAft>
                <a:spcPts val="400"/>
              </a:spcAft>
              <a:buNone/>
            </a:pPr>
            <a:r>
              <a:rPr lang="en-US" sz="1400" dirty="0">
                <a:solidFill>
                  <a:schemeClr val="tx1"/>
                </a:solidFill>
              </a:rPr>
              <a:t>What one layer decides becomes the rules of the next.</a:t>
            </a:r>
            <a:endParaRPr lang="en-US" sz="1500" dirty="0"/>
          </a:p>
          <a:p>
            <a:pPr indent="0" marL="0">
              <a:spcAft>
                <a:spcPts val="400"/>
              </a:spcAft>
              <a:buNone/>
            </a:pPr>
            <a:r>
              <a:rPr lang="en-US" sz="1200" i="1" dirty="0">
                <a:solidFill>
                  <a:srgbClr val="6B7A70"/>
                </a:solidFill>
              </a:rPr>
              <a:t>Ostrom's word: rules-in-use for the level below</a:t>
            </a:r>
            <a:endParaRPr lang="en-US" sz="1500" dirty="0"/>
          </a:p>
        </p:txBody>
      </p:sp>
      <p:sp>
        <p:nvSpPr>
          <p:cNvPr id="18" name="card Noticed and taken upstairs"/>
          <p:cNvSpPr/>
          <p:nvPr/>
        </p:nvSpPr>
        <p:spPr>
          <a:xfrm>
            <a:off x="6135624" y="4101084"/>
            <a:ext cx="5477256" cy="1026414"/>
          </a:xfrm>
          <a:prstGeom prst="roundRect">
            <a:avLst>
              <a:gd name="adj" fmla="val 7127"/>
            </a:avLst>
          </a:prstGeom>
          <a:solidFill>
            <a:schemeClr val="bg2"/>
          </a:solidFill>
          <a:ln w="12700">
            <a:solidFill>
              <a:schemeClr val="bg2"/>
            </a:solidFill>
            <a:prstDash val="solid"/>
          </a:ln>
        </p:spPr>
      </p:sp>
      <p:sp>
        <p:nvSpPr>
          <p:cNvPr id="19" name="Text 16"/>
          <p:cNvSpPr txBox="1"/>
          <p:nvPr/>
        </p:nvSpPr>
        <p:spPr>
          <a:xfrm>
            <a:off x="6272784"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Noticed and taken upstairs</a:t>
            </a:r>
            <a:endParaRPr lang="en-US" sz="1500" dirty="0"/>
          </a:p>
          <a:p>
            <a:pPr indent="0" marL="0">
              <a:spcAft>
                <a:spcPts val="400"/>
              </a:spcAft>
              <a:buNone/>
            </a:pPr>
            <a:r>
              <a:rPr lang="en-US" sz="1400" dirty="0">
                <a:solidFill>
                  <a:schemeClr val="tx1"/>
                </a:solidFill>
              </a:rPr>
              <a:t>How things turn out gets noticed, judged, and taken to a layer that can change things.</a:t>
            </a:r>
            <a:endParaRPr lang="en-US" sz="1500" dirty="0"/>
          </a:p>
          <a:p>
            <a:pPr indent="0" marL="0">
              <a:spcAft>
                <a:spcPts val="400"/>
              </a:spcAft>
              <a:buNone/>
            </a:pPr>
            <a:r>
              <a:rPr lang="en-US" sz="1200" i="1" dirty="0">
                <a:solidFill>
                  <a:srgbClr val="6B7A70"/>
                </a:solidFill>
              </a:rPr>
              <a:t>Ostrom's word: feedback between levels</a:t>
            </a:r>
            <a:endParaRPr lang="en-US" sz="1500" dirty="0"/>
          </a:p>
        </p:txBody>
      </p:sp>
      <p:sp>
        <p:nvSpPr>
          <p:cNvPr id="20" name="card How it turns out"/>
          <p:cNvSpPr/>
          <p:nvPr/>
        </p:nvSpPr>
        <p:spPr>
          <a:xfrm>
            <a:off x="6135624" y="5237226"/>
            <a:ext cx="5477256" cy="1026414"/>
          </a:xfrm>
          <a:prstGeom prst="roundRect">
            <a:avLst>
              <a:gd name="adj" fmla="val 7127"/>
            </a:avLst>
          </a:prstGeom>
          <a:solidFill>
            <a:schemeClr val="bg2"/>
          </a:solidFill>
          <a:ln w="12700">
            <a:solidFill>
              <a:schemeClr val="bg2"/>
            </a:solidFill>
            <a:prstDash val="solid"/>
          </a:ln>
        </p:spPr>
      </p:sp>
      <p:sp>
        <p:nvSpPr>
          <p:cNvPr id="21" name="Text 18"/>
          <p:cNvSpPr txBox="1"/>
          <p:nvPr/>
        </p:nvSpPr>
        <p:spPr>
          <a:xfrm>
            <a:off x="6272784"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How it turns out</a:t>
            </a:r>
            <a:endParaRPr lang="en-US" sz="1500" dirty="0"/>
          </a:p>
          <a:p>
            <a:pPr indent="0" marL="0">
              <a:spcAft>
                <a:spcPts val="400"/>
              </a:spcAft>
              <a:buNone/>
            </a:pPr>
            <a:r>
              <a:rPr lang="en-US" sz="1400" dirty="0">
                <a:solidFill>
                  <a:schemeClr val="tx1"/>
                </a:solidFill>
              </a:rPr>
              <a:t>Water used, plots tended, care given, money moved.</a:t>
            </a:r>
            <a:endParaRPr lang="en-US" sz="1500" dirty="0"/>
          </a:p>
          <a:p>
            <a:pPr indent="0" marL="0">
              <a:spcAft>
                <a:spcPts val="400"/>
              </a:spcAft>
              <a:buNone/>
            </a:pPr>
            <a:r>
              <a:rPr lang="en-US" sz="1200" i="1" dirty="0">
                <a:solidFill>
                  <a:srgbClr val="6B7A70"/>
                </a:solidFill>
              </a:rPr>
              <a:t>Ostrom's word: outcomes</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4 · WHO SETS THE RULES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The four layers at Elm Street</a:t>
            </a:r>
            <a:endParaRPr lang="en-US" sz="3200" dirty="0"/>
          </a:p>
        </p:txBody>
      </p:sp>
      <p:sp>
        <p:nvSpPr>
          <p:cNvPr id="5" name="Text 2"/>
          <p:cNvSpPr/>
          <p:nvPr/>
        </p:nvSpPr>
        <p:spPr>
          <a:xfrm>
            <a:off x="548640" y="1463040"/>
            <a:ext cx="3017520" cy="1005840"/>
          </a:xfrm>
          <a:prstGeom prst="roundRect">
            <a:avLst>
              <a:gd name="adj" fmla="val 7273"/>
            </a:avLst>
          </a:prstGeom>
          <a:solidFill>
            <a:srgbClr val="6B5B95"/>
          </a:solidFill>
          <a:ln/>
        </p:spPr>
        <p:txBody>
          <a:bodyPr wrap="square" lIns="50800" tIns="50800" rIns="50800" bIns="50800" rtlCol="0" anchor="ctr"/>
          <a:lstStyle/>
          <a:p>
            <a:pPr algn="ctr" indent="0" marL="0">
              <a:buNone/>
            </a:pPr>
            <a:r>
              <a:rPr lang="en-US" sz="1700" b="1" dirty="0">
                <a:solidFill>
                  <a:srgbClr val="FFFFFF"/>
                </a:solidFill>
              </a:rPr>
              <a:t>What we all take for granted</a:t>
            </a:r>
            <a:endParaRPr lang="en-US" sz="1700" dirty="0"/>
          </a:p>
        </p:txBody>
      </p:sp>
      <p:sp>
        <p:nvSpPr>
          <p:cNvPr id="6" name="Text 3"/>
          <p:cNvSpPr txBox="1"/>
          <p:nvPr/>
        </p:nvSpPr>
        <p:spPr>
          <a:xfrm>
            <a:off x="3749040" y="1536192"/>
            <a:ext cx="4937760" cy="914400"/>
          </a:xfrm>
          <a:prstGeom prst="rect">
            <a:avLst/>
          </a:prstGeom>
          <a:noFill/>
          <a:ln/>
        </p:spPr>
        <p:txBody>
          <a:bodyPr wrap="square" lIns="0" tIns="0" rIns="0" bIns="0" rtlCol="0" anchor="ctr"/>
          <a:lstStyle/>
          <a:p>
            <a:pPr indent="0" marL="0">
              <a:spcAft>
                <a:spcPts val="600"/>
              </a:spcAft>
              <a:buNone/>
            </a:pPr>
            <a:r>
              <a:rPr lang="en-US" sz="1700" dirty="0">
                <a:solidFill>
                  <a:schemeClr val="tx1"/>
                </a:solidFill>
              </a:rPr>
              <a:t>Do newcomers deserve a plot at all?</a:t>
            </a:r>
            <a:endParaRPr lang="en-US" sz="1700" dirty="0"/>
          </a:p>
        </p:txBody>
      </p:sp>
      <p:sp>
        <p:nvSpPr>
          <p:cNvPr id="7" name="Text 4"/>
          <p:cNvSpPr txBox="1"/>
          <p:nvPr/>
        </p:nvSpPr>
        <p:spPr>
          <a:xfrm>
            <a:off x="8778240" y="1536192"/>
            <a:ext cx="2834640" cy="914400"/>
          </a:xfrm>
          <a:prstGeom prst="rect">
            <a:avLst/>
          </a:prstGeom>
          <a:noFill/>
          <a:ln/>
        </p:spPr>
        <p:txBody>
          <a:bodyPr wrap="square" lIns="0" tIns="0" rIns="0" bIns="0" rtlCol="0" anchor="ctr"/>
          <a:lstStyle/>
          <a:p>
            <a:pPr indent="0" marL="0">
              <a:spcAft>
                <a:spcPts val="600"/>
              </a:spcAft>
              <a:buNone/>
            </a:pPr>
            <a:r>
              <a:rPr lang="en-US" sz="1500" i="1" dirty="0">
                <a:solidFill>
                  <a:srgbClr val="3E4A42"/>
                </a:solidFill>
              </a:rPr>
              <a:t>Unwritten, and the strongest.</a:t>
            </a:r>
            <a:endParaRPr lang="en-US" sz="1500" dirty="0"/>
          </a:p>
        </p:txBody>
      </p:sp>
      <p:sp>
        <p:nvSpPr>
          <p:cNvPr id="8" name="Text 5"/>
          <p:cNvSpPr/>
          <p:nvPr/>
        </p:nvSpPr>
        <p:spPr>
          <a:xfrm>
            <a:off x="548640" y="2651760"/>
            <a:ext cx="3017520" cy="1005840"/>
          </a:xfrm>
          <a:prstGeom prst="roundRect">
            <a:avLst>
              <a:gd name="adj" fmla="val 7273"/>
            </a:avLst>
          </a:prstGeom>
          <a:solidFill>
            <a:srgbClr val="B5532D"/>
          </a:solidFill>
          <a:ln/>
        </p:spPr>
        <p:txBody>
          <a:bodyPr wrap="square" lIns="50800" tIns="50800" rIns="50800" bIns="50800" rtlCol="0" anchor="ctr"/>
          <a:lstStyle/>
          <a:p>
            <a:pPr algn="ctr" indent="0" marL="0">
              <a:buNone/>
            </a:pPr>
            <a:r>
              <a:rPr lang="en-US" sz="1700" b="1" dirty="0">
                <a:solidFill>
                  <a:srgbClr val="FFFFFF"/>
                </a:solidFill>
              </a:rPr>
              <a:t>Deciding who sets the rules</a:t>
            </a:r>
            <a:endParaRPr lang="en-US" sz="1700" dirty="0"/>
          </a:p>
        </p:txBody>
      </p:sp>
      <p:sp>
        <p:nvSpPr>
          <p:cNvPr id="9" name="Text 6"/>
          <p:cNvSpPr txBox="1"/>
          <p:nvPr/>
        </p:nvSpPr>
        <p:spPr>
          <a:xfrm>
            <a:off x="3749040" y="2724912"/>
            <a:ext cx="4937760" cy="914400"/>
          </a:xfrm>
          <a:prstGeom prst="rect">
            <a:avLst/>
          </a:prstGeom>
          <a:noFill/>
          <a:ln/>
        </p:spPr>
        <p:txBody>
          <a:bodyPr wrap="square" lIns="0" tIns="0" rIns="0" bIns="0" rtlCol="0" anchor="ctr"/>
          <a:lstStyle/>
          <a:p>
            <a:pPr indent="0" marL="0">
              <a:spcAft>
                <a:spcPts val="600"/>
              </a:spcAft>
              <a:buNone/>
            </a:pPr>
            <a:r>
              <a:rPr lang="en-US" sz="1700" dirty="0">
                <a:solidFill>
                  <a:schemeClr val="tx1"/>
                </a:solidFill>
              </a:rPr>
              <a:t>Who counts as a member, and how does the spring meeting decide?</a:t>
            </a:r>
            <a:endParaRPr lang="en-US" sz="1700" dirty="0"/>
          </a:p>
        </p:txBody>
      </p:sp>
      <p:sp>
        <p:nvSpPr>
          <p:cNvPr id="10" name="Text 7"/>
          <p:cNvSpPr txBox="1"/>
          <p:nvPr/>
        </p:nvSpPr>
        <p:spPr>
          <a:xfrm>
            <a:off x="8778240" y="2724912"/>
            <a:ext cx="2834640" cy="914400"/>
          </a:xfrm>
          <a:prstGeom prst="rect">
            <a:avLst/>
          </a:prstGeom>
          <a:noFill/>
          <a:ln/>
        </p:spPr>
        <p:txBody>
          <a:bodyPr wrap="square" lIns="0" tIns="0" rIns="0" bIns="0" rtlCol="0" anchor="ctr"/>
          <a:lstStyle/>
          <a:p>
            <a:pPr indent="0" marL="0">
              <a:spcAft>
                <a:spcPts val="600"/>
              </a:spcAft>
              <a:buNone/>
            </a:pPr>
            <a:r>
              <a:rPr lang="en-US" sz="1500" i="1" dirty="0">
                <a:solidFill>
                  <a:srgbClr val="3E4A42"/>
                </a:solidFill>
              </a:rPr>
              <a:t>Changes the most</a:t>
            </a:r>
            <a:endParaRPr lang="en-US" sz="1500" dirty="0"/>
          </a:p>
        </p:txBody>
      </p:sp>
      <p:sp>
        <p:nvSpPr>
          <p:cNvPr id="11" name="Text 8"/>
          <p:cNvSpPr/>
          <p:nvPr/>
        </p:nvSpPr>
        <p:spPr>
          <a:xfrm>
            <a:off x="548640" y="3840480"/>
            <a:ext cx="3017520" cy="1005840"/>
          </a:xfrm>
          <a:prstGeom prst="roundRect">
            <a:avLst>
              <a:gd name="adj" fmla="val 7273"/>
            </a:avLst>
          </a:prstGeom>
          <a:solidFill>
            <a:srgbClr val="C9822A"/>
          </a:solidFill>
          <a:ln/>
        </p:spPr>
        <p:txBody>
          <a:bodyPr wrap="square" lIns="50800" tIns="50800" rIns="50800" bIns="50800" rtlCol="0" anchor="ctr"/>
          <a:lstStyle/>
          <a:p>
            <a:pPr algn="ctr" indent="0" marL="0">
              <a:buNone/>
            </a:pPr>
            <a:r>
              <a:rPr lang="en-US" sz="1700" b="1" dirty="0">
                <a:solidFill>
                  <a:srgbClr val="FFFFFF"/>
                </a:solidFill>
              </a:rPr>
              <a:t>Setting the house rules</a:t>
            </a:r>
            <a:endParaRPr lang="en-US" sz="1700" dirty="0"/>
          </a:p>
        </p:txBody>
      </p:sp>
      <p:sp>
        <p:nvSpPr>
          <p:cNvPr id="12" name="Text 9"/>
          <p:cNvSpPr txBox="1"/>
          <p:nvPr/>
        </p:nvSpPr>
        <p:spPr>
          <a:xfrm>
            <a:off x="3749040" y="3913632"/>
            <a:ext cx="4937760" cy="914400"/>
          </a:xfrm>
          <a:prstGeom prst="rect">
            <a:avLst/>
          </a:prstGeom>
          <a:noFill/>
          <a:ln/>
        </p:spPr>
        <p:txBody>
          <a:bodyPr wrap="square" lIns="0" tIns="0" rIns="0" bIns="0" rtlCol="0" anchor="ctr"/>
          <a:lstStyle/>
          <a:p>
            <a:pPr indent="0" marL="0">
              <a:spcAft>
                <a:spcPts val="600"/>
              </a:spcAft>
              <a:buNone/>
            </a:pPr>
            <a:r>
              <a:rPr lang="en-US" sz="1700" dirty="0">
                <a:solidFill>
                  <a:schemeClr val="tx1"/>
                </a:solidFill>
              </a:rPr>
              <a:t>The spring meeting changes the watering days.</a:t>
            </a:r>
            <a:endParaRPr lang="en-US" sz="1700" dirty="0"/>
          </a:p>
        </p:txBody>
      </p:sp>
      <p:sp>
        <p:nvSpPr>
          <p:cNvPr id="13" name="Text 10"/>
          <p:cNvSpPr txBox="1"/>
          <p:nvPr/>
        </p:nvSpPr>
        <p:spPr>
          <a:xfrm>
            <a:off x="8778240" y="3913632"/>
            <a:ext cx="2834640" cy="914400"/>
          </a:xfrm>
          <a:prstGeom prst="rect">
            <a:avLst/>
          </a:prstGeom>
          <a:noFill/>
          <a:ln/>
        </p:spPr>
        <p:txBody>
          <a:bodyPr wrap="square" lIns="0" tIns="0" rIns="0" bIns="0" rtlCol="0" anchor="ctr"/>
          <a:lstStyle/>
          <a:p>
            <a:pPr indent="0" marL="0">
              <a:spcAft>
                <a:spcPts val="600"/>
              </a:spcAft>
              <a:buNone/>
            </a:pPr>
            <a:r>
              <a:rPr lang="en-US" sz="1500" i="1" dirty="0">
                <a:solidFill>
                  <a:srgbClr val="3E4A42"/>
                </a:solidFill>
              </a:rPr>
              <a:t>Changes a rule</a:t>
            </a:r>
            <a:endParaRPr lang="en-US" sz="1500" dirty="0"/>
          </a:p>
        </p:txBody>
      </p:sp>
      <p:sp>
        <p:nvSpPr>
          <p:cNvPr id="14" name="Text 11"/>
          <p:cNvSpPr/>
          <p:nvPr/>
        </p:nvSpPr>
        <p:spPr>
          <a:xfrm>
            <a:off x="548640" y="5029200"/>
            <a:ext cx="3017520" cy="1005840"/>
          </a:xfrm>
          <a:prstGeom prst="roundRect">
            <a:avLst>
              <a:gd name="adj" fmla="val 7273"/>
            </a:avLst>
          </a:prstGeom>
          <a:solidFill>
            <a:srgbClr val="2E6B45"/>
          </a:solidFill>
          <a:ln/>
        </p:spPr>
        <p:txBody>
          <a:bodyPr wrap="square" lIns="50800" tIns="50800" rIns="50800" bIns="50800" rtlCol="0" anchor="ctr"/>
          <a:lstStyle/>
          <a:p>
            <a:pPr algn="ctr" indent="0" marL="0">
              <a:buNone/>
            </a:pPr>
            <a:r>
              <a:rPr lang="en-US" sz="1700" b="1" dirty="0">
                <a:solidFill>
                  <a:srgbClr val="FFFFFF"/>
                </a:solidFill>
              </a:rPr>
              <a:t>Doing the work</a:t>
            </a:r>
            <a:endParaRPr lang="en-US" sz="1700" dirty="0"/>
          </a:p>
        </p:txBody>
      </p:sp>
      <p:sp>
        <p:nvSpPr>
          <p:cNvPr id="15" name="Text 12"/>
          <p:cNvSpPr txBox="1"/>
          <p:nvPr/>
        </p:nvSpPr>
        <p:spPr>
          <a:xfrm>
            <a:off x="3749040" y="5102352"/>
            <a:ext cx="4937760" cy="914400"/>
          </a:xfrm>
          <a:prstGeom prst="rect">
            <a:avLst/>
          </a:prstGeom>
          <a:noFill/>
          <a:ln/>
        </p:spPr>
        <p:txBody>
          <a:bodyPr wrap="square" lIns="0" tIns="0" rIns="0" bIns="0" rtlCol="0" anchor="ctr"/>
          <a:lstStyle/>
          <a:p>
            <a:pPr indent="0" marL="0">
              <a:spcAft>
                <a:spcPts val="600"/>
              </a:spcAft>
              <a:buNone/>
            </a:pPr>
            <a:r>
              <a:rPr lang="en-US" sz="1700" dirty="0">
                <a:solidFill>
                  <a:schemeClr val="tx1"/>
                </a:solidFill>
              </a:rPr>
              <a:t>Watering on your day. The keeper has a word with someone who did not.</a:t>
            </a:r>
            <a:endParaRPr lang="en-US" sz="1700" dirty="0"/>
          </a:p>
        </p:txBody>
      </p:sp>
      <p:sp>
        <p:nvSpPr>
          <p:cNvPr id="16" name="Text 13"/>
          <p:cNvSpPr txBox="1"/>
          <p:nvPr/>
        </p:nvSpPr>
        <p:spPr>
          <a:xfrm>
            <a:off x="8778240" y="5102352"/>
            <a:ext cx="2834640" cy="914400"/>
          </a:xfrm>
          <a:prstGeom prst="rect">
            <a:avLst/>
          </a:prstGeom>
          <a:noFill/>
          <a:ln/>
        </p:spPr>
        <p:txBody>
          <a:bodyPr wrap="square" lIns="0" tIns="0" rIns="0" bIns="0" rtlCol="0" anchor="ctr"/>
          <a:lstStyle/>
          <a:p>
            <a:pPr indent="0" marL="0">
              <a:spcAft>
                <a:spcPts val="600"/>
              </a:spcAft>
              <a:buNone/>
            </a:pPr>
            <a:r>
              <a:rPr lang="en-US" sz="1500" i="1" dirty="0">
                <a:solidFill>
                  <a:srgbClr val="3E4A42"/>
                </a:solidFill>
              </a:rPr>
              <a:t>Changes a number. Most of the effort, least of the change</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4 · WHO SETS THE RULES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A quick test: which layer am I on?</a:t>
            </a:r>
            <a:endParaRPr lang="en-US" sz="3200" dirty="0"/>
          </a:p>
        </p:txBody>
      </p:sp>
      <p:sp>
        <p:nvSpPr>
          <p:cNvPr id="5" name="Shape 2"/>
          <p:cNvSpPr/>
          <p:nvPr/>
        </p:nvSpPr>
        <p:spPr>
          <a:xfrm>
            <a:off x="548640" y="1645920"/>
            <a:ext cx="3566160" cy="3840480"/>
          </a:xfrm>
          <a:prstGeom prst="roundRect">
            <a:avLst>
              <a:gd name="adj" fmla="val 2564"/>
            </a:avLst>
          </a:prstGeom>
          <a:solidFill>
            <a:srgbClr val="2E6B45"/>
          </a:solidFill>
          <a:ln w="12700">
            <a:solidFill>
              <a:srgbClr val="2E6B45"/>
            </a:solidFill>
            <a:prstDash val="solid"/>
          </a:ln>
        </p:spPr>
      </p:sp>
      <p:sp>
        <p:nvSpPr>
          <p:cNvPr id="6" name="Text 3"/>
          <p:cNvSpPr txBox="1"/>
          <p:nvPr/>
        </p:nvSpPr>
        <p:spPr>
          <a:xfrm>
            <a:off x="777240" y="1828800"/>
            <a:ext cx="3108960" cy="3474720"/>
          </a:xfrm>
          <a:prstGeom prst="rect">
            <a:avLst/>
          </a:prstGeom>
          <a:noFill/>
          <a:ln/>
        </p:spPr>
        <p:txBody>
          <a:bodyPr wrap="square" lIns="0" tIns="0" rIns="0" bIns="0" rtlCol="0" anchor="ctr"/>
          <a:lstStyle/>
          <a:p>
            <a:pPr indent="0" marL="0">
              <a:buNone/>
            </a:pPr>
            <a:r>
              <a:rPr lang="en-US" sz="2200" b="1" dirty="0">
                <a:solidFill>
                  <a:srgbClr val="FFFFFF"/>
                </a:solidFill>
              </a:rPr>
              <a:t>Does it change a number?</a:t>
            </a:r>
            <a:endParaRPr lang="en-US" sz="2200" dirty="0"/>
          </a:p>
          <a:p>
            <a:pPr indent="0" marL="0">
              <a:buNone/>
            </a:pPr>
            <a:r>
              <a:rPr lang="en-US" sz="1000" dirty="0">
                <a:solidFill>
                  <a:srgbClr val="000000"/>
                </a:solidFill>
              </a:rPr>
              <a:t> </a:t>
            </a:r>
            <a:endParaRPr lang="en-US" sz="2200" dirty="0"/>
          </a:p>
          <a:p>
            <a:pPr indent="0" marL="0">
              <a:buNone/>
            </a:pPr>
            <a:r>
              <a:rPr lang="en-US" sz="1900" b="1" dirty="0">
                <a:solidFill>
                  <a:srgbClr val="FFFFFF"/>
                </a:solidFill>
              </a:rPr>
              <a:t>Doing the work</a:t>
            </a:r>
            <a:endParaRPr lang="en-US" sz="2200" dirty="0"/>
          </a:p>
          <a:p>
            <a:pPr indent="0" marL="0">
              <a:buNone/>
            </a:pPr>
            <a:r>
              <a:rPr lang="en-US" sz="1600" dirty="0">
                <a:solidFill>
                  <a:srgbClr val="FFFFFF"/>
                </a:solidFill>
              </a:rPr>
              <a:t>Easiest to do, smallest effect.</a:t>
            </a:r>
            <a:endParaRPr lang="en-US" sz="2200" dirty="0"/>
          </a:p>
        </p:txBody>
      </p:sp>
      <p:sp>
        <p:nvSpPr>
          <p:cNvPr id="7" name="Shape 4"/>
          <p:cNvSpPr/>
          <p:nvPr/>
        </p:nvSpPr>
        <p:spPr>
          <a:xfrm>
            <a:off x="4297680" y="1645920"/>
            <a:ext cx="3566160" cy="3840480"/>
          </a:xfrm>
          <a:prstGeom prst="roundRect">
            <a:avLst>
              <a:gd name="adj" fmla="val 2564"/>
            </a:avLst>
          </a:prstGeom>
          <a:solidFill>
            <a:srgbClr val="C9822A"/>
          </a:solidFill>
          <a:ln w="12700">
            <a:solidFill>
              <a:srgbClr val="C9822A"/>
            </a:solidFill>
            <a:prstDash val="solid"/>
          </a:ln>
        </p:spPr>
      </p:sp>
      <p:sp>
        <p:nvSpPr>
          <p:cNvPr id="8" name="Text 5"/>
          <p:cNvSpPr txBox="1"/>
          <p:nvPr/>
        </p:nvSpPr>
        <p:spPr>
          <a:xfrm>
            <a:off x="4526280" y="1828800"/>
            <a:ext cx="3108960" cy="3474720"/>
          </a:xfrm>
          <a:prstGeom prst="rect">
            <a:avLst/>
          </a:prstGeom>
          <a:noFill/>
          <a:ln/>
        </p:spPr>
        <p:txBody>
          <a:bodyPr wrap="square" lIns="0" tIns="0" rIns="0" bIns="0" rtlCol="0" anchor="ctr"/>
          <a:lstStyle/>
          <a:p>
            <a:pPr indent="0" marL="0">
              <a:buNone/>
            </a:pPr>
            <a:r>
              <a:rPr lang="en-US" sz="2200" b="1" dirty="0">
                <a:solidFill>
                  <a:srgbClr val="FFFFFF"/>
                </a:solidFill>
              </a:rPr>
              <a:t>Does it change a rule?</a:t>
            </a:r>
            <a:endParaRPr lang="en-US" sz="2200" dirty="0"/>
          </a:p>
          <a:p>
            <a:pPr indent="0" marL="0">
              <a:buNone/>
            </a:pPr>
            <a:r>
              <a:rPr lang="en-US" sz="1000" dirty="0">
                <a:solidFill>
                  <a:srgbClr val="000000"/>
                </a:solidFill>
              </a:rPr>
              <a:t> </a:t>
            </a:r>
            <a:endParaRPr lang="en-US" sz="2200" dirty="0"/>
          </a:p>
          <a:p>
            <a:pPr indent="0" marL="0">
              <a:buNone/>
            </a:pPr>
            <a:r>
              <a:rPr lang="en-US" sz="1900" b="1" dirty="0">
                <a:solidFill>
                  <a:srgbClr val="FFFFFF"/>
                </a:solidFill>
              </a:rPr>
              <a:t>Setting the house rules</a:t>
            </a:r>
            <a:endParaRPr lang="en-US" sz="2200" dirty="0"/>
          </a:p>
          <a:p>
            <a:pPr indent="0" marL="0">
              <a:buNone/>
            </a:pPr>
            <a:r>
              <a:rPr lang="en-US" sz="1600" dirty="0">
                <a:solidFill>
                  <a:srgbClr val="FFFFFF"/>
                </a:solidFill>
              </a:rPr>
              <a:t>Real change, made by the group.</a:t>
            </a:r>
            <a:endParaRPr lang="en-US" sz="2200" dirty="0"/>
          </a:p>
        </p:txBody>
      </p:sp>
      <p:sp>
        <p:nvSpPr>
          <p:cNvPr id="9" name="Shape 6"/>
          <p:cNvSpPr/>
          <p:nvPr/>
        </p:nvSpPr>
        <p:spPr>
          <a:xfrm>
            <a:off x="8046720" y="1645920"/>
            <a:ext cx="3566160" cy="3840480"/>
          </a:xfrm>
          <a:prstGeom prst="roundRect">
            <a:avLst>
              <a:gd name="adj" fmla="val 2564"/>
            </a:avLst>
          </a:prstGeom>
          <a:solidFill>
            <a:srgbClr val="B5532D"/>
          </a:solidFill>
          <a:ln w="12700">
            <a:solidFill>
              <a:srgbClr val="B5532D"/>
            </a:solidFill>
            <a:prstDash val="solid"/>
          </a:ln>
        </p:spPr>
      </p:sp>
      <p:sp>
        <p:nvSpPr>
          <p:cNvPr id="10" name="Text 7"/>
          <p:cNvSpPr txBox="1"/>
          <p:nvPr/>
        </p:nvSpPr>
        <p:spPr>
          <a:xfrm>
            <a:off x="8275320" y="1828800"/>
            <a:ext cx="3108960" cy="3474720"/>
          </a:xfrm>
          <a:prstGeom prst="rect">
            <a:avLst/>
          </a:prstGeom>
          <a:noFill/>
          <a:ln/>
        </p:spPr>
        <p:txBody>
          <a:bodyPr wrap="square" lIns="0" tIns="0" rIns="0" bIns="0" rtlCol="0" anchor="ctr"/>
          <a:lstStyle/>
          <a:p>
            <a:pPr indent="0" marL="0">
              <a:buNone/>
            </a:pPr>
            <a:r>
              <a:rPr lang="en-US" sz="2200" b="1" dirty="0">
                <a:solidFill>
                  <a:srgbClr val="FFFFFF"/>
                </a:solidFill>
              </a:rPr>
              <a:t>Does it change who gets to change the rules?</a:t>
            </a:r>
            <a:endParaRPr lang="en-US" sz="2200" dirty="0"/>
          </a:p>
          <a:p>
            <a:pPr indent="0" marL="0">
              <a:buNone/>
            </a:pPr>
            <a:r>
              <a:rPr lang="en-US" sz="1000" dirty="0">
                <a:solidFill>
                  <a:srgbClr val="000000"/>
                </a:solidFill>
              </a:rPr>
              <a:t> </a:t>
            </a:r>
            <a:endParaRPr lang="en-US" sz="2200" dirty="0"/>
          </a:p>
          <a:p>
            <a:pPr indent="0" marL="0">
              <a:buNone/>
            </a:pPr>
            <a:r>
              <a:rPr lang="en-US" sz="1900" b="1" dirty="0">
                <a:solidFill>
                  <a:srgbClr val="FFFFFF"/>
                </a:solidFill>
              </a:rPr>
              <a:t>Deciding who sets the rules</a:t>
            </a:r>
            <a:endParaRPr lang="en-US" sz="2200" dirty="0"/>
          </a:p>
          <a:p>
            <a:pPr indent="0" marL="0">
              <a:buNone/>
            </a:pPr>
            <a:r>
              <a:rPr lang="en-US" sz="1600" dirty="0">
                <a:solidFill>
                  <a:srgbClr val="FFFFFF"/>
                </a:solidFill>
              </a:rPr>
              <a:t>Rare, hard, and lasting.</a:t>
            </a:r>
            <a:endParaRPr lang="en-US" sz="2200" dirty="0"/>
          </a:p>
        </p:txBody>
      </p:sp>
      <p:sp>
        <p:nvSpPr>
          <p:cNvPr id="11" name="Text 8"/>
          <p:cNvSpPr txBox="1"/>
          <p:nvPr/>
        </p:nvSpPr>
        <p:spPr>
          <a:xfrm>
            <a:off x="548640" y="5669280"/>
            <a:ext cx="11064240" cy="6400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Donella Meadows saw the same thing in all kinds of systems: changing numbers is the weakest push, and changing who can change things is among the strongest.</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4 · WHO SETS THE RULES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One complaint, three layers: the missing seat</a:t>
            </a:r>
            <a:endParaRPr lang="en-US" sz="3200" dirty="0"/>
          </a:p>
        </p:txBody>
      </p:sp>
      <p:sp>
        <p:nvSpPr>
          <p:cNvPr id="5" name="Shape 2"/>
          <p:cNvSpPr/>
          <p:nvPr/>
        </p:nvSpPr>
        <p:spPr>
          <a:xfrm>
            <a:off x="548640" y="4023360"/>
            <a:ext cx="3566160" cy="2240280"/>
          </a:xfrm>
          <a:prstGeom prst="roundRect">
            <a:avLst>
              <a:gd name="adj" fmla="val 3265"/>
            </a:avLst>
          </a:prstGeom>
          <a:solidFill>
            <a:srgbClr val="FFFFFF"/>
          </a:solidFill>
          <a:ln w="31750">
            <a:solidFill>
              <a:srgbClr val="2E6B45"/>
            </a:solidFill>
            <a:prstDash val="solid"/>
          </a:ln>
        </p:spPr>
      </p:sp>
      <p:sp>
        <p:nvSpPr>
          <p:cNvPr id="6" name="Text 3"/>
          <p:cNvSpPr txBox="1"/>
          <p:nvPr/>
        </p:nvSpPr>
        <p:spPr>
          <a:xfrm>
            <a:off x="713232" y="4133088"/>
            <a:ext cx="3246120" cy="2011680"/>
          </a:xfrm>
          <a:prstGeom prst="rect">
            <a:avLst/>
          </a:prstGeom>
          <a:noFill/>
          <a:ln/>
        </p:spPr>
        <p:txBody>
          <a:bodyPr wrap="square" lIns="0" tIns="0" rIns="0" bIns="0" rtlCol="0" anchor="t"/>
          <a:lstStyle/>
          <a:p>
            <a:pPr indent="0" marL="0">
              <a:buNone/>
            </a:pPr>
            <a:r>
              <a:rPr lang="en-US" sz="1700" b="1" dirty="0">
                <a:solidFill>
                  <a:srgbClr val="2E6B45"/>
                </a:solidFill>
              </a:rPr>
              <a:t>Read as doing the work</a:t>
            </a:r>
            <a:endParaRPr lang="en-US" sz="1700" dirty="0"/>
          </a:p>
          <a:p>
            <a:pPr indent="0" marL="0">
              <a:buNone/>
            </a:pPr>
            <a:r>
              <a:rPr lang="en-US" sz="1500" dirty="0">
                <a:solidFill>
                  <a:schemeClr val="tx1"/>
                </a:solidFill>
              </a:rPr>
              <a:t>"Nobody asks the health worker." Sounds like a communication problem. Fix: ask more. It doesn't stick.</a:t>
            </a:r>
            <a:endParaRPr lang="en-US" sz="1700" dirty="0"/>
          </a:p>
        </p:txBody>
      </p:sp>
      <p:sp>
        <p:nvSpPr>
          <p:cNvPr id="7" name="Shape 4"/>
          <p:cNvSpPr/>
          <p:nvPr/>
        </p:nvSpPr>
        <p:spPr>
          <a:xfrm>
            <a:off x="4297680" y="2880360"/>
            <a:ext cx="3566160" cy="2240280"/>
          </a:xfrm>
          <a:prstGeom prst="roundRect">
            <a:avLst>
              <a:gd name="adj" fmla="val 3265"/>
            </a:avLst>
          </a:prstGeom>
          <a:solidFill>
            <a:srgbClr val="FFFFFF"/>
          </a:solidFill>
          <a:ln w="31750">
            <a:solidFill>
              <a:srgbClr val="C9822A"/>
            </a:solidFill>
            <a:prstDash val="solid"/>
          </a:ln>
        </p:spPr>
      </p:sp>
      <p:sp>
        <p:nvSpPr>
          <p:cNvPr id="8" name="Text 5"/>
          <p:cNvSpPr txBox="1"/>
          <p:nvPr/>
        </p:nvSpPr>
        <p:spPr>
          <a:xfrm>
            <a:off x="4462272" y="2990088"/>
            <a:ext cx="3246120" cy="2011680"/>
          </a:xfrm>
          <a:prstGeom prst="rect">
            <a:avLst/>
          </a:prstGeom>
          <a:noFill/>
          <a:ln/>
        </p:spPr>
        <p:txBody>
          <a:bodyPr wrap="square" lIns="0" tIns="0" rIns="0" bIns="0" rtlCol="0" anchor="t"/>
          <a:lstStyle/>
          <a:p>
            <a:pPr indent="0" marL="0">
              <a:buNone/>
            </a:pPr>
            <a:r>
              <a:rPr lang="en-US" sz="1700" b="1" dirty="0">
                <a:solidFill>
                  <a:srgbClr val="C9822A"/>
                </a:solidFill>
              </a:rPr>
              <a:t>Read as house rules</a:t>
            </a:r>
            <a:endParaRPr lang="en-US" sz="1700" dirty="0"/>
          </a:p>
          <a:p>
            <a:pPr indent="0" marL="0">
              <a:buNone/>
            </a:pPr>
            <a:r>
              <a:rPr lang="en-US" sz="1500" dirty="0">
                <a:solidFill>
                  <a:schemeClr val="tx1"/>
                </a:solidFill>
              </a:rPr>
              <a:t>"The health worker isn't at the table where rules are made." Fix: invite them. They still have no vote.</a:t>
            </a:r>
            <a:endParaRPr lang="en-US" sz="1700" dirty="0"/>
          </a:p>
        </p:txBody>
      </p:sp>
      <p:sp>
        <p:nvSpPr>
          <p:cNvPr id="9" name="Shape 6"/>
          <p:cNvSpPr/>
          <p:nvPr/>
        </p:nvSpPr>
        <p:spPr>
          <a:xfrm>
            <a:off x="8046720" y="1737360"/>
            <a:ext cx="3566160" cy="2240280"/>
          </a:xfrm>
          <a:prstGeom prst="roundRect">
            <a:avLst>
              <a:gd name="adj" fmla="val 3265"/>
            </a:avLst>
          </a:prstGeom>
          <a:solidFill>
            <a:srgbClr val="FFFFFF"/>
          </a:solidFill>
          <a:ln w="31750">
            <a:solidFill>
              <a:srgbClr val="B5532D"/>
            </a:solidFill>
            <a:prstDash val="solid"/>
          </a:ln>
        </p:spPr>
      </p:sp>
      <p:sp>
        <p:nvSpPr>
          <p:cNvPr id="10" name="Text 7"/>
          <p:cNvSpPr txBox="1"/>
          <p:nvPr/>
        </p:nvSpPr>
        <p:spPr>
          <a:xfrm>
            <a:off x="8211312" y="1847088"/>
            <a:ext cx="3246120" cy="2011680"/>
          </a:xfrm>
          <a:prstGeom prst="rect">
            <a:avLst/>
          </a:prstGeom>
          <a:noFill/>
          <a:ln/>
        </p:spPr>
        <p:txBody>
          <a:bodyPr wrap="square" lIns="0" tIns="0" rIns="0" bIns="0" rtlCol="0" anchor="t"/>
          <a:lstStyle/>
          <a:p>
            <a:pPr indent="0" marL="0">
              <a:buNone/>
            </a:pPr>
            <a:r>
              <a:rPr lang="en-US" sz="1700" b="1" dirty="0">
                <a:solidFill>
                  <a:srgbClr val="B5532D"/>
                </a:solidFill>
              </a:rPr>
              <a:t>Read as who sets the rules</a:t>
            </a:r>
            <a:endParaRPr lang="en-US" sz="1700" dirty="0"/>
          </a:p>
          <a:p>
            <a:pPr indent="0" marL="0">
              <a:buNone/>
            </a:pPr>
            <a:r>
              <a:rPr lang="en-US" sz="1500" dirty="0">
                <a:solidFill>
                  <a:schemeClr val="tx1"/>
                </a:solidFill>
              </a:rPr>
              <a:t>"There is no health-worker seat at all." You can't seat someone in a seat that doesn't exist. Only creating the seat fixes it.</a:t>
            </a:r>
            <a:endParaRPr lang="en-US" sz="1700" dirty="0"/>
          </a:p>
        </p:txBody>
      </p:sp>
      <p:sp>
        <p:nvSpPr>
          <p:cNvPr id="11" name="Text 8"/>
          <p:cNvSpPr txBox="1"/>
          <p:nvPr/>
        </p:nvSpPr>
        <p:spPr>
          <a:xfrm>
            <a:off x="548640" y="1463040"/>
            <a:ext cx="6858000" cy="457200"/>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The higher you read it, the more the fix changes.</a:t>
            </a:r>
            <a:endParaRPr lang="en-US" sz="18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What's going on when we meet</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Every get-together has the same moving parts, like a game.</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1   The people and the place</a:t>
            </a:r>
            <a:endParaRPr lang="en-US" sz="1500" dirty="0"/>
          </a:p>
        </p:txBody>
      </p:sp>
      <p:sp>
        <p:nvSpPr>
          <p:cNvPr id="6" name="rung 2"/>
          <p:cNvSpPr/>
          <p:nvPr/>
        </p:nvSpPr>
        <p:spPr>
          <a:xfrm>
            <a:off x="7333488" y="1444752"/>
            <a:ext cx="418795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2   What we're sharing</a:t>
            </a:r>
            <a:endParaRPr lang="en-US" sz="1500" dirty="0"/>
          </a:p>
        </p:txBody>
      </p:sp>
      <p:sp>
        <p:nvSpPr>
          <p:cNvPr id="7" name="rung 3"/>
          <p:cNvSpPr/>
          <p:nvPr/>
        </p:nvSpPr>
        <p:spPr>
          <a:xfrm>
            <a:off x="7443216" y="1975104"/>
            <a:ext cx="407822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3   Where we meet and choose</a:t>
            </a:r>
            <a:endParaRPr lang="en-US" sz="1500" dirty="0"/>
          </a:p>
        </p:txBody>
      </p:sp>
      <p:sp>
        <p:nvSpPr>
          <p:cNvPr id="8" name="rung 4"/>
          <p:cNvSpPr/>
          <p:nvPr/>
        </p:nvSpPr>
        <p:spPr>
          <a:xfrm>
            <a:off x="7552944" y="2505456"/>
            <a:ext cx="396849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4   Who sets the rules</a:t>
            </a:r>
            <a:endParaRPr lang="en-US" sz="1500" dirty="0"/>
          </a:p>
        </p:txBody>
      </p:sp>
      <p:sp>
        <p:nvSpPr>
          <p:cNvPr id="9" name="rung 5"/>
          <p:cNvSpPr/>
          <p:nvPr/>
        </p:nvSpPr>
        <p:spPr>
          <a:xfrm>
            <a:off x="7662672" y="3035808"/>
            <a:ext cx="3858768"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5   What's going on when we meet</a:t>
            </a:r>
            <a:endParaRPr lang="en-US" sz="1500" dirty="0"/>
          </a:p>
        </p:txBody>
      </p:sp>
      <p:sp>
        <p:nvSpPr>
          <p:cNvPr id="10" name="rung 6"/>
          <p:cNvSpPr/>
          <p:nvPr/>
        </p:nvSpPr>
        <p:spPr>
          <a:xfrm>
            <a:off x="7772400" y="3566160"/>
            <a:ext cx="374904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6   The house rules</a:t>
            </a:r>
            <a:endParaRPr lang="en-US" sz="1500" dirty="0"/>
          </a:p>
        </p:txBody>
      </p:sp>
      <p:sp>
        <p:nvSpPr>
          <p:cNvPr id="11" name="rung 7"/>
          <p:cNvSpPr/>
          <p:nvPr/>
        </p:nvSpPr>
        <p:spPr>
          <a:xfrm>
            <a:off x="7882128" y="4096512"/>
            <a:ext cx="363931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7   What long-lasting groups do</a:t>
            </a:r>
            <a:endParaRPr lang="en-US" sz="1500" dirty="0"/>
          </a:p>
        </p:txBody>
      </p:sp>
      <p:sp>
        <p:nvSpPr>
          <p:cNvPr id="12" name="rung 8"/>
          <p:cNvSpPr/>
          <p:nvPr/>
        </p:nvSpPr>
        <p:spPr>
          <a:xfrm>
            <a:off x="7991856" y="4626864"/>
            <a:ext cx="352958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8   How a rule is put together</a:t>
            </a:r>
            <a:endParaRPr lang="en-US" sz="1500" dirty="0"/>
          </a:p>
        </p:txBody>
      </p:sp>
      <p:sp>
        <p:nvSpPr>
          <p:cNvPr id="13" name="rung 9"/>
          <p:cNvSpPr/>
          <p:nvPr/>
        </p:nvSpPr>
        <p:spPr>
          <a:xfrm>
            <a:off x="8101584" y="5157216"/>
            <a:ext cx="341985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9   Do I do my share?</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5 · WHAT'S GOING ON WHEN WE MEET · YOU ALREADY KNOW THIS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Think of a pickup basketball game</a:t>
            </a:r>
            <a:endParaRPr lang="en-US" sz="3200" dirty="0"/>
          </a:p>
        </p:txBody>
      </p:sp>
      <p:sp>
        <p:nvSpPr>
          <p:cNvPr id="5" name="card Pickup basketball"/>
          <p:cNvSpPr/>
          <p:nvPr/>
        </p:nvSpPr>
        <p:spPr>
          <a:xfrm>
            <a:off x="548640" y="1463040"/>
            <a:ext cx="5120640" cy="4754880"/>
          </a:xfrm>
          <a:prstGeom prst="roundRect">
            <a:avLst>
              <a:gd name="adj" fmla="val 1538"/>
            </a:avLst>
          </a:prstGeom>
          <a:solidFill>
            <a:srgbClr val="FBF3E6"/>
          </a:solidFill>
          <a:ln w="12700">
            <a:solidFill>
              <a:srgbClr val="FBF3E6"/>
            </a:solidFill>
            <a:prstDash val="solid"/>
          </a:ln>
        </p:spPr>
      </p:sp>
      <p:sp>
        <p:nvSpPr>
          <p:cNvPr id="6" name="Text 3"/>
          <p:cNvSpPr txBox="1"/>
          <p:nvPr/>
        </p:nvSpPr>
        <p:spPr>
          <a:xfrm>
            <a:off x="685800" y="1554480"/>
            <a:ext cx="4846320" cy="457200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Pickup basketball</a:t>
            </a:r>
            <a:endParaRPr lang="en-US" sz="2000" dirty="0"/>
          </a:p>
          <a:p>
            <a:pPr indent="0" marL="0">
              <a:spcAft>
                <a:spcPts val="400"/>
              </a:spcAft>
              <a:buNone/>
            </a:pPr>
            <a:r>
              <a:rPr lang="en-US" sz="1700" dirty="0">
                <a:solidFill>
                  <a:schemeClr val="tx1"/>
                </a:solidFill>
              </a:rPr>
              <a:t>There are players. There are positions: guard, center. Each position can do certain things. You can see some things and not others. How the points add up decides who wins. Some scores are possible and some aren't. And winning or losing costs and pays something, even if it's just pride.</a:t>
            </a:r>
            <a:endParaRPr lang="en-US" sz="2000" dirty="0"/>
          </a:p>
        </p:txBody>
      </p:sp>
      <p:sp>
        <p:nvSpPr>
          <p:cNvPr id="7" name="Text 4"/>
          <p:cNvSpPr/>
          <p:nvPr/>
        </p:nvSpPr>
        <p:spPr>
          <a:xfrm>
            <a:off x="5989320" y="146304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Text 5"/>
          <p:cNvSpPr txBox="1"/>
          <p:nvPr/>
        </p:nvSpPr>
        <p:spPr>
          <a:xfrm>
            <a:off x="6629400" y="1481328"/>
            <a:ext cx="4983480" cy="859536"/>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Who is playing, and in which spot.</a:t>
            </a:r>
            <a:endParaRPr lang="en-US" sz="1700" dirty="0"/>
          </a:p>
        </p:txBody>
      </p:sp>
      <p:sp>
        <p:nvSpPr>
          <p:cNvPr id="9" name="Text 6"/>
          <p:cNvSpPr/>
          <p:nvPr/>
        </p:nvSpPr>
        <p:spPr>
          <a:xfrm>
            <a:off x="5989320" y="2414016"/>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7"/>
          <p:cNvSpPr txBox="1"/>
          <p:nvPr/>
        </p:nvSpPr>
        <p:spPr>
          <a:xfrm>
            <a:off x="6629400" y="2432304"/>
            <a:ext cx="4983480" cy="859536"/>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What each spot can do.</a:t>
            </a:r>
            <a:endParaRPr lang="en-US" sz="1700" dirty="0"/>
          </a:p>
        </p:txBody>
      </p:sp>
      <p:sp>
        <p:nvSpPr>
          <p:cNvPr id="11" name="Text 8"/>
          <p:cNvSpPr/>
          <p:nvPr/>
        </p:nvSpPr>
        <p:spPr>
          <a:xfrm>
            <a:off x="5989320" y="3364992"/>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9"/>
          <p:cNvSpPr txBox="1"/>
          <p:nvPr/>
        </p:nvSpPr>
        <p:spPr>
          <a:xfrm>
            <a:off x="6629400" y="3383280"/>
            <a:ext cx="4983480" cy="859536"/>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What each player can see.</a:t>
            </a:r>
            <a:endParaRPr lang="en-US" sz="1700" dirty="0"/>
          </a:p>
        </p:txBody>
      </p:sp>
      <p:sp>
        <p:nvSpPr>
          <p:cNvPr id="13" name="Text 10"/>
          <p:cNvSpPr/>
          <p:nvPr/>
        </p:nvSpPr>
        <p:spPr>
          <a:xfrm>
            <a:off x="5989320" y="4315968"/>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4" name="Text 11"/>
          <p:cNvSpPr txBox="1"/>
          <p:nvPr/>
        </p:nvSpPr>
        <p:spPr>
          <a:xfrm>
            <a:off x="6629400" y="4334256"/>
            <a:ext cx="4983480" cy="859536"/>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How the moves add up to a result.</a:t>
            </a:r>
            <a:endParaRPr lang="en-US" sz="1700" dirty="0"/>
          </a:p>
        </p:txBody>
      </p:sp>
      <p:sp>
        <p:nvSpPr>
          <p:cNvPr id="15" name="Text 12"/>
          <p:cNvSpPr/>
          <p:nvPr/>
        </p:nvSpPr>
        <p:spPr>
          <a:xfrm>
            <a:off x="5989320" y="5266944"/>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6" name="Text 13"/>
          <p:cNvSpPr txBox="1"/>
          <p:nvPr/>
        </p:nvSpPr>
        <p:spPr>
          <a:xfrm>
            <a:off x="6629400" y="5285232"/>
            <a:ext cx="4983480" cy="859536"/>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What results are possible, and what each player gets out of them.</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5 · WHAT'S GOING ON WHEN WE MEET</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The seven moving parts of any get-together</a:t>
            </a:r>
            <a:endParaRPr lang="en-US" sz="3200" dirty="0"/>
          </a:p>
        </p:txBody>
      </p:sp>
      <p:pic>
        <p:nvPicPr>
          <p:cNvPr id="5" name="Image 0" descr="The seven moving parts of any get-together">    </p:cNvPr>
          <p:cNvPicPr>
            <a:picLocks noChangeAspect="1"/>
          </p:cNvPicPr>
          <p:nvPr/>
        </p:nvPicPr>
        <p:blipFill>
          <a:blip r:embed="rId1"/>
          <a:stretch>
            <a:fillRect/>
          </a:stretch>
        </p:blipFill>
        <p:spPr>
          <a:xfrm>
            <a:off x="2035668" y="1417320"/>
            <a:ext cx="4432584" cy="4709160"/>
          </a:xfrm>
          <a:prstGeom prst="rect">
            <a:avLst/>
          </a:prstGeom>
        </p:spPr>
      </p:pic>
      <p:sp>
        <p:nvSpPr>
          <p:cNvPr id="6" name="Text 2"/>
          <p:cNvSpPr txBox="1"/>
          <p:nvPr/>
        </p:nvSpPr>
        <p:spPr>
          <a:xfrm>
            <a:off x="2035668" y="6172200"/>
            <a:ext cx="4432584" cy="274320"/>
          </a:xfrm>
          <a:prstGeom prst="rect">
            <a:avLst/>
          </a:prstGeom>
          <a:noFill/>
          <a:ln/>
        </p:spPr>
        <p:txBody>
          <a:bodyPr wrap="square" lIns="0" tIns="0" rIns="0" bIns="0" rtlCol="0" anchor="ctr"/>
          <a:lstStyle/>
          <a:p>
            <a:pPr indent="0" marL="0">
              <a:buNone/>
            </a:pPr>
            <a:r>
              <a:rPr lang="en-US" sz="1000" i="1" dirty="0">
                <a:solidFill>
                  <a:srgbClr val="5B6B60"/>
                </a:solidFill>
              </a:rPr>
              <a:t>Ostrom 2010, Figure 3, adapted from Ostrom 2005</a:t>
            </a:r>
            <a:endParaRPr lang="en-US" sz="1000" dirty="0"/>
          </a:p>
        </p:txBody>
      </p:sp>
      <p:sp>
        <p:nvSpPr>
          <p:cNvPr id="7" name="reading panel"/>
          <p:cNvSpPr/>
          <p:nvPr/>
        </p:nvSpPr>
        <p:spPr>
          <a:xfrm>
            <a:off x="8321040" y="1417320"/>
            <a:ext cx="3429000" cy="4846320"/>
          </a:xfrm>
          <a:prstGeom prst="roundRect">
            <a:avLst>
              <a:gd name="adj" fmla="val 2133"/>
            </a:avLst>
          </a:prstGeom>
          <a:solidFill>
            <a:schemeClr val="bg2"/>
          </a:solidFill>
          <a:ln w="12700">
            <a:solidFill>
              <a:schemeClr val="bg2"/>
            </a:solidFill>
            <a:prstDash val="solid"/>
          </a:ln>
        </p:spPr>
      </p:sp>
      <p:sp>
        <p:nvSpPr>
          <p:cNvPr id="8" name="Text 4"/>
          <p:cNvSpPr txBox="1"/>
          <p:nvPr/>
        </p:nvSpPr>
        <p:spPr>
          <a:xfrm>
            <a:off x="8503920" y="1554480"/>
            <a:ext cx="31089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READING THE PICTURE</a:t>
            </a:r>
            <a:endParaRPr lang="en-US" sz="1200" dirty="0"/>
          </a:p>
        </p:txBody>
      </p:sp>
      <p:sp>
        <p:nvSpPr>
          <p:cNvPr id="9" name="Text 5"/>
          <p:cNvSpPr txBox="1"/>
          <p:nvPr/>
        </p:nvSpPr>
        <p:spPr>
          <a:xfrm>
            <a:off x="8503920" y="1920240"/>
            <a:ext cx="3108960" cy="4251960"/>
          </a:xfrm>
          <a:prstGeom prst="rect">
            <a:avLst/>
          </a:prstGeom>
          <a:noFill/>
          <a:ln/>
        </p:spPr>
        <p:txBody>
          <a:bodyPr wrap="square" lIns="0" tIns="0" rIns="0" bIns="0" rtlCol="0" anchor="t"/>
          <a:lstStyle/>
          <a:p>
            <a:pPr marL="190500" indent="-190500">
              <a:spcAft>
                <a:spcPts val="800"/>
              </a:spcAft>
              <a:buSzPct val="100000"/>
              <a:buChar char="•"/>
            </a:pPr>
            <a:r>
              <a:rPr lang="en-US" sz="1400" dirty="0">
                <a:solidFill>
                  <a:schemeClr val="tx1"/>
                </a:solidFill>
              </a:rPr>
              <a:t>People are put into roles.</a:t>
            </a:r>
            <a:endParaRPr lang="en-US" sz="1400" dirty="0"/>
          </a:p>
          <a:p>
            <a:pPr marL="190500" indent="-190500">
              <a:spcAft>
                <a:spcPts val="800"/>
              </a:spcAft>
              <a:buSzPct val="100000"/>
              <a:buChar char="•"/>
            </a:pPr>
            <a:r>
              <a:rPr lang="en-US" sz="1400" dirty="0">
                <a:solidFill>
                  <a:schemeClr val="tx1"/>
                </a:solidFill>
              </a:rPr>
              <a:t>Roles come with things they can do.</a:t>
            </a:r>
            <a:endParaRPr lang="en-US" sz="1400" dirty="0"/>
          </a:p>
          <a:p>
            <a:pPr marL="190500" indent="-190500">
              <a:spcAft>
                <a:spcPts val="800"/>
              </a:spcAft>
              <a:buSzPct val="100000"/>
              <a:buChar char="•"/>
            </a:pPr>
            <a:r>
              <a:rPr lang="en-US" sz="1400" dirty="0">
                <a:solidFill>
                  <a:schemeClr val="tx1"/>
                </a:solidFill>
              </a:rPr>
              <a:t>What people do leads to possible results, depending on what they know and how their choices add up.</a:t>
            </a:r>
            <a:endParaRPr lang="en-US" sz="1400" dirty="0"/>
          </a:p>
          <a:p>
            <a:pPr marL="190500" indent="-190500">
              <a:spcAft>
                <a:spcPts val="800"/>
              </a:spcAft>
              <a:buSzPct val="100000"/>
              <a:buChar char="•"/>
            </a:pPr>
            <a:r>
              <a:rPr lang="en-US" sz="1400" dirty="0">
                <a:solidFill>
                  <a:schemeClr val="tx1"/>
                </a:solidFill>
              </a:rPr>
              <a:t>Each result costs and pays each role something.</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5 · WHAT'S GOING ON WHEN WE MEET</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Reading the picture, in everyday words</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Each card: the everyday words first, what they mean, and the word Ostrom used.</a:t>
            </a:r>
            <a:endParaRPr lang="en-US" sz="1500" dirty="0"/>
          </a:p>
        </p:txBody>
      </p:sp>
      <p:sp>
        <p:nvSpPr>
          <p:cNvPr id="6" name="card The people taking part"/>
          <p:cNvSpPr/>
          <p:nvPr/>
        </p:nvSpPr>
        <p:spPr>
          <a:xfrm>
            <a:off x="548640" y="1828800"/>
            <a:ext cx="5477256" cy="1026414"/>
          </a:xfrm>
          <a:prstGeom prst="roundRect">
            <a:avLst>
              <a:gd name="adj" fmla="val 7127"/>
            </a:avLst>
          </a:prstGeom>
          <a:solidFill>
            <a:schemeClr val="bg2"/>
          </a:solidFill>
          <a:ln w="12700">
            <a:solidFill>
              <a:schemeClr val="bg2"/>
            </a:solidFill>
            <a:prstDash val="solid"/>
          </a:ln>
        </p:spPr>
      </p:sp>
      <p:sp>
        <p:nvSpPr>
          <p:cNvPr id="7" name="Text 4"/>
          <p:cNvSpPr txBox="1"/>
          <p:nvPr/>
        </p:nvSpPr>
        <p:spPr>
          <a:xfrm>
            <a:off x="685800"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people taking part</a:t>
            </a:r>
            <a:endParaRPr lang="en-US" sz="1500" dirty="0"/>
          </a:p>
          <a:p>
            <a:pPr indent="0" marL="0">
              <a:spcAft>
                <a:spcPts val="400"/>
              </a:spcAft>
              <a:buNone/>
            </a:pPr>
            <a:r>
              <a:rPr lang="en-US" sz="1400" dirty="0">
                <a:solidFill>
                  <a:schemeClr val="tx1"/>
                </a:solidFill>
              </a:rPr>
              <a:t>Gardeners, the keeper, the city. Players.</a:t>
            </a:r>
            <a:endParaRPr lang="en-US" sz="1500" dirty="0"/>
          </a:p>
          <a:p>
            <a:pPr indent="0" marL="0">
              <a:spcAft>
                <a:spcPts val="400"/>
              </a:spcAft>
              <a:buNone/>
            </a:pPr>
            <a:r>
              <a:rPr lang="en-US" sz="1200" i="1" dirty="0">
                <a:solidFill>
                  <a:srgbClr val="6B7A70"/>
                </a:solidFill>
              </a:rPr>
              <a:t>Ostrom's word: actors (participants)</a:t>
            </a:r>
            <a:endParaRPr lang="en-US" sz="1500" dirty="0"/>
          </a:p>
        </p:txBody>
      </p:sp>
      <p:sp>
        <p:nvSpPr>
          <p:cNvPr id="8" name="card Roles"/>
          <p:cNvSpPr/>
          <p:nvPr/>
        </p:nvSpPr>
        <p:spPr>
          <a:xfrm>
            <a:off x="548640" y="2964942"/>
            <a:ext cx="5477256" cy="1026414"/>
          </a:xfrm>
          <a:prstGeom prst="roundRect">
            <a:avLst>
              <a:gd name="adj" fmla="val 7127"/>
            </a:avLst>
          </a:prstGeom>
          <a:solidFill>
            <a:schemeClr val="bg2"/>
          </a:solidFill>
          <a:ln w="12700">
            <a:solidFill>
              <a:schemeClr val="bg2"/>
            </a:solidFill>
            <a:prstDash val="solid"/>
          </a:ln>
        </p:spPr>
      </p:sp>
      <p:sp>
        <p:nvSpPr>
          <p:cNvPr id="9" name="Text 6"/>
          <p:cNvSpPr txBox="1"/>
          <p:nvPr/>
        </p:nvSpPr>
        <p:spPr>
          <a:xfrm>
            <a:off x="685800"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Roles</a:t>
            </a:r>
            <a:endParaRPr lang="en-US" sz="1500" dirty="0"/>
          </a:p>
          <a:p>
            <a:pPr indent="0" marL="0">
              <a:spcAft>
                <a:spcPts val="400"/>
              </a:spcAft>
              <a:buNone/>
            </a:pPr>
            <a:r>
              <a:rPr lang="en-US" sz="1400" dirty="0">
                <a:solidFill>
                  <a:schemeClr val="tx1"/>
                </a:solidFill>
              </a:rPr>
              <a:t>Gardener, water keeper, chair. A role outlasts the person in it.</a:t>
            </a:r>
            <a:endParaRPr lang="en-US" sz="1500" dirty="0"/>
          </a:p>
          <a:p>
            <a:pPr indent="0" marL="0">
              <a:spcAft>
                <a:spcPts val="400"/>
              </a:spcAft>
              <a:buNone/>
            </a:pPr>
            <a:r>
              <a:rPr lang="en-US" sz="1200" i="1" dirty="0">
                <a:solidFill>
                  <a:srgbClr val="6B7A70"/>
                </a:solidFill>
              </a:rPr>
              <a:t>Ostrom's word: positions</a:t>
            </a:r>
            <a:endParaRPr lang="en-US" sz="1500" dirty="0"/>
          </a:p>
        </p:txBody>
      </p:sp>
      <p:sp>
        <p:nvSpPr>
          <p:cNvPr id="10" name="card What each role can do"/>
          <p:cNvSpPr/>
          <p:nvPr/>
        </p:nvSpPr>
        <p:spPr>
          <a:xfrm>
            <a:off x="548640" y="4101084"/>
            <a:ext cx="5477256" cy="1026414"/>
          </a:xfrm>
          <a:prstGeom prst="roundRect">
            <a:avLst>
              <a:gd name="adj" fmla="val 7127"/>
            </a:avLst>
          </a:prstGeom>
          <a:solidFill>
            <a:schemeClr val="bg2"/>
          </a:solidFill>
          <a:ln w="12700">
            <a:solidFill>
              <a:schemeClr val="bg2"/>
            </a:solidFill>
            <a:prstDash val="solid"/>
          </a:ln>
        </p:spPr>
      </p:sp>
      <p:sp>
        <p:nvSpPr>
          <p:cNvPr id="11" name="Text 8"/>
          <p:cNvSpPr txBox="1"/>
          <p:nvPr/>
        </p:nvSpPr>
        <p:spPr>
          <a:xfrm>
            <a:off x="685800"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What each role can do</a:t>
            </a:r>
            <a:endParaRPr lang="en-US" sz="1500" dirty="0"/>
          </a:p>
          <a:p>
            <a:pPr indent="0" marL="0">
              <a:spcAft>
                <a:spcPts val="400"/>
              </a:spcAft>
              <a:buNone/>
            </a:pPr>
            <a:r>
              <a:rPr lang="en-US" sz="1400" dirty="0">
                <a:solidFill>
                  <a:schemeClr val="tx1"/>
                </a:solidFill>
              </a:rPr>
              <a:t>Water, harvest, propose, vote, report.</a:t>
            </a:r>
            <a:endParaRPr lang="en-US" sz="1500" dirty="0"/>
          </a:p>
          <a:p>
            <a:pPr indent="0" marL="0">
              <a:spcAft>
                <a:spcPts val="400"/>
              </a:spcAft>
              <a:buNone/>
            </a:pPr>
            <a:r>
              <a:rPr lang="en-US" sz="1200" i="1" dirty="0">
                <a:solidFill>
                  <a:srgbClr val="6B7A70"/>
                </a:solidFill>
              </a:rPr>
              <a:t>Ostrom's word: actions</a:t>
            </a:r>
            <a:endParaRPr lang="en-US" sz="1500" dirty="0"/>
          </a:p>
        </p:txBody>
      </p:sp>
      <p:sp>
        <p:nvSpPr>
          <p:cNvPr id="12" name="card What people know"/>
          <p:cNvSpPr/>
          <p:nvPr/>
        </p:nvSpPr>
        <p:spPr>
          <a:xfrm>
            <a:off x="548640" y="5237226"/>
            <a:ext cx="5477256" cy="1026414"/>
          </a:xfrm>
          <a:prstGeom prst="roundRect">
            <a:avLst>
              <a:gd name="adj" fmla="val 7127"/>
            </a:avLst>
          </a:prstGeom>
          <a:solidFill>
            <a:schemeClr val="bg2"/>
          </a:solidFill>
          <a:ln w="12700">
            <a:solidFill>
              <a:schemeClr val="bg2"/>
            </a:solidFill>
            <a:prstDash val="solid"/>
          </a:ln>
        </p:spPr>
      </p:sp>
      <p:sp>
        <p:nvSpPr>
          <p:cNvPr id="13" name="Text 10"/>
          <p:cNvSpPr txBox="1"/>
          <p:nvPr/>
        </p:nvSpPr>
        <p:spPr>
          <a:xfrm>
            <a:off x="685800"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What people know</a:t>
            </a:r>
            <a:endParaRPr lang="en-US" sz="1500" dirty="0"/>
          </a:p>
          <a:p>
            <a:pPr indent="0" marL="0">
              <a:spcAft>
                <a:spcPts val="400"/>
              </a:spcAft>
              <a:buNone/>
            </a:pPr>
            <a:r>
              <a:rPr lang="en-US" sz="1400" dirty="0">
                <a:solidFill>
                  <a:schemeClr val="tx1"/>
                </a:solidFill>
              </a:rPr>
              <a:t>The tank level, who watered, what others did.</a:t>
            </a:r>
            <a:endParaRPr lang="en-US" sz="1500" dirty="0"/>
          </a:p>
          <a:p>
            <a:pPr indent="0" marL="0">
              <a:spcAft>
                <a:spcPts val="400"/>
              </a:spcAft>
              <a:buNone/>
            </a:pPr>
            <a:r>
              <a:rPr lang="en-US" sz="1200" i="1" dirty="0">
                <a:solidFill>
                  <a:srgbClr val="6B7A70"/>
                </a:solidFill>
              </a:rPr>
              <a:t>Ostrom's word: information about</a:t>
            </a:r>
            <a:endParaRPr lang="en-US" sz="1500" dirty="0"/>
          </a:p>
        </p:txBody>
      </p:sp>
      <p:sp>
        <p:nvSpPr>
          <p:cNvPr id="14" name="card How our choices add up"/>
          <p:cNvSpPr/>
          <p:nvPr/>
        </p:nvSpPr>
        <p:spPr>
          <a:xfrm>
            <a:off x="6135624" y="1828800"/>
            <a:ext cx="5477256" cy="1026414"/>
          </a:xfrm>
          <a:prstGeom prst="roundRect">
            <a:avLst>
              <a:gd name="adj" fmla="val 7127"/>
            </a:avLst>
          </a:prstGeom>
          <a:solidFill>
            <a:schemeClr val="bg2"/>
          </a:solidFill>
          <a:ln w="12700">
            <a:solidFill>
              <a:schemeClr val="bg2"/>
            </a:solidFill>
            <a:prstDash val="solid"/>
          </a:ln>
        </p:spPr>
      </p:sp>
      <p:sp>
        <p:nvSpPr>
          <p:cNvPr id="15" name="Text 12"/>
          <p:cNvSpPr txBox="1"/>
          <p:nvPr/>
        </p:nvSpPr>
        <p:spPr>
          <a:xfrm>
            <a:off x="6272784"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How our choices add up</a:t>
            </a:r>
            <a:endParaRPr lang="en-US" sz="1500" dirty="0"/>
          </a:p>
          <a:p>
            <a:pPr indent="0" marL="0">
              <a:spcAft>
                <a:spcPts val="400"/>
              </a:spcAft>
              <a:buNone/>
            </a:pPr>
            <a:r>
              <a:rPr lang="en-US" sz="1400" dirty="0">
                <a:solidFill>
                  <a:schemeClr val="tx1"/>
                </a:solidFill>
              </a:rPr>
              <a:t>One person decides? A vote? Everyone must agree?</a:t>
            </a:r>
            <a:endParaRPr lang="en-US" sz="1500" dirty="0"/>
          </a:p>
          <a:p>
            <a:pPr indent="0" marL="0">
              <a:spcAft>
                <a:spcPts val="400"/>
              </a:spcAft>
              <a:buNone/>
            </a:pPr>
            <a:r>
              <a:rPr lang="en-US" sz="1200" i="1" dirty="0">
                <a:solidFill>
                  <a:srgbClr val="6B7A70"/>
                </a:solidFill>
              </a:rPr>
              <a:t>Ostrom's word: control over</a:t>
            </a:r>
            <a:endParaRPr lang="en-US" sz="1500" dirty="0"/>
          </a:p>
        </p:txBody>
      </p:sp>
      <p:sp>
        <p:nvSpPr>
          <p:cNvPr id="16" name="card What could happen"/>
          <p:cNvSpPr/>
          <p:nvPr/>
        </p:nvSpPr>
        <p:spPr>
          <a:xfrm>
            <a:off x="6135624" y="2964942"/>
            <a:ext cx="5477256" cy="1026414"/>
          </a:xfrm>
          <a:prstGeom prst="roundRect">
            <a:avLst>
              <a:gd name="adj" fmla="val 7127"/>
            </a:avLst>
          </a:prstGeom>
          <a:solidFill>
            <a:schemeClr val="bg2"/>
          </a:solidFill>
          <a:ln w="12700">
            <a:solidFill>
              <a:schemeClr val="bg2"/>
            </a:solidFill>
            <a:prstDash val="solid"/>
          </a:ln>
        </p:spPr>
      </p:sp>
      <p:sp>
        <p:nvSpPr>
          <p:cNvPr id="17" name="Text 14"/>
          <p:cNvSpPr txBox="1"/>
          <p:nvPr/>
        </p:nvSpPr>
        <p:spPr>
          <a:xfrm>
            <a:off x="6272784"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What could happen</a:t>
            </a:r>
            <a:endParaRPr lang="en-US" sz="1500" dirty="0"/>
          </a:p>
          <a:p>
            <a:pPr indent="0" marL="0">
              <a:spcAft>
                <a:spcPts val="400"/>
              </a:spcAft>
              <a:buNone/>
            </a:pPr>
            <a:r>
              <a:rPr lang="en-US" sz="1400" dirty="0">
                <a:solidFill>
                  <a:schemeClr val="tx1"/>
                </a:solidFill>
              </a:rPr>
              <a:t>A full tank, dead tomatoes, a fight.</a:t>
            </a:r>
            <a:endParaRPr lang="en-US" sz="1500" dirty="0"/>
          </a:p>
          <a:p>
            <a:pPr indent="0" marL="0">
              <a:spcAft>
                <a:spcPts val="400"/>
              </a:spcAft>
              <a:buNone/>
            </a:pPr>
            <a:r>
              <a:rPr lang="en-US" sz="1200" i="1" dirty="0">
                <a:solidFill>
                  <a:srgbClr val="6B7A70"/>
                </a:solidFill>
              </a:rPr>
              <a:t>Ostrom's word: potential outcomes</a:t>
            </a:r>
            <a:endParaRPr lang="en-US" sz="1500" dirty="0"/>
          </a:p>
        </p:txBody>
      </p:sp>
      <p:sp>
        <p:nvSpPr>
          <p:cNvPr id="18" name="card What each role gets out of it, minus what it costs"/>
          <p:cNvSpPr/>
          <p:nvPr/>
        </p:nvSpPr>
        <p:spPr>
          <a:xfrm>
            <a:off x="6135624" y="4101084"/>
            <a:ext cx="5477256" cy="1026414"/>
          </a:xfrm>
          <a:prstGeom prst="roundRect">
            <a:avLst>
              <a:gd name="adj" fmla="val 7127"/>
            </a:avLst>
          </a:prstGeom>
          <a:solidFill>
            <a:schemeClr val="bg2"/>
          </a:solidFill>
          <a:ln w="12700">
            <a:solidFill>
              <a:schemeClr val="bg2"/>
            </a:solidFill>
            <a:prstDash val="solid"/>
          </a:ln>
        </p:spPr>
      </p:sp>
      <p:sp>
        <p:nvSpPr>
          <p:cNvPr id="19" name="Text 16"/>
          <p:cNvSpPr txBox="1"/>
          <p:nvPr/>
        </p:nvSpPr>
        <p:spPr>
          <a:xfrm>
            <a:off x="6272784"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What each role gets out of it, minus what it costs</a:t>
            </a:r>
            <a:endParaRPr lang="en-US" sz="1500" dirty="0"/>
          </a:p>
          <a:p>
            <a:pPr indent="0" marL="0">
              <a:spcAft>
                <a:spcPts val="400"/>
              </a:spcAft>
              <a:buNone/>
            </a:pPr>
            <a:r>
              <a:rPr lang="en-US" sz="1400" dirty="0">
                <a:solidFill>
                  <a:schemeClr val="tx1"/>
                </a:solidFill>
              </a:rPr>
              <a:t>"Net" just means after taking away the costs.</a:t>
            </a:r>
            <a:endParaRPr lang="en-US" sz="1500" dirty="0"/>
          </a:p>
          <a:p>
            <a:pPr indent="0" marL="0">
              <a:spcAft>
                <a:spcPts val="400"/>
              </a:spcAft>
              <a:buNone/>
            </a:pPr>
            <a:r>
              <a:rPr lang="en-US" sz="1200" i="1" dirty="0">
                <a:solidFill>
                  <a:srgbClr val="6B7A70"/>
                </a:solidFill>
              </a:rPr>
              <a:t>Ostrom's word: net costs and benefits</a:t>
            </a:r>
            <a:endParaRPr lang="en-US" sz="1500" dirty="0"/>
          </a:p>
        </p:txBody>
      </p:sp>
      <p:sp>
        <p:nvSpPr>
          <p:cNvPr id="20" name="card Who goes where; what leads to what"/>
          <p:cNvSpPr/>
          <p:nvPr/>
        </p:nvSpPr>
        <p:spPr>
          <a:xfrm>
            <a:off x="6135624" y="5237226"/>
            <a:ext cx="5477256" cy="1026414"/>
          </a:xfrm>
          <a:prstGeom prst="roundRect">
            <a:avLst>
              <a:gd name="adj" fmla="val 7127"/>
            </a:avLst>
          </a:prstGeom>
          <a:solidFill>
            <a:schemeClr val="bg2"/>
          </a:solidFill>
          <a:ln w="12700">
            <a:solidFill>
              <a:schemeClr val="bg2"/>
            </a:solidFill>
            <a:prstDash val="solid"/>
          </a:ln>
        </p:spPr>
      </p:sp>
      <p:sp>
        <p:nvSpPr>
          <p:cNvPr id="21" name="Text 18"/>
          <p:cNvSpPr txBox="1"/>
          <p:nvPr/>
        </p:nvSpPr>
        <p:spPr>
          <a:xfrm>
            <a:off x="6272784"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Who goes where; what leads to what</a:t>
            </a:r>
            <a:endParaRPr lang="en-US" sz="1500" dirty="0"/>
          </a:p>
          <a:p>
            <a:pPr indent="0" marL="0">
              <a:spcAft>
                <a:spcPts val="400"/>
              </a:spcAft>
              <a:buNone/>
            </a:pPr>
            <a:r>
              <a:rPr lang="en-US" sz="1400" dirty="0">
                <a:solidFill>
                  <a:schemeClr val="tx1"/>
                </a:solidFill>
              </a:rPr>
              <a:t>Who sits in which seat, and which moves lead to which results.</a:t>
            </a:r>
            <a:endParaRPr lang="en-US" sz="1500" dirty="0"/>
          </a:p>
          <a:p>
            <a:pPr indent="0" marL="0">
              <a:spcAft>
                <a:spcPts val="400"/>
              </a:spcAft>
              <a:buNone/>
            </a:pPr>
            <a:r>
              <a:rPr lang="en-US" sz="1200" i="1" dirty="0">
                <a:solidFill>
                  <a:srgbClr val="6B7A70"/>
                </a:solidFill>
              </a:rPr>
              <a:t>Ostrom's word: assigned to; linked to</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The house rules</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Seven kinds of rule, one for each moving part. And the same rules seen from your own seat.</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1   The people and the place</a:t>
            </a:r>
            <a:endParaRPr lang="en-US" sz="1500" dirty="0"/>
          </a:p>
        </p:txBody>
      </p:sp>
      <p:sp>
        <p:nvSpPr>
          <p:cNvPr id="6" name="rung 2"/>
          <p:cNvSpPr/>
          <p:nvPr/>
        </p:nvSpPr>
        <p:spPr>
          <a:xfrm>
            <a:off x="7333488" y="1444752"/>
            <a:ext cx="418795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2   What we're sharing</a:t>
            </a:r>
            <a:endParaRPr lang="en-US" sz="1500" dirty="0"/>
          </a:p>
        </p:txBody>
      </p:sp>
      <p:sp>
        <p:nvSpPr>
          <p:cNvPr id="7" name="rung 3"/>
          <p:cNvSpPr/>
          <p:nvPr/>
        </p:nvSpPr>
        <p:spPr>
          <a:xfrm>
            <a:off x="7443216" y="1975104"/>
            <a:ext cx="407822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3   Where we meet and choose</a:t>
            </a:r>
            <a:endParaRPr lang="en-US" sz="1500" dirty="0"/>
          </a:p>
        </p:txBody>
      </p:sp>
      <p:sp>
        <p:nvSpPr>
          <p:cNvPr id="8" name="rung 4"/>
          <p:cNvSpPr/>
          <p:nvPr/>
        </p:nvSpPr>
        <p:spPr>
          <a:xfrm>
            <a:off x="7552944" y="2505456"/>
            <a:ext cx="396849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4   Who sets the rules</a:t>
            </a:r>
            <a:endParaRPr lang="en-US" sz="1500" dirty="0"/>
          </a:p>
        </p:txBody>
      </p:sp>
      <p:sp>
        <p:nvSpPr>
          <p:cNvPr id="9" name="rung 5"/>
          <p:cNvSpPr/>
          <p:nvPr/>
        </p:nvSpPr>
        <p:spPr>
          <a:xfrm>
            <a:off x="7662672" y="3035808"/>
            <a:ext cx="3858768"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5   What's going on when we meet</a:t>
            </a:r>
            <a:endParaRPr lang="en-US" sz="1500" dirty="0"/>
          </a:p>
        </p:txBody>
      </p:sp>
      <p:sp>
        <p:nvSpPr>
          <p:cNvPr id="10" name="rung 6"/>
          <p:cNvSpPr/>
          <p:nvPr/>
        </p:nvSpPr>
        <p:spPr>
          <a:xfrm>
            <a:off x="7772400" y="3566160"/>
            <a:ext cx="3749040"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6   The house rules</a:t>
            </a:r>
            <a:endParaRPr lang="en-US" sz="1500" dirty="0"/>
          </a:p>
        </p:txBody>
      </p:sp>
      <p:sp>
        <p:nvSpPr>
          <p:cNvPr id="11" name="rung 7"/>
          <p:cNvSpPr/>
          <p:nvPr/>
        </p:nvSpPr>
        <p:spPr>
          <a:xfrm>
            <a:off x="7882128" y="4096512"/>
            <a:ext cx="363931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7   What long-lasting groups do</a:t>
            </a:r>
            <a:endParaRPr lang="en-US" sz="1500" dirty="0"/>
          </a:p>
        </p:txBody>
      </p:sp>
      <p:sp>
        <p:nvSpPr>
          <p:cNvPr id="12" name="rung 8"/>
          <p:cNvSpPr/>
          <p:nvPr/>
        </p:nvSpPr>
        <p:spPr>
          <a:xfrm>
            <a:off x="7991856" y="4626864"/>
            <a:ext cx="352958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8   How a rule is put together</a:t>
            </a:r>
            <a:endParaRPr lang="en-US" sz="1500" dirty="0"/>
          </a:p>
        </p:txBody>
      </p:sp>
      <p:sp>
        <p:nvSpPr>
          <p:cNvPr id="13" name="rung 9"/>
          <p:cNvSpPr/>
          <p:nvPr/>
        </p:nvSpPr>
        <p:spPr>
          <a:xfrm>
            <a:off x="8101584" y="5157216"/>
            <a:ext cx="341985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9   Do I do my share?</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6 · THE HOUSE RULES · YOU ALREADY KNOW THIS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Think of the rules of a board game</a:t>
            </a:r>
            <a:endParaRPr lang="en-US" sz="3200" dirty="0"/>
          </a:p>
        </p:txBody>
      </p:sp>
      <p:sp>
        <p:nvSpPr>
          <p:cNvPr id="5" name="card The box lid of a board game"/>
          <p:cNvSpPr/>
          <p:nvPr/>
        </p:nvSpPr>
        <p:spPr>
          <a:xfrm>
            <a:off x="548640" y="1463040"/>
            <a:ext cx="5120640" cy="4754880"/>
          </a:xfrm>
          <a:prstGeom prst="roundRect">
            <a:avLst>
              <a:gd name="adj" fmla="val 1538"/>
            </a:avLst>
          </a:prstGeom>
          <a:solidFill>
            <a:srgbClr val="FBF3E6"/>
          </a:solidFill>
          <a:ln w="12700">
            <a:solidFill>
              <a:srgbClr val="FBF3E6"/>
            </a:solidFill>
            <a:prstDash val="solid"/>
          </a:ln>
        </p:spPr>
      </p:sp>
      <p:sp>
        <p:nvSpPr>
          <p:cNvPr id="6" name="Text 3"/>
          <p:cNvSpPr txBox="1"/>
          <p:nvPr/>
        </p:nvSpPr>
        <p:spPr>
          <a:xfrm>
            <a:off x="685800" y="1554480"/>
            <a:ext cx="4846320" cy="457200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The box lid of a board game</a:t>
            </a:r>
            <a:endParaRPr lang="en-US" sz="2000" dirty="0"/>
          </a:p>
          <a:p>
            <a:pPr indent="0" marL="0">
              <a:spcAft>
                <a:spcPts val="400"/>
              </a:spcAft>
              <a:buNone/>
            </a:pPr>
            <a:r>
              <a:rPr lang="en-US" sz="1700" dirty="0">
                <a:solidFill>
                  <a:schemeClr val="tx1"/>
                </a:solidFill>
              </a:rPr>
              <a:t>How many can play. What pieces or roles there are. What moves each can make. Which cards are face down. How the score is counted. What you win or pay. When the game is over. Change any one and you've got a different game.</a:t>
            </a:r>
            <a:endParaRPr lang="en-US" sz="2000" dirty="0"/>
          </a:p>
        </p:txBody>
      </p:sp>
      <p:sp>
        <p:nvSpPr>
          <p:cNvPr id="7" name="Text 4"/>
          <p:cNvSpPr/>
          <p:nvPr/>
        </p:nvSpPr>
        <p:spPr>
          <a:xfrm>
            <a:off x="5989320" y="146304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Text 5"/>
          <p:cNvSpPr txBox="1"/>
          <p:nvPr/>
        </p:nvSpPr>
        <p:spPr>
          <a:xfrm>
            <a:off x="6629400" y="1481328"/>
            <a:ext cx="4983480" cy="109728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Who can play.  What roles there are.  What each can do.</a:t>
            </a:r>
            <a:endParaRPr lang="en-US" sz="1700" dirty="0"/>
          </a:p>
        </p:txBody>
      </p:sp>
      <p:sp>
        <p:nvSpPr>
          <p:cNvPr id="9" name="Text 6"/>
          <p:cNvSpPr/>
          <p:nvPr/>
        </p:nvSpPr>
        <p:spPr>
          <a:xfrm>
            <a:off x="5989320" y="265176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7"/>
          <p:cNvSpPr txBox="1"/>
          <p:nvPr/>
        </p:nvSpPr>
        <p:spPr>
          <a:xfrm>
            <a:off x="6629400" y="2670048"/>
            <a:ext cx="4983480" cy="109728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What you can see.  How it adds up.</a:t>
            </a:r>
            <a:endParaRPr lang="en-US" sz="1700" dirty="0"/>
          </a:p>
        </p:txBody>
      </p:sp>
      <p:sp>
        <p:nvSpPr>
          <p:cNvPr id="11" name="Text 8"/>
          <p:cNvSpPr/>
          <p:nvPr/>
        </p:nvSpPr>
        <p:spPr>
          <a:xfrm>
            <a:off x="5989320" y="384048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9"/>
          <p:cNvSpPr txBox="1"/>
          <p:nvPr/>
        </p:nvSpPr>
        <p:spPr>
          <a:xfrm>
            <a:off x="6629400" y="3858768"/>
            <a:ext cx="4983480" cy="109728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Who wins and pays what.  What the game is about.</a:t>
            </a:r>
            <a:endParaRPr lang="en-US" sz="1700" dirty="0"/>
          </a:p>
        </p:txBody>
      </p:sp>
      <p:sp>
        <p:nvSpPr>
          <p:cNvPr id="13" name="Text 10"/>
          <p:cNvSpPr/>
          <p:nvPr/>
        </p:nvSpPr>
        <p:spPr>
          <a:xfrm>
            <a:off x="5989320" y="502920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4" name="Text 11"/>
          <p:cNvSpPr txBox="1"/>
          <p:nvPr/>
        </p:nvSpPr>
        <p:spPr>
          <a:xfrm>
            <a:off x="6629400" y="5047488"/>
            <a:ext cx="4983480" cy="109728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Groups have the same seven kinds of rule, written or not.</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6 · THE HOUSE RULES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Each kind of rule shapes one moving part</a:t>
            </a:r>
            <a:endParaRPr lang="en-US" sz="3200" dirty="0"/>
          </a:p>
        </p:txBody>
      </p:sp>
      <p:pic>
        <p:nvPicPr>
          <p:cNvPr id="5" name="Image 0" descr="Each kind of rule shapes one moving part">    </p:cNvPr>
          <p:cNvPicPr>
            <a:picLocks noChangeAspect="1"/>
          </p:cNvPicPr>
          <p:nvPr/>
        </p:nvPicPr>
        <p:blipFill>
          <a:blip r:embed="rId1"/>
          <a:stretch>
            <a:fillRect/>
          </a:stretch>
        </p:blipFill>
        <p:spPr>
          <a:xfrm>
            <a:off x="1111298" y="1417320"/>
            <a:ext cx="6281323" cy="4709160"/>
          </a:xfrm>
          <a:prstGeom prst="rect">
            <a:avLst/>
          </a:prstGeom>
        </p:spPr>
      </p:pic>
      <p:sp>
        <p:nvSpPr>
          <p:cNvPr id="6" name="Text 2"/>
          <p:cNvSpPr txBox="1"/>
          <p:nvPr/>
        </p:nvSpPr>
        <p:spPr>
          <a:xfrm>
            <a:off x="1111298" y="6172200"/>
            <a:ext cx="6281323" cy="274320"/>
          </a:xfrm>
          <a:prstGeom prst="rect">
            <a:avLst/>
          </a:prstGeom>
          <a:noFill/>
          <a:ln/>
        </p:spPr>
        <p:txBody>
          <a:bodyPr wrap="square" lIns="0" tIns="0" rIns="0" bIns="0" rtlCol="0" anchor="ctr"/>
          <a:lstStyle/>
          <a:p>
            <a:pPr indent="0" marL="0">
              <a:buNone/>
            </a:pPr>
            <a:r>
              <a:rPr lang="en-US" sz="1000" i="1" dirty="0">
                <a:solidFill>
                  <a:srgbClr val="5B6B60"/>
                </a:solidFill>
              </a:rPr>
              <a:t>Ostrom 2010, Figure 4, adapted from Ostrom 2005. Green dotted labels: Marc's</a:t>
            </a:r>
            <a:endParaRPr lang="en-US" sz="1000" dirty="0"/>
          </a:p>
        </p:txBody>
      </p:sp>
      <p:sp>
        <p:nvSpPr>
          <p:cNvPr id="7" name="reading panel"/>
          <p:cNvSpPr/>
          <p:nvPr/>
        </p:nvSpPr>
        <p:spPr>
          <a:xfrm>
            <a:off x="8321040" y="1417320"/>
            <a:ext cx="3429000" cy="4846320"/>
          </a:xfrm>
          <a:prstGeom prst="roundRect">
            <a:avLst>
              <a:gd name="adj" fmla="val 2133"/>
            </a:avLst>
          </a:prstGeom>
          <a:solidFill>
            <a:schemeClr val="bg2"/>
          </a:solidFill>
          <a:ln w="12700">
            <a:solidFill>
              <a:schemeClr val="bg2"/>
            </a:solidFill>
            <a:prstDash val="solid"/>
          </a:ln>
        </p:spPr>
      </p:sp>
      <p:sp>
        <p:nvSpPr>
          <p:cNvPr id="8" name="Text 4"/>
          <p:cNvSpPr txBox="1"/>
          <p:nvPr/>
        </p:nvSpPr>
        <p:spPr>
          <a:xfrm>
            <a:off x="8503920" y="1554480"/>
            <a:ext cx="31089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READING THE PICTURE</a:t>
            </a:r>
            <a:endParaRPr lang="en-US" sz="1200" dirty="0"/>
          </a:p>
        </p:txBody>
      </p:sp>
      <p:sp>
        <p:nvSpPr>
          <p:cNvPr id="9" name="Text 5"/>
          <p:cNvSpPr txBox="1"/>
          <p:nvPr/>
        </p:nvSpPr>
        <p:spPr>
          <a:xfrm>
            <a:off x="8503920" y="1920240"/>
            <a:ext cx="3108960" cy="4251960"/>
          </a:xfrm>
          <a:prstGeom prst="rect">
            <a:avLst/>
          </a:prstGeom>
          <a:noFill/>
          <a:ln/>
        </p:spPr>
        <p:txBody>
          <a:bodyPr wrap="square" lIns="0" tIns="0" rIns="0" bIns="0" rtlCol="0" anchor="t"/>
          <a:lstStyle/>
          <a:p>
            <a:pPr marL="190500" indent="-190500">
              <a:spcAft>
                <a:spcPts val="800"/>
              </a:spcAft>
              <a:buSzPct val="100000"/>
              <a:buChar char="•"/>
            </a:pPr>
            <a:r>
              <a:rPr lang="en-US" sz="1400" dirty="0">
                <a:solidFill>
                  <a:schemeClr val="tx1"/>
                </a:solidFill>
              </a:rPr>
              <a:t>Blue: the rules people really follow. Green: the get-together from step 5.</a:t>
            </a:r>
            <a:endParaRPr lang="en-US" sz="1400" dirty="0"/>
          </a:p>
          <a:p>
            <a:pPr marL="190500" indent="-190500">
              <a:spcAft>
                <a:spcPts val="800"/>
              </a:spcAft>
              <a:buSzPct val="100000"/>
              <a:buChar char="•"/>
            </a:pPr>
            <a:r>
              <a:rPr lang="en-US" sz="1400" dirty="0">
                <a:solidFill>
                  <a:schemeClr val="tx1"/>
                </a:solidFill>
              </a:rPr>
              <a:t>Each red arrow: one kind of rule shaping one moving part.</a:t>
            </a:r>
            <a:endParaRPr lang="en-US" sz="1400" dirty="0"/>
          </a:p>
          <a:p>
            <a:pPr marL="190500" indent="-190500">
              <a:spcAft>
                <a:spcPts val="800"/>
              </a:spcAft>
              <a:buSzPct val="100000"/>
              <a:buChar char="•"/>
            </a:pPr>
            <a:r>
              <a:rPr lang="en-US" sz="1400" dirty="0">
                <a:solidFill>
                  <a:schemeClr val="tx1"/>
                </a:solidFill>
              </a:rPr>
              <a:t>Green dotted labels are Marc's: the same rules as you'd ask them from your own seat.</a:t>
            </a:r>
            <a:endParaRPr lang="en-US" sz="1400" dirty="0"/>
          </a:p>
          <a:p>
            <a:pPr marL="190500" indent="-190500">
              <a:spcAft>
                <a:spcPts val="800"/>
              </a:spcAft>
              <a:buSzPct val="100000"/>
              <a:buChar char="•"/>
            </a:pPr>
            <a:r>
              <a:rPr lang="en-US" sz="1400" dirty="0">
                <a:solidFill>
                  <a:schemeClr val="tx1"/>
                </a:solidFill>
              </a:rPr>
              <a:t>How it turns out gets judged, and comes back around to the rules.</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6 · THE HOUSE RULES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Close-up: the rules, and Marc's questions</a:t>
            </a:r>
            <a:endParaRPr lang="en-US" sz="3200" dirty="0"/>
          </a:p>
        </p:txBody>
      </p:sp>
      <p:pic>
        <p:nvPicPr>
          <p:cNvPr id="5" name="Image 0" descr="Close-up of Figure 4: the seven rule types acting on the seven moving parts, with Marc's margin questions">    </p:cNvPr>
          <p:cNvPicPr>
            <a:picLocks noChangeAspect="1"/>
          </p:cNvPicPr>
          <p:nvPr/>
        </p:nvPicPr>
        <p:blipFill>
          <a:blip r:embed="rId1"/>
          <a:stretch>
            <a:fillRect/>
          </a:stretch>
        </p:blipFill>
        <p:spPr>
          <a:xfrm>
            <a:off x="1277171" y="1371600"/>
            <a:ext cx="6041018" cy="4846320"/>
          </a:xfrm>
          <a:prstGeom prst="rect">
            <a:avLst/>
          </a:prstGeom>
        </p:spPr>
      </p:pic>
      <p:sp>
        <p:nvSpPr>
          <p:cNvPr id="6" name="Text 2"/>
          <p:cNvSpPr txBox="1"/>
          <p:nvPr/>
        </p:nvSpPr>
        <p:spPr>
          <a:xfrm>
            <a:off x="1277171" y="6263640"/>
            <a:ext cx="6041018" cy="274320"/>
          </a:xfrm>
          <a:prstGeom prst="rect">
            <a:avLst/>
          </a:prstGeom>
          <a:noFill/>
          <a:ln/>
        </p:spPr>
        <p:txBody>
          <a:bodyPr wrap="square" lIns="0" tIns="0" rIns="0" bIns="0" rtlCol="0" anchor="ctr"/>
          <a:lstStyle/>
          <a:p>
            <a:pPr indent="0" marL="0">
              <a:buNone/>
            </a:pPr>
            <a:r>
              <a:rPr lang="en-US" sz="1000" i="1" dirty="0">
                <a:solidFill>
                  <a:srgbClr val="5B6B60"/>
                </a:solidFill>
              </a:rPr>
              <a:t>Detail of Figure 4. Green dotted labels: Marc's</a:t>
            </a:r>
            <a:endParaRPr lang="en-US" sz="1000" dirty="0"/>
          </a:p>
        </p:txBody>
      </p:sp>
      <p:sp>
        <p:nvSpPr>
          <p:cNvPr id="7" name="card Blue boxes"/>
          <p:cNvSpPr/>
          <p:nvPr/>
        </p:nvSpPr>
        <p:spPr>
          <a:xfrm>
            <a:off x="8412480" y="1371600"/>
            <a:ext cx="3291840" cy="1097280"/>
          </a:xfrm>
          <a:prstGeom prst="roundRect">
            <a:avLst>
              <a:gd name="adj" fmla="val 6667"/>
            </a:avLst>
          </a:prstGeom>
          <a:solidFill>
            <a:schemeClr val="bg2"/>
          </a:solidFill>
          <a:ln w="12700">
            <a:solidFill>
              <a:schemeClr val="bg2"/>
            </a:solidFill>
            <a:prstDash val="solid"/>
          </a:ln>
        </p:spPr>
      </p:sp>
      <p:sp>
        <p:nvSpPr>
          <p:cNvPr id="8" name="Text 4"/>
          <p:cNvSpPr txBox="1"/>
          <p:nvPr/>
        </p:nvSpPr>
        <p:spPr>
          <a:xfrm>
            <a:off x="8549640" y="1463040"/>
            <a:ext cx="301752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Blue boxes</a:t>
            </a:r>
            <a:endParaRPr lang="en-US" sz="1600" dirty="0"/>
          </a:p>
          <a:p>
            <a:pPr indent="0" marL="0">
              <a:spcAft>
                <a:spcPts val="400"/>
              </a:spcAft>
              <a:buNone/>
            </a:pPr>
            <a:r>
              <a:rPr lang="en-US" sz="1400" dirty="0">
                <a:solidFill>
                  <a:schemeClr val="tx1"/>
                </a:solidFill>
              </a:rPr>
              <a:t>the seven kinds of rule</a:t>
            </a:r>
            <a:endParaRPr lang="en-US" sz="1600" dirty="0"/>
          </a:p>
        </p:txBody>
      </p:sp>
      <p:sp>
        <p:nvSpPr>
          <p:cNvPr id="9" name="card Red arrows"/>
          <p:cNvSpPr/>
          <p:nvPr/>
        </p:nvSpPr>
        <p:spPr>
          <a:xfrm>
            <a:off x="8412480" y="2587752"/>
            <a:ext cx="3291840" cy="1097280"/>
          </a:xfrm>
          <a:prstGeom prst="roundRect">
            <a:avLst>
              <a:gd name="adj" fmla="val 6667"/>
            </a:avLst>
          </a:prstGeom>
          <a:solidFill>
            <a:schemeClr val="bg2"/>
          </a:solidFill>
          <a:ln w="12700">
            <a:solidFill>
              <a:schemeClr val="bg2"/>
            </a:solidFill>
            <a:prstDash val="solid"/>
          </a:ln>
        </p:spPr>
      </p:sp>
      <p:sp>
        <p:nvSpPr>
          <p:cNvPr id="10" name="Text 6"/>
          <p:cNvSpPr txBox="1"/>
          <p:nvPr/>
        </p:nvSpPr>
        <p:spPr>
          <a:xfrm>
            <a:off x="8549640" y="2679192"/>
            <a:ext cx="301752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Red arrows</a:t>
            </a:r>
            <a:endParaRPr lang="en-US" sz="1600" dirty="0"/>
          </a:p>
          <a:p>
            <a:pPr indent="0" marL="0">
              <a:spcAft>
                <a:spcPts val="400"/>
              </a:spcAft>
              <a:buNone/>
            </a:pPr>
            <a:r>
              <a:rPr lang="en-US" sz="1400" dirty="0">
                <a:solidFill>
                  <a:schemeClr val="tx1"/>
                </a:solidFill>
              </a:rPr>
              <a:t>which part each rule shapes</a:t>
            </a:r>
            <a:endParaRPr lang="en-US" sz="1600" dirty="0"/>
          </a:p>
        </p:txBody>
      </p:sp>
      <p:sp>
        <p:nvSpPr>
          <p:cNvPr id="11" name="card White boxes"/>
          <p:cNvSpPr/>
          <p:nvPr/>
        </p:nvSpPr>
        <p:spPr>
          <a:xfrm>
            <a:off x="8412480" y="3803904"/>
            <a:ext cx="3291840" cy="1097280"/>
          </a:xfrm>
          <a:prstGeom prst="roundRect">
            <a:avLst>
              <a:gd name="adj" fmla="val 6667"/>
            </a:avLst>
          </a:prstGeom>
          <a:solidFill>
            <a:schemeClr val="bg2"/>
          </a:solidFill>
          <a:ln w="12700">
            <a:solidFill>
              <a:schemeClr val="bg2"/>
            </a:solidFill>
            <a:prstDash val="solid"/>
          </a:ln>
        </p:spPr>
      </p:sp>
      <p:sp>
        <p:nvSpPr>
          <p:cNvPr id="12" name="Text 8"/>
          <p:cNvSpPr txBox="1"/>
          <p:nvPr/>
        </p:nvSpPr>
        <p:spPr>
          <a:xfrm>
            <a:off x="8549640" y="3895344"/>
            <a:ext cx="301752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White boxes</a:t>
            </a:r>
            <a:endParaRPr lang="en-US" sz="1600" dirty="0"/>
          </a:p>
          <a:p>
            <a:pPr indent="0" marL="0">
              <a:spcAft>
                <a:spcPts val="400"/>
              </a:spcAft>
              <a:buNone/>
            </a:pPr>
            <a:r>
              <a:rPr lang="en-US" sz="1400" dirty="0">
                <a:solidFill>
                  <a:schemeClr val="tx1"/>
                </a:solidFill>
              </a:rPr>
              <a:t>the seven moving parts from step 5</a:t>
            </a:r>
            <a:endParaRPr lang="en-US" sz="1600" dirty="0"/>
          </a:p>
        </p:txBody>
      </p:sp>
      <p:sp>
        <p:nvSpPr>
          <p:cNvPr id="13" name="card Green dotted"/>
          <p:cNvSpPr/>
          <p:nvPr/>
        </p:nvSpPr>
        <p:spPr>
          <a:xfrm>
            <a:off x="8412480" y="5020056"/>
            <a:ext cx="3291840" cy="1097280"/>
          </a:xfrm>
          <a:prstGeom prst="roundRect">
            <a:avLst>
              <a:gd name="adj" fmla="val 6667"/>
            </a:avLst>
          </a:prstGeom>
          <a:solidFill>
            <a:schemeClr val="bg2"/>
          </a:solidFill>
          <a:ln w="12700">
            <a:solidFill>
              <a:schemeClr val="bg2"/>
            </a:solidFill>
            <a:prstDash val="solid"/>
          </a:ln>
        </p:spPr>
      </p:sp>
      <p:sp>
        <p:nvSpPr>
          <p:cNvPr id="14" name="Text 10"/>
          <p:cNvSpPr txBox="1"/>
          <p:nvPr/>
        </p:nvSpPr>
        <p:spPr>
          <a:xfrm>
            <a:off x="8549640" y="5111496"/>
            <a:ext cx="301752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Green dotted</a:t>
            </a:r>
            <a:endParaRPr lang="en-US" sz="1600" dirty="0"/>
          </a:p>
          <a:p>
            <a:pPr indent="0" marL="0">
              <a:spcAft>
                <a:spcPts val="400"/>
              </a:spcAft>
              <a:buNone/>
            </a:pPr>
            <a:r>
              <a:rPr lang="en-US" sz="1400" dirty="0">
                <a:solidFill>
                  <a:schemeClr val="tx1"/>
                </a:solidFill>
              </a:rPr>
              <a:t>Marc's questions from your own seat: WHO? WHAT? HOW? WHY? For whom? By whom? Am I allowed?</a:t>
            </a:r>
            <a:endParaRPr lang="en-US" sz="16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6 · THE HOUSE RULES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The seven kinds of house rule, in everyday words</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Each card: the everyday words first, a garden example, and the word Ostrom used.</a:t>
            </a:r>
            <a:endParaRPr lang="en-US" sz="1500" dirty="0"/>
          </a:p>
        </p:txBody>
      </p:sp>
      <p:sp>
        <p:nvSpPr>
          <p:cNvPr id="6" name="card Who's in"/>
          <p:cNvSpPr/>
          <p:nvPr/>
        </p:nvSpPr>
        <p:spPr>
          <a:xfrm>
            <a:off x="548640" y="1828800"/>
            <a:ext cx="5477256" cy="1026414"/>
          </a:xfrm>
          <a:prstGeom prst="roundRect">
            <a:avLst>
              <a:gd name="adj" fmla="val 7127"/>
            </a:avLst>
          </a:prstGeom>
          <a:solidFill>
            <a:schemeClr val="bg2"/>
          </a:solidFill>
          <a:ln w="12700">
            <a:solidFill>
              <a:schemeClr val="bg2"/>
            </a:solidFill>
            <a:prstDash val="solid"/>
          </a:ln>
        </p:spPr>
      </p:sp>
      <p:sp>
        <p:nvSpPr>
          <p:cNvPr id="7" name="Text 4"/>
          <p:cNvSpPr txBox="1"/>
          <p:nvPr/>
        </p:nvSpPr>
        <p:spPr>
          <a:xfrm>
            <a:off x="685800"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Who's in</a:t>
            </a:r>
            <a:endParaRPr lang="en-US" sz="1500" dirty="0"/>
          </a:p>
          <a:p>
            <a:pPr indent="0" marL="0">
              <a:spcAft>
                <a:spcPts val="400"/>
              </a:spcAft>
              <a:buNone/>
            </a:pPr>
            <a:r>
              <a:rPr lang="en-US" sz="1400" dirty="0">
                <a:solidFill>
                  <a:schemeClr val="tx1"/>
                </a:solidFill>
              </a:rPr>
              <a:t>Who counts as a gardener, how you join, how you leave.</a:t>
            </a:r>
            <a:endParaRPr lang="en-US" sz="1500" dirty="0"/>
          </a:p>
          <a:p>
            <a:pPr indent="0" marL="0">
              <a:spcAft>
                <a:spcPts val="400"/>
              </a:spcAft>
              <a:buNone/>
            </a:pPr>
            <a:r>
              <a:rPr lang="en-US" sz="1200" i="1" dirty="0">
                <a:solidFill>
                  <a:srgbClr val="6B7A70"/>
                </a:solidFill>
              </a:rPr>
              <a:t>Ostrom's word: boundary rules</a:t>
            </a:r>
            <a:endParaRPr lang="en-US" sz="1500" dirty="0"/>
          </a:p>
        </p:txBody>
      </p:sp>
      <p:sp>
        <p:nvSpPr>
          <p:cNvPr id="8" name="card What jobs there are"/>
          <p:cNvSpPr/>
          <p:nvPr/>
        </p:nvSpPr>
        <p:spPr>
          <a:xfrm>
            <a:off x="548640" y="2964942"/>
            <a:ext cx="5477256" cy="1026414"/>
          </a:xfrm>
          <a:prstGeom prst="roundRect">
            <a:avLst>
              <a:gd name="adj" fmla="val 7127"/>
            </a:avLst>
          </a:prstGeom>
          <a:solidFill>
            <a:schemeClr val="bg2"/>
          </a:solidFill>
          <a:ln w="12700">
            <a:solidFill>
              <a:schemeClr val="bg2"/>
            </a:solidFill>
            <a:prstDash val="solid"/>
          </a:ln>
        </p:spPr>
      </p:sp>
      <p:sp>
        <p:nvSpPr>
          <p:cNvPr id="9" name="Text 6"/>
          <p:cNvSpPr txBox="1"/>
          <p:nvPr/>
        </p:nvSpPr>
        <p:spPr>
          <a:xfrm>
            <a:off x="685800"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What jobs there are</a:t>
            </a:r>
            <a:endParaRPr lang="en-US" sz="1500" dirty="0"/>
          </a:p>
          <a:p>
            <a:pPr indent="0" marL="0">
              <a:spcAft>
                <a:spcPts val="400"/>
              </a:spcAft>
              <a:buNone/>
            </a:pPr>
            <a:r>
              <a:rPr lang="en-US" sz="1400" dirty="0">
                <a:solidFill>
                  <a:schemeClr val="tx1"/>
                </a:solidFill>
              </a:rPr>
              <a:t>One water keeper, a chair, how many of each.</a:t>
            </a:r>
            <a:endParaRPr lang="en-US" sz="1500" dirty="0"/>
          </a:p>
          <a:p>
            <a:pPr indent="0" marL="0">
              <a:spcAft>
                <a:spcPts val="400"/>
              </a:spcAft>
              <a:buNone/>
            </a:pPr>
            <a:r>
              <a:rPr lang="en-US" sz="1200" i="1" dirty="0">
                <a:solidFill>
                  <a:srgbClr val="6B7A70"/>
                </a:solidFill>
              </a:rPr>
              <a:t>Ostrom's word: position rules</a:t>
            </a:r>
            <a:endParaRPr lang="en-US" sz="1500" dirty="0"/>
          </a:p>
        </p:txBody>
      </p:sp>
      <p:sp>
        <p:nvSpPr>
          <p:cNvPr id="10" name="card Who may do what"/>
          <p:cNvSpPr/>
          <p:nvPr/>
        </p:nvSpPr>
        <p:spPr>
          <a:xfrm>
            <a:off x="548640" y="4101084"/>
            <a:ext cx="5477256" cy="1026414"/>
          </a:xfrm>
          <a:prstGeom prst="roundRect">
            <a:avLst>
              <a:gd name="adj" fmla="val 7127"/>
            </a:avLst>
          </a:prstGeom>
          <a:solidFill>
            <a:schemeClr val="bg2"/>
          </a:solidFill>
          <a:ln w="12700">
            <a:solidFill>
              <a:schemeClr val="bg2"/>
            </a:solidFill>
            <a:prstDash val="solid"/>
          </a:ln>
        </p:spPr>
      </p:sp>
      <p:sp>
        <p:nvSpPr>
          <p:cNvPr id="11" name="Text 8"/>
          <p:cNvSpPr txBox="1"/>
          <p:nvPr/>
        </p:nvSpPr>
        <p:spPr>
          <a:xfrm>
            <a:off x="685800"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Who may do what</a:t>
            </a:r>
            <a:endParaRPr lang="en-US" sz="1500" dirty="0"/>
          </a:p>
          <a:p>
            <a:pPr indent="0" marL="0">
              <a:spcAft>
                <a:spcPts val="400"/>
              </a:spcAft>
              <a:buNone/>
            </a:pPr>
            <a:r>
              <a:rPr lang="en-US" sz="1400" dirty="0">
                <a:solidFill>
                  <a:schemeClr val="tx1"/>
                </a:solidFill>
              </a:rPr>
              <a:t>Gardeners may water on their day; nobody may use sprinklers below half.</a:t>
            </a:r>
            <a:endParaRPr lang="en-US" sz="1500" dirty="0"/>
          </a:p>
          <a:p>
            <a:pPr indent="0" marL="0">
              <a:spcAft>
                <a:spcPts val="400"/>
              </a:spcAft>
              <a:buNone/>
            </a:pPr>
            <a:r>
              <a:rPr lang="en-US" sz="1200" i="1" dirty="0">
                <a:solidFill>
                  <a:srgbClr val="6B7A70"/>
                </a:solidFill>
              </a:rPr>
              <a:t>Ostrom's word: choice (authority) rules</a:t>
            </a:r>
            <a:endParaRPr lang="en-US" sz="1500" dirty="0"/>
          </a:p>
        </p:txBody>
      </p:sp>
      <p:sp>
        <p:nvSpPr>
          <p:cNvPr id="12" name="card Who gets told what"/>
          <p:cNvSpPr/>
          <p:nvPr/>
        </p:nvSpPr>
        <p:spPr>
          <a:xfrm>
            <a:off x="548640" y="5237226"/>
            <a:ext cx="5477256" cy="1026414"/>
          </a:xfrm>
          <a:prstGeom prst="roundRect">
            <a:avLst>
              <a:gd name="adj" fmla="val 7127"/>
            </a:avLst>
          </a:prstGeom>
          <a:solidFill>
            <a:schemeClr val="bg2"/>
          </a:solidFill>
          <a:ln w="12700">
            <a:solidFill>
              <a:schemeClr val="bg2"/>
            </a:solidFill>
            <a:prstDash val="solid"/>
          </a:ln>
        </p:spPr>
      </p:sp>
      <p:sp>
        <p:nvSpPr>
          <p:cNvPr id="13" name="Text 10"/>
          <p:cNvSpPr txBox="1"/>
          <p:nvPr/>
        </p:nvSpPr>
        <p:spPr>
          <a:xfrm>
            <a:off x="685800"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Who gets told what</a:t>
            </a:r>
            <a:endParaRPr lang="en-US" sz="1500" dirty="0"/>
          </a:p>
          <a:p>
            <a:pPr indent="0" marL="0">
              <a:spcAft>
                <a:spcPts val="400"/>
              </a:spcAft>
              <a:buNone/>
            </a:pPr>
            <a:r>
              <a:rPr lang="en-US" sz="1400" dirty="0">
                <a:solidFill>
                  <a:schemeClr val="tx1"/>
                </a:solidFill>
              </a:rPr>
              <a:t>The keeper posts the tank level every week.</a:t>
            </a:r>
            <a:endParaRPr lang="en-US" sz="1500" dirty="0"/>
          </a:p>
          <a:p>
            <a:pPr indent="0" marL="0">
              <a:spcAft>
                <a:spcPts val="400"/>
              </a:spcAft>
              <a:buNone/>
            </a:pPr>
            <a:r>
              <a:rPr lang="en-US" sz="1200" i="1" dirty="0">
                <a:solidFill>
                  <a:srgbClr val="6B7A70"/>
                </a:solidFill>
              </a:rPr>
              <a:t>Ostrom's word: information rules</a:t>
            </a:r>
            <a:endParaRPr lang="en-US" sz="1500" dirty="0"/>
          </a:p>
        </p:txBody>
      </p:sp>
      <p:sp>
        <p:nvSpPr>
          <p:cNvPr id="14" name="card How we decide"/>
          <p:cNvSpPr/>
          <p:nvPr/>
        </p:nvSpPr>
        <p:spPr>
          <a:xfrm>
            <a:off x="6135624" y="1828800"/>
            <a:ext cx="5477256" cy="1026414"/>
          </a:xfrm>
          <a:prstGeom prst="roundRect">
            <a:avLst>
              <a:gd name="adj" fmla="val 7127"/>
            </a:avLst>
          </a:prstGeom>
          <a:solidFill>
            <a:schemeClr val="bg2"/>
          </a:solidFill>
          <a:ln w="12700">
            <a:solidFill>
              <a:schemeClr val="bg2"/>
            </a:solidFill>
            <a:prstDash val="solid"/>
          </a:ln>
        </p:spPr>
      </p:sp>
      <p:sp>
        <p:nvSpPr>
          <p:cNvPr id="15" name="Text 12"/>
          <p:cNvSpPr txBox="1"/>
          <p:nvPr/>
        </p:nvSpPr>
        <p:spPr>
          <a:xfrm>
            <a:off x="6272784"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How we decide</a:t>
            </a:r>
            <a:endParaRPr lang="en-US" sz="1500" dirty="0"/>
          </a:p>
          <a:p>
            <a:pPr indent="0" marL="0">
              <a:spcAft>
                <a:spcPts val="400"/>
              </a:spcAft>
              <a:buNone/>
            </a:pPr>
            <a:r>
              <a:rPr lang="en-US" sz="1400" dirty="0">
                <a:solidFill>
                  <a:schemeClr val="tx1"/>
                </a:solidFill>
              </a:rPr>
              <a:t>A vote? Two-thirds? Everyone agrees? The keeper alone?</a:t>
            </a:r>
            <a:endParaRPr lang="en-US" sz="1500" dirty="0"/>
          </a:p>
          <a:p>
            <a:pPr indent="0" marL="0">
              <a:spcAft>
                <a:spcPts val="400"/>
              </a:spcAft>
              <a:buNone/>
            </a:pPr>
            <a:r>
              <a:rPr lang="en-US" sz="1200" i="1" dirty="0">
                <a:solidFill>
                  <a:srgbClr val="6B7A70"/>
                </a:solidFill>
              </a:rPr>
              <a:t>Ostrom's word: aggregation rules</a:t>
            </a:r>
            <a:endParaRPr lang="en-US" sz="1500" dirty="0"/>
          </a:p>
        </p:txBody>
      </p:sp>
      <p:sp>
        <p:nvSpPr>
          <p:cNvPr id="16" name="card Who pays, who gains"/>
          <p:cNvSpPr/>
          <p:nvPr/>
        </p:nvSpPr>
        <p:spPr>
          <a:xfrm>
            <a:off x="6135624" y="2964942"/>
            <a:ext cx="5477256" cy="1026414"/>
          </a:xfrm>
          <a:prstGeom prst="roundRect">
            <a:avLst>
              <a:gd name="adj" fmla="val 7127"/>
            </a:avLst>
          </a:prstGeom>
          <a:solidFill>
            <a:schemeClr val="bg2"/>
          </a:solidFill>
          <a:ln w="12700">
            <a:solidFill>
              <a:schemeClr val="bg2"/>
            </a:solidFill>
            <a:prstDash val="solid"/>
          </a:ln>
        </p:spPr>
      </p:sp>
      <p:sp>
        <p:nvSpPr>
          <p:cNvPr id="17" name="Text 14"/>
          <p:cNvSpPr txBox="1"/>
          <p:nvPr/>
        </p:nvSpPr>
        <p:spPr>
          <a:xfrm>
            <a:off x="6272784"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Who pays, who gains</a:t>
            </a:r>
            <a:endParaRPr lang="en-US" sz="1500" dirty="0"/>
          </a:p>
          <a:p>
            <a:pPr indent="0" marL="0">
              <a:spcAft>
                <a:spcPts val="400"/>
              </a:spcAft>
              <a:buNone/>
            </a:pPr>
            <a:r>
              <a:rPr lang="en-US" sz="1400" dirty="0">
                <a:solidFill>
                  <a:schemeClr val="tx1"/>
                </a:solidFill>
              </a:rPr>
              <a:t>Four work hours a season; lose watering for a week if you break the rule.</a:t>
            </a:r>
            <a:endParaRPr lang="en-US" sz="1500" dirty="0"/>
          </a:p>
          <a:p>
            <a:pPr indent="0" marL="0">
              <a:spcAft>
                <a:spcPts val="400"/>
              </a:spcAft>
              <a:buNone/>
            </a:pPr>
            <a:r>
              <a:rPr lang="en-US" sz="1200" i="1" dirty="0">
                <a:solidFill>
                  <a:srgbClr val="6B7A70"/>
                </a:solidFill>
              </a:rPr>
              <a:t>Ostrom's word: payoff rules</a:t>
            </a:r>
            <a:endParaRPr lang="en-US" sz="1500" dirty="0"/>
          </a:p>
        </p:txBody>
      </p:sp>
      <p:sp>
        <p:nvSpPr>
          <p:cNvPr id="18" name="card What's on the table"/>
          <p:cNvSpPr/>
          <p:nvPr/>
        </p:nvSpPr>
        <p:spPr>
          <a:xfrm>
            <a:off x="6135624" y="4101084"/>
            <a:ext cx="5477256" cy="1026414"/>
          </a:xfrm>
          <a:prstGeom prst="roundRect">
            <a:avLst>
              <a:gd name="adj" fmla="val 7127"/>
            </a:avLst>
          </a:prstGeom>
          <a:solidFill>
            <a:schemeClr val="bg2"/>
          </a:solidFill>
          <a:ln w="12700">
            <a:solidFill>
              <a:schemeClr val="bg2"/>
            </a:solidFill>
            <a:prstDash val="solid"/>
          </a:ln>
        </p:spPr>
      </p:sp>
      <p:sp>
        <p:nvSpPr>
          <p:cNvPr id="19" name="Text 16"/>
          <p:cNvSpPr txBox="1"/>
          <p:nvPr/>
        </p:nvSpPr>
        <p:spPr>
          <a:xfrm>
            <a:off x="6272784"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What's on the table</a:t>
            </a:r>
            <a:endParaRPr lang="en-US" sz="1500" dirty="0"/>
          </a:p>
          <a:p>
            <a:pPr indent="0" marL="0">
              <a:spcAft>
                <a:spcPts val="400"/>
              </a:spcAft>
              <a:buNone/>
            </a:pPr>
            <a:r>
              <a:rPr lang="en-US" sz="1400" dirty="0">
                <a:solidFill>
                  <a:schemeClr val="tx1"/>
                </a:solidFill>
              </a:rPr>
              <a:t>The meeting may change watering days, but may not sell the land.</a:t>
            </a:r>
            <a:endParaRPr lang="en-US" sz="1500" dirty="0"/>
          </a:p>
          <a:p>
            <a:pPr indent="0" marL="0">
              <a:spcAft>
                <a:spcPts val="400"/>
              </a:spcAft>
              <a:buNone/>
            </a:pPr>
            <a:r>
              <a:rPr lang="en-US" sz="1200" i="1" dirty="0">
                <a:solidFill>
                  <a:srgbClr val="6B7A70"/>
                </a:solidFill>
              </a:rPr>
              <a:t>Ostrom's word: scope rules</a:t>
            </a:r>
            <a:endParaRPr lang="en-US" sz="1500" dirty="0"/>
          </a:p>
        </p:txBody>
      </p:sp>
      <p:sp>
        <p:nvSpPr>
          <p:cNvPr id="20" name="card Set from outside the get-together"/>
          <p:cNvSpPr/>
          <p:nvPr/>
        </p:nvSpPr>
        <p:spPr>
          <a:xfrm>
            <a:off x="6135624" y="5237226"/>
            <a:ext cx="5477256" cy="1026414"/>
          </a:xfrm>
          <a:prstGeom prst="roundRect">
            <a:avLst>
              <a:gd name="adj" fmla="val 7127"/>
            </a:avLst>
          </a:prstGeom>
          <a:solidFill>
            <a:schemeClr val="bg2"/>
          </a:solidFill>
          <a:ln w="12700">
            <a:solidFill>
              <a:schemeClr val="bg2"/>
            </a:solidFill>
            <a:prstDash val="solid"/>
          </a:ln>
        </p:spPr>
      </p:sp>
      <p:sp>
        <p:nvSpPr>
          <p:cNvPr id="21" name="Text 18"/>
          <p:cNvSpPr txBox="1"/>
          <p:nvPr/>
        </p:nvSpPr>
        <p:spPr>
          <a:xfrm>
            <a:off x="6272784"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Set from outside the get-together</a:t>
            </a:r>
            <a:endParaRPr lang="en-US" sz="1500" dirty="0"/>
          </a:p>
          <a:p>
            <a:pPr indent="0" marL="0">
              <a:spcAft>
                <a:spcPts val="400"/>
              </a:spcAft>
              <a:buNone/>
            </a:pPr>
            <a:r>
              <a:rPr lang="en-US" sz="1400" dirty="0">
                <a:solidFill>
                  <a:schemeClr val="tx1"/>
                </a:solidFill>
              </a:rPr>
              <a:t>The rules come from outside the moment and shape it.</a:t>
            </a:r>
            <a:endParaRPr lang="en-US" sz="1500" dirty="0"/>
          </a:p>
          <a:p>
            <a:pPr indent="0" marL="0">
              <a:spcAft>
                <a:spcPts val="400"/>
              </a:spcAft>
              <a:buNone/>
            </a:pPr>
            <a:r>
              <a:rPr lang="en-US" sz="1200" i="1" dirty="0">
                <a:solidFill>
                  <a:srgbClr val="6B7A70"/>
                </a:solidFill>
              </a:rPr>
              <a:t>Ostrom's word: exogenous variables (in the title)</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6 · THE HOUSE RULES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Marc's questions: the same rules, from your own seat (1 of 2)</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Ostrom draws the get-together from outside, like an observer. Marc's labels draw it from inside, like a participant.</a:t>
            </a:r>
            <a:endParaRPr lang="en-US" sz="1500" dirty="0"/>
          </a:p>
        </p:txBody>
      </p:sp>
      <p:sp>
        <p:nvSpPr>
          <p:cNvPr id="6" name="card WHO?"/>
          <p:cNvSpPr/>
          <p:nvPr/>
        </p:nvSpPr>
        <p:spPr>
          <a:xfrm>
            <a:off x="548640" y="1828800"/>
            <a:ext cx="5477256" cy="1405128"/>
          </a:xfrm>
          <a:prstGeom prst="roundRect">
            <a:avLst>
              <a:gd name="adj" fmla="val 5206"/>
            </a:avLst>
          </a:prstGeom>
          <a:solidFill>
            <a:schemeClr val="bg2"/>
          </a:solidFill>
          <a:ln w="12700">
            <a:solidFill>
              <a:schemeClr val="bg2"/>
            </a:solidFill>
            <a:prstDash val="solid"/>
          </a:ln>
        </p:spPr>
      </p:sp>
      <p:sp>
        <p:nvSpPr>
          <p:cNvPr id="7" name="Text 4"/>
          <p:cNvSpPr txBox="1"/>
          <p:nvPr/>
        </p:nvSpPr>
        <p:spPr>
          <a:xfrm>
            <a:off x="685800" y="1920240"/>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WHO?</a:t>
            </a:r>
            <a:endParaRPr lang="en-US" sz="1500" dirty="0"/>
          </a:p>
          <a:p>
            <a:pPr indent="0" marL="0">
              <a:spcAft>
                <a:spcPts val="400"/>
              </a:spcAft>
              <a:buNone/>
            </a:pPr>
            <a:r>
              <a:rPr lang="en-US" sz="1400" dirty="0">
                <a:solidFill>
                  <a:schemeClr val="tx1"/>
                </a:solidFill>
              </a:rPr>
              <a:t>Who's in? Who gets told? Who has to agree?</a:t>
            </a:r>
            <a:endParaRPr lang="en-US" sz="1500" dirty="0"/>
          </a:p>
          <a:p>
            <a:pPr indent="0" marL="0">
              <a:spcAft>
                <a:spcPts val="400"/>
              </a:spcAft>
              <a:buNone/>
            </a:pPr>
            <a:r>
              <a:rPr lang="en-US" sz="1200" i="1" dirty="0">
                <a:solidFill>
                  <a:srgbClr val="6B7A70"/>
                </a:solidFill>
              </a:rPr>
              <a:t>Ostrom's word: boundary, information and aggregation rules</a:t>
            </a:r>
            <a:endParaRPr lang="en-US" sz="1500" dirty="0"/>
          </a:p>
        </p:txBody>
      </p:sp>
      <p:sp>
        <p:nvSpPr>
          <p:cNvPr id="8" name="card WHAT?"/>
          <p:cNvSpPr/>
          <p:nvPr/>
        </p:nvSpPr>
        <p:spPr>
          <a:xfrm>
            <a:off x="548640" y="3343656"/>
            <a:ext cx="5477256" cy="1405128"/>
          </a:xfrm>
          <a:prstGeom prst="roundRect">
            <a:avLst>
              <a:gd name="adj" fmla="val 5206"/>
            </a:avLst>
          </a:prstGeom>
          <a:solidFill>
            <a:schemeClr val="bg2"/>
          </a:solidFill>
          <a:ln w="12700">
            <a:solidFill>
              <a:schemeClr val="bg2"/>
            </a:solidFill>
            <a:prstDash val="solid"/>
          </a:ln>
        </p:spPr>
      </p:sp>
      <p:sp>
        <p:nvSpPr>
          <p:cNvPr id="9" name="Text 6"/>
          <p:cNvSpPr txBox="1"/>
          <p:nvPr/>
        </p:nvSpPr>
        <p:spPr>
          <a:xfrm>
            <a:off x="685800" y="3435096"/>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WHAT?</a:t>
            </a:r>
            <a:endParaRPr lang="en-US" sz="1500" dirty="0"/>
          </a:p>
          <a:p>
            <a:pPr indent="0" marL="0">
              <a:spcAft>
                <a:spcPts val="400"/>
              </a:spcAft>
              <a:buNone/>
            </a:pPr>
            <a:r>
              <a:rPr lang="en-US" sz="1400" dirty="0">
                <a:solidFill>
                  <a:schemeClr val="tx1"/>
                </a:solidFill>
              </a:rPr>
              <a:t>What am I allowed, expected, or not allowed to do?</a:t>
            </a:r>
            <a:endParaRPr lang="en-US" sz="1500" dirty="0"/>
          </a:p>
          <a:p>
            <a:pPr indent="0" marL="0">
              <a:spcAft>
                <a:spcPts val="400"/>
              </a:spcAft>
              <a:buNone/>
            </a:pPr>
            <a:r>
              <a:rPr lang="en-US" sz="1200" i="1" dirty="0">
                <a:solidFill>
                  <a:srgbClr val="6B7A70"/>
                </a:solidFill>
              </a:rPr>
              <a:t>Ostrom's word: choice rules</a:t>
            </a:r>
            <a:endParaRPr lang="en-US" sz="1500" dirty="0"/>
          </a:p>
        </p:txBody>
      </p:sp>
      <p:sp>
        <p:nvSpPr>
          <p:cNvPr id="10" name="card HOW?"/>
          <p:cNvSpPr/>
          <p:nvPr/>
        </p:nvSpPr>
        <p:spPr>
          <a:xfrm>
            <a:off x="548640" y="4858512"/>
            <a:ext cx="5477256" cy="1405128"/>
          </a:xfrm>
          <a:prstGeom prst="roundRect">
            <a:avLst>
              <a:gd name="adj" fmla="val 5206"/>
            </a:avLst>
          </a:prstGeom>
          <a:solidFill>
            <a:schemeClr val="bg2"/>
          </a:solidFill>
          <a:ln w="12700">
            <a:solidFill>
              <a:schemeClr val="bg2"/>
            </a:solidFill>
            <a:prstDash val="solid"/>
          </a:ln>
        </p:spPr>
      </p:sp>
      <p:sp>
        <p:nvSpPr>
          <p:cNvPr id="11" name="Text 8"/>
          <p:cNvSpPr txBox="1"/>
          <p:nvPr/>
        </p:nvSpPr>
        <p:spPr>
          <a:xfrm>
            <a:off x="685800" y="4949952"/>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HOW?</a:t>
            </a:r>
            <a:endParaRPr lang="en-US" sz="1500" dirty="0"/>
          </a:p>
          <a:p>
            <a:pPr indent="0" marL="0">
              <a:spcAft>
                <a:spcPts val="400"/>
              </a:spcAft>
              <a:buNone/>
            </a:pPr>
            <a:r>
              <a:rPr lang="en-US" sz="1400" dirty="0">
                <a:solidFill>
                  <a:schemeClr val="tx1"/>
                </a:solidFill>
              </a:rPr>
              <a:t>How are costs and benefits shared, and how are slip-ups handled?</a:t>
            </a:r>
            <a:endParaRPr lang="en-US" sz="1500" dirty="0"/>
          </a:p>
          <a:p>
            <a:pPr indent="0" marL="0">
              <a:spcAft>
                <a:spcPts val="400"/>
              </a:spcAft>
              <a:buNone/>
            </a:pPr>
            <a:r>
              <a:rPr lang="en-US" sz="1200" i="1" dirty="0">
                <a:solidFill>
                  <a:srgbClr val="6B7A70"/>
                </a:solidFill>
              </a:rPr>
              <a:t>Ostrom's word: payoff rules</a:t>
            </a:r>
            <a:endParaRPr lang="en-US" sz="1500" dirty="0"/>
          </a:p>
        </p:txBody>
      </p:sp>
      <p:sp>
        <p:nvSpPr>
          <p:cNvPr id="12" name="card WHY?"/>
          <p:cNvSpPr/>
          <p:nvPr/>
        </p:nvSpPr>
        <p:spPr>
          <a:xfrm>
            <a:off x="6135624" y="1828800"/>
            <a:ext cx="5477256" cy="1405128"/>
          </a:xfrm>
          <a:prstGeom prst="roundRect">
            <a:avLst>
              <a:gd name="adj" fmla="val 5206"/>
            </a:avLst>
          </a:prstGeom>
          <a:solidFill>
            <a:schemeClr val="bg2"/>
          </a:solidFill>
          <a:ln w="12700">
            <a:solidFill>
              <a:schemeClr val="bg2"/>
            </a:solidFill>
            <a:prstDash val="solid"/>
          </a:ln>
        </p:spPr>
      </p:sp>
      <p:sp>
        <p:nvSpPr>
          <p:cNvPr id="13" name="Text 10"/>
          <p:cNvSpPr txBox="1"/>
          <p:nvPr/>
        </p:nvSpPr>
        <p:spPr>
          <a:xfrm>
            <a:off x="6272784" y="1920240"/>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WHY?</a:t>
            </a:r>
            <a:endParaRPr lang="en-US" sz="1500" dirty="0"/>
          </a:p>
          <a:p>
            <a:pPr indent="0" marL="0">
              <a:spcAft>
                <a:spcPts val="400"/>
              </a:spcAft>
              <a:buNone/>
            </a:pPr>
            <a:r>
              <a:rPr lang="en-US" sz="1400" dirty="0">
                <a:solidFill>
                  <a:schemeClr val="tx1"/>
                </a:solidFill>
              </a:rPr>
              <a:t>What are we here to change at all?</a:t>
            </a:r>
            <a:endParaRPr lang="en-US" sz="1500" dirty="0"/>
          </a:p>
          <a:p>
            <a:pPr indent="0" marL="0">
              <a:spcAft>
                <a:spcPts val="400"/>
              </a:spcAft>
              <a:buNone/>
            </a:pPr>
            <a:r>
              <a:rPr lang="en-US" sz="1200" i="1" dirty="0">
                <a:solidFill>
                  <a:srgbClr val="6B7A70"/>
                </a:solidFill>
              </a:rPr>
              <a:t>Ostrom's word: scope rules</a:t>
            </a:r>
            <a:endParaRPr lang="en-US" sz="1500" dirty="0"/>
          </a:p>
        </p:txBody>
      </p:sp>
      <p:sp>
        <p:nvSpPr>
          <p:cNvPr id="14" name="card For whom? By whom?"/>
          <p:cNvSpPr/>
          <p:nvPr/>
        </p:nvSpPr>
        <p:spPr>
          <a:xfrm>
            <a:off x="6135624" y="3343656"/>
            <a:ext cx="5477256" cy="1405128"/>
          </a:xfrm>
          <a:prstGeom prst="roundRect">
            <a:avLst>
              <a:gd name="adj" fmla="val 5206"/>
            </a:avLst>
          </a:prstGeom>
          <a:solidFill>
            <a:schemeClr val="bg2"/>
          </a:solidFill>
          <a:ln w="12700">
            <a:solidFill>
              <a:schemeClr val="bg2"/>
            </a:solidFill>
            <a:prstDash val="solid"/>
          </a:ln>
        </p:spPr>
      </p:sp>
      <p:sp>
        <p:nvSpPr>
          <p:cNvPr id="15" name="Text 12"/>
          <p:cNvSpPr txBox="1"/>
          <p:nvPr/>
        </p:nvSpPr>
        <p:spPr>
          <a:xfrm>
            <a:off x="6272784" y="3435096"/>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For whom? By whom?</a:t>
            </a:r>
            <a:endParaRPr lang="en-US" sz="1500" dirty="0"/>
          </a:p>
          <a:p>
            <a:pPr indent="0" marL="0">
              <a:spcAft>
                <a:spcPts val="400"/>
              </a:spcAft>
              <a:buNone/>
            </a:pPr>
            <a:r>
              <a:rPr lang="en-US" sz="1400" dirty="0">
                <a:solidFill>
                  <a:schemeClr val="tx1"/>
                </a:solidFill>
              </a:rPr>
              <a:t>Who a role serves, and who fills it. Asked about roles, not particular people.</a:t>
            </a:r>
            <a:endParaRPr lang="en-US" sz="1500" dirty="0"/>
          </a:p>
          <a:p>
            <a:pPr indent="0" marL="0">
              <a:spcAft>
                <a:spcPts val="400"/>
              </a:spcAft>
              <a:buNone/>
            </a:pPr>
            <a:r>
              <a:rPr lang="en-US" sz="1200" i="1" dirty="0">
                <a:solidFill>
                  <a:srgbClr val="6B7A70"/>
                </a:solidFill>
              </a:rPr>
              <a:t>Ostrom's word: position rules</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6 · THE HOUSE RULES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Marc's questions: the same rules, from your own seat (2 of 2)</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Ostrom draws the get-together from outside, like an observer. Marc's labels draw it from inside, like a participant.</a:t>
            </a:r>
            <a:endParaRPr lang="en-US" sz="1500" dirty="0"/>
          </a:p>
        </p:txBody>
      </p:sp>
      <p:sp>
        <p:nvSpPr>
          <p:cNvPr id="6" name="card Am I allowed?"/>
          <p:cNvSpPr/>
          <p:nvPr/>
        </p:nvSpPr>
        <p:spPr>
          <a:xfrm>
            <a:off x="548640" y="1828800"/>
            <a:ext cx="5477256" cy="2162556"/>
          </a:xfrm>
          <a:prstGeom prst="roundRect">
            <a:avLst>
              <a:gd name="adj" fmla="val 3383"/>
            </a:avLst>
          </a:prstGeom>
          <a:solidFill>
            <a:schemeClr val="bg2"/>
          </a:solidFill>
          <a:ln w="12700">
            <a:solidFill>
              <a:schemeClr val="bg2"/>
            </a:solidFill>
            <a:prstDash val="solid"/>
          </a:ln>
        </p:spPr>
      </p:sp>
      <p:sp>
        <p:nvSpPr>
          <p:cNvPr id="7" name="Text 4"/>
          <p:cNvSpPr txBox="1"/>
          <p:nvPr/>
        </p:nvSpPr>
        <p:spPr>
          <a:xfrm>
            <a:off x="685800" y="1920240"/>
            <a:ext cx="5202936" cy="197967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Am I allowed?</a:t>
            </a:r>
            <a:endParaRPr lang="en-US" sz="1500" dirty="0"/>
          </a:p>
          <a:p>
            <a:pPr indent="0" marL="0">
              <a:spcAft>
                <a:spcPts val="400"/>
              </a:spcAft>
              <a:buNone/>
            </a:pPr>
            <a:r>
              <a:rPr lang="en-US" sz="1400" dirty="0">
                <a:solidFill>
                  <a:schemeClr val="tx1"/>
                </a:solidFill>
              </a:rPr>
              <a:t>My permission comes from a rule, not from me.</a:t>
            </a:r>
            <a:endParaRPr lang="en-US" sz="1500" dirty="0"/>
          </a:p>
          <a:p>
            <a:pPr indent="0" marL="0">
              <a:spcAft>
                <a:spcPts val="400"/>
              </a:spcAft>
              <a:buNone/>
            </a:pPr>
            <a:r>
              <a:rPr lang="en-US" sz="1200" i="1" dirty="0">
                <a:solidFill>
                  <a:srgbClr val="6B7A70"/>
                </a:solidFill>
              </a:rPr>
              <a:t>Ostrom's word: "derived authority"</a:t>
            </a:r>
            <a:endParaRPr lang="en-US" sz="1500" dirty="0"/>
          </a:p>
        </p:txBody>
      </p:sp>
      <p:sp>
        <p:nvSpPr>
          <p:cNvPr id="8" name="card Know-how and know-what"/>
          <p:cNvSpPr/>
          <p:nvPr/>
        </p:nvSpPr>
        <p:spPr>
          <a:xfrm>
            <a:off x="548640" y="4101084"/>
            <a:ext cx="5477256" cy="2162556"/>
          </a:xfrm>
          <a:prstGeom prst="roundRect">
            <a:avLst>
              <a:gd name="adj" fmla="val 3383"/>
            </a:avLst>
          </a:prstGeom>
          <a:solidFill>
            <a:schemeClr val="bg2"/>
          </a:solidFill>
          <a:ln w="12700">
            <a:solidFill>
              <a:schemeClr val="bg2"/>
            </a:solidFill>
            <a:prstDash val="solid"/>
          </a:ln>
        </p:spPr>
      </p:sp>
      <p:sp>
        <p:nvSpPr>
          <p:cNvPr id="9" name="Text 6"/>
          <p:cNvSpPr txBox="1"/>
          <p:nvPr/>
        </p:nvSpPr>
        <p:spPr>
          <a:xfrm>
            <a:off x="685800" y="4192524"/>
            <a:ext cx="5202936" cy="197967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Know-how and know-what</a:t>
            </a:r>
            <a:endParaRPr lang="en-US" sz="1500" dirty="0"/>
          </a:p>
          <a:p>
            <a:pPr indent="0" marL="0">
              <a:spcAft>
                <a:spcPts val="400"/>
              </a:spcAft>
              <a:buNone/>
            </a:pPr>
            <a:r>
              <a:rPr lang="en-US" sz="1400" dirty="0">
                <a:solidFill>
                  <a:schemeClr val="tx1"/>
                </a:solidFill>
              </a:rPr>
              <a:t>Information rules pass facts around; deciding together turns what people know into a shared choice.</a:t>
            </a:r>
            <a:endParaRPr lang="en-US" sz="1500" dirty="0"/>
          </a:p>
          <a:p>
            <a:pPr indent="0" marL="0">
              <a:spcAft>
                <a:spcPts val="400"/>
              </a:spcAft>
              <a:buNone/>
            </a:pPr>
            <a:r>
              <a:rPr lang="en-US" sz="1200" i="1" dirty="0">
                <a:solidFill>
                  <a:srgbClr val="6B7A70"/>
                </a:solidFill>
              </a:rPr>
              <a:t>Ostrom's word: "data &amp; information", "knowledge &amp; understanding"</a:t>
            </a:r>
            <a:endParaRPr lang="en-US" sz="1500" dirty="0"/>
          </a:p>
        </p:txBody>
      </p:sp>
      <p:sp>
        <p:nvSpPr>
          <p:cNvPr id="10" name="card Sets the limits; describes how it adds up"/>
          <p:cNvSpPr/>
          <p:nvPr/>
        </p:nvSpPr>
        <p:spPr>
          <a:xfrm>
            <a:off x="6135624" y="1828800"/>
            <a:ext cx="5477256" cy="2162556"/>
          </a:xfrm>
          <a:prstGeom prst="roundRect">
            <a:avLst>
              <a:gd name="adj" fmla="val 3383"/>
            </a:avLst>
          </a:prstGeom>
          <a:solidFill>
            <a:schemeClr val="bg2"/>
          </a:solidFill>
          <a:ln w="12700">
            <a:solidFill>
              <a:schemeClr val="bg2"/>
            </a:solidFill>
            <a:prstDash val="solid"/>
          </a:ln>
        </p:spPr>
      </p:sp>
      <p:sp>
        <p:nvSpPr>
          <p:cNvPr id="11" name="Text 8"/>
          <p:cNvSpPr txBox="1"/>
          <p:nvPr/>
        </p:nvSpPr>
        <p:spPr>
          <a:xfrm>
            <a:off x="6272784" y="1920240"/>
            <a:ext cx="5202936" cy="197967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Sets the limits; describes how it adds up</a:t>
            </a:r>
            <a:endParaRPr lang="en-US" sz="1500" dirty="0"/>
          </a:p>
          <a:p>
            <a:pPr indent="0" marL="0">
              <a:spcAft>
                <a:spcPts val="400"/>
              </a:spcAft>
              <a:buNone/>
            </a:pPr>
            <a:r>
              <a:rPr lang="en-US" sz="1400" dirty="0">
                <a:solidFill>
                  <a:schemeClr val="tx1"/>
                </a:solidFill>
              </a:rPr>
              <a:t>What you know sets the limits of your choice. How choices combine describes how they turn into results.</a:t>
            </a:r>
            <a:endParaRPr lang="en-US" sz="1500" dirty="0"/>
          </a:p>
          <a:p>
            <a:pPr indent="0" marL="0">
              <a:spcAft>
                <a:spcPts val="400"/>
              </a:spcAft>
              <a:buNone/>
            </a:pPr>
            <a:r>
              <a:rPr lang="en-US" sz="1200" i="1" dirty="0">
                <a:solidFill>
                  <a:srgbClr val="6B7A70"/>
                </a:solidFill>
              </a:rPr>
              <a:t>Ostrom's word: "parameterizes", "models"</a:t>
            </a:r>
            <a:endParaRPr lang="en-US" sz="1500" dirty="0"/>
          </a:p>
        </p:txBody>
      </p:sp>
      <p:sp>
        <p:nvSpPr>
          <p:cNvPr id="12" name="card Is it worth the effort and risk?"/>
          <p:cNvSpPr/>
          <p:nvPr/>
        </p:nvSpPr>
        <p:spPr>
          <a:xfrm>
            <a:off x="6135624" y="4101084"/>
            <a:ext cx="5477256" cy="2162556"/>
          </a:xfrm>
          <a:prstGeom prst="roundRect">
            <a:avLst>
              <a:gd name="adj" fmla="val 3383"/>
            </a:avLst>
          </a:prstGeom>
          <a:solidFill>
            <a:schemeClr val="bg2"/>
          </a:solidFill>
          <a:ln w="12700">
            <a:solidFill>
              <a:schemeClr val="bg2"/>
            </a:solidFill>
            <a:prstDash val="solid"/>
          </a:ln>
        </p:spPr>
      </p:sp>
      <p:sp>
        <p:nvSpPr>
          <p:cNvPr id="13" name="Text 10"/>
          <p:cNvSpPr txBox="1"/>
          <p:nvPr/>
        </p:nvSpPr>
        <p:spPr>
          <a:xfrm>
            <a:off x="6272784" y="4192524"/>
            <a:ext cx="5202936" cy="197967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Is it worth the effort and risk?</a:t>
            </a:r>
            <a:endParaRPr lang="en-US" sz="1500" dirty="0"/>
          </a:p>
          <a:p>
            <a:pPr indent="0" marL="0">
              <a:spcAft>
                <a:spcPts val="400"/>
              </a:spcAft>
              <a:buNone/>
            </a:pPr>
            <a:r>
              <a:rPr lang="en-US" sz="1400" dirty="0">
                <a:solidFill>
                  <a:schemeClr val="tx1"/>
                </a:solidFill>
              </a:rPr>
              <a:t>The question each person asks before pitching in. Step 9 answers it.</a:t>
            </a:r>
            <a:endParaRPr lang="en-US" sz="1500" dirty="0"/>
          </a:p>
          <a:p>
            <a:pPr indent="0" marL="0">
              <a:spcAft>
                <a:spcPts val="400"/>
              </a:spcAft>
              <a:buNone/>
            </a:pPr>
            <a:r>
              <a:rPr lang="en-US" sz="1200" i="1" dirty="0">
                <a:solidFill>
                  <a:srgbClr val="6B7A70"/>
                </a:solidFill>
              </a:rPr>
              <a:t>Ostrom's word: "judgement", "judges"</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6 · THE HOUSE RULES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The rule nobody writes down: how do we decide?</a:t>
            </a:r>
            <a:endParaRPr lang="en-US" sz="3200" dirty="0"/>
          </a:p>
        </p:txBody>
      </p:sp>
      <p:sp>
        <p:nvSpPr>
          <p:cNvPr id="5" name="Text 2"/>
          <p:cNvSpPr txBox="1"/>
          <p:nvPr/>
        </p:nvSpPr>
        <p:spPr>
          <a:xfrm>
            <a:off x="548640" y="1463040"/>
            <a:ext cx="11064240" cy="54864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The spring meeting votes on a new watering schedule. 30 members. 17 vote yes, 10 vote no, 3 stay home.</a:t>
            </a:r>
            <a:endParaRPr lang="en-US" sz="1800" dirty="0"/>
          </a:p>
        </p:txBody>
      </p:sp>
      <p:sp>
        <p:nvSpPr>
          <p:cNvPr id="6" name="Shape 3"/>
          <p:cNvSpPr/>
          <p:nvPr/>
        </p:nvSpPr>
        <p:spPr>
          <a:xfrm>
            <a:off x="548640" y="2286000"/>
            <a:ext cx="2651760" cy="2743200"/>
          </a:xfrm>
          <a:prstGeom prst="roundRect">
            <a:avLst>
              <a:gd name="adj" fmla="val 2759"/>
            </a:avLst>
          </a:prstGeom>
          <a:solidFill>
            <a:schemeClr val="bg2"/>
          </a:solidFill>
          <a:ln w="12700">
            <a:solidFill>
              <a:schemeClr val="bg2"/>
            </a:solidFill>
            <a:prstDash val="solid"/>
          </a:ln>
        </p:spPr>
      </p:sp>
      <p:sp>
        <p:nvSpPr>
          <p:cNvPr id="7" name="Text 4"/>
          <p:cNvSpPr txBox="1"/>
          <p:nvPr/>
        </p:nvSpPr>
        <p:spPr>
          <a:xfrm>
            <a:off x="685800" y="2423160"/>
            <a:ext cx="2377440" cy="2468880"/>
          </a:xfrm>
          <a:prstGeom prst="rect">
            <a:avLst/>
          </a:prstGeom>
          <a:noFill/>
          <a:ln/>
        </p:spPr>
        <p:txBody>
          <a:bodyPr wrap="square" lIns="0" tIns="0" rIns="0" bIns="0" rtlCol="0" anchor="t"/>
          <a:lstStyle/>
          <a:p>
            <a:pPr indent="0" marL="0">
              <a:buNone/>
            </a:pPr>
            <a:r>
              <a:rPr lang="en-US" sz="1600" b="1" dirty="0">
                <a:solidFill>
                  <a:schemeClr val="tx2"/>
                </a:solidFill>
              </a:rPr>
              <a:t>Most of those who came</a:t>
            </a:r>
            <a:endParaRPr lang="en-US" sz="1600" dirty="0"/>
          </a:p>
          <a:p>
            <a:pPr indent="0" marL="0">
              <a:buNone/>
            </a:pPr>
            <a:r>
              <a:rPr lang="en-US" sz="4000" b="1" dirty="0">
                <a:solidFill>
                  <a:srgbClr val="2E6B45"/>
                </a:solidFill>
              </a:rPr>
              <a:t>PASSES</a:t>
            </a:r>
            <a:endParaRPr lang="en-US" sz="1600" dirty="0"/>
          </a:p>
          <a:p>
            <a:pPr indent="0" marL="0">
              <a:buNone/>
            </a:pPr>
            <a:r>
              <a:rPr lang="en-US" sz="1500" dirty="0">
                <a:solidFill>
                  <a:srgbClr val="3E4A42"/>
                </a:solidFill>
              </a:rPr>
              <a:t>17 of 27</a:t>
            </a:r>
            <a:endParaRPr lang="en-US" sz="1600" dirty="0"/>
          </a:p>
        </p:txBody>
      </p:sp>
      <p:sp>
        <p:nvSpPr>
          <p:cNvPr id="8" name="Shape 5"/>
          <p:cNvSpPr/>
          <p:nvPr/>
        </p:nvSpPr>
        <p:spPr>
          <a:xfrm>
            <a:off x="3364992" y="2286000"/>
            <a:ext cx="2651760" cy="2743200"/>
          </a:xfrm>
          <a:prstGeom prst="roundRect">
            <a:avLst>
              <a:gd name="adj" fmla="val 2759"/>
            </a:avLst>
          </a:prstGeom>
          <a:solidFill>
            <a:schemeClr val="bg2"/>
          </a:solidFill>
          <a:ln w="12700">
            <a:solidFill>
              <a:schemeClr val="bg2"/>
            </a:solidFill>
            <a:prstDash val="solid"/>
          </a:ln>
        </p:spPr>
      </p:sp>
      <p:sp>
        <p:nvSpPr>
          <p:cNvPr id="9" name="Text 6"/>
          <p:cNvSpPr txBox="1"/>
          <p:nvPr/>
        </p:nvSpPr>
        <p:spPr>
          <a:xfrm>
            <a:off x="3502152" y="2423160"/>
            <a:ext cx="2377440" cy="2468880"/>
          </a:xfrm>
          <a:prstGeom prst="rect">
            <a:avLst/>
          </a:prstGeom>
          <a:noFill/>
          <a:ln/>
        </p:spPr>
        <p:txBody>
          <a:bodyPr wrap="square" lIns="0" tIns="0" rIns="0" bIns="0" rtlCol="0" anchor="t"/>
          <a:lstStyle/>
          <a:p>
            <a:pPr indent="0" marL="0">
              <a:buNone/>
            </a:pPr>
            <a:r>
              <a:rPr lang="en-US" sz="1600" b="1" dirty="0">
                <a:solidFill>
                  <a:schemeClr val="tx2"/>
                </a:solidFill>
              </a:rPr>
              <a:t>Two-thirds of those who came</a:t>
            </a:r>
            <a:endParaRPr lang="en-US" sz="1600" dirty="0"/>
          </a:p>
          <a:p>
            <a:pPr indent="0" marL="0">
              <a:buNone/>
            </a:pPr>
            <a:r>
              <a:rPr lang="en-US" sz="4000" b="1" dirty="0">
                <a:solidFill>
                  <a:srgbClr val="B5532D"/>
                </a:solidFill>
              </a:rPr>
              <a:t>FAILS</a:t>
            </a:r>
            <a:endParaRPr lang="en-US" sz="1600" dirty="0"/>
          </a:p>
          <a:p>
            <a:pPr indent="0" marL="0">
              <a:buNone/>
            </a:pPr>
            <a:r>
              <a:rPr lang="en-US" sz="1500" dirty="0">
                <a:solidFill>
                  <a:srgbClr val="3E4A42"/>
                </a:solidFill>
              </a:rPr>
              <a:t>needs 18 of 27</a:t>
            </a:r>
            <a:endParaRPr lang="en-US" sz="1600" dirty="0"/>
          </a:p>
        </p:txBody>
      </p:sp>
      <p:sp>
        <p:nvSpPr>
          <p:cNvPr id="10" name="Shape 7"/>
          <p:cNvSpPr/>
          <p:nvPr/>
        </p:nvSpPr>
        <p:spPr>
          <a:xfrm>
            <a:off x="6181344" y="2286000"/>
            <a:ext cx="2651760" cy="2743200"/>
          </a:xfrm>
          <a:prstGeom prst="roundRect">
            <a:avLst>
              <a:gd name="adj" fmla="val 2759"/>
            </a:avLst>
          </a:prstGeom>
          <a:solidFill>
            <a:schemeClr val="bg2"/>
          </a:solidFill>
          <a:ln w="12700">
            <a:solidFill>
              <a:schemeClr val="bg2"/>
            </a:solidFill>
            <a:prstDash val="solid"/>
          </a:ln>
        </p:spPr>
      </p:sp>
      <p:sp>
        <p:nvSpPr>
          <p:cNvPr id="11" name="Text 8"/>
          <p:cNvSpPr txBox="1"/>
          <p:nvPr/>
        </p:nvSpPr>
        <p:spPr>
          <a:xfrm>
            <a:off x="6318504" y="2423160"/>
            <a:ext cx="2377440" cy="2468880"/>
          </a:xfrm>
          <a:prstGeom prst="rect">
            <a:avLst/>
          </a:prstGeom>
          <a:noFill/>
          <a:ln/>
        </p:spPr>
        <p:txBody>
          <a:bodyPr wrap="square" lIns="0" tIns="0" rIns="0" bIns="0" rtlCol="0" anchor="t"/>
          <a:lstStyle/>
          <a:p>
            <a:pPr indent="0" marL="0">
              <a:buNone/>
            </a:pPr>
            <a:r>
              <a:rPr lang="en-US" sz="1600" b="1" dirty="0">
                <a:solidFill>
                  <a:schemeClr val="tx2"/>
                </a:solidFill>
              </a:rPr>
              <a:t>Everyone agrees</a:t>
            </a:r>
            <a:endParaRPr lang="en-US" sz="1600" dirty="0"/>
          </a:p>
          <a:p>
            <a:pPr indent="0" marL="0">
              <a:buNone/>
            </a:pPr>
            <a:r>
              <a:rPr lang="en-US" sz="4000" b="1" dirty="0">
                <a:solidFill>
                  <a:srgbClr val="B5532D"/>
                </a:solidFill>
              </a:rPr>
              <a:t>FAILS</a:t>
            </a:r>
            <a:endParaRPr lang="en-US" sz="1600" dirty="0"/>
          </a:p>
          <a:p>
            <a:pPr indent="0" marL="0">
              <a:buNone/>
            </a:pPr>
            <a:r>
              <a:rPr lang="en-US" sz="1500" dirty="0">
                <a:solidFill>
                  <a:srgbClr val="3E4A42"/>
                </a:solidFill>
              </a:rPr>
              <a:t>10 said no</a:t>
            </a:r>
            <a:endParaRPr lang="en-US" sz="1600" dirty="0"/>
          </a:p>
        </p:txBody>
      </p:sp>
      <p:sp>
        <p:nvSpPr>
          <p:cNvPr id="12" name="Shape 9"/>
          <p:cNvSpPr/>
          <p:nvPr/>
        </p:nvSpPr>
        <p:spPr>
          <a:xfrm>
            <a:off x="8997696" y="2286000"/>
            <a:ext cx="2651760" cy="2743200"/>
          </a:xfrm>
          <a:prstGeom prst="roundRect">
            <a:avLst>
              <a:gd name="adj" fmla="val 2759"/>
            </a:avLst>
          </a:prstGeom>
          <a:solidFill>
            <a:schemeClr val="bg2"/>
          </a:solidFill>
          <a:ln w="12700">
            <a:solidFill>
              <a:schemeClr val="bg2"/>
            </a:solidFill>
            <a:prstDash val="solid"/>
          </a:ln>
        </p:spPr>
      </p:sp>
      <p:sp>
        <p:nvSpPr>
          <p:cNvPr id="13" name="Text 10"/>
          <p:cNvSpPr txBox="1"/>
          <p:nvPr/>
        </p:nvSpPr>
        <p:spPr>
          <a:xfrm>
            <a:off x="9134856" y="2423160"/>
            <a:ext cx="2377440" cy="2468880"/>
          </a:xfrm>
          <a:prstGeom prst="rect">
            <a:avLst/>
          </a:prstGeom>
          <a:noFill/>
          <a:ln/>
        </p:spPr>
        <p:txBody>
          <a:bodyPr wrap="square" lIns="0" tIns="0" rIns="0" bIns="0" rtlCol="0" anchor="t"/>
          <a:lstStyle/>
          <a:p>
            <a:pPr indent="0" marL="0">
              <a:buNone/>
            </a:pPr>
            <a:r>
              <a:rPr lang="en-US" sz="1600" b="1" dirty="0">
                <a:solidFill>
                  <a:schemeClr val="tx2"/>
                </a:solidFill>
              </a:rPr>
              <a:t>The water keeper decides</a:t>
            </a:r>
            <a:endParaRPr lang="en-US" sz="1600" dirty="0"/>
          </a:p>
          <a:p>
            <a:pPr indent="0" marL="0">
              <a:buNone/>
            </a:pPr>
            <a:r>
              <a:rPr lang="en-US" sz="4000" b="1" dirty="0">
                <a:solidFill>
                  <a:srgbClr val="6B5B95"/>
                </a:solidFill>
              </a:rPr>
              <a:t>?</a:t>
            </a:r>
            <a:endParaRPr lang="en-US" sz="1600" dirty="0"/>
          </a:p>
          <a:p>
            <a:pPr indent="0" marL="0">
              <a:buNone/>
            </a:pPr>
            <a:r>
              <a:rPr lang="en-US" sz="1500" dirty="0">
                <a:solidFill>
                  <a:srgbClr val="3E4A42"/>
                </a:solidFill>
              </a:rPr>
              <a:t>up to one person</a:t>
            </a:r>
            <a:endParaRPr lang="en-US" sz="1600" dirty="0"/>
          </a:p>
        </p:txBody>
      </p:sp>
      <p:sp>
        <p:nvSpPr>
          <p:cNvPr id="14" name="Text 11"/>
          <p:cNvSpPr txBox="1"/>
          <p:nvPr/>
        </p:nvSpPr>
        <p:spPr>
          <a:xfrm>
            <a:off x="548640" y="5303520"/>
            <a:ext cx="11064240" cy="82296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Most quarrels are two people quietly assuming different ways of deciding. Ask early: who has to agree for this to count?</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What long-lasting groups do</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Eight things Ostrom found again and again in groups that lasted, and missing in the ones that fell apart.</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1   The people and the place</a:t>
            </a:r>
            <a:endParaRPr lang="en-US" sz="1500" dirty="0"/>
          </a:p>
        </p:txBody>
      </p:sp>
      <p:sp>
        <p:nvSpPr>
          <p:cNvPr id="6" name="rung 2"/>
          <p:cNvSpPr/>
          <p:nvPr/>
        </p:nvSpPr>
        <p:spPr>
          <a:xfrm>
            <a:off x="7333488" y="1444752"/>
            <a:ext cx="418795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2   What we're sharing</a:t>
            </a:r>
            <a:endParaRPr lang="en-US" sz="1500" dirty="0"/>
          </a:p>
        </p:txBody>
      </p:sp>
      <p:sp>
        <p:nvSpPr>
          <p:cNvPr id="7" name="rung 3"/>
          <p:cNvSpPr/>
          <p:nvPr/>
        </p:nvSpPr>
        <p:spPr>
          <a:xfrm>
            <a:off x="7443216" y="1975104"/>
            <a:ext cx="407822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3   Where we meet and choose</a:t>
            </a:r>
            <a:endParaRPr lang="en-US" sz="1500" dirty="0"/>
          </a:p>
        </p:txBody>
      </p:sp>
      <p:sp>
        <p:nvSpPr>
          <p:cNvPr id="8" name="rung 4"/>
          <p:cNvSpPr/>
          <p:nvPr/>
        </p:nvSpPr>
        <p:spPr>
          <a:xfrm>
            <a:off x="7552944" y="2505456"/>
            <a:ext cx="396849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4   Who sets the rules</a:t>
            </a:r>
            <a:endParaRPr lang="en-US" sz="1500" dirty="0"/>
          </a:p>
        </p:txBody>
      </p:sp>
      <p:sp>
        <p:nvSpPr>
          <p:cNvPr id="9" name="rung 5"/>
          <p:cNvSpPr/>
          <p:nvPr/>
        </p:nvSpPr>
        <p:spPr>
          <a:xfrm>
            <a:off x="7662672" y="3035808"/>
            <a:ext cx="3858768"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5   What's going on when we meet</a:t>
            </a:r>
            <a:endParaRPr lang="en-US" sz="1500" dirty="0"/>
          </a:p>
        </p:txBody>
      </p:sp>
      <p:sp>
        <p:nvSpPr>
          <p:cNvPr id="10" name="rung 6"/>
          <p:cNvSpPr/>
          <p:nvPr/>
        </p:nvSpPr>
        <p:spPr>
          <a:xfrm>
            <a:off x="7772400" y="3566160"/>
            <a:ext cx="374904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6   The house rules</a:t>
            </a:r>
            <a:endParaRPr lang="en-US" sz="1500" dirty="0"/>
          </a:p>
        </p:txBody>
      </p:sp>
      <p:sp>
        <p:nvSpPr>
          <p:cNvPr id="11" name="rung 7"/>
          <p:cNvSpPr/>
          <p:nvPr/>
        </p:nvSpPr>
        <p:spPr>
          <a:xfrm>
            <a:off x="7882128" y="4096512"/>
            <a:ext cx="3639312"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7   What long-lasting groups do</a:t>
            </a:r>
            <a:endParaRPr lang="en-US" sz="1500" dirty="0"/>
          </a:p>
        </p:txBody>
      </p:sp>
      <p:sp>
        <p:nvSpPr>
          <p:cNvPr id="12" name="rung 8"/>
          <p:cNvSpPr/>
          <p:nvPr/>
        </p:nvSpPr>
        <p:spPr>
          <a:xfrm>
            <a:off x="7991856" y="4626864"/>
            <a:ext cx="352958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8   How a rule is put together</a:t>
            </a:r>
            <a:endParaRPr lang="en-US" sz="1500" dirty="0"/>
          </a:p>
        </p:txBody>
      </p:sp>
      <p:sp>
        <p:nvSpPr>
          <p:cNvPr id="13" name="rung 9"/>
          <p:cNvSpPr/>
          <p:nvPr/>
        </p:nvSpPr>
        <p:spPr>
          <a:xfrm>
            <a:off x="8101584" y="5157216"/>
            <a:ext cx="341985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9   Do I do my share?</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7 · WHAT LONG-LASTING GROUPS DO · YOU ALREADY KNOW THIS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Think of a group that has lasted fifty years</a:t>
            </a:r>
            <a:endParaRPr lang="en-US" sz="3200" dirty="0"/>
          </a:p>
        </p:txBody>
      </p:sp>
      <p:sp>
        <p:nvSpPr>
          <p:cNvPr id="5" name="card A choir, a club, a congregation that has lasted fifty years"/>
          <p:cNvSpPr/>
          <p:nvPr/>
        </p:nvSpPr>
        <p:spPr>
          <a:xfrm>
            <a:off x="548640" y="1463040"/>
            <a:ext cx="5120640" cy="4754880"/>
          </a:xfrm>
          <a:prstGeom prst="roundRect">
            <a:avLst>
              <a:gd name="adj" fmla="val 1538"/>
            </a:avLst>
          </a:prstGeom>
          <a:solidFill>
            <a:srgbClr val="FBF3E6"/>
          </a:solidFill>
          <a:ln w="12700">
            <a:solidFill>
              <a:srgbClr val="FBF3E6"/>
            </a:solidFill>
            <a:prstDash val="solid"/>
          </a:ln>
        </p:spPr>
      </p:sp>
      <p:sp>
        <p:nvSpPr>
          <p:cNvPr id="6" name="Text 3"/>
          <p:cNvSpPr txBox="1"/>
          <p:nvPr/>
        </p:nvSpPr>
        <p:spPr>
          <a:xfrm>
            <a:off x="685800" y="1554480"/>
            <a:ext cx="4846320" cy="457200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A choir, a club, a congregation that has lasted fifty years</a:t>
            </a:r>
            <a:endParaRPr lang="en-US" sz="2000" dirty="0"/>
          </a:p>
          <a:p>
            <a:pPr indent="0" marL="0">
              <a:spcAft>
                <a:spcPts val="400"/>
              </a:spcAft>
              <a:buNone/>
            </a:pPr>
            <a:r>
              <a:rPr lang="en-US" sz="1700" dirty="0">
                <a:solidFill>
                  <a:schemeClr val="tx1"/>
                </a:solidFill>
              </a:rPr>
              <a:t>Everyone knows who's a member. The dues feel fair for what you get. Members vote on the big things. Someone keeps track. Lateness gets a word before it gets a fine. Arguments get settled over coffee, not in court. The city leaves them alone. And they belong to something bigger.</a:t>
            </a:r>
            <a:endParaRPr lang="en-US" sz="2000" dirty="0"/>
          </a:p>
        </p:txBody>
      </p:sp>
      <p:sp>
        <p:nvSpPr>
          <p:cNvPr id="7" name="Text 4"/>
          <p:cNvSpPr/>
          <p:nvPr/>
        </p:nvSpPr>
        <p:spPr>
          <a:xfrm>
            <a:off x="5989320" y="146304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Text 5"/>
          <p:cNvSpPr txBox="1"/>
          <p:nvPr/>
        </p:nvSpPr>
        <p:spPr>
          <a:xfrm>
            <a:off x="6629400" y="1481328"/>
            <a:ext cx="4983480" cy="149352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You've seen all of this.</a:t>
            </a:r>
            <a:endParaRPr lang="en-US" sz="1700" dirty="0"/>
          </a:p>
        </p:txBody>
      </p:sp>
      <p:sp>
        <p:nvSpPr>
          <p:cNvPr id="9" name="Text 6"/>
          <p:cNvSpPr/>
          <p:nvPr/>
        </p:nvSpPr>
        <p:spPr>
          <a:xfrm>
            <a:off x="5989320" y="304800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7"/>
          <p:cNvSpPr txBox="1"/>
          <p:nvPr/>
        </p:nvSpPr>
        <p:spPr>
          <a:xfrm>
            <a:off x="6629400" y="3066288"/>
            <a:ext cx="4983480" cy="149352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Nobody there had a list. They worked it out over time.</a:t>
            </a:r>
            <a:endParaRPr lang="en-US" sz="1700" dirty="0"/>
          </a:p>
        </p:txBody>
      </p:sp>
      <p:sp>
        <p:nvSpPr>
          <p:cNvPr id="11" name="Text 8"/>
          <p:cNvSpPr/>
          <p:nvPr/>
        </p:nvSpPr>
        <p:spPr>
          <a:xfrm>
            <a:off x="5989320" y="463296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9"/>
          <p:cNvSpPr txBox="1"/>
          <p:nvPr/>
        </p:nvSpPr>
        <p:spPr>
          <a:xfrm>
            <a:off x="6629400" y="4651248"/>
            <a:ext cx="4983480" cy="149352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Ostrom found the same eight things in fishing villages, irrigation ditches and mountain meadows.</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7 · WHAT LONG-LASTING GROUPS DO</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Eight things long-lasting groups do</a:t>
            </a:r>
            <a:endParaRPr lang="en-US" sz="3200" dirty="0"/>
          </a:p>
        </p:txBody>
      </p:sp>
      <p:sp>
        <p:nvSpPr>
          <p:cNvPr id="5" name="card 1 We know who's in, and what's ours"/>
          <p:cNvSpPr/>
          <p:nvPr/>
        </p:nvSpPr>
        <p:spPr>
          <a:xfrm>
            <a:off x="548640" y="1417320"/>
            <a:ext cx="5440680" cy="1097280"/>
          </a:xfrm>
          <a:prstGeom prst="roundRect">
            <a:avLst>
              <a:gd name="adj" fmla="val 6667"/>
            </a:avLst>
          </a:prstGeom>
          <a:solidFill>
            <a:schemeClr val="bg2"/>
          </a:solidFill>
          <a:ln w="12700">
            <a:solidFill>
              <a:schemeClr val="bg2"/>
            </a:solidFill>
            <a:prstDash val="solid"/>
          </a:ln>
        </p:spPr>
      </p:sp>
      <p:sp>
        <p:nvSpPr>
          <p:cNvPr id="6" name="Text 3"/>
          <p:cNvSpPr txBox="1"/>
          <p:nvPr/>
        </p:nvSpPr>
        <p:spPr>
          <a:xfrm>
            <a:off x="685800" y="1508760"/>
            <a:ext cx="51663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1 We know who's in, and what's ours</a:t>
            </a:r>
            <a:endParaRPr lang="en-US" sz="1600" dirty="0"/>
          </a:p>
          <a:p>
            <a:pPr indent="0" marL="0">
              <a:spcAft>
                <a:spcPts val="400"/>
              </a:spcAft>
              <a:buNone/>
            </a:pPr>
            <a:r>
              <a:rPr lang="en-US" sz="1400" dirty="0">
                <a:solidFill>
                  <a:schemeClr val="tx1"/>
                </a:solidFill>
              </a:rPr>
              <a:t>Who belongs (1A), and where the shared thing begins and ends (1B).</a:t>
            </a:r>
            <a:endParaRPr lang="en-US" sz="1600" dirty="0"/>
          </a:p>
          <a:p>
            <a:pPr indent="0" marL="0">
              <a:spcAft>
                <a:spcPts val="400"/>
              </a:spcAft>
              <a:buNone/>
            </a:pPr>
            <a:r>
              <a:rPr lang="en-US" sz="1200" i="1" dirty="0">
                <a:solidFill>
                  <a:srgbClr val="6B7A70"/>
                </a:solidFill>
              </a:rPr>
              <a:t>Ostrom's words: clear boundaries</a:t>
            </a:r>
            <a:endParaRPr lang="en-US" sz="1600" dirty="0"/>
          </a:p>
        </p:txBody>
      </p:sp>
      <p:sp>
        <p:nvSpPr>
          <p:cNvPr id="7" name="card 2 Rules that fit here, and a fair share"/>
          <p:cNvSpPr/>
          <p:nvPr/>
        </p:nvSpPr>
        <p:spPr>
          <a:xfrm>
            <a:off x="6172200" y="1417320"/>
            <a:ext cx="5440680" cy="1097280"/>
          </a:xfrm>
          <a:prstGeom prst="roundRect">
            <a:avLst>
              <a:gd name="adj" fmla="val 6667"/>
            </a:avLst>
          </a:prstGeom>
          <a:solidFill>
            <a:schemeClr val="bg2"/>
          </a:solidFill>
          <a:ln w="12700">
            <a:solidFill>
              <a:schemeClr val="bg2"/>
            </a:solidFill>
            <a:prstDash val="solid"/>
          </a:ln>
        </p:spPr>
      </p:sp>
      <p:sp>
        <p:nvSpPr>
          <p:cNvPr id="8" name="Text 5"/>
          <p:cNvSpPr txBox="1"/>
          <p:nvPr/>
        </p:nvSpPr>
        <p:spPr>
          <a:xfrm>
            <a:off x="6309360" y="1508760"/>
            <a:ext cx="51663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2 Rules that fit here, and a fair share</a:t>
            </a:r>
            <a:endParaRPr lang="en-US" sz="1600" dirty="0"/>
          </a:p>
          <a:p>
            <a:pPr indent="0" marL="0">
              <a:spcAft>
                <a:spcPts val="400"/>
              </a:spcAft>
              <a:buNone/>
            </a:pPr>
            <a:r>
              <a:rPr lang="en-US" sz="1400" dirty="0">
                <a:solidFill>
                  <a:schemeClr val="tx1"/>
                </a:solidFill>
              </a:rPr>
              <a:t>Rules suit this place (2A). What you put in matches what you take (2B).</a:t>
            </a:r>
            <a:endParaRPr lang="en-US" sz="1600" dirty="0"/>
          </a:p>
          <a:p>
            <a:pPr indent="0" marL="0">
              <a:spcAft>
                <a:spcPts val="400"/>
              </a:spcAft>
              <a:buNone/>
            </a:pPr>
            <a:r>
              <a:rPr lang="en-US" sz="1200" i="1" dirty="0">
                <a:solidFill>
                  <a:srgbClr val="6B7A70"/>
                </a:solidFill>
              </a:rPr>
              <a:t>Ostrom's words: congruence; proportional costs and benefits</a:t>
            </a:r>
            <a:endParaRPr lang="en-US" sz="1600" dirty="0"/>
          </a:p>
        </p:txBody>
      </p:sp>
      <p:sp>
        <p:nvSpPr>
          <p:cNvPr id="9" name="card 3 The people affected make the rules"/>
          <p:cNvSpPr/>
          <p:nvPr/>
        </p:nvSpPr>
        <p:spPr>
          <a:xfrm>
            <a:off x="548640" y="2633472"/>
            <a:ext cx="5440680" cy="1097280"/>
          </a:xfrm>
          <a:prstGeom prst="roundRect">
            <a:avLst>
              <a:gd name="adj" fmla="val 6667"/>
            </a:avLst>
          </a:prstGeom>
          <a:solidFill>
            <a:schemeClr val="bg2"/>
          </a:solidFill>
          <a:ln w="12700">
            <a:solidFill>
              <a:schemeClr val="bg2"/>
            </a:solidFill>
            <a:prstDash val="solid"/>
          </a:ln>
        </p:spPr>
      </p:sp>
      <p:sp>
        <p:nvSpPr>
          <p:cNvPr id="10" name="Text 7"/>
          <p:cNvSpPr txBox="1"/>
          <p:nvPr/>
        </p:nvSpPr>
        <p:spPr>
          <a:xfrm>
            <a:off x="685800" y="2724912"/>
            <a:ext cx="51663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3 The people affected make the rules</a:t>
            </a:r>
            <a:endParaRPr lang="en-US" sz="1600" dirty="0"/>
          </a:p>
          <a:p>
            <a:pPr indent="0" marL="0">
              <a:spcAft>
                <a:spcPts val="400"/>
              </a:spcAft>
              <a:buNone/>
            </a:pPr>
            <a:r>
              <a:rPr lang="en-US" sz="1400" dirty="0">
                <a:solidFill>
                  <a:schemeClr val="tx1"/>
                </a:solidFill>
              </a:rPr>
              <a:t>Most people living under the rules help make and change them.</a:t>
            </a:r>
            <a:endParaRPr lang="en-US" sz="1600" dirty="0"/>
          </a:p>
          <a:p>
            <a:pPr indent="0" marL="0">
              <a:spcAft>
                <a:spcPts val="400"/>
              </a:spcAft>
              <a:buNone/>
            </a:pPr>
            <a:r>
              <a:rPr lang="en-US" sz="1200" i="1" dirty="0">
                <a:solidFill>
                  <a:srgbClr val="6B7A70"/>
                </a:solidFill>
              </a:rPr>
              <a:t>Ostrom's words: collective-choice arrangements</a:t>
            </a:r>
            <a:endParaRPr lang="en-US" sz="1600" dirty="0"/>
          </a:p>
        </p:txBody>
      </p:sp>
      <p:sp>
        <p:nvSpPr>
          <p:cNvPr id="11" name="card 4 We keep an eye out"/>
          <p:cNvSpPr/>
          <p:nvPr/>
        </p:nvSpPr>
        <p:spPr>
          <a:xfrm>
            <a:off x="6172200" y="2633472"/>
            <a:ext cx="5440680" cy="1097280"/>
          </a:xfrm>
          <a:prstGeom prst="roundRect">
            <a:avLst>
              <a:gd name="adj" fmla="val 6667"/>
            </a:avLst>
          </a:prstGeom>
          <a:solidFill>
            <a:schemeClr val="bg2"/>
          </a:solidFill>
          <a:ln w="12700">
            <a:solidFill>
              <a:schemeClr val="bg2"/>
            </a:solidFill>
            <a:prstDash val="solid"/>
          </a:ln>
        </p:spPr>
      </p:sp>
      <p:sp>
        <p:nvSpPr>
          <p:cNvPr id="12" name="Text 9"/>
          <p:cNvSpPr txBox="1"/>
          <p:nvPr/>
        </p:nvSpPr>
        <p:spPr>
          <a:xfrm>
            <a:off x="6309360" y="2724912"/>
            <a:ext cx="51663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4 We keep an eye out</a:t>
            </a:r>
            <a:endParaRPr lang="en-US" sz="1600" dirty="0"/>
          </a:p>
          <a:p>
            <a:pPr indent="0" marL="0">
              <a:spcAft>
                <a:spcPts val="400"/>
              </a:spcAft>
              <a:buNone/>
            </a:pPr>
            <a:r>
              <a:rPr lang="en-US" sz="1400" dirty="0">
                <a:solidFill>
                  <a:schemeClr val="tx1"/>
                </a:solidFill>
              </a:rPr>
              <a:t>On each other (4A) and on the thing itself (4B), by people who answer to us.</a:t>
            </a:r>
            <a:endParaRPr lang="en-US" sz="1600" dirty="0"/>
          </a:p>
          <a:p>
            <a:pPr indent="0" marL="0">
              <a:spcAft>
                <a:spcPts val="400"/>
              </a:spcAft>
              <a:buNone/>
            </a:pPr>
            <a:r>
              <a:rPr lang="en-US" sz="1200" i="1" dirty="0">
                <a:solidFill>
                  <a:srgbClr val="6B7A70"/>
                </a:solidFill>
              </a:rPr>
              <a:t>Ostrom's words: monitoring</a:t>
            </a:r>
            <a:endParaRPr lang="en-US" sz="1600" dirty="0"/>
          </a:p>
        </p:txBody>
      </p:sp>
      <p:sp>
        <p:nvSpPr>
          <p:cNvPr id="13" name="card 5 A word first, then step up"/>
          <p:cNvSpPr/>
          <p:nvPr/>
        </p:nvSpPr>
        <p:spPr>
          <a:xfrm>
            <a:off x="548640" y="3849624"/>
            <a:ext cx="5440680" cy="1097280"/>
          </a:xfrm>
          <a:prstGeom prst="roundRect">
            <a:avLst>
              <a:gd name="adj" fmla="val 6667"/>
            </a:avLst>
          </a:prstGeom>
          <a:solidFill>
            <a:schemeClr val="bg2"/>
          </a:solidFill>
          <a:ln w="12700">
            <a:solidFill>
              <a:schemeClr val="bg2"/>
            </a:solidFill>
            <a:prstDash val="solid"/>
          </a:ln>
        </p:spPr>
      </p:sp>
      <p:sp>
        <p:nvSpPr>
          <p:cNvPr id="14" name="Text 11"/>
          <p:cNvSpPr txBox="1"/>
          <p:nvPr/>
        </p:nvSpPr>
        <p:spPr>
          <a:xfrm>
            <a:off x="685800" y="3941064"/>
            <a:ext cx="51663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5 A word first, then step up</a:t>
            </a:r>
            <a:endParaRPr lang="en-US" sz="1600" dirty="0"/>
          </a:p>
          <a:p>
            <a:pPr indent="0" marL="0">
              <a:spcAft>
                <a:spcPts val="400"/>
              </a:spcAft>
              <a:buNone/>
            </a:pPr>
            <a:r>
              <a:rPr lang="en-US" sz="1400" dirty="0">
                <a:solidFill>
                  <a:schemeClr val="tx1"/>
                </a:solidFill>
              </a:rPr>
              <a:t>Small penalties at first, bigger for repeats.</a:t>
            </a:r>
            <a:endParaRPr lang="en-US" sz="1600" dirty="0"/>
          </a:p>
          <a:p>
            <a:pPr indent="0" marL="0">
              <a:spcAft>
                <a:spcPts val="400"/>
              </a:spcAft>
              <a:buNone/>
            </a:pPr>
            <a:r>
              <a:rPr lang="en-US" sz="1200" i="1" dirty="0">
                <a:solidFill>
                  <a:srgbClr val="6B7A70"/>
                </a:solidFill>
              </a:rPr>
              <a:t>Ostrom's words: graduated sanctions</a:t>
            </a:r>
            <a:endParaRPr lang="en-US" sz="1600" dirty="0"/>
          </a:p>
        </p:txBody>
      </p:sp>
      <p:sp>
        <p:nvSpPr>
          <p:cNvPr id="15" name="card 6 Settle it close to home"/>
          <p:cNvSpPr/>
          <p:nvPr/>
        </p:nvSpPr>
        <p:spPr>
          <a:xfrm>
            <a:off x="6172200" y="3849624"/>
            <a:ext cx="5440680" cy="1097280"/>
          </a:xfrm>
          <a:prstGeom prst="roundRect">
            <a:avLst>
              <a:gd name="adj" fmla="val 6667"/>
            </a:avLst>
          </a:prstGeom>
          <a:solidFill>
            <a:schemeClr val="bg2"/>
          </a:solidFill>
          <a:ln w="12700">
            <a:solidFill>
              <a:schemeClr val="bg2"/>
            </a:solidFill>
            <a:prstDash val="solid"/>
          </a:ln>
        </p:spPr>
      </p:sp>
      <p:sp>
        <p:nvSpPr>
          <p:cNvPr id="16" name="Text 13"/>
          <p:cNvSpPr txBox="1"/>
          <p:nvPr/>
        </p:nvSpPr>
        <p:spPr>
          <a:xfrm>
            <a:off x="6309360" y="3941064"/>
            <a:ext cx="51663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6 Settle it close to home</a:t>
            </a:r>
            <a:endParaRPr lang="en-US" sz="1600" dirty="0"/>
          </a:p>
          <a:p>
            <a:pPr indent="0" marL="0">
              <a:spcAft>
                <a:spcPts val="400"/>
              </a:spcAft>
              <a:buNone/>
            </a:pPr>
            <a:r>
              <a:rPr lang="en-US" sz="1400" dirty="0">
                <a:solidFill>
                  <a:schemeClr val="tx1"/>
                </a:solidFill>
              </a:rPr>
              <a:t>Quick, cheap, local ways to sort out arguments.</a:t>
            </a:r>
            <a:endParaRPr lang="en-US" sz="1600" dirty="0"/>
          </a:p>
          <a:p>
            <a:pPr indent="0" marL="0">
              <a:spcAft>
                <a:spcPts val="400"/>
              </a:spcAft>
              <a:buNone/>
            </a:pPr>
            <a:r>
              <a:rPr lang="en-US" sz="1200" i="1" dirty="0">
                <a:solidFill>
                  <a:srgbClr val="6B7A70"/>
                </a:solidFill>
              </a:rPr>
              <a:t>Ostrom's words: conflict-resolution mechanisms</a:t>
            </a:r>
            <a:endParaRPr lang="en-US" sz="1600" dirty="0"/>
          </a:p>
        </p:txBody>
      </p:sp>
      <p:sp>
        <p:nvSpPr>
          <p:cNvPr id="17" name="card 7 Outsiders let us run our own affairs"/>
          <p:cNvSpPr/>
          <p:nvPr/>
        </p:nvSpPr>
        <p:spPr>
          <a:xfrm>
            <a:off x="548640" y="5065776"/>
            <a:ext cx="5440680" cy="1097280"/>
          </a:xfrm>
          <a:prstGeom prst="roundRect">
            <a:avLst>
              <a:gd name="adj" fmla="val 6667"/>
            </a:avLst>
          </a:prstGeom>
          <a:solidFill>
            <a:schemeClr val="bg2"/>
          </a:solidFill>
          <a:ln w="12700">
            <a:solidFill>
              <a:schemeClr val="bg2"/>
            </a:solidFill>
            <a:prstDash val="solid"/>
          </a:ln>
        </p:spPr>
      </p:sp>
      <p:sp>
        <p:nvSpPr>
          <p:cNvPr id="18" name="Text 15"/>
          <p:cNvSpPr txBox="1"/>
          <p:nvPr/>
        </p:nvSpPr>
        <p:spPr>
          <a:xfrm>
            <a:off x="685800" y="5157216"/>
            <a:ext cx="51663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7 Outsiders let us run our own affairs</a:t>
            </a:r>
            <a:endParaRPr lang="en-US" sz="1600" dirty="0"/>
          </a:p>
          <a:p>
            <a:pPr indent="0" marL="0">
              <a:spcAft>
                <a:spcPts val="400"/>
              </a:spcAft>
              <a:buNone/>
            </a:pPr>
            <a:r>
              <a:rPr lang="en-US" sz="1400" dirty="0">
                <a:solidFill>
                  <a:schemeClr val="tx1"/>
                </a:solidFill>
              </a:rPr>
              <a:t>The city or landowner respects our right to make our rules.</a:t>
            </a:r>
            <a:endParaRPr lang="en-US" sz="1600" dirty="0"/>
          </a:p>
          <a:p>
            <a:pPr indent="0" marL="0">
              <a:spcAft>
                <a:spcPts val="400"/>
              </a:spcAft>
              <a:buNone/>
            </a:pPr>
            <a:r>
              <a:rPr lang="en-US" sz="1200" i="1" dirty="0">
                <a:solidFill>
                  <a:srgbClr val="6B7A70"/>
                </a:solidFill>
              </a:rPr>
              <a:t>Ostrom's words: minimal recognition of rights</a:t>
            </a:r>
            <a:endParaRPr lang="en-US" sz="1600" dirty="0"/>
          </a:p>
        </p:txBody>
      </p:sp>
      <p:sp>
        <p:nvSpPr>
          <p:cNvPr id="19" name="card 8 Groups within groups"/>
          <p:cNvSpPr/>
          <p:nvPr/>
        </p:nvSpPr>
        <p:spPr>
          <a:xfrm>
            <a:off x="6172200" y="5065776"/>
            <a:ext cx="5440680" cy="1097280"/>
          </a:xfrm>
          <a:prstGeom prst="roundRect">
            <a:avLst>
              <a:gd name="adj" fmla="val 6667"/>
            </a:avLst>
          </a:prstGeom>
          <a:solidFill>
            <a:schemeClr val="bg2"/>
          </a:solidFill>
          <a:ln w="12700">
            <a:solidFill>
              <a:schemeClr val="bg2"/>
            </a:solidFill>
            <a:prstDash val="solid"/>
          </a:ln>
        </p:spPr>
      </p:sp>
      <p:sp>
        <p:nvSpPr>
          <p:cNvPr id="20" name="Text 17"/>
          <p:cNvSpPr txBox="1"/>
          <p:nvPr/>
        </p:nvSpPr>
        <p:spPr>
          <a:xfrm>
            <a:off x="6309360" y="5157216"/>
            <a:ext cx="51663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8 Groups within groups</a:t>
            </a:r>
            <a:endParaRPr lang="en-US" sz="1600" dirty="0"/>
          </a:p>
          <a:p>
            <a:pPr indent="0" marL="0">
              <a:spcAft>
                <a:spcPts val="400"/>
              </a:spcAft>
              <a:buNone/>
            </a:pPr>
            <a:r>
              <a:rPr lang="en-US" sz="1400" dirty="0">
                <a:solidFill>
                  <a:schemeClr val="tx1"/>
                </a:solidFill>
              </a:rPr>
              <a:t>Each small group runs itself, and links to the bigger ones it belongs to.</a:t>
            </a:r>
            <a:endParaRPr lang="en-US" sz="1600" dirty="0"/>
          </a:p>
          <a:p>
            <a:pPr indent="0" marL="0">
              <a:spcAft>
                <a:spcPts val="400"/>
              </a:spcAft>
              <a:buNone/>
            </a:pPr>
            <a:r>
              <a:rPr lang="en-US" sz="1200" i="1" dirty="0">
                <a:solidFill>
                  <a:srgbClr val="6B7A70"/>
                </a:solidFill>
              </a:rPr>
              <a:t>Ostrom's words: nested enterprises</a:t>
            </a:r>
            <a:endParaRPr lang="en-US" sz="16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7 · WHAT LONG-LASTING GROUPS DO</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Each of the eight leans on certain house rules</a:t>
            </a:r>
            <a:endParaRPr lang="en-US" sz="3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291840"/>
                <a:gridCol w="4846320"/>
                <a:gridCol w="2926080"/>
              </a:tblGrid>
              <a:tr h="502920">
                <a:tc>
                  <a:txBody>
                    <a:bodyPr/>
                    <a:lstStyle/>
                    <a:p>
                      <a:pPr indent="0" marL="0">
                        <a:buNone/>
                      </a:pPr>
                      <a:r>
                        <a:rPr lang="en-US" sz="1400" b="1" dirty="0">
                          <a:solidFill>
                            <a:srgbClr val="FFFFFF"/>
                          </a:solidFill>
                        </a:rPr>
                        <a:t>What lasting groups do</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accent1"/>
                    </a:solidFill>
                  </a:tcPr>
                </a:tc>
                <a:tc>
                  <a:txBody>
                    <a:bodyPr/>
                    <a:lstStyle/>
                    <a:p>
                      <a:pPr indent="0" marL="0">
                        <a:buNone/>
                      </a:pPr>
                      <a:r>
                        <a:rPr lang="en-US" sz="1400" b="1" dirty="0">
                          <a:solidFill>
                            <a:srgbClr val="FFFFFF"/>
                          </a:solidFill>
                        </a:rPr>
                        <a:t>House rules it leans on</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accent1"/>
                    </a:solidFill>
                  </a:tcPr>
                </a:tc>
                <a:tc>
                  <a:txBody>
                    <a:bodyPr/>
                    <a:lstStyle/>
                    <a:p>
                      <a:pPr indent="0" marL="0">
                        <a:buNone/>
                      </a:pPr>
                      <a:r>
                        <a:rPr lang="en-US" sz="1400" b="1" dirty="0">
                          <a:solidFill>
                            <a:srgbClr val="FFFFFF"/>
                          </a:solidFill>
                        </a:rPr>
                        <a:t>Layer</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accent1"/>
                    </a:solidFill>
                  </a:tcPr>
                </a:tc>
              </a:tr>
              <a:tr h="502920">
                <a:tc>
                  <a:txBody>
                    <a:bodyPr/>
                    <a:lstStyle/>
                    <a:p>
                      <a:pPr indent="0" marL="0">
                        <a:buNone/>
                      </a:pPr>
                      <a:r>
                        <a:rPr lang="en-US" sz="1400" b="1" dirty="0">
                          <a:solidFill>
                            <a:schemeClr val="tx1"/>
                          </a:solidFill>
                        </a:rPr>
                        <a:t>1 We know who's in, and what's ours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Who's in; what's on the table</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Doing the work; deciding who sets the rules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2 Rules that fit, and a fair share</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Who pays, who gains, matched to who may do what</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Doing the work</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3 The people affected make the rules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Who's in, what jobs, who's told, how we decide, what's on the table</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Setting the house rules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4 We keep an eye out</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A job for it; a duty to do it; who gets told</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Doing the work</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5 A word first, then step up</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Who pays: the penalty, stepping up</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Doing the work</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6 Settle it close to home</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A job (someone to go to); who may come; how it gets decided</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Setting the house rules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7 Outsiders let us run our affairs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What's on the table, set by someone outside</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Deciding who sets the rules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8 Groups within groups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Who's in and what jobs, linking small groups to big ones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Deciding who sets the rules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7 · WHAT LONG-LASTING GROUPS DO</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"The people affected make the rules" is really five questions</a:t>
            </a:r>
            <a:endParaRPr lang="en-US" sz="3200" dirty="0"/>
          </a:p>
        </p:txBody>
      </p:sp>
      <p:sp>
        <p:nvSpPr>
          <p:cNvPr id="5" name="Shape 2"/>
          <p:cNvSpPr/>
          <p:nvPr/>
        </p:nvSpPr>
        <p:spPr>
          <a:xfrm>
            <a:off x="1234440" y="1600200"/>
            <a:ext cx="731520" cy="731520"/>
          </a:xfrm>
          <a:prstGeom prst="ellipse">
            <a:avLst/>
          </a:prstGeom>
          <a:solidFill>
            <a:schemeClr val="accent2"/>
          </a:solidFill>
          <a:ln w="12700">
            <a:solidFill>
              <a:schemeClr val="accent2"/>
            </a:solidFill>
            <a:prstDash val="solid"/>
          </a:ln>
        </p:spPr>
      </p:sp>
      <p:sp>
        <p:nvSpPr>
          <p:cNvPr id="6" name="Text 3"/>
          <p:cNvSpPr txBox="1"/>
          <p:nvPr/>
        </p:nvSpPr>
        <p:spPr>
          <a:xfrm>
            <a:off x="1234440" y="16002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1</a:t>
            </a:r>
            <a:endParaRPr lang="en-US" sz="2400" dirty="0"/>
          </a:p>
        </p:txBody>
      </p:sp>
      <p:sp>
        <p:nvSpPr>
          <p:cNvPr id="7" name="card Are they at the table?"/>
          <p:cNvSpPr/>
          <p:nvPr/>
        </p:nvSpPr>
        <p:spPr>
          <a:xfrm>
            <a:off x="548640" y="2560320"/>
            <a:ext cx="2103120" cy="2377440"/>
          </a:xfrm>
          <a:prstGeom prst="roundRect">
            <a:avLst>
              <a:gd name="adj" fmla="val 3478"/>
            </a:avLst>
          </a:prstGeom>
          <a:solidFill>
            <a:schemeClr val="bg2"/>
          </a:solidFill>
          <a:ln w="12700">
            <a:solidFill>
              <a:schemeClr val="bg2"/>
            </a:solidFill>
            <a:prstDash val="solid"/>
          </a:ln>
        </p:spPr>
      </p:sp>
      <p:sp>
        <p:nvSpPr>
          <p:cNvPr id="8" name="Text 5"/>
          <p:cNvSpPr txBox="1"/>
          <p:nvPr/>
        </p:nvSpPr>
        <p:spPr>
          <a:xfrm>
            <a:off x="685800" y="2651760"/>
            <a:ext cx="1828800" cy="21945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Are they at the table?</a:t>
            </a:r>
            <a:endParaRPr lang="en-US" sz="1700" dirty="0"/>
          </a:p>
          <a:p>
            <a:pPr indent="0" marL="0">
              <a:spcAft>
                <a:spcPts val="400"/>
              </a:spcAft>
              <a:buNone/>
            </a:pPr>
            <a:r>
              <a:rPr lang="en-US" sz="1500" dirty="0">
                <a:solidFill>
                  <a:schemeClr val="tx1"/>
                </a:solidFill>
              </a:rPr>
              <a:t>Who's in</a:t>
            </a:r>
            <a:endParaRPr lang="en-US" sz="1700" dirty="0"/>
          </a:p>
        </p:txBody>
      </p:sp>
      <p:sp>
        <p:nvSpPr>
          <p:cNvPr id="9" name="Shape 6"/>
          <p:cNvSpPr/>
          <p:nvPr/>
        </p:nvSpPr>
        <p:spPr>
          <a:xfrm>
            <a:off x="3483864" y="1600200"/>
            <a:ext cx="731520" cy="731520"/>
          </a:xfrm>
          <a:prstGeom prst="ellipse">
            <a:avLst/>
          </a:prstGeom>
          <a:solidFill>
            <a:schemeClr val="accent2"/>
          </a:solidFill>
          <a:ln w="12700">
            <a:solidFill>
              <a:schemeClr val="accent2"/>
            </a:solidFill>
            <a:prstDash val="solid"/>
          </a:ln>
        </p:spPr>
      </p:sp>
      <p:sp>
        <p:nvSpPr>
          <p:cNvPr id="10" name="Text 7"/>
          <p:cNvSpPr txBox="1"/>
          <p:nvPr/>
        </p:nvSpPr>
        <p:spPr>
          <a:xfrm>
            <a:off x="3483864" y="16002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2</a:t>
            </a:r>
            <a:endParaRPr lang="en-US" sz="2400" dirty="0"/>
          </a:p>
        </p:txBody>
      </p:sp>
      <p:sp>
        <p:nvSpPr>
          <p:cNvPr id="11" name="card Is there a seat for them?"/>
          <p:cNvSpPr/>
          <p:nvPr/>
        </p:nvSpPr>
        <p:spPr>
          <a:xfrm>
            <a:off x="2798064" y="2560320"/>
            <a:ext cx="2103120" cy="2377440"/>
          </a:xfrm>
          <a:prstGeom prst="roundRect">
            <a:avLst>
              <a:gd name="adj" fmla="val 3478"/>
            </a:avLst>
          </a:prstGeom>
          <a:solidFill>
            <a:schemeClr val="bg2"/>
          </a:solidFill>
          <a:ln w="12700">
            <a:solidFill>
              <a:schemeClr val="bg2"/>
            </a:solidFill>
            <a:prstDash val="solid"/>
          </a:ln>
        </p:spPr>
      </p:sp>
      <p:sp>
        <p:nvSpPr>
          <p:cNvPr id="12" name="Text 9"/>
          <p:cNvSpPr txBox="1"/>
          <p:nvPr/>
        </p:nvSpPr>
        <p:spPr>
          <a:xfrm>
            <a:off x="2935224" y="2651760"/>
            <a:ext cx="1828800" cy="21945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Is there a seat for them?</a:t>
            </a:r>
            <a:endParaRPr lang="en-US" sz="1700" dirty="0"/>
          </a:p>
          <a:p>
            <a:pPr indent="0" marL="0">
              <a:spcAft>
                <a:spcPts val="400"/>
              </a:spcAft>
              <a:buNone/>
            </a:pPr>
            <a:r>
              <a:rPr lang="en-US" sz="1500" dirty="0">
                <a:solidFill>
                  <a:schemeClr val="tx1"/>
                </a:solidFill>
              </a:rPr>
              <a:t>What jobs there are, decided by whoever sets the rules</a:t>
            </a:r>
            <a:endParaRPr lang="en-US" sz="1700" dirty="0"/>
          </a:p>
        </p:txBody>
      </p:sp>
      <p:sp>
        <p:nvSpPr>
          <p:cNvPr id="13" name="Shape 10"/>
          <p:cNvSpPr/>
          <p:nvPr/>
        </p:nvSpPr>
        <p:spPr>
          <a:xfrm>
            <a:off x="5733288" y="1600200"/>
            <a:ext cx="731520" cy="731520"/>
          </a:xfrm>
          <a:prstGeom prst="ellipse">
            <a:avLst/>
          </a:prstGeom>
          <a:solidFill>
            <a:schemeClr val="accent2"/>
          </a:solidFill>
          <a:ln w="12700">
            <a:solidFill>
              <a:schemeClr val="accent2"/>
            </a:solidFill>
            <a:prstDash val="solid"/>
          </a:ln>
        </p:spPr>
      </p:sp>
      <p:sp>
        <p:nvSpPr>
          <p:cNvPr id="14" name="Text 11"/>
          <p:cNvSpPr txBox="1"/>
          <p:nvPr/>
        </p:nvSpPr>
        <p:spPr>
          <a:xfrm>
            <a:off x="5733288" y="16002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3</a:t>
            </a:r>
            <a:endParaRPr lang="en-US" sz="2400" dirty="0"/>
          </a:p>
        </p:txBody>
      </p:sp>
      <p:sp>
        <p:nvSpPr>
          <p:cNvPr id="15" name="card Do they hear about it in time?"/>
          <p:cNvSpPr/>
          <p:nvPr/>
        </p:nvSpPr>
        <p:spPr>
          <a:xfrm>
            <a:off x="5047488" y="2560320"/>
            <a:ext cx="2103120" cy="2377440"/>
          </a:xfrm>
          <a:prstGeom prst="roundRect">
            <a:avLst>
              <a:gd name="adj" fmla="val 3478"/>
            </a:avLst>
          </a:prstGeom>
          <a:solidFill>
            <a:schemeClr val="bg2"/>
          </a:solidFill>
          <a:ln w="12700">
            <a:solidFill>
              <a:schemeClr val="bg2"/>
            </a:solidFill>
            <a:prstDash val="solid"/>
          </a:ln>
        </p:spPr>
      </p:sp>
      <p:sp>
        <p:nvSpPr>
          <p:cNvPr id="16" name="Text 13"/>
          <p:cNvSpPr txBox="1"/>
          <p:nvPr/>
        </p:nvSpPr>
        <p:spPr>
          <a:xfrm>
            <a:off x="5184648" y="2651760"/>
            <a:ext cx="1828800" cy="21945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Do they hear about it in time?</a:t>
            </a:r>
            <a:endParaRPr lang="en-US" sz="1700" dirty="0"/>
          </a:p>
          <a:p>
            <a:pPr indent="0" marL="0">
              <a:spcAft>
                <a:spcPts val="400"/>
              </a:spcAft>
              <a:buNone/>
            </a:pPr>
            <a:r>
              <a:rPr lang="en-US" sz="1500" dirty="0">
                <a:solidFill>
                  <a:schemeClr val="tx1"/>
                </a:solidFill>
              </a:rPr>
              <a:t>Who gets told what</a:t>
            </a:r>
            <a:endParaRPr lang="en-US" sz="1700" dirty="0"/>
          </a:p>
        </p:txBody>
      </p:sp>
      <p:sp>
        <p:nvSpPr>
          <p:cNvPr id="17" name="Shape 14"/>
          <p:cNvSpPr/>
          <p:nvPr/>
        </p:nvSpPr>
        <p:spPr>
          <a:xfrm>
            <a:off x="7982712" y="1600200"/>
            <a:ext cx="731520" cy="731520"/>
          </a:xfrm>
          <a:prstGeom prst="ellipse">
            <a:avLst/>
          </a:prstGeom>
          <a:solidFill>
            <a:schemeClr val="accent2"/>
          </a:solidFill>
          <a:ln w="12700">
            <a:solidFill>
              <a:schemeClr val="accent2"/>
            </a:solidFill>
            <a:prstDash val="solid"/>
          </a:ln>
        </p:spPr>
      </p:sp>
      <p:sp>
        <p:nvSpPr>
          <p:cNvPr id="18" name="Text 15"/>
          <p:cNvSpPr txBox="1"/>
          <p:nvPr/>
        </p:nvSpPr>
        <p:spPr>
          <a:xfrm>
            <a:off x="7982712" y="16002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4</a:t>
            </a:r>
            <a:endParaRPr lang="en-US" sz="2400" dirty="0"/>
          </a:p>
        </p:txBody>
      </p:sp>
      <p:sp>
        <p:nvSpPr>
          <p:cNvPr id="19" name="card Does their say count?"/>
          <p:cNvSpPr/>
          <p:nvPr/>
        </p:nvSpPr>
        <p:spPr>
          <a:xfrm>
            <a:off x="7296912" y="2560320"/>
            <a:ext cx="2103120" cy="2377440"/>
          </a:xfrm>
          <a:prstGeom prst="roundRect">
            <a:avLst>
              <a:gd name="adj" fmla="val 3478"/>
            </a:avLst>
          </a:prstGeom>
          <a:solidFill>
            <a:schemeClr val="bg2"/>
          </a:solidFill>
          <a:ln w="12700">
            <a:solidFill>
              <a:schemeClr val="bg2"/>
            </a:solidFill>
            <a:prstDash val="solid"/>
          </a:ln>
        </p:spPr>
      </p:sp>
      <p:sp>
        <p:nvSpPr>
          <p:cNvPr id="20" name="Text 17"/>
          <p:cNvSpPr txBox="1"/>
          <p:nvPr/>
        </p:nvSpPr>
        <p:spPr>
          <a:xfrm>
            <a:off x="7434072" y="2651760"/>
            <a:ext cx="1828800" cy="21945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Does their say count?</a:t>
            </a:r>
            <a:endParaRPr lang="en-US" sz="1700" dirty="0"/>
          </a:p>
          <a:p>
            <a:pPr indent="0" marL="0">
              <a:spcAft>
                <a:spcPts val="400"/>
              </a:spcAft>
              <a:buNone/>
            </a:pPr>
            <a:r>
              <a:rPr lang="en-US" sz="1500" dirty="0">
                <a:solidFill>
                  <a:schemeClr val="tx1"/>
                </a:solidFill>
              </a:rPr>
              <a:t>How we decide: a vote, a yes, or just being asked</a:t>
            </a:r>
            <a:endParaRPr lang="en-US" sz="1700" dirty="0"/>
          </a:p>
        </p:txBody>
      </p:sp>
      <p:sp>
        <p:nvSpPr>
          <p:cNvPr id="21" name="Shape 18"/>
          <p:cNvSpPr/>
          <p:nvPr/>
        </p:nvSpPr>
        <p:spPr>
          <a:xfrm>
            <a:off x="10232136" y="1600200"/>
            <a:ext cx="731520" cy="731520"/>
          </a:xfrm>
          <a:prstGeom prst="ellipse">
            <a:avLst/>
          </a:prstGeom>
          <a:solidFill>
            <a:schemeClr val="accent2"/>
          </a:solidFill>
          <a:ln w="12700">
            <a:solidFill>
              <a:schemeClr val="accent2"/>
            </a:solidFill>
            <a:prstDash val="solid"/>
          </a:ln>
        </p:spPr>
      </p:sp>
      <p:sp>
        <p:nvSpPr>
          <p:cNvPr id="22" name="Text 19"/>
          <p:cNvSpPr txBox="1"/>
          <p:nvPr/>
        </p:nvSpPr>
        <p:spPr>
          <a:xfrm>
            <a:off x="10232136" y="16002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5</a:t>
            </a:r>
            <a:endParaRPr lang="en-US" sz="2400" dirty="0"/>
          </a:p>
        </p:txBody>
      </p:sp>
      <p:sp>
        <p:nvSpPr>
          <p:cNvPr id="23" name="card What may they change?"/>
          <p:cNvSpPr/>
          <p:nvPr/>
        </p:nvSpPr>
        <p:spPr>
          <a:xfrm>
            <a:off x="9546336" y="2560320"/>
            <a:ext cx="2103120" cy="2377440"/>
          </a:xfrm>
          <a:prstGeom prst="roundRect">
            <a:avLst>
              <a:gd name="adj" fmla="val 3478"/>
            </a:avLst>
          </a:prstGeom>
          <a:solidFill>
            <a:schemeClr val="bg2"/>
          </a:solidFill>
          <a:ln w="12700">
            <a:solidFill>
              <a:schemeClr val="bg2"/>
            </a:solidFill>
            <a:prstDash val="solid"/>
          </a:ln>
        </p:spPr>
      </p:sp>
      <p:sp>
        <p:nvSpPr>
          <p:cNvPr id="24" name="Text 21"/>
          <p:cNvSpPr txBox="1"/>
          <p:nvPr/>
        </p:nvSpPr>
        <p:spPr>
          <a:xfrm>
            <a:off x="9683496" y="2651760"/>
            <a:ext cx="1828800" cy="21945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What may they change?</a:t>
            </a:r>
            <a:endParaRPr lang="en-US" sz="1700" dirty="0"/>
          </a:p>
          <a:p>
            <a:pPr indent="0" marL="0">
              <a:spcAft>
                <a:spcPts val="400"/>
              </a:spcAft>
              <a:buNone/>
            </a:pPr>
            <a:r>
              <a:rPr lang="en-US" sz="1500" dirty="0">
                <a:solidFill>
                  <a:schemeClr val="tx1"/>
                </a:solidFill>
              </a:rPr>
              <a:t>What's on the table</a:t>
            </a:r>
            <a:endParaRPr lang="en-US" sz="1700" dirty="0"/>
          </a:p>
        </p:txBody>
      </p:sp>
      <p:sp>
        <p:nvSpPr>
          <p:cNvPr id="25" name="Text 22"/>
          <p:cNvSpPr txBox="1"/>
          <p:nvPr/>
        </p:nvSpPr>
        <p:spPr>
          <a:xfrm>
            <a:off x="548640" y="5303520"/>
            <a:ext cx="11064240" cy="822960"/>
          </a:xfrm>
          <a:prstGeom prst="rect">
            <a:avLst/>
          </a:prstGeom>
          <a:noFill/>
          <a:ln/>
        </p:spPr>
        <p:txBody>
          <a:bodyPr wrap="square" lIns="0" tIns="0" rIns="0" bIns="0" rtlCol="0" anchor="t"/>
          <a:lstStyle/>
          <a:p>
            <a:pPr indent="0" marL="0">
              <a:spcAft>
                <a:spcPts val="600"/>
              </a:spcAft>
              <a:buNone/>
            </a:pPr>
            <a:r>
              <a:rPr lang="en-US" sz="1700" i="1" dirty="0">
                <a:solidFill>
                  <a:schemeClr val="accent1"/>
                </a:solidFill>
              </a:rPr>
              <a:t>The health worker in step 4 failed question 2. No amount of telling (3) or inviting (1) could fix it.</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How a rule is put together</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Every rule answers the same few questions. Ask them, and you can see what is missing.</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1   The people and the place</a:t>
            </a:r>
            <a:endParaRPr lang="en-US" sz="1500" dirty="0"/>
          </a:p>
        </p:txBody>
      </p:sp>
      <p:sp>
        <p:nvSpPr>
          <p:cNvPr id="6" name="rung 2"/>
          <p:cNvSpPr/>
          <p:nvPr/>
        </p:nvSpPr>
        <p:spPr>
          <a:xfrm>
            <a:off x="7333488" y="1444752"/>
            <a:ext cx="418795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2   What we're sharing</a:t>
            </a:r>
            <a:endParaRPr lang="en-US" sz="1500" dirty="0"/>
          </a:p>
        </p:txBody>
      </p:sp>
      <p:sp>
        <p:nvSpPr>
          <p:cNvPr id="7" name="rung 3"/>
          <p:cNvSpPr/>
          <p:nvPr/>
        </p:nvSpPr>
        <p:spPr>
          <a:xfrm>
            <a:off x="7443216" y="1975104"/>
            <a:ext cx="407822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3   Where we meet and choose</a:t>
            </a:r>
            <a:endParaRPr lang="en-US" sz="1500" dirty="0"/>
          </a:p>
        </p:txBody>
      </p:sp>
      <p:sp>
        <p:nvSpPr>
          <p:cNvPr id="8" name="rung 4"/>
          <p:cNvSpPr/>
          <p:nvPr/>
        </p:nvSpPr>
        <p:spPr>
          <a:xfrm>
            <a:off x="7552944" y="2505456"/>
            <a:ext cx="396849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4   Who sets the rules</a:t>
            </a:r>
            <a:endParaRPr lang="en-US" sz="1500" dirty="0"/>
          </a:p>
        </p:txBody>
      </p:sp>
      <p:sp>
        <p:nvSpPr>
          <p:cNvPr id="9" name="rung 5"/>
          <p:cNvSpPr/>
          <p:nvPr/>
        </p:nvSpPr>
        <p:spPr>
          <a:xfrm>
            <a:off x="7662672" y="3035808"/>
            <a:ext cx="3858768"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5   What's going on when we meet</a:t>
            </a:r>
            <a:endParaRPr lang="en-US" sz="1500" dirty="0"/>
          </a:p>
        </p:txBody>
      </p:sp>
      <p:sp>
        <p:nvSpPr>
          <p:cNvPr id="10" name="rung 6"/>
          <p:cNvSpPr/>
          <p:nvPr/>
        </p:nvSpPr>
        <p:spPr>
          <a:xfrm>
            <a:off x="7772400" y="3566160"/>
            <a:ext cx="374904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6   The house rules</a:t>
            </a:r>
            <a:endParaRPr lang="en-US" sz="1500" dirty="0"/>
          </a:p>
        </p:txBody>
      </p:sp>
      <p:sp>
        <p:nvSpPr>
          <p:cNvPr id="11" name="rung 7"/>
          <p:cNvSpPr/>
          <p:nvPr/>
        </p:nvSpPr>
        <p:spPr>
          <a:xfrm>
            <a:off x="7882128" y="4096512"/>
            <a:ext cx="363931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7   What long-lasting groups do</a:t>
            </a:r>
            <a:endParaRPr lang="en-US" sz="1500" dirty="0"/>
          </a:p>
        </p:txBody>
      </p:sp>
      <p:sp>
        <p:nvSpPr>
          <p:cNvPr id="12" name="rung 8"/>
          <p:cNvSpPr/>
          <p:nvPr/>
        </p:nvSpPr>
        <p:spPr>
          <a:xfrm>
            <a:off x="7991856" y="4626864"/>
            <a:ext cx="3529584"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8   How a rule is put together</a:t>
            </a:r>
            <a:endParaRPr lang="en-US" sz="1500" dirty="0"/>
          </a:p>
        </p:txBody>
      </p:sp>
      <p:sp>
        <p:nvSpPr>
          <p:cNvPr id="13" name="rung 9"/>
          <p:cNvSpPr/>
          <p:nvPr/>
        </p:nvSpPr>
        <p:spPr>
          <a:xfrm>
            <a:off x="8101584" y="5157216"/>
            <a:ext cx="341985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9   Do I do my share?</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8 · HOW A RULE IS PUT TOGETHER · YOU ALREADY KNOW THIS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Think of a parking sign</a:t>
            </a:r>
            <a:endParaRPr lang="en-US" sz="3200" dirty="0"/>
          </a:p>
        </p:txBody>
      </p:sp>
      <p:sp>
        <p:nvSpPr>
          <p:cNvPr id="5" name="card A parking sign"/>
          <p:cNvSpPr/>
          <p:nvPr/>
        </p:nvSpPr>
        <p:spPr>
          <a:xfrm>
            <a:off x="548640" y="1463040"/>
            <a:ext cx="5120640" cy="4754880"/>
          </a:xfrm>
          <a:prstGeom prst="roundRect">
            <a:avLst>
              <a:gd name="adj" fmla="val 1538"/>
            </a:avLst>
          </a:prstGeom>
          <a:solidFill>
            <a:srgbClr val="FBF3E6"/>
          </a:solidFill>
          <a:ln w="12700">
            <a:solidFill>
              <a:srgbClr val="FBF3E6"/>
            </a:solidFill>
            <a:prstDash val="solid"/>
          </a:ln>
        </p:spPr>
      </p:sp>
      <p:sp>
        <p:nvSpPr>
          <p:cNvPr id="6" name="Text 3"/>
          <p:cNvSpPr txBox="1"/>
          <p:nvPr/>
        </p:nvSpPr>
        <p:spPr>
          <a:xfrm>
            <a:off x="685800" y="1554480"/>
            <a:ext cx="4846320" cy="457200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A parking sign</a:t>
            </a:r>
            <a:endParaRPr lang="en-US" sz="2000" dirty="0"/>
          </a:p>
          <a:p>
            <a:pPr indent="0" marL="0">
              <a:spcAft>
                <a:spcPts val="400"/>
              </a:spcAft>
              <a:buNone/>
            </a:pPr>
            <a:r>
              <a:rPr lang="en-US" sz="1700" dirty="0">
                <a:solidFill>
                  <a:schemeClr val="tx1"/>
                </a:solidFill>
              </a:rPr>
              <a:t>"No parking, 8am to 6pm, Monday to Friday. Violators will be towed." It says when, who it is for (drivers), what you must not do (park), where (here), and what happens if you do (towed).</a:t>
            </a:r>
            <a:endParaRPr lang="en-US" sz="2000" dirty="0"/>
          </a:p>
        </p:txBody>
      </p:sp>
      <p:sp>
        <p:nvSpPr>
          <p:cNvPr id="7" name="Text 4"/>
          <p:cNvSpPr/>
          <p:nvPr/>
        </p:nvSpPr>
        <p:spPr>
          <a:xfrm>
            <a:off x="5989320" y="146304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Text 5"/>
          <p:cNvSpPr txBox="1"/>
          <p:nvPr/>
        </p:nvSpPr>
        <p:spPr>
          <a:xfrm>
            <a:off x="6629400" y="1481328"/>
            <a:ext cx="4983480" cy="109728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When does it apply?  Who is it for?</a:t>
            </a:r>
            <a:endParaRPr lang="en-US" sz="1700" dirty="0"/>
          </a:p>
        </p:txBody>
      </p:sp>
      <p:sp>
        <p:nvSpPr>
          <p:cNvPr id="9" name="Text 6"/>
          <p:cNvSpPr/>
          <p:nvPr/>
        </p:nvSpPr>
        <p:spPr>
          <a:xfrm>
            <a:off x="5989320" y="265176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7"/>
          <p:cNvSpPr txBox="1"/>
          <p:nvPr/>
        </p:nvSpPr>
        <p:spPr>
          <a:xfrm>
            <a:off x="6629400" y="2670048"/>
            <a:ext cx="4983480" cy="109728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Must, may, or must not?  Do what, to what, and how?</a:t>
            </a:r>
            <a:endParaRPr lang="en-US" sz="1700" dirty="0"/>
          </a:p>
        </p:txBody>
      </p:sp>
      <p:sp>
        <p:nvSpPr>
          <p:cNvPr id="11" name="Text 8"/>
          <p:cNvSpPr/>
          <p:nvPr/>
        </p:nvSpPr>
        <p:spPr>
          <a:xfrm>
            <a:off x="5989320" y="384048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9"/>
          <p:cNvSpPr txBox="1"/>
          <p:nvPr/>
        </p:nvSpPr>
        <p:spPr>
          <a:xfrm>
            <a:off x="6629400" y="3858768"/>
            <a:ext cx="4983480" cy="109728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Or else what?</a:t>
            </a:r>
            <a:endParaRPr lang="en-US" sz="1700" dirty="0"/>
          </a:p>
        </p:txBody>
      </p:sp>
      <p:sp>
        <p:nvSpPr>
          <p:cNvPr id="13" name="Text 10"/>
          <p:cNvSpPr/>
          <p:nvPr/>
        </p:nvSpPr>
        <p:spPr>
          <a:xfrm>
            <a:off x="5989320" y="502920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4" name="Text 11"/>
          <p:cNvSpPr txBox="1"/>
          <p:nvPr/>
        </p:nvSpPr>
        <p:spPr>
          <a:xfrm>
            <a:off x="6629400" y="5047488"/>
            <a:ext cx="4983480" cy="109728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Take away the "or else" and it is a polite request.</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8 · HOW A RULE IS PUT TOGETHER</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The parts of one garden rule</a:t>
            </a:r>
            <a:endParaRPr lang="en-US" sz="3200" dirty="0"/>
          </a:p>
        </p:txBody>
      </p:sp>
      <p:sp>
        <p:nvSpPr>
          <p:cNvPr id="5" name="Text 2"/>
          <p:cNvSpPr txBox="1"/>
          <p:nvPr/>
        </p:nvSpPr>
        <p:spPr>
          <a:xfrm>
            <a:off x="548640" y="1417320"/>
            <a:ext cx="11064240" cy="822960"/>
          </a:xfrm>
          <a:prstGeom prst="rect">
            <a:avLst/>
          </a:prstGeom>
          <a:noFill/>
          <a:ln/>
        </p:spPr>
        <p:txBody>
          <a:bodyPr wrap="square" lIns="0" tIns="0" rIns="0" bIns="0" rtlCol="0" anchor="t"/>
          <a:lstStyle/>
          <a:p>
            <a:pPr indent="0" marL="0">
              <a:spcAft>
                <a:spcPts val="600"/>
              </a:spcAft>
              <a:buNone/>
            </a:pPr>
            <a:r>
              <a:rPr lang="en-US" sz="2000" i="1" dirty="0">
                <a:solidFill>
                  <a:schemeClr val="tx2"/>
                </a:solidFill>
              </a:rPr>
              <a:t>"When the tank is below half, gardeners must not water their plots with sprinklers, or else they lose watering for a week."</a:t>
            </a:r>
            <a:endParaRPr lang="en-US" sz="2000" dirty="0"/>
          </a:p>
        </p:txBody>
      </p:sp>
      <p:sp>
        <p:nvSpPr>
          <p:cNvPr id="6" name="Text 3"/>
          <p:cNvSpPr/>
          <p:nvPr/>
        </p:nvSpPr>
        <p:spPr>
          <a:xfrm>
            <a:off x="548640" y="2514600"/>
            <a:ext cx="1508760" cy="822960"/>
          </a:xfrm>
          <a:prstGeom prst="roundRect">
            <a:avLst>
              <a:gd name="adj" fmla="val 6667"/>
            </a:avLst>
          </a:prstGeom>
          <a:solidFill>
            <a:schemeClr val="accent1"/>
          </a:solidFill>
          <a:ln/>
        </p:spPr>
        <p:txBody>
          <a:bodyPr wrap="square" lIns="38100" tIns="38100" rIns="38100" bIns="38100" rtlCol="0" anchor="ctr"/>
          <a:lstStyle/>
          <a:p>
            <a:pPr algn="ctr" indent="0" marL="0">
              <a:buNone/>
            </a:pPr>
            <a:r>
              <a:rPr lang="en-US" sz="1300" b="1" dirty="0">
                <a:solidFill>
                  <a:srgbClr val="FFFFFF"/>
                </a:solidFill>
              </a:rPr>
              <a:t>WHEN?</a:t>
            </a:r>
            <a:endParaRPr lang="en-US" sz="1300" dirty="0"/>
          </a:p>
        </p:txBody>
      </p:sp>
      <p:sp>
        <p:nvSpPr>
          <p:cNvPr id="7" name="Text 4"/>
          <p:cNvSpPr txBox="1"/>
          <p:nvPr/>
        </p:nvSpPr>
        <p:spPr>
          <a:xfrm>
            <a:off x="548640" y="3429000"/>
            <a:ext cx="1508760" cy="1097280"/>
          </a:xfrm>
          <a:prstGeom prst="rect">
            <a:avLst/>
          </a:prstGeom>
          <a:noFill/>
          <a:ln/>
        </p:spPr>
        <p:txBody>
          <a:bodyPr wrap="square" lIns="25400" tIns="25400" rIns="25400" bIns="25400" rtlCol="0" anchor="t"/>
          <a:lstStyle/>
          <a:p>
            <a:pPr algn="ctr" indent="0" marL="0">
              <a:buNone/>
            </a:pPr>
            <a:r>
              <a:rPr lang="en-US" sz="1600" dirty="0">
                <a:solidFill>
                  <a:schemeClr val="tx1"/>
                </a:solidFill>
              </a:rPr>
              <a:t>when the tank is below half</a:t>
            </a:r>
            <a:endParaRPr lang="en-US" sz="1600" dirty="0"/>
          </a:p>
        </p:txBody>
      </p:sp>
      <p:sp>
        <p:nvSpPr>
          <p:cNvPr id="8" name="Text 5"/>
          <p:cNvSpPr txBox="1"/>
          <p:nvPr/>
        </p:nvSpPr>
        <p:spPr>
          <a:xfrm>
            <a:off x="548640" y="4572000"/>
            <a:ext cx="1508760" cy="365760"/>
          </a:xfrm>
          <a:prstGeom prst="rect">
            <a:avLst/>
          </a:prstGeom>
          <a:noFill/>
          <a:ln/>
        </p:spPr>
        <p:txBody>
          <a:bodyPr wrap="square" lIns="0" tIns="0" rIns="0" bIns="0" rtlCol="0" anchor="ctr"/>
          <a:lstStyle/>
          <a:p>
            <a:pPr algn="ctr" indent="0" marL="0">
              <a:buNone/>
            </a:pPr>
            <a:r>
              <a:rPr lang="en-US" sz="1200" i="1" dirty="0">
                <a:solidFill>
                  <a:srgbClr val="6B7A70"/>
                </a:solidFill>
              </a:rPr>
              <a:t>Ostrom: condition</a:t>
            </a:r>
            <a:endParaRPr lang="en-US" sz="1200" dirty="0"/>
          </a:p>
        </p:txBody>
      </p:sp>
      <p:sp>
        <p:nvSpPr>
          <p:cNvPr id="9" name="Text 6"/>
          <p:cNvSpPr/>
          <p:nvPr/>
        </p:nvSpPr>
        <p:spPr>
          <a:xfrm>
            <a:off x="2148840" y="2514600"/>
            <a:ext cx="1508760" cy="822960"/>
          </a:xfrm>
          <a:prstGeom prst="roundRect">
            <a:avLst>
              <a:gd name="adj" fmla="val 6667"/>
            </a:avLst>
          </a:prstGeom>
          <a:solidFill>
            <a:schemeClr val="accent1"/>
          </a:solidFill>
          <a:ln/>
        </p:spPr>
        <p:txBody>
          <a:bodyPr wrap="square" lIns="38100" tIns="38100" rIns="38100" bIns="38100" rtlCol="0" anchor="ctr"/>
          <a:lstStyle/>
          <a:p>
            <a:pPr algn="ctr" indent="0" marL="0">
              <a:buNone/>
            </a:pPr>
            <a:r>
              <a:rPr lang="en-US" sz="1300" b="1" dirty="0">
                <a:solidFill>
                  <a:srgbClr val="FFFFFF"/>
                </a:solidFill>
              </a:rPr>
              <a:t>WHO?</a:t>
            </a:r>
            <a:endParaRPr lang="en-US" sz="1300" dirty="0"/>
          </a:p>
        </p:txBody>
      </p:sp>
      <p:sp>
        <p:nvSpPr>
          <p:cNvPr id="10" name="Text 7"/>
          <p:cNvSpPr txBox="1"/>
          <p:nvPr/>
        </p:nvSpPr>
        <p:spPr>
          <a:xfrm>
            <a:off x="2148840" y="3429000"/>
            <a:ext cx="1508760" cy="1097280"/>
          </a:xfrm>
          <a:prstGeom prst="rect">
            <a:avLst/>
          </a:prstGeom>
          <a:noFill/>
          <a:ln/>
        </p:spPr>
        <p:txBody>
          <a:bodyPr wrap="square" lIns="25400" tIns="25400" rIns="25400" bIns="25400" rtlCol="0" anchor="t"/>
          <a:lstStyle/>
          <a:p>
            <a:pPr algn="ctr" indent="0" marL="0">
              <a:buNone/>
            </a:pPr>
            <a:r>
              <a:rPr lang="en-US" sz="1600" dirty="0">
                <a:solidFill>
                  <a:schemeClr val="tx1"/>
                </a:solidFill>
              </a:rPr>
              <a:t>gardeners</a:t>
            </a:r>
            <a:endParaRPr lang="en-US" sz="1600" dirty="0"/>
          </a:p>
        </p:txBody>
      </p:sp>
      <p:sp>
        <p:nvSpPr>
          <p:cNvPr id="11" name="Text 8"/>
          <p:cNvSpPr txBox="1"/>
          <p:nvPr/>
        </p:nvSpPr>
        <p:spPr>
          <a:xfrm>
            <a:off x="2148840" y="4572000"/>
            <a:ext cx="1508760" cy="365760"/>
          </a:xfrm>
          <a:prstGeom prst="rect">
            <a:avLst/>
          </a:prstGeom>
          <a:noFill/>
          <a:ln/>
        </p:spPr>
        <p:txBody>
          <a:bodyPr wrap="square" lIns="0" tIns="0" rIns="0" bIns="0" rtlCol="0" anchor="ctr"/>
          <a:lstStyle/>
          <a:p>
            <a:pPr algn="ctr" indent="0" marL="0">
              <a:buNone/>
            </a:pPr>
            <a:r>
              <a:rPr lang="en-US" sz="1200" i="1" dirty="0">
                <a:solidFill>
                  <a:srgbClr val="6B7A70"/>
                </a:solidFill>
              </a:rPr>
              <a:t>Ostrom: attribute</a:t>
            </a:r>
            <a:endParaRPr lang="en-US" sz="1200" dirty="0"/>
          </a:p>
        </p:txBody>
      </p:sp>
      <p:sp>
        <p:nvSpPr>
          <p:cNvPr id="12" name="Text 9"/>
          <p:cNvSpPr/>
          <p:nvPr/>
        </p:nvSpPr>
        <p:spPr>
          <a:xfrm>
            <a:off x="3749040" y="2514600"/>
            <a:ext cx="1508760" cy="822960"/>
          </a:xfrm>
          <a:prstGeom prst="roundRect">
            <a:avLst>
              <a:gd name="adj" fmla="val 6667"/>
            </a:avLst>
          </a:prstGeom>
          <a:solidFill>
            <a:schemeClr val="accent1"/>
          </a:solidFill>
          <a:ln/>
        </p:spPr>
        <p:txBody>
          <a:bodyPr wrap="square" lIns="38100" tIns="38100" rIns="38100" bIns="38100" rtlCol="0" anchor="ctr"/>
          <a:lstStyle/>
          <a:p>
            <a:pPr algn="ctr" indent="0" marL="0">
              <a:buNone/>
            </a:pPr>
            <a:r>
              <a:rPr lang="en-US" sz="1300" b="1" dirty="0">
                <a:solidFill>
                  <a:srgbClr val="FFFFFF"/>
                </a:solidFill>
              </a:rPr>
              <a:t>MUST, MAY, OR MUST NOT?</a:t>
            </a:r>
            <a:endParaRPr lang="en-US" sz="1300" dirty="0"/>
          </a:p>
        </p:txBody>
      </p:sp>
      <p:sp>
        <p:nvSpPr>
          <p:cNvPr id="13" name="Text 10"/>
          <p:cNvSpPr txBox="1"/>
          <p:nvPr/>
        </p:nvSpPr>
        <p:spPr>
          <a:xfrm>
            <a:off x="3749040" y="3429000"/>
            <a:ext cx="1508760" cy="1097280"/>
          </a:xfrm>
          <a:prstGeom prst="rect">
            <a:avLst/>
          </a:prstGeom>
          <a:noFill/>
          <a:ln/>
        </p:spPr>
        <p:txBody>
          <a:bodyPr wrap="square" lIns="25400" tIns="25400" rIns="25400" bIns="25400" rtlCol="0" anchor="t"/>
          <a:lstStyle/>
          <a:p>
            <a:pPr algn="ctr" indent="0" marL="0">
              <a:buNone/>
            </a:pPr>
            <a:r>
              <a:rPr lang="en-US" sz="1600" dirty="0">
                <a:solidFill>
                  <a:schemeClr val="tx1"/>
                </a:solidFill>
              </a:rPr>
              <a:t>must not</a:t>
            </a:r>
            <a:endParaRPr lang="en-US" sz="1600" dirty="0"/>
          </a:p>
        </p:txBody>
      </p:sp>
      <p:sp>
        <p:nvSpPr>
          <p:cNvPr id="14" name="Text 11"/>
          <p:cNvSpPr txBox="1"/>
          <p:nvPr/>
        </p:nvSpPr>
        <p:spPr>
          <a:xfrm>
            <a:off x="3749040" y="4572000"/>
            <a:ext cx="1508760" cy="365760"/>
          </a:xfrm>
          <a:prstGeom prst="rect">
            <a:avLst/>
          </a:prstGeom>
          <a:noFill/>
          <a:ln/>
        </p:spPr>
        <p:txBody>
          <a:bodyPr wrap="square" lIns="0" tIns="0" rIns="0" bIns="0" rtlCol="0" anchor="ctr"/>
          <a:lstStyle/>
          <a:p>
            <a:pPr algn="ctr" indent="0" marL="0">
              <a:buNone/>
            </a:pPr>
            <a:r>
              <a:rPr lang="en-US" sz="1200" i="1" dirty="0">
                <a:solidFill>
                  <a:srgbClr val="6B7A70"/>
                </a:solidFill>
              </a:rPr>
              <a:t>Ostrom: deontic</a:t>
            </a:r>
            <a:endParaRPr lang="en-US" sz="1200" dirty="0"/>
          </a:p>
        </p:txBody>
      </p:sp>
      <p:sp>
        <p:nvSpPr>
          <p:cNvPr id="15" name="Text 12"/>
          <p:cNvSpPr/>
          <p:nvPr/>
        </p:nvSpPr>
        <p:spPr>
          <a:xfrm>
            <a:off x="5349240" y="2514600"/>
            <a:ext cx="1508760" cy="822960"/>
          </a:xfrm>
          <a:prstGeom prst="roundRect">
            <a:avLst>
              <a:gd name="adj" fmla="val 6667"/>
            </a:avLst>
          </a:prstGeom>
          <a:solidFill>
            <a:schemeClr val="accent1"/>
          </a:solidFill>
          <a:ln/>
        </p:spPr>
        <p:txBody>
          <a:bodyPr wrap="square" lIns="38100" tIns="38100" rIns="38100" bIns="38100" rtlCol="0" anchor="ctr"/>
          <a:lstStyle/>
          <a:p>
            <a:pPr algn="ctr" indent="0" marL="0">
              <a:buNone/>
            </a:pPr>
            <a:r>
              <a:rPr lang="en-US" sz="1300" b="1" dirty="0">
                <a:solidFill>
                  <a:srgbClr val="FFFFFF"/>
                </a:solidFill>
              </a:rPr>
              <a:t>DO WHAT?</a:t>
            </a:r>
            <a:endParaRPr lang="en-US" sz="1300" dirty="0"/>
          </a:p>
        </p:txBody>
      </p:sp>
      <p:sp>
        <p:nvSpPr>
          <p:cNvPr id="16" name="Text 13"/>
          <p:cNvSpPr txBox="1"/>
          <p:nvPr/>
        </p:nvSpPr>
        <p:spPr>
          <a:xfrm>
            <a:off x="5349240" y="3429000"/>
            <a:ext cx="1508760" cy="1097280"/>
          </a:xfrm>
          <a:prstGeom prst="rect">
            <a:avLst/>
          </a:prstGeom>
          <a:noFill/>
          <a:ln/>
        </p:spPr>
        <p:txBody>
          <a:bodyPr wrap="square" lIns="25400" tIns="25400" rIns="25400" bIns="25400" rtlCol="0" anchor="t"/>
          <a:lstStyle/>
          <a:p>
            <a:pPr algn="ctr" indent="0" marL="0">
              <a:buNone/>
            </a:pPr>
            <a:r>
              <a:rPr lang="en-US" sz="1600" dirty="0">
                <a:solidFill>
                  <a:schemeClr val="tx1"/>
                </a:solidFill>
              </a:rPr>
              <a:t>water</a:t>
            </a:r>
            <a:endParaRPr lang="en-US" sz="1600" dirty="0"/>
          </a:p>
        </p:txBody>
      </p:sp>
      <p:sp>
        <p:nvSpPr>
          <p:cNvPr id="17" name="Text 14"/>
          <p:cNvSpPr txBox="1"/>
          <p:nvPr/>
        </p:nvSpPr>
        <p:spPr>
          <a:xfrm>
            <a:off x="5349240" y="4572000"/>
            <a:ext cx="1508760" cy="365760"/>
          </a:xfrm>
          <a:prstGeom prst="rect">
            <a:avLst/>
          </a:prstGeom>
          <a:noFill/>
          <a:ln/>
        </p:spPr>
        <p:txBody>
          <a:bodyPr wrap="square" lIns="0" tIns="0" rIns="0" bIns="0" rtlCol="0" anchor="ctr"/>
          <a:lstStyle/>
          <a:p>
            <a:pPr algn="ctr" indent="0" marL="0">
              <a:buNone/>
            </a:pPr>
            <a:r>
              <a:rPr lang="en-US" sz="1200" i="1" dirty="0">
                <a:solidFill>
                  <a:srgbClr val="6B7A70"/>
                </a:solidFill>
              </a:rPr>
              <a:t>Ostrom: aim</a:t>
            </a:r>
            <a:endParaRPr lang="en-US" sz="1200" dirty="0"/>
          </a:p>
        </p:txBody>
      </p:sp>
      <p:sp>
        <p:nvSpPr>
          <p:cNvPr id="18" name="Text 15"/>
          <p:cNvSpPr/>
          <p:nvPr/>
        </p:nvSpPr>
        <p:spPr>
          <a:xfrm>
            <a:off x="6949440" y="2514600"/>
            <a:ext cx="1508760" cy="822960"/>
          </a:xfrm>
          <a:prstGeom prst="roundRect">
            <a:avLst>
              <a:gd name="adj" fmla="val 6667"/>
            </a:avLst>
          </a:prstGeom>
          <a:solidFill>
            <a:schemeClr val="accent1"/>
          </a:solidFill>
          <a:ln/>
        </p:spPr>
        <p:txBody>
          <a:bodyPr wrap="square" lIns="38100" tIns="38100" rIns="38100" bIns="38100" rtlCol="0" anchor="ctr"/>
          <a:lstStyle/>
          <a:p>
            <a:pPr algn="ctr" indent="0" marL="0">
              <a:buNone/>
            </a:pPr>
            <a:r>
              <a:rPr lang="en-US" sz="1300" b="1" dirty="0">
                <a:solidFill>
                  <a:srgbClr val="FFFFFF"/>
                </a:solidFill>
              </a:rPr>
              <a:t>TO WHAT?</a:t>
            </a:r>
            <a:endParaRPr lang="en-US" sz="1300" dirty="0"/>
          </a:p>
        </p:txBody>
      </p:sp>
      <p:sp>
        <p:nvSpPr>
          <p:cNvPr id="19" name="Text 16"/>
          <p:cNvSpPr txBox="1"/>
          <p:nvPr/>
        </p:nvSpPr>
        <p:spPr>
          <a:xfrm>
            <a:off x="6949440" y="3429000"/>
            <a:ext cx="1508760" cy="1097280"/>
          </a:xfrm>
          <a:prstGeom prst="rect">
            <a:avLst/>
          </a:prstGeom>
          <a:noFill/>
          <a:ln/>
        </p:spPr>
        <p:txBody>
          <a:bodyPr wrap="square" lIns="25400" tIns="25400" rIns="25400" bIns="25400" rtlCol="0" anchor="t"/>
          <a:lstStyle/>
          <a:p>
            <a:pPr algn="ctr" indent="0" marL="0">
              <a:buNone/>
            </a:pPr>
            <a:r>
              <a:rPr lang="en-US" sz="1600" dirty="0">
                <a:solidFill>
                  <a:schemeClr val="tx1"/>
                </a:solidFill>
              </a:rPr>
              <a:t>their plots</a:t>
            </a:r>
            <a:endParaRPr lang="en-US" sz="1600" dirty="0"/>
          </a:p>
        </p:txBody>
      </p:sp>
      <p:sp>
        <p:nvSpPr>
          <p:cNvPr id="20" name="Text 17"/>
          <p:cNvSpPr txBox="1"/>
          <p:nvPr/>
        </p:nvSpPr>
        <p:spPr>
          <a:xfrm>
            <a:off x="6949440" y="4572000"/>
            <a:ext cx="1508760" cy="365760"/>
          </a:xfrm>
          <a:prstGeom prst="rect">
            <a:avLst/>
          </a:prstGeom>
          <a:noFill/>
          <a:ln/>
        </p:spPr>
        <p:txBody>
          <a:bodyPr wrap="square" lIns="0" tIns="0" rIns="0" bIns="0" rtlCol="0" anchor="ctr"/>
          <a:lstStyle/>
          <a:p>
            <a:pPr algn="ctr" indent="0" marL="0">
              <a:buNone/>
            </a:pPr>
            <a:r>
              <a:rPr lang="en-US" sz="1200" i="1" dirty="0">
                <a:solidFill>
                  <a:srgbClr val="6B7A70"/>
                </a:solidFill>
              </a:rPr>
              <a:t>Ostrom: object</a:t>
            </a:r>
            <a:endParaRPr lang="en-US" sz="1200" dirty="0"/>
          </a:p>
        </p:txBody>
      </p:sp>
      <p:sp>
        <p:nvSpPr>
          <p:cNvPr id="21" name="Text 18"/>
          <p:cNvSpPr/>
          <p:nvPr/>
        </p:nvSpPr>
        <p:spPr>
          <a:xfrm>
            <a:off x="8549640" y="2514600"/>
            <a:ext cx="1508760" cy="822960"/>
          </a:xfrm>
          <a:prstGeom prst="roundRect">
            <a:avLst>
              <a:gd name="adj" fmla="val 6667"/>
            </a:avLst>
          </a:prstGeom>
          <a:solidFill>
            <a:schemeClr val="accent1"/>
          </a:solidFill>
          <a:ln/>
        </p:spPr>
        <p:txBody>
          <a:bodyPr wrap="square" lIns="38100" tIns="38100" rIns="38100" bIns="38100" rtlCol="0" anchor="ctr"/>
          <a:lstStyle/>
          <a:p>
            <a:pPr algn="ctr" indent="0" marL="0">
              <a:buNone/>
            </a:pPr>
            <a:r>
              <a:rPr lang="en-US" sz="1300" b="1" dirty="0">
                <a:solidFill>
                  <a:srgbClr val="FFFFFF"/>
                </a:solidFill>
              </a:rPr>
              <a:t>HOW?</a:t>
            </a:r>
            <a:endParaRPr lang="en-US" sz="1300" dirty="0"/>
          </a:p>
        </p:txBody>
      </p:sp>
      <p:sp>
        <p:nvSpPr>
          <p:cNvPr id="22" name="Text 19"/>
          <p:cNvSpPr txBox="1"/>
          <p:nvPr/>
        </p:nvSpPr>
        <p:spPr>
          <a:xfrm>
            <a:off x="8549640" y="3429000"/>
            <a:ext cx="1508760" cy="1097280"/>
          </a:xfrm>
          <a:prstGeom prst="rect">
            <a:avLst/>
          </a:prstGeom>
          <a:noFill/>
          <a:ln/>
        </p:spPr>
        <p:txBody>
          <a:bodyPr wrap="square" lIns="25400" tIns="25400" rIns="25400" bIns="25400" rtlCol="0" anchor="t"/>
          <a:lstStyle/>
          <a:p>
            <a:pPr algn="ctr" indent="0" marL="0">
              <a:buNone/>
            </a:pPr>
            <a:r>
              <a:rPr lang="en-US" sz="1600" dirty="0">
                <a:solidFill>
                  <a:schemeClr val="tx1"/>
                </a:solidFill>
              </a:rPr>
              <a:t>with sprinklers</a:t>
            </a:r>
            <a:endParaRPr lang="en-US" sz="1600" dirty="0"/>
          </a:p>
        </p:txBody>
      </p:sp>
      <p:sp>
        <p:nvSpPr>
          <p:cNvPr id="23" name="Text 20"/>
          <p:cNvSpPr txBox="1"/>
          <p:nvPr/>
        </p:nvSpPr>
        <p:spPr>
          <a:xfrm>
            <a:off x="8549640" y="4572000"/>
            <a:ext cx="1508760" cy="365760"/>
          </a:xfrm>
          <a:prstGeom prst="rect">
            <a:avLst/>
          </a:prstGeom>
          <a:noFill/>
          <a:ln/>
        </p:spPr>
        <p:txBody>
          <a:bodyPr wrap="square" lIns="0" tIns="0" rIns="0" bIns="0" rtlCol="0" anchor="ctr"/>
          <a:lstStyle/>
          <a:p>
            <a:pPr algn="ctr" indent="0" marL="0">
              <a:buNone/>
            </a:pPr>
            <a:r>
              <a:rPr lang="en-US" sz="1200" i="1" dirty="0">
                <a:solidFill>
                  <a:srgbClr val="6B7A70"/>
                </a:solidFill>
              </a:rPr>
              <a:t>Ostrom: condition</a:t>
            </a:r>
            <a:endParaRPr lang="en-US" sz="1200" dirty="0"/>
          </a:p>
        </p:txBody>
      </p:sp>
      <p:sp>
        <p:nvSpPr>
          <p:cNvPr id="24" name="Text 21"/>
          <p:cNvSpPr/>
          <p:nvPr/>
        </p:nvSpPr>
        <p:spPr>
          <a:xfrm>
            <a:off x="10149840" y="2514600"/>
            <a:ext cx="1508760" cy="822960"/>
          </a:xfrm>
          <a:prstGeom prst="roundRect">
            <a:avLst>
              <a:gd name="adj" fmla="val 6667"/>
            </a:avLst>
          </a:prstGeom>
          <a:solidFill>
            <a:schemeClr val="accent4"/>
          </a:solidFill>
          <a:ln/>
        </p:spPr>
        <p:txBody>
          <a:bodyPr wrap="square" lIns="38100" tIns="38100" rIns="38100" bIns="38100" rtlCol="0" anchor="ctr"/>
          <a:lstStyle/>
          <a:p>
            <a:pPr algn="ctr" indent="0" marL="0">
              <a:buNone/>
            </a:pPr>
            <a:r>
              <a:rPr lang="en-US" sz="1300" b="1" dirty="0">
                <a:solidFill>
                  <a:srgbClr val="FFFFFF"/>
                </a:solidFill>
              </a:rPr>
              <a:t>OR ELSE?</a:t>
            </a:r>
            <a:endParaRPr lang="en-US" sz="1300" dirty="0"/>
          </a:p>
        </p:txBody>
      </p:sp>
      <p:sp>
        <p:nvSpPr>
          <p:cNvPr id="25" name="Text 22"/>
          <p:cNvSpPr txBox="1"/>
          <p:nvPr/>
        </p:nvSpPr>
        <p:spPr>
          <a:xfrm>
            <a:off x="10149840" y="3429000"/>
            <a:ext cx="1508760" cy="1097280"/>
          </a:xfrm>
          <a:prstGeom prst="rect">
            <a:avLst/>
          </a:prstGeom>
          <a:noFill/>
          <a:ln/>
        </p:spPr>
        <p:txBody>
          <a:bodyPr wrap="square" lIns="25400" tIns="25400" rIns="25400" bIns="25400" rtlCol="0" anchor="t"/>
          <a:lstStyle/>
          <a:p>
            <a:pPr algn="ctr" indent="0" marL="0">
              <a:buNone/>
            </a:pPr>
            <a:r>
              <a:rPr lang="en-US" sz="1600" dirty="0">
                <a:solidFill>
                  <a:schemeClr val="tx1"/>
                </a:solidFill>
              </a:rPr>
              <a:t>they lose watering for a week</a:t>
            </a:r>
            <a:endParaRPr lang="en-US" sz="1600" dirty="0"/>
          </a:p>
        </p:txBody>
      </p:sp>
      <p:sp>
        <p:nvSpPr>
          <p:cNvPr id="26" name="Text 23"/>
          <p:cNvSpPr txBox="1"/>
          <p:nvPr/>
        </p:nvSpPr>
        <p:spPr>
          <a:xfrm>
            <a:off x="10149840" y="4572000"/>
            <a:ext cx="1508760" cy="365760"/>
          </a:xfrm>
          <a:prstGeom prst="rect">
            <a:avLst/>
          </a:prstGeom>
          <a:noFill/>
          <a:ln/>
        </p:spPr>
        <p:txBody>
          <a:bodyPr wrap="square" lIns="0" tIns="0" rIns="0" bIns="0" rtlCol="0" anchor="ctr"/>
          <a:lstStyle/>
          <a:p>
            <a:pPr algn="ctr" indent="0" marL="0">
              <a:buNone/>
            </a:pPr>
            <a:r>
              <a:rPr lang="en-US" sz="1200" i="1" dirty="0">
                <a:solidFill>
                  <a:srgbClr val="6B7A70"/>
                </a:solidFill>
              </a:rPr>
              <a:t>Ostrom: or else</a:t>
            </a:r>
            <a:endParaRPr lang="en-US" sz="1200" dirty="0"/>
          </a:p>
        </p:txBody>
      </p:sp>
      <p:sp>
        <p:nvSpPr>
          <p:cNvPr id="27" name="Text 24"/>
          <p:cNvSpPr txBox="1"/>
          <p:nvPr/>
        </p:nvSpPr>
        <p:spPr>
          <a:xfrm>
            <a:off x="548640" y="5120640"/>
            <a:ext cx="11064240" cy="1005840"/>
          </a:xfrm>
          <a:prstGeom prst="rect">
            <a:avLst/>
          </a:prstGeom>
          <a:noFill/>
          <a:ln/>
        </p:spPr>
        <p:txBody>
          <a:bodyPr wrap="square" lIns="0" tIns="0" rIns="0" bIns="0" rtlCol="0" anchor="t"/>
          <a:lstStyle/>
          <a:p>
            <a:pPr indent="0" marL="0">
              <a:spcAft>
                <a:spcPts val="600"/>
              </a:spcAft>
              <a:buNone/>
            </a:pPr>
            <a:r>
              <a:rPr lang="en-US" sz="1600" dirty="0">
                <a:solidFill>
                  <a:srgbClr val="3E4A42"/>
                </a:solidFill>
              </a:rPr>
              <a:t>A sentence that creates something ("The water keeper is chosen each spring from the members") asks different questions: what are we creating? must or may? how is it formed? out of what?</a:t>
            </a:r>
            <a:endParaRPr lang="en-US" sz="16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8 · HOW A RULE IS PUT TOGETHER</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The rule questions, in everyday words</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Each card: the everyday words first, what they mean, and the word Ostrom used.</a:t>
            </a:r>
            <a:endParaRPr lang="en-US" sz="1500" dirty="0"/>
          </a:p>
        </p:txBody>
      </p:sp>
      <p:sp>
        <p:nvSpPr>
          <p:cNvPr id="6" name="card How a rule is put together"/>
          <p:cNvSpPr/>
          <p:nvPr/>
        </p:nvSpPr>
        <p:spPr>
          <a:xfrm>
            <a:off x="548640" y="1828800"/>
            <a:ext cx="5477256" cy="1026414"/>
          </a:xfrm>
          <a:prstGeom prst="roundRect">
            <a:avLst>
              <a:gd name="adj" fmla="val 7127"/>
            </a:avLst>
          </a:prstGeom>
          <a:solidFill>
            <a:schemeClr val="bg2"/>
          </a:solidFill>
          <a:ln w="12700">
            <a:solidFill>
              <a:schemeClr val="bg2"/>
            </a:solidFill>
            <a:prstDash val="solid"/>
          </a:ln>
        </p:spPr>
      </p:sp>
      <p:sp>
        <p:nvSpPr>
          <p:cNvPr id="7" name="Text 4"/>
          <p:cNvSpPr txBox="1"/>
          <p:nvPr/>
        </p:nvSpPr>
        <p:spPr>
          <a:xfrm>
            <a:off x="685800"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How a rule is put together</a:t>
            </a:r>
            <a:endParaRPr lang="en-US" sz="1500" dirty="0"/>
          </a:p>
          <a:p>
            <a:pPr indent="0" marL="0">
              <a:spcAft>
                <a:spcPts val="400"/>
              </a:spcAft>
              <a:buNone/>
            </a:pPr>
            <a:r>
              <a:rPr lang="en-US" sz="1400" dirty="0">
                <a:solidFill>
                  <a:schemeClr val="tx1"/>
                </a:solidFill>
              </a:rPr>
              <a:t>Breaking any rule into the same few parts, so rules can be compared and checked.</a:t>
            </a:r>
            <a:endParaRPr lang="en-US" sz="1500" dirty="0"/>
          </a:p>
          <a:p>
            <a:pPr indent="0" marL="0">
              <a:spcAft>
                <a:spcPts val="400"/>
              </a:spcAft>
              <a:buNone/>
            </a:pPr>
            <a:r>
              <a:rPr lang="en-US" sz="1200" i="1" dirty="0">
                <a:solidFill>
                  <a:srgbClr val="6B7A70"/>
                </a:solidFill>
              </a:rPr>
              <a:t>Ostrom's word: Institutional Grammar (IG); ADICO</a:t>
            </a:r>
            <a:endParaRPr lang="en-US" sz="1500" dirty="0"/>
          </a:p>
        </p:txBody>
      </p:sp>
      <p:sp>
        <p:nvSpPr>
          <p:cNvPr id="8" name="card Who is it for?"/>
          <p:cNvSpPr/>
          <p:nvPr/>
        </p:nvSpPr>
        <p:spPr>
          <a:xfrm>
            <a:off x="548640" y="2964942"/>
            <a:ext cx="5477256" cy="1026414"/>
          </a:xfrm>
          <a:prstGeom prst="roundRect">
            <a:avLst>
              <a:gd name="adj" fmla="val 7127"/>
            </a:avLst>
          </a:prstGeom>
          <a:solidFill>
            <a:schemeClr val="bg2"/>
          </a:solidFill>
          <a:ln w="12700">
            <a:solidFill>
              <a:schemeClr val="bg2"/>
            </a:solidFill>
            <a:prstDash val="solid"/>
          </a:ln>
        </p:spPr>
      </p:sp>
      <p:sp>
        <p:nvSpPr>
          <p:cNvPr id="9" name="Text 6"/>
          <p:cNvSpPr txBox="1"/>
          <p:nvPr/>
        </p:nvSpPr>
        <p:spPr>
          <a:xfrm>
            <a:off x="685800"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Who is it for?</a:t>
            </a:r>
            <a:endParaRPr lang="en-US" sz="1500" dirty="0"/>
          </a:p>
          <a:p>
            <a:pPr indent="0" marL="0">
              <a:spcAft>
                <a:spcPts val="400"/>
              </a:spcAft>
              <a:buNone/>
            </a:pPr>
            <a:r>
              <a:rPr lang="en-US" sz="1400" dirty="0">
                <a:solidFill>
                  <a:schemeClr val="tx1"/>
                </a:solidFill>
              </a:rPr>
              <a:t>The people the rule applies to.</a:t>
            </a:r>
            <a:endParaRPr lang="en-US" sz="1500" dirty="0"/>
          </a:p>
          <a:p>
            <a:pPr indent="0" marL="0">
              <a:spcAft>
                <a:spcPts val="400"/>
              </a:spcAft>
              <a:buNone/>
            </a:pPr>
            <a:r>
              <a:rPr lang="en-US" sz="1200" i="1" dirty="0">
                <a:solidFill>
                  <a:srgbClr val="6B7A70"/>
                </a:solidFill>
              </a:rPr>
              <a:t>Ostrom's word: attribute</a:t>
            </a:r>
            <a:endParaRPr lang="en-US" sz="1500" dirty="0"/>
          </a:p>
        </p:txBody>
      </p:sp>
      <p:sp>
        <p:nvSpPr>
          <p:cNvPr id="10" name="card Must, may, or must not?"/>
          <p:cNvSpPr/>
          <p:nvPr/>
        </p:nvSpPr>
        <p:spPr>
          <a:xfrm>
            <a:off x="548640" y="4101084"/>
            <a:ext cx="5477256" cy="1026414"/>
          </a:xfrm>
          <a:prstGeom prst="roundRect">
            <a:avLst>
              <a:gd name="adj" fmla="val 7127"/>
            </a:avLst>
          </a:prstGeom>
          <a:solidFill>
            <a:schemeClr val="bg2"/>
          </a:solidFill>
          <a:ln w="12700">
            <a:solidFill>
              <a:schemeClr val="bg2"/>
            </a:solidFill>
            <a:prstDash val="solid"/>
          </a:ln>
        </p:spPr>
      </p:sp>
      <p:sp>
        <p:nvSpPr>
          <p:cNvPr id="11" name="Text 8"/>
          <p:cNvSpPr txBox="1"/>
          <p:nvPr/>
        </p:nvSpPr>
        <p:spPr>
          <a:xfrm>
            <a:off x="685800"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Must, may, or must not?</a:t>
            </a:r>
            <a:endParaRPr lang="en-US" sz="1500" dirty="0"/>
          </a:p>
          <a:p>
            <a:pPr indent="0" marL="0">
              <a:spcAft>
                <a:spcPts val="400"/>
              </a:spcAft>
              <a:buNone/>
            </a:pPr>
            <a:r>
              <a:rPr lang="en-US" sz="1400" dirty="0">
                <a:solidFill>
                  <a:schemeClr val="tx1"/>
                </a:solidFill>
              </a:rPr>
              <a:t>Whether it is required, allowed, or forbidden.</a:t>
            </a:r>
            <a:endParaRPr lang="en-US" sz="1500" dirty="0"/>
          </a:p>
          <a:p>
            <a:pPr indent="0" marL="0">
              <a:spcAft>
                <a:spcPts val="400"/>
              </a:spcAft>
              <a:buNone/>
            </a:pPr>
            <a:r>
              <a:rPr lang="en-US" sz="1200" i="1" dirty="0">
                <a:solidFill>
                  <a:srgbClr val="6B7A70"/>
                </a:solidFill>
              </a:rPr>
              <a:t>Ostrom's word: deontic (Greek for "what binds")</a:t>
            </a:r>
            <a:endParaRPr lang="en-US" sz="1500" dirty="0"/>
          </a:p>
        </p:txBody>
      </p:sp>
      <p:sp>
        <p:nvSpPr>
          <p:cNvPr id="12" name="card Do what, to what?"/>
          <p:cNvSpPr/>
          <p:nvPr/>
        </p:nvSpPr>
        <p:spPr>
          <a:xfrm>
            <a:off x="548640" y="5237226"/>
            <a:ext cx="5477256" cy="1026414"/>
          </a:xfrm>
          <a:prstGeom prst="roundRect">
            <a:avLst>
              <a:gd name="adj" fmla="val 7127"/>
            </a:avLst>
          </a:prstGeom>
          <a:solidFill>
            <a:schemeClr val="bg2"/>
          </a:solidFill>
          <a:ln w="12700">
            <a:solidFill>
              <a:schemeClr val="bg2"/>
            </a:solidFill>
            <a:prstDash val="solid"/>
          </a:ln>
        </p:spPr>
      </p:sp>
      <p:sp>
        <p:nvSpPr>
          <p:cNvPr id="13" name="Text 10"/>
          <p:cNvSpPr txBox="1"/>
          <p:nvPr/>
        </p:nvSpPr>
        <p:spPr>
          <a:xfrm>
            <a:off x="685800"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Do what, to what?</a:t>
            </a:r>
            <a:endParaRPr lang="en-US" sz="1500" dirty="0"/>
          </a:p>
          <a:p>
            <a:pPr indent="0" marL="0">
              <a:spcAft>
                <a:spcPts val="400"/>
              </a:spcAft>
              <a:buNone/>
            </a:pPr>
            <a:r>
              <a:rPr lang="en-US" sz="1400" dirty="0">
                <a:solidFill>
                  <a:schemeClr val="tx1"/>
                </a:solidFill>
              </a:rPr>
              <a:t>The action, and what it is done to.</a:t>
            </a:r>
            <a:endParaRPr lang="en-US" sz="1500" dirty="0"/>
          </a:p>
          <a:p>
            <a:pPr indent="0" marL="0">
              <a:spcAft>
                <a:spcPts val="400"/>
              </a:spcAft>
              <a:buNone/>
            </a:pPr>
            <a:r>
              <a:rPr lang="en-US" sz="1200" i="1" dirty="0">
                <a:solidFill>
                  <a:srgbClr val="6B7A70"/>
                </a:solidFill>
              </a:rPr>
              <a:t>Ostrom's word: aim; object</a:t>
            </a:r>
            <a:endParaRPr lang="en-US" sz="1500" dirty="0"/>
          </a:p>
        </p:txBody>
      </p:sp>
      <p:sp>
        <p:nvSpPr>
          <p:cNvPr id="14" name="card When, and how?"/>
          <p:cNvSpPr/>
          <p:nvPr/>
        </p:nvSpPr>
        <p:spPr>
          <a:xfrm>
            <a:off x="6135624" y="1828800"/>
            <a:ext cx="5477256" cy="1026414"/>
          </a:xfrm>
          <a:prstGeom prst="roundRect">
            <a:avLst>
              <a:gd name="adj" fmla="val 7127"/>
            </a:avLst>
          </a:prstGeom>
          <a:solidFill>
            <a:schemeClr val="bg2"/>
          </a:solidFill>
          <a:ln w="12700">
            <a:solidFill>
              <a:schemeClr val="bg2"/>
            </a:solidFill>
            <a:prstDash val="solid"/>
          </a:ln>
        </p:spPr>
      </p:sp>
      <p:sp>
        <p:nvSpPr>
          <p:cNvPr id="15" name="Text 12"/>
          <p:cNvSpPr txBox="1"/>
          <p:nvPr/>
        </p:nvSpPr>
        <p:spPr>
          <a:xfrm>
            <a:off x="6272784"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When, and how?</a:t>
            </a:r>
            <a:endParaRPr lang="en-US" sz="1500" dirty="0"/>
          </a:p>
          <a:p>
            <a:pPr indent="0" marL="0">
              <a:spcAft>
                <a:spcPts val="400"/>
              </a:spcAft>
              <a:buNone/>
            </a:pPr>
            <a:r>
              <a:rPr lang="en-US" sz="1400" dirty="0">
                <a:solidFill>
                  <a:schemeClr val="tx1"/>
                </a:solidFill>
              </a:rPr>
              <a:t>When and where it applies, and the manner.</a:t>
            </a:r>
            <a:endParaRPr lang="en-US" sz="1500" dirty="0"/>
          </a:p>
          <a:p>
            <a:pPr indent="0" marL="0">
              <a:spcAft>
                <a:spcPts val="400"/>
              </a:spcAft>
              <a:buNone/>
            </a:pPr>
            <a:r>
              <a:rPr lang="en-US" sz="1200" i="1" dirty="0">
                <a:solidFill>
                  <a:srgbClr val="6B7A70"/>
                </a:solidFill>
              </a:rPr>
              <a:t>Ostrom's word: condition (IG 2.0: activation condition, execution constraint)</a:t>
            </a:r>
            <a:endParaRPr lang="en-US" sz="1500" dirty="0"/>
          </a:p>
        </p:txBody>
      </p:sp>
      <p:sp>
        <p:nvSpPr>
          <p:cNvPr id="16" name="card Or else what?"/>
          <p:cNvSpPr/>
          <p:nvPr/>
        </p:nvSpPr>
        <p:spPr>
          <a:xfrm>
            <a:off x="6135624" y="2964942"/>
            <a:ext cx="5477256" cy="1026414"/>
          </a:xfrm>
          <a:prstGeom prst="roundRect">
            <a:avLst>
              <a:gd name="adj" fmla="val 7127"/>
            </a:avLst>
          </a:prstGeom>
          <a:solidFill>
            <a:schemeClr val="bg2"/>
          </a:solidFill>
          <a:ln w="12700">
            <a:solidFill>
              <a:schemeClr val="bg2"/>
            </a:solidFill>
            <a:prstDash val="solid"/>
          </a:ln>
        </p:spPr>
      </p:sp>
      <p:sp>
        <p:nvSpPr>
          <p:cNvPr id="17" name="Text 14"/>
          <p:cNvSpPr txBox="1"/>
          <p:nvPr/>
        </p:nvSpPr>
        <p:spPr>
          <a:xfrm>
            <a:off x="6272784"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Or else what?</a:t>
            </a:r>
            <a:endParaRPr lang="en-US" sz="1500" dirty="0"/>
          </a:p>
          <a:p>
            <a:pPr indent="0" marL="0">
              <a:spcAft>
                <a:spcPts val="400"/>
              </a:spcAft>
              <a:buNone/>
            </a:pPr>
            <a:r>
              <a:rPr lang="en-US" sz="1400" dirty="0">
                <a:solidFill>
                  <a:schemeClr val="tx1"/>
                </a:solidFill>
              </a:rPr>
              <a:t>What happens if you break it. Without one, it is a hope, not a rule.</a:t>
            </a:r>
            <a:endParaRPr lang="en-US" sz="1500" dirty="0"/>
          </a:p>
          <a:p>
            <a:pPr indent="0" marL="0">
              <a:spcAft>
                <a:spcPts val="400"/>
              </a:spcAft>
              <a:buNone/>
            </a:pPr>
            <a:r>
              <a:rPr lang="en-US" sz="1200" i="1" dirty="0">
                <a:solidFill>
                  <a:srgbClr val="6B7A70"/>
                </a:solidFill>
              </a:rPr>
              <a:t>Ostrom's word: or else (sanction)</a:t>
            </a:r>
            <a:endParaRPr lang="en-US" sz="1500" dirty="0"/>
          </a:p>
        </p:txBody>
      </p:sp>
      <p:sp>
        <p:nvSpPr>
          <p:cNvPr id="18" name="card A sentence that creates something"/>
          <p:cNvSpPr/>
          <p:nvPr/>
        </p:nvSpPr>
        <p:spPr>
          <a:xfrm>
            <a:off x="6135624" y="4101084"/>
            <a:ext cx="5477256" cy="1026414"/>
          </a:xfrm>
          <a:prstGeom prst="roundRect">
            <a:avLst>
              <a:gd name="adj" fmla="val 7127"/>
            </a:avLst>
          </a:prstGeom>
          <a:solidFill>
            <a:schemeClr val="bg2"/>
          </a:solidFill>
          <a:ln w="12700">
            <a:solidFill>
              <a:schemeClr val="bg2"/>
            </a:solidFill>
            <a:prstDash val="solid"/>
          </a:ln>
        </p:spPr>
      </p:sp>
      <p:sp>
        <p:nvSpPr>
          <p:cNvPr id="19" name="Text 16"/>
          <p:cNvSpPr txBox="1"/>
          <p:nvPr/>
        </p:nvSpPr>
        <p:spPr>
          <a:xfrm>
            <a:off x="6272784"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 sentence that creates something</a:t>
            </a:r>
            <a:endParaRPr lang="en-US" sz="1500" dirty="0"/>
          </a:p>
          <a:p>
            <a:pPr indent="0" marL="0">
              <a:spcAft>
                <a:spcPts val="400"/>
              </a:spcAft>
              <a:buNone/>
            </a:pPr>
            <a:r>
              <a:rPr lang="en-US" sz="1400" dirty="0">
                <a:solidFill>
                  <a:schemeClr val="tx1"/>
                </a:solidFill>
              </a:rPr>
              <a:t>Creates a role, a group or a thing, rather than telling people what to do.</a:t>
            </a:r>
            <a:endParaRPr lang="en-US" sz="1500" dirty="0"/>
          </a:p>
          <a:p>
            <a:pPr indent="0" marL="0">
              <a:spcAft>
                <a:spcPts val="400"/>
              </a:spcAft>
              <a:buNone/>
            </a:pPr>
            <a:r>
              <a:rPr lang="en-US" sz="1200" i="1" dirty="0">
                <a:solidFill>
                  <a:srgbClr val="6B7A70"/>
                </a:solidFill>
              </a:rPr>
              <a:t>Ostrom's word: constitutive statement</a:t>
            </a:r>
            <a:endParaRPr lang="en-US" sz="1500" dirty="0"/>
          </a:p>
        </p:txBody>
      </p:sp>
      <p:sp>
        <p:nvSpPr>
          <p:cNvPr id="20" name="card The original five parts"/>
          <p:cNvSpPr/>
          <p:nvPr/>
        </p:nvSpPr>
        <p:spPr>
          <a:xfrm>
            <a:off x="6135624" y="5237226"/>
            <a:ext cx="5477256" cy="1026414"/>
          </a:xfrm>
          <a:prstGeom prst="roundRect">
            <a:avLst>
              <a:gd name="adj" fmla="val 7127"/>
            </a:avLst>
          </a:prstGeom>
          <a:solidFill>
            <a:schemeClr val="bg2"/>
          </a:solidFill>
          <a:ln w="12700">
            <a:solidFill>
              <a:schemeClr val="bg2"/>
            </a:solidFill>
            <a:prstDash val="solid"/>
          </a:ln>
        </p:spPr>
      </p:sp>
      <p:sp>
        <p:nvSpPr>
          <p:cNvPr id="21" name="Text 18"/>
          <p:cNvSpPr txBox="1"/>
          <p:nvPr/>
        </p:nvSpPr>
        <p:spPr>
          <a:xfrm>
            <a:off x="6272784"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original five parts</a:t>
            </a:r>
            <a:endParaRPr lang="en-US" sz="1500" dirty="0"/>
          </a:p>
          <a:p>
            <a:pPr indent="0" marL="0">
              <a:spcAft>
                <a:spcPts val="400"/>
              </a:spcAft>
              <a:buNone/>
            </a:pPr>
            <a:r>
              <a:rPr lang="en-US" sz="1400" dirty="0">
                <a:solidFill>
                  <a:schemeClr val="tx1"/>
                </a:solidFill>
              </a:rPr>
              <a:t>Attribute, Deontic, aIm, Condition, Or else: A-D-I-C-O.</a:t>
            </a:r>
            <a:endParaRPr lang="en-US" sz="1500" dirty="0"/>
          </a:p>
          <a:p>
            <a:pPr indent="0" marL="0">
              <a:spcAft>
                <a:spcPts val="400"/>
              </a:spcAft>
              <a:buNone/>
            </a:pPr>
            <a:r>
              <a:rPr lang="en-US" sz="1200" i="1" dirty="0">
                <a:solidFill>
                  <a:srgbClr val="6B7A70"/>
                </a:solidFill>
              </a:rPr>
              <a:t>Ostrom's word: ADICO (Crawford and Ostrom 1995)</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8 · HOW A RULE IS PUT TOGETHER</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No "or else", no rule</a:t>
            </a:r>
            <a:endParaRPr lang="en-US" sz="3200" dirty="0"/>
          </a:p>
        </p:txBody>
      </p:sp>
      <p:sp>
        <p:nvSpPr>
          <p:cNvPr id="5" name="Text 2"/>
          <p:cNvSpPr/>
          <p:nvPr/>
        </p:nvSpPr>
        <p:spPr>
          <a:xfrm>
            <a:off x="548640" y="1508760"/>
            <a:ext cx="3291840" cy="1234440"/>
          </a:xfrm>
          <a:prstGeom prst="roundRect">
            <a:avLst>
              <a:gd name="adj" fmla="val 5926"/>
            </a:avLst>
          </a:prstGeom>
          <a:solidFill>
            <a:srgbClr val="2E6B45"/>
          </a:solidFill>
          <a:ln/>
        </p:spPr>
        <p:txBody>
          <a:bodyPr wrap="square" lIns="50800" tIns="50800" rIns="50800" bIns="50800" rtlCol="0" anchor="ctr"/>
          <a:lstStyle/>
          <a:p>
            <a:pPr algn="ctr" indent="0" marL="0">
              <a:buNone/>
            </a:pPr>
            <a:r>
              <a:rPr lang="en-US" sz="2000" b="1" dirty="0">
                <a:solidFill>
                  <a:srgbClr val="FFFFFF"/>
                </a:solidFill>
              </a:rPr>
              <a:t>A rule</a:t>
            </a:r>
            <a:endParaRPr lang="en-US" sz="2000" dirty="0"/>
          </a:p>
        </p:txBody>
      </p:sp>
      <p:sp>
        <p:nvSpPr>
          <p:cNvPr id="6" name="Text 3"/>
          <p:cNvSpPr txBox="1"/>
          <p:nvPr/>
        </p:nvSpPr>
        <p:spPr>
          <a:xfrm>
            <a:off x="4069080" y="1554480"/>
            <a:ext cx="7498080" cy="1188720"/>
          </a:xfrm>
          <a:prstGeom prst="rect">
            <a:avLst/>
          </a:prstGeom>
          <a:noFill/>
          <a:ln/>
        </p:spPr>
        <p:txBody>
          <a:bodyPr wrap="square" lIns="0" tIns="0" rIns="0" bIns="0" rtlCol="0" anchor="ctr"/>
          <a:lstStyle/>
          <a:p>
            <a:pPr indent="0" marL="0">
              <a:buNone/>
            </a:pPr>
            <a:r>
              <a:rPr lang="en-US" sz="1700" dirty="0">
                <a:solidFill>
                  <a:schemeClr val="tx1"/>
                </a:solidFill>
              </a:rPr>
              <a:t>It has an "or else".</a:t>
            </a:r>
            <a:endParaRPr lang="en-US" sz="1700" dirty="0"/>
          </a:p>
          <a:p>
            <a:pPr indent="0" marL="0">
              <a:buNone/>
            </a:pPr>
            <a:r>
              <a:rPr lang="en-US" sz="1600" i="1" dirty="0">
                <a:solidFill>
                  <a:srgbClr val="3E4A42"/>
                </a:solidFill>
              </a:rPr>
              <a:t>"...or else they lose watering for a week."</a:t>
            </a:r>
            <a:endParaRPr lang="en-US" sz="1700" dirty="0"/>
          </a:p>
          <a:p>
            <a:pPr indent="0" marL="0">
              <a:buNone/>
            </a:pPr>
            <a:r>
              <a:rPr lang="en-US" sz="1200" i="1" dirty="0">
                <a:solidFill>
                  <a:srgbClr val="6B7A70"/>
                </a:solidFill>
              </a:rPr>
              <a:t>Ostrom: rule</a:t>
            </a:r>
            <a:endParaRPr lang="en-US" sz="1700" dirty="0"/>
          </a:p>
        </p:txBody>
      </p:sp>
      <p:sp>
        <p:nvSpPr>
          <p:cNvPr id="7" name="Text 4"/>
          <p:cNvSpPr/>
          <p:nvPr/>
        </p:nvSpPr>
        <p:spPr>
          <a:xfrm>
            <a:off x="548640" y="2971800"/>
            <a:ext cx="3291840" cy="1234440"/>
          </a:xfrm>
          <a:prstGeom prst="roundRect">
            <a:avLst>
              <a:gd name="adj" fmla="val 5926"/>
            </a:avLst>
          </a:prstGeom>
          <a:solidFill>
            <a:srgbClr val="C9822A"/>
          </a:solidFill>
          <a:ln/>
        </p:spPr>
        <p:txBody>
          <a:bodyPr wrap="square" lIns="50800" tIns="50800" rIns="50800" bIns="50800" rtlCol="0" anchor="ctr"/>
          <a:lstStyle/>
          <a:p>
            <a:pPr algn="ctr" indent="0" marL="0">
              <a:buNone/>
            </a:pPr>
            <a:r>
              <a:rPr lang="en-US" sz="2000" b="1" dirty="0">
                <a:solidFill>
                  <a:srgbClr val="FFFFFF"/>
                </a:solidFill>
              </a:rPr>
              <a:t>An expectation</a:t>
            </a:r>
            <a:endParaRPr lang="en-US" sz="2000" dirty="0"/>
          </a:p>
        </p:txBody>
      </p:sp>
      <p:sp>
        <p:nvSpPr>
          <p:cNvPr id="8" name="Text 5"/>
          <p:cNvSpPr txBox="1"/>
          <p:nvPr/>
        </p:nvSpPr>
        <p:spPr>
          <a:xfrm>
            <a:off x="4069080" y="3017520"/>
            <a:ext cx="7498080" cy="1188720"/>
          </a:xfrm>
          <a:prstGeom prst="rect">
            <a:avLst/>
          </a:prstGeom>
          <a:noFill/>
          <a:ln/>
        </p:spPr>
        <p:txBody>
          <a:bodyPr wrap="square" lIns="0" tIns="0" rIns="0" bIns="0" rtlCol="0" anchor="ctr"/>
          <a:lstStyle/>
          <a:p>
            <a:pPr indent="0" marL="0">
              <a:buNone/>
            </a:pPr>
            <a:r>
              <a:rPr lang="en-US" sz="1700" dirty="0">
                <a:solidFill>
                  <a:schemeClr val="tx1"/>
                </a:solidFill>
              </a:rPr>
              <a:t>Must or should, but no "or else".</a:t>
            </a:r>
            <a:endParaRPr lang="en-US" sz="1700" dirty="0"/>
          </a:p>
          <a:p>
            <a:pPr indent="0" marL="0">
              <a:buNone/>
            </a:pPr>
            <a:r>
              <a:rPr lang="en-US" sz="1600" i="1" dirty="0">
                <a:solidFill>
                  <a:srgbClr val="3E4A42"/>
                </a:solidFill>
              </a:rPr>
              <a:t>"Gardeners should keep paths clear."</a:t>
            </a:r>
            <a:endParaRPr lang="en-US" sz="1700" dirty="0"/>
          </a:p>
          <a:p>
            <a:pPr indent="0" marL="0">
              <a:buNone/>
            </a:pPr>
            <a:r>
              <a:rPr lang="en-US" sz="1200" i="1" dirty="0">
                <a:solidFill>
                  <a:srgbClr val="6B7A70"/>
                </a:solidFill>
              </a:rPr>
              <a:t>Ostrom: norm</a:t>
            </a:r>
            <a:endParaRPr lang="en-US" sz="1700" dirty="0"/>
          </a:p>
        </p:txBody>
      </p:sp>
      <p:sp>
        <p:nvSpPr>
          <p:cNvPr id="9" name="Text 6"/>
          <p:cNvSpPr/>
          <p:nvPr/>
        </p:nvSpPr>
        <p:spPr>
          <a:xfrm>
            <a:off x="548640" y="4434840"/>
            <a:ext cx="3291840" cy="1234440"/>
          </a:xfrm>
          <a:prstGeom prst="roundRect">
            <a:avLst>
              <a:gd name="adj" fmla="val 5926"/>
            </a:avLst>
          </a:prstGeom>
          <a:solidFill>
            <a:srgbClr val="6B5B95"/>
          </a:solidFill>
          <a:ln/>
        </p:spPr>
        <p:txBody>
          <a:bodyPr wrap="square" lIns="50800" tIns="50800" rIns="50800" bIns="50800" rtlCol="0" anchor="ctr"/>
          <a:lstStyle/>
          <a:p>
            <a:pPr algn="ctr" indent="0" marL="0">
              <a:buNone/>
            </a:pPr>
            <a:r>
              <a:rPr lang="en-US" sz="2000" b="1" dirty="0">
                <a:solidFill>
                  <a:srgbClr val="FFFFFF"/>
                </a:solidFill>
              </a:rPr>
              <a:t>A habit</a:t>
            </a:r>
            <a:endParaRPr lang="en-US" sz="2000" dirty="0"/>
          </a:p>
        </p:txBody>
      </p:sp>
      <p:sp>
        <p:nvSpPr>
          <p:cNvPr id="10" name="Text 7"/>
          <p:cNvSpPr txBox="1"/>
          <p:nvPr/>
        </p:nvSpPr>
        <p:spPr>
          <a:xfrm>
            <a:off x="4069080" y="4480560"/>
            <a:ext cx="7498080" cy="1188720"/>
          </a:xfrm>
          <a:prstGeom prst="rect">
            <a:avLst/>
          </a:prstGeom>
          <a:noFill/>
          <a:ln/>
        </p:spPr>
        <p:txBody>
          <a:bodyPr wrap="square" lIns="0" tIns="0" rIns="0" bIns="0" rtlCol="0" anchor="ctr"/>
          <a:lstStyle/>
          <a:p>
            <a:pPr indent="0" marL="0">
              <a:buNone/>
            </a:pPr>
            <a:r>
              <a:rPr lang="en-US" sz="1700" dirty="0">
                <a:solidFill>
                  <a:schemeClr val="tx1"/>
                </a:solidFill>
              </a:rPr>
              <a:t>No must, no 'or else'. Just what people do.</a:t>
            </a:r>
            <a:endParaRPr lang="en-US" sz="1700" dirty="0"/>
          </a:p>
          <a:p>
            <a:pPr indent="0" marL="0">
              <a:buNone/>
            </a:pPr>
            <a:r>
              <a:rPr lang="en-US" sz="1600" i="1" dirty="0">
                <a:solidFill>
                  <a:srgbClr val="3E4A42"/>
                </a:solidFill>
              </a:rPr>
              <a:t>"We water early in the morning."</a:t>
            </a:r>
            <a:endParaRPr lang="en-US" sz="1700" dirty="0"/>
          </a:p>
          <a:p>
            <a:pPr indent="0" marL="0">
              <a:buNone/>
            </a:pPr>
            <a:r>
              <a:rPr lang="en-US" sz="1200" i="1" dirty="0">
                <a:solidFill>
                  <a:srgbClr val="6B7A70"/>
                </a:solidFill>
              </a:rPr>
              <a:t>Ostrom: shared strategy</a:t>
            </a:r>
            <a:endParaRPr lang="en-US" sz="1700" dirty="0"/>
          </a:p>
        </p:txBody>
      </p:sp>
      <p:sp>
        <p:nvSpPr>
          <p:cNvPr id="11" name="Text 8"/>
          <p:cNvSpPr txBox="1"/>
          <p:nvPr/>
        </p:nvSpPr>
        <p:spPr>
          <a:xfrm>
            <a:off x="548640" y="5943600"/>
            <a:ext cx="11064240" cy="365760"/>
          </a:xfrm>
          <a:prstGeom prst="rect">
            <a:avLst/>
          </a:prstGeom>
          <a:noFill/>
          <a:ln/>
        </p:spPr>
        <p:txBody>
          <a:bodyPr wrap="square" lIns="0" tIns="0" rIns="0" bIns="0" rtlCol="0" anchor="t"/>
          <a:lstStyle/>
          <a:p>
            <a:pPr indent="0" marL="0">
              <a:spcAft>
                <a:spcPts val="600"/>
              </a:spcAft>
              <a:buNone/>
            </a:pPr>
            <a:r>
              <a:rPr lang="en-US" sz="1500" i="1" dirty="0">
                <a:solidFill>
                  <a:schemeClr val="accent1"/>
                </a:solidFill>
              </a:rPr>
              <a:t>Habits are as close as writing gets to "what we all take for granted" from step 4.</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8 · HOW A RULE IS PUT TOGETHER</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What reading a rule this closely turns up</a:t>
            </a:r>
            <a:endParaRPr lang="en-US" sz="3200" dirty="0"/>
          </a:p>
        </p:txBody>
      </p:sp>
      <p:sp>
        <p:nvSpPr>
          <p:cNvPr id="5" name="card Things nobody created"/>
          <p:cNvSpPr/>
          <p:nvPr/>
        </p:nvSpPr>
        <p:spPr>
          <a:xfrm>
            <a:off x="548640" y="1508760"/>
            <a:ext cx="3566160" cy="3566160"/>
          </a:xfrm>
          <a:prstGeom prst="roundRect">
            <a:avLst>
              <a:gd name="adj" fmla="val 2051"/>
            </a:avLst>
          </a:prstGeom>
          <a:solidFill>
            <a:schemeClr val="bg2"/>
          </a:solidFill>
          <a:ln w="12700">
            <a:solidFill>
              <a:schemeClr val="bg2"/>
            </a:solidFill>
            <a:prstDash val="solid"/>
          </a:ln>
        </p:spPr>
      </p:sp>
      <p:sp>
        <p:nvSpPr>
          <p:cNvPr id="6" name="Text 3"/>
          <p:cNvSpPr txBox="1"/>
          <p:nvPr/>
        </p:nvSpPr>
        <p:spPr>
          <a:xfrm>
            <a:off x="685800" y="1600200"/>
            <a:ext cx="3291840" cy="33832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Things nobody created</a:t>
            </a:r>
            <a:endParaRPr lang="en-US" sz="1800" dirty="0"/>
          </a:p>
          <a:p>
            <a:pPr indent="0" marL="0">
              <a:spcAft>
                <a:spcPts val="400"/>
              </a:spcAft>
              <a:buNone/>
            </a:pPr>
            <a:r>
              <a:rPr lang="en-US" sz="1600" dirty="0">
                <a:solidFill>
                  <a:schemeClr val="tx1"/>
                </a:solidFill>
              </a:rPr>
              <a:t>A rule about "gardeners", but nothing says who counts as a gardener. A rule about "the tank", but nothing says which tank.</a:t>
            </a:r>
            <a:endParaRPr lang="en-US" sz="1800" dirty="0"/>
          </a:p>
        </p:txBody>
      </p:sp>
      <p:sp>
        <p:nvSpPr>
          <p:cNvPr id="7" name="Text 4"/>
          <p:cNvSpPr txBox="1"/>
          <p:nvPr/>
        </p:nvSpPr>
        <p:spPr>
          <a:xfrm>
            <a:off x="548640" y="5212080"/>
            <a:ext cx="3566160" cy="548640"/>
          </a:xfrm>
          <a:prstGeom prst="rect">
            <a:avLst/>
          </a:prstGeom>
          <a:noFill/>
          <a:ln/>
        </p:spPr>
        <p:txBody>
          <a:bodyPr wrap="square" lIns="0" tIns="0" rIns="0" bIns="0" rtlCol="0" anchor="ctr"/>
          <a:lstStyle/>
          <a:p>
            <a:pPr indent="0" marL="0">
              <a:buNone/>
            </a:pPr>
            <a:r>
              <a:rPr lang="en-US" sz="1400" b="1" dirty="0">
                <a:solidFill>
                  <a:schemeClr val="accent2"/>
                </a:solidFill>
              </a:rPr>
              <a:t>1: we know who's in, and what's ours</a:t>
            </a:r>
            <a:endParaRPr lang="en-US" sz="1400" dirty="0"/>
          </a:p>
        </p:txBody>
      </p:sp>
      <p:sp>
        <p:nvSpPr>
          <p:cNvPr id="8" name="card Penalties nobody carries out"/>
          <p:cNvSpPr/>
          <p:nvPr/>
        </p:nvSpPr>
        <p:spPr>
          <a:xfrm>
            <a:off x="4297680" y="1508760"/>
            <a:ext cx="3566160" cy="3566160"/>
          </a:xfrm>
          <a:prstGeom prst="roundRect">
            <a:avLst>
              <a:gd name="adj" fmla="val 2051"/>
            </a:avLst>
          </a:prstGeom>
          <a:solidFill>
            <a:schemeClr val="bg2"/>
          </a:solidFill>
          <a:ln w="12700">
            <a:solidFill>
              <a:schemeClr val="bg2"/>
            </a:solidFill>
            <a:prstDash val="solid"/>
          </a:ln>
        </p:spPr>
      </p:sp>
      <p:sp>
        <p:nvSpPr>
          <p:cNvPr id="9" name="Text 6"/>
          <p:cNvSpPr txBox="1"/>
          <p:nvPr/>
        </p:nvSpPr>
        <p:spPr>
          <a:xfrm>
            <a:off x="4434840" y="1600200"/>
            <a:ext cx="3291840" cy="33832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Penalties nobody carries out</a:t>
            </a:r>
            <a:endParaRPr lang="en-US" sz="1800" dirty="0"/>
          </a:p>
          <a:p>
            <a:pPr indent="0" marL="0">
              <a:spcAft>
                <a:spcPts val="400"/>
              </a:spcAft>
              <a:buNone/>
            </a:pPr>
            <a:r>
              <a:rPr lang="en-US" sz="1600" dirty="0">
                <a:solidFill>
                  <a:schemeClr val="tx1"/>
                </a:solidFill>
              </a:rPr>
              <a:t>Follow the "or else": who applies it? What makes that their job? Who do they answer to?</a:t>
            </a:r>
            <a:endParaRPr lang="en-US" sz="1800" dirty="0"/>
          </a:p>
        </p:txBody>
      </p:sp>
      <p:sp>
        <p:nvSpPr>
          <p:cNvPr id="10" name="Text 7"/>
          <p:cNvSpPr txBox="1"/>
          <p:nvPr/>
        </p:nvSpPr>
        <p:spPr>
          <a:xfrm>
            <a:off x="4297680" y="5212080"/>
            <a:ext cx="3566160" cy="548640"/>
          </a:xfrm>
          <a:prstGeom prst="rect">
            <a:avLst/>
          </a:prstGeom>
          <a:noFill/>
          <a:ln/>
        </p:spPr>
        <p:txBody>
          <a:bodyPr wrap="square" lIns="0" tIns="0" rIns="0" bIns="0" rtlCol="0" anchor="ctr"/>
          <a:lstStyle/>
          <a:p>
            <a:pPr indent="0" marL="0">
              <a:buNone/>
            </a:pPr>
            <a:r>
              <a:rPr lang="en-US" sz="1400" b="1" dirty="0">
                <a:solidFill>
                  <a:schemeClr val="accent2"/>
                </a:solidFill>
              </a:rPr>
              <a:t>4 and 5: keeping an eye out; a word first</a:t>
            </a:r>
            <a:endParaRPr lang="en-US" sz="1400" dirty="0"/>
          </a:p>
        </p:txBody>
      </p:sp>
      <p:sp>
        <p:nvSpPr>
          <p:cNvPr id="11" name="card Triggers nobody checks"/>
          <p:cNvSpPr/>
          <p:nvPr/>
        </p:nvSpPr>
        <p:spPr>
          <a:xfrm>
            <a:off x="8046720" y="1508760"/>
            <a:ext cx="3566160" cy="3566160"/>
          </a:xfrm>
          <a:prstGeom prst="roundRect">
            <a:avLst>
              <a:gd name="adj" fmla="val 2051"/>
            </a:avLst>
          </a:prstGeom>
          <a:solidFill>
            <a:schemeClr val="bg2"/>
          </a:solidFill>
          <a:ln w="12700">
            <a:solidFill>
              <a:schemeClr val="bg2"/>
            </a:solidFill>
            <a:prstDash val="solid"/>
          </a:ln>
        </p:spPr>
      </p:sp>
      <p:sp>
        <p:nvSpPr>
          <p:cNvPr id="12" name="Text 9"/>
          <p:cNvSpPr txBox="1"/>
          <p:nvPr/>
        </p:nvSpPr>
        <p:spPr>
          <a:xfrm>
            <a:off x="8183880" y="1600200"/>
            <a:ext cx="3291840" cy="33832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Triggers nobody checks</a:t>
            </a:r>
            <a:endParaRPr lang="en-US" sz="1800" dirty="0"/>
          </a:p>
          <a:p>
            <a:pPr indent="0" marL="0">
              <a:spcAft>
                <a:spcPts val="400"/>
              </a:spcAft>
              <a:buNone/>
            </a:pPr>
            <a:r>
              <a:rPr lang="en-US" sz="1600" dirty="0">
                <a:solidFill>
                  <a:schemeClr val="tx1"/>
                </a:solidFill>
              </a:rPr>
              <a:t>"When the tank is below half" assumes someone reads the tank. If nothing makes it anyone's job, the rule never kicks in.</a:t>
            </a:r>
            <a:endParaRPr lang="en-US" sz="1800" dirty="0"/>
          </a:p>
        </p:txBody>
      </p:sp>
      <p:sp>
        <p:nvSpPr>
          <p:cNvPr id="13" name="Text 10"/>
          <p:cNvSpPr txBox="1"/>
          <p:nvPr/>
        </p:nvSpPr>
        <p:spPr>
          <a:xfrm>
            <a:off x="8046720" y="5212080"/>
            <a:ext cx="3566160" cy="548640"/>
          </a:xfrm>
          <a:prstGeom prst="rect">
            <a:avLst/>
          </a:prstGeom>
          <a:noFill/>
          <a:ln/>
        </p:spPr>
        <p:txBody>
          <a:bodyPr wrap="square" lIns="0" tIns="0" rIns="0" bIns="0" rtlCol="0" anchor="ctr"/>
          <a:lstStyle/>
          <a:p>
            <a:pPr indent="0" marL="0">
              <a:buNone/>
            </a:pPr>
            <a:r>
              <a:rPr lang="en-US" sz="1400" b="1" dirty="0">
                <a:solidFill>
                  <a:schemeClr val="accent2"/>
                </a:solidFill>
              </a:rPr>
              <a:t>4: keeping an eye on the thing itself</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Do I do my share?</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The last step: one person, one moment. I pitch in if I trust the others will too.</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1   The people and the place</a:t>
            </a:r>
            <a:endParaRPr lang="en-US" sz="1500" dirty="0"/>
          </a:p>
        </p:txBody>
      </p:sp>
      <p:sp>
        <p:nvSpPr>
          <p:cNvPr id="6" name="rung 2"/>
          <p:cNvSpPr/>
          <p:nvPr/>
        </p:nvSpPr>
        <p:spPr>
          <a:xfrm>
            <a:off x="7333488" y="1444752"/>
            <a:ext cx="418795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2   What we're sharing</a:t>
            </a:r>
            <a:endParaRPr lang="en-US" sz="1500" dirty="0"/>
          </a:p>
        </p:txBody>
      </p:sp>
      <p:sp>
        <p:nvSpPr>
          <p:cNvPr id="7" name="rung 3"/>
          <p:cNvSpPr/>
          <p:nvPr/>
        </p:nvSpPr>
        <p:spPr>
          <a:xfrm>
            <a:off x="7443216" y="1975104"/>
            <a:ext cx="407822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3   Where we meet and choose</a:t>
            </a:r>
            <a:endParaRPr lang="en-US" sz="1500" dirty="0"/>
          </a:p>
        </p:txBody>
      </p:sp>
      <p:sp>
        <p:nvSpPr>
          <p:cNvPr id="8" name="rung 4"/>
          <p:cNvSpPr/>
          <p:nvPr/>
        </p:nvSpPr>
        <p:spPr>
          <a:xfrm>
            <a:off x="7552944" y="2505456"/>
            <a:ext cx="396849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4   Who sets the rules</a:t>
            </a:r>
            <a:endParaRPr lang="en-US" sz="1500" dirty="0"/>
          </a:p>
        </p:txBody>
      </p:sp>
      <p:sp>
        <p:nvSpPr>
          <p:cNvPr id="9" name="rung 5"/>
          <p:cNvSpPr/>
          <p:nvPr/>
        </p:nvSpPr>
        <p:spPr>
          <a:xfrm>
            <a:off x="7662672" y="3035808"/>
            <a:ext cx="3858768"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5   What's going on when we meet</a:t>
            </a:r>
            <a:endParaRPr lang="en-US" sz="1500" dirty="0"/>
          </a:p>
        </p:txBody>
      </p:sp>
      <p:sp>
        <p:nvSpPr>
          <p:cNvPr id="10" name="rung 6"/>
          <p:cNvSpPr/>
          <p:nvPr/>
        </p:nvSpPr>
        <p:spPr>
          <a:xfrm>
            <a:off x="7772400" y="3566160"/>
            <a:ext cx="374904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6   The house rules</a:t>
            </a:r>
            <a:endParaRPr lang="en-US" sz="1500" dirty="0"/>
          </a:p>
        </p:txBody>
      </p:sp>
      <p:sp>
        <p:nvSpPr>
          <p:cNvPr id="11" name="rung 7"/>
          <p:cNvSpPr/>
          <p:nvPr/>
        </p:nvSpPr>
        <p:spPr>
          <a:xfrm>
            <a:off x="7882128" y="4096512"/>
            <a:ext cx="363931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7   What long-lasting groups do</a:t>
            </a:r>
            <a:endParaRPr lang="en-US" sz="1500" dirty="0"/>
          </a:p>
        </p:txBody>
      </p:sp>
      <p:sp>
        <p:nvSpPr>
          <p:cNvPr id="12" name="rung 8"/>
          <p:cNvSpPr/>
          <p:nvPr/>
        </p:nvSpPr>
        <p:spPr>
          <a:xfrm>
            <a:off x="7991856" y="4626864"/>
            <a:ext cx="352958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8   How a rule is put together</a:t>
            </a:r>
            <a:endParaRPr lang="en-US" sz="1500" dirty="0"/>
          </a:p>
        </p:txBody>
      </p:sp>
      <p:sp>
        <p:nvSpPr>
          <p:cNvPr id="13" name="rung 9"/>
          <p:cNvSpPr/>
          <p:nvPr/>
        </p:nvSpPr>
        <p:spPr>
          <a:xfrm>
            <a:off x="8101584" y="5157216"/>
            <a:ext cx="3419856"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9   Do I do my share?</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9 · DO I DO MY SHARE? · YOU ALREADY KNOW THIS</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Think of a group project, or the office coffee fund</a:t>
            </a:r>
            <a:endParaRPr lang="en-US" sz="3200" dirty="0"/>
          </a:p>
        </p:txBody>
      </p:sp>
      <p:sp>
        <p:nvSpPr>
          <p:cNvPr id="5" name="card The coffee fund"/>
          <p:cNvSpPr/>
          <p:nvPr/>
        </p:nvSpPr>
        <p:spPr>
          <a:xfrm>
            <a:off x="548640" y="1463040"/>
            <a:ext cx="5120640" cy="4754880"/>
          </a:xfrm>
          <a:prstGeom prst="roundRect">
            <a:avLst>
              <a:gd name="adj" fmla="val 1538"/>
            </a:avLst>
          </a:prstGeom>
          <a:solidFill>
            <a:srgbClr val="FBF3E6"/>
          </a:solidFill>
          <a:ln w="12700">
            <a:solidFill>
              <a:srgbClr val="FBF3E6"/>
            </a:solidFill>
            <a:prstDash val="solid"/>
          </a:ln>
        </p:spPr>
      </p:sp>
      <p:sp>
        <p:nvSpPr>
          <p:cNvPr id="6" name="Text 3"/>
          <p:cNvSpPr txBox="1"/>
          <p:nvPr/>
        </p:nvSpPr>
        <p:spPr>
          <a:xfrm>
            <a:off x="685800" y="1554480"/>
            <a:ext cx="4846320" cy="457200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The coffee fund</a:t>
            </a:r>
            <a:endParaRPr lang="en-US" sz="2000" dirty="0"/>
          </a:p>
          <a:p>
            <a:pPr indent="0" marL="0">
              <a:spcAft>
                <a:spcPts val="400"/>
              </a:spcAft>
              <a:buNone/>
            </a:pPr>
            <a:r>
              <a:rPr lang="en-US" sz="1700" dirty="0">
                <a:solidFill>
                  <a:schemeClr val="tx1"/>
                </a:solidFill>
              </a:rPr>
              <a:t>You put in your dollar if you think the others do. Once you notice people drinking without paying, you stop paying too. When everyone can see the jar and knows who paid, it keeps going for years.</a:t>
            </a:r>
            <a:endParaRPr lang="en-US" sz="2000" dirty="0"/>
          </a:p>
        </p:txBody>
      </p:sp>
      <p:sp>
        <p:nvSpPr>
          <p:cNvPr id="7" name="Text 4"/>
          <p:cNvSpPr/>
          <p:nvPr/>
        </p:nvSpPr>
        <p:spPr>
          <a:xfrm>
            <a:off x="5989320" y="146304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Text 5"/>
          <p:cNvSpPr txBox="1"/>
          <p:nvPr/>
        </p:nvSpPr>
        <p:spPr>
          <a:xfrm>
            <a:off x="6629400" y="1481328"/>
            <a:ext cx="4983480" cy="109728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People will pitch in, but not to be the only one.</a:t>
            </a:r>
            <a:endParaRPr lang="en-US" sz="1700" dirty="0"/>
          </a:p>
        </p:txBody>
      </p:sp>
      <p:sp>
        <p:nvSpPr>
          <p:cNvPr id="9" name="Text 6"/>
          <p:cNvSpPr/>
          <p:nvPr/>
        </p:nvSpPr>
        <p:spPr>
          <a:xfrm>
            <a:off x="5989320" y="265176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7"/>
          <p:cNvSpPr txBox="1"/>
          <p:nvPr/>
        </p:nvSpPr>
        <p:spPr>
          <a:xfrm>
            <a:off x="6629400" y="2670048"/>
            <a:ext cx="4983480" cy="109728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Whether I pitch in depends on whether I trust you will.</a:t>
            </a:r>
            <a:endParaRPr lang="en-US" sz="1700" dirty="0"/>
          </a:p>
        </p:txBody>
      </p:sp>
      <p:sp>
        <p:nvSpPr>
          <p:cNvPr id="11" name="Text 8"/>
          <p:cNvSpPr/>
          <p:nvPr/>
        </p:nvSpPr>
        <p:spPr>
          <a:xfrm>
            <a:off x="5989320" y="384048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9"/>
          <p:cNvSpPr txBox="1"/>
          <p:nvPr/>
        </p:nvSpPr>
        <p:spPr>
          <a:xfrm>
            <a:off x="6629400" y="3858768"/>
            <a:ext cx="4983480" cy="109728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Trust grows from what we can see of each other.</a:t>
            </a:r>
            <a:endParaRPr lang="en-US" sz="1700" dirty="0"/>
          </a:p>
        </p:txBody>
      </p:sp>
      <p:sp>
        <p:nvSpPr>
          <p:cNvPr id="13" name="Text 10"/>
          <p:cNvSpPr/>
          <p:nvPr/>
        </p:nvSpPr>
        <p:spPr>
          <a:xfrm>
            <a:off x="5989320" y="502920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4" name="Text 11"/>
          <p:cNvSpPr txBox="1"/>
          <p:nvPr/>
        </p:nvSpPr>
        <p:spPr>
          <a:xfrm>
            <a:off x="6629400" y="5047488"/>
            <a:ext cx="4983480" cy="109728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Good results build trust; bad ones wear it down.</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9 · DO I DO MY SHARE?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I do my share when I trust you will too</a:t>
            </a:r>
            <a:endParaRPr lang="en-US" sz="3200" dirty="0"/>
          </a:p>
        </p:txBody>
      </p:sp>
      <p:pic>
        <p:nvPicPr>
          <p:cNvPr id="5" name="Image 0" descr="I do my share when I trust you will too">    </p:cNvPr>
          <p:cNvPicPr>
            <a:picLocks noChangeAspect="1"/>
          </p:cNvPicPr>
          <p:nvPr/>
        </p:nvPicPr>
        <p:blipFill>
          <a:blip r:embed="rId1"/>
          <a:stretch>
            <a:fillRect/>
          </a:stretch>
        </p:blipFill>
        <p:spPr>
          <a:xfrm>
            <a:off x="457200" y="1925301"/>
            <a:ext cx="7589520" cy="3693197"/>
          </a:xfrm>
          <a:prstGeom prst="rect">
            <a:avLst/>
          </a:prstGeom>
        </p:spPr>
      </p:pic>
      <p:sp>
        <p:nvSpPr>
          <p:cNvPr id="6" name="Text 2"/>
          <p:cNvSpPr txBox="1"/>
          <p:nvPr/>
        </p:nvSpPr>
        <p:spPr>
          <a:xfrm>
            <a:off x="457200" y="5664219"/>
            <a:ext cx="7589520" cy="274320"/>
          </a:xfrm>
          <a:prstGeom prst="rect">
            <a:avLst/>
          </a:prstGeom>
          <a:noFill/>
          <a:ln/>
        </p:spPr>
        <p:txBody>
          <a:bodyPr wrap="square" lIns="0" tIns="0" rIns="0" bIns="0" rtlCol="0" anchor="ctr"/>
          <a:lstStyle/>
          <a:p>
            <a:pPr indent="0" marL="0">
              <a:buNone/>
            </a:pPr>
            <a:r>
              <a:rPr lang="en-US" sz="1000" i="1" dirty="0">
                <a:solidFill>
                  <a:srgbClr val="5B6B60"/>
                </a:solidFill>
              </a:rPr>
              <a:t>Ostrom 2010, Figure 5, from Poteete, Janssen and Ostrom 2010</a:t>
            </a:r>
            <a:endParaRPr lang="en-US" sz="1000" dirty="0"/>
          </a:p>
        </p:txBody>
      </p:sp>
      <p:sp>
        <p:nvSpPr>
          <p:cNvPr id="7" name="reading panel"/>
          <p:cNvSpPr/>
          <p:nvPr/>
        </p:nvSpPr>
        <p:spPr>
          <a:xfrm>
            <a:off x="8321040" y="1417320"/>
            <a:ext cx="3429000" cy="4846320"/>
          </a:xfrm>
          <a:prstGeom prst="roundRect">
            <a:avLst>
              <a:gd name="adj" fmla="val 2133"/>
            </a:avLst>
          </a:prstGeom>
          <a:solidFill>
            <a:schemeClr val="bg2"/>
          </a:solidFill>
          <a:ln w="12700">
            <a:solidFill>
              <a:schemeClr val="bg2"/>
            </a:solidFill>
            <a:prstDash val="solid"/>
          </a:ln>
        </p:spPr>
      </p:sp>
      <p:sp>
        <p:nvSpPr>
          <p:cNvPr id="8" name="Text 4"/>
          <p:cNvSpPr txBox="1"/>
          <p:nvPr/>
        </p:nvSpPr>
        <p:spPr>
          <a:xfrm>
            <a:off x="8503920" y="1554480"/>
            <a:ext cx="31089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READING THE PICTURE</a:t>
            </a:r>
            <a:endParaRPr lang="en-US" sz="1200" dirty="0"/>
          </a:p>
        </p:txBody>
      </p:sp>
      <p:sp>
        <p:nvSpPr>
          <p:cNvPr id="9" name="Text 5"/>
          <p:cNvSpPr txBox="1"/>
          <p:nvPr/>
        </p:nvSpPr>
        <p:spPr>
          <a:xfrm>
            <a:off x="8503920" y="1920240"/>
            <a:ext cx="3108960" cy="4251960"/>
          </a:xfrm>
          <a:prstGeom prst="rect">
            <a:avLst/>
          </a:prstGeom>
          <a:noFill/>
          <a:ln/>
        </p:spPr>
        <p:txBody>
          <a:bodyPr wrap="square" lIns="0" tIns="0" rIns="0" bIns="0" rtlCol="0" anchor="t"/>
          <a:lstStyle/>
          <a:p>
            <a:pPr marL="190500" indent="-190500">
              <a:spcAft>
                <a:spcPts val="800"/>
              </a:spcAft>
              <a:buSzPct val="100000"/>
              <a:buChar char="•"/>
            </a:pPr>
            <a:r>
              <a:rPr lang="en-US" sz="1400" dirty="0">
                <a:solidFill>
                  <a:schemeClr val="tx1"/>
                </a:solidFill>
              </a:rPr>
              <a:t>Left: the wider setting and the small details of the moment.</a:t>
            </a:r>
            <a:endParaRPr lang="en-US" sz="1400" dirty="0"/>
          </a:p>
          <a:p>
            <a:pPr marL="190500" indent="-190500">
              <a:spcAft>
                <a:spcPts val="800"/>
              </a:spcAft>
              <a:buSzPct val="100000"/>
              <a:buChar char="•"/>
            </a:pPr>
            <a:r>
              <a:rPr lang="en-US" sz="1400" dirty="0">
                <a:solidFill>
                  <a:schemeClr val="tx1"/>
                </a:solidFill>
              </a:rPr>
              <a:t>They shape what people learn about each other.</a:t>
            </a:r>
            <a:endParaRPr lang="en-US" sz="1400" dirty="0"/>
          </a:p>
          <a:p>
            <a:pPr marL="190500" indent="-190500">
              <a:spcAft>
                <a:spcPts val="800"/>
              </a:spcAft>
              <a:buSzPct val="100000"/>
              <a:buChar char="•"/>
            </a:pPr>
            <a:r>
              <a:rPr lang="en-US" sz="1400" dirty="0">
                <a:solidFill>
                  <a:schemeClr val="tx1"/>
                </a:solidFill>
              </a:rPr>
              <a:t>That builds trust (or wears it down) that others will do their share.</a:t>
            </a:r>
            <a:endParaRPr lang="en-US" sz="1400" dirty="0"/>
          </a:p>
          <a:p>
            <a:pPr marL="190500" indent="-190500">
              <a:spcAft>
                <a:spcPts val="800"/>
              </a:spcAft>
              <a:buSzPct val="100000"/>
              <a:buChar char="•"/>
            </a:pPr>
            <a:r>
              <a:rPr lang="en-US" sz="1400" dirty="0">
                <a:solidFill>
                  <a:schemeClr val="tx1"/>
                </a:solidFill>
              </a:rPr>
              <a:t>Trust means pitching in; pitching in pays off for everyone.</a:t>
            </a:r>
            <a:endParaRPr lang="en-US" sz="1400" dirty="0"/>
          </a:p>
          <a:p>
            <a:pPr marL="190500" indent="-190500">
              <a:spcAft>
                <a:spcPts val="800"/>
              </a:spcAft>
              <a:buSzPct val="100000"/>
              <a:buChar char="•"/>
            </a:pPr>
            <a:r>
              <a:rPr lang="en-US" sz="1400" dirty="0">
                <a:solidFill>
                  <a:schemeClr val="tx1"/>
                </a:solidFill>
              </a:rPr>
              <a:t>Dashed loop: good results teach trust, bad results teach distrust.</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9 · DO I DO MY SHARE?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Reading the picture, in everyday words</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Each card: the everyday words first, what they mean, and the word Ostrom used.</a:t>
            </a:r>
            <a:endParaRPr lang="en-US" sz="1500" dirty="0"/>
          </a:p>
        </p:txBody>
      </p:sp>
      <p:sp>
        <p:nvSpPr>
          <p:cNvPr id="6" name="card When what's good for me is bad for us"/>
          <p:cNvSpPr/>
          <p:nvPr/>
        </p:nvSpPr>
        <p:spPr>
          <a:xfrm>
            <a:off x="548640" y="1828800"/>
            <a:ext cx="5477256" cy="1026414"/>
          </a:xfrm>
          <a:prstGeom prst="roundRect">
            <a:avLst>
              <a:gd name="adj" fmla="val 7127"/>
            </a:avLst>
          </a:prstGeom>
          <a:solidFill>
            <a:schemeClr val="bg2"/>
          </a:solidFill>
          <a:ln w="12700">
            <a:solidFill>
              <a:schemeClr val="bg2"/>
            </a:solidFill>
            <a:prstDash val="solid"/>
          </a:ln>
        </p:spPr>
      </p:sp>
      <p:sp>
        <p:nvSpPr>
          <p:cNvPr id="7" name="Text 4"/>
          <p:cNvSpPr txBox="1"/>
          <p:nvPr/>
        </p:nvSpPr>
        <p:spPr>
          <a:xfrm>
            <a:off x="685800"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When what's good for me is bad for us</a:t>
            </a:r>
            <a:endParaRPr lang="en-US" sz="1500" dirty="0"/>
          </a:p>
          <a:p>
            <a:pPr indent="0" marL="0">
              <a:spcAft>
                <a:spcPts val="400"/>
              </a:spcAft>
              <a:buNone/>
            </a:pPr>
            <a:r>
              <a:rPr lang="en-US" sz="1400" dirty="0">
                <a:solidFill>
                  <a:schemeClr val="tx1"/>
                </a:solidFill>
              </a:rPr>
              <a:t>Watering extra in a drought: fine for my tomatoes, bad for the garden.</a:t>
            </a:r>
            <a:endParaRPr lang="en-US" sz="1500" dirty="0"/>
          </a:p>
          <a:p>
            <a:pPr indent="0" marL="0">
              <a:spcAft>
                <a:spcPts val="400"/>
              </a:spcAft>
              <a:buNone/>
            </a:pPr>
            <a:r>
              <a:rPr lang="en-US" sz="1200" i="1" dirty="0">
                <a:solidFill>
                  <a:srgbClr val="6B7A70"/>
                </a:solidFill>
              </a:rPr>
              <a:t>Ostrom's word: social dilemma</a:t>
            </a:r>
            <a:endParaRPr lang="en-US" sz="1500" dirty="0"/>
          </a:p>
        </p:txBody>
      </p:sp>
      <p:sp>
        <p:nvSpPr>
          <p:cNvPr id="8" name="card The big picture"/>
          <p:cNvSpPr/>
          <p:nvPr/>
        </p:nvSpPr>
        <p:spPr>
          <a:xfrm>
            <a:off x="548640" y="2964942"/>
            <a:ext cx="5477256" cy="1026414"/>
          </a:xfrm>
          <a:prstGeom prst="roundRect">
            <a:avLst>
              <a:gd name="adj" fmla="val 7127"/>
            </a:avLst>
          </a:prstGeom>
          <a:solidFill>
            <a:schemeClr val="bg2"/>
          </a:solidFill>
          <a:ln w="12700">
            <a:solidFill>
              <a:schemeClr val="bg2"/>
            </a:solidFill>
            <a:prstDash val="solid"/>
          </a:ln>
        </p:spPr>
      </p:sp>
      <p:sp>
        <p:nvSpPr>
          <p:cNvPr id="9" name="Text 6"/>
          <p:cNvSpPr txBox="1"/>
          <p:nvPr/>
        </p:nvSpPr>
        <p:spPr>
          <a:xfrm>
            <a:off x="685800"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big picture</a:t>
            </a:r>
            <a:endParaRPr lang="en-US" sz="1500" dirty="0"/>
          </a:p>
          <a:p>
            <a:pPr indent="0" marL="0">
              <a:spcAft>
                <a:spcPts val="400"/>
              </a:spcAft>
              <a:buNone/>
            </a:pPr>
            <a:r>
              <a:rPr lang="en-US" sz="1400" dirty="0">
                <a:solidFill>
                  <a:schemeClr val="tx1"/>
                </a:solidFill>
              </a:rPr>
              <a:t>Step 1: the shared thing, the people, the rules, the wider world.</a:t>
            </a:r>
            <a:endParaRPr lang="en-US" sz="1500" dirty="0"/>
          </a:p>
          <a:p>
            <a:pPr indent="0" marL="0">
              <a:spcAft>
                <a:spcPts val="400"/>
              </a:spcAft>
              <a:buNone/>
            </a:pPr>
            <a:r>
              <a:rPr lang="en-US" sz="1200" i="1" dirty="0">
                <a:solidFill>
                  <a:srgbClr val="6B7A70"/>
                </a:solidFill>
              </a:rPr>
              <a:t>Ostrom's word: broader contextual variables</a:t>
            </a:r>
            <a:endParaRPr lang="en-US" sz="1500" dirty="0"/>
          </a:p>
        </p:txBody>
      </p:sp>
      <p:sp>
        <p:nvSpPr>
          <p:cNvPr id="10" name="card The small details of the moment"/>
          <p:cNvSpPr/>
          <p:nvPr/>
        </p:nvSpPr>
        <p:spPr>
          <a:xfrm>
            <a:off x="548640" y="4101084"/>
            <a:ext cx="5477256" cy="1026414"/>
          </a:xfrm>
          <a:prstGeom prst="roundRect">
            <a:avLst>
              <a:gd name="adj" fmla="val 7127"/>
            </a:avLst>
          </a:prstGeom>
          <a:solidFill>
            <a:schemeClr val="bg2"/>
          </a:solidFill>
          <a:ln w="12700">
            <a:solidFill>
              <a:schemeClr val="bg2"/>
            </a:solidFill>
            <a:prstDash val="solid"/>
          </a:ln>
        </p:spPr>
      </p:sp>
      <p:sp>
        <p:nvSpPr>
          <p:cNvPr id="11" name="Text 8"/>
          <p:cNvSpPr txBox="1"/>
          <p:nvPr/>
        </p:nvSpPr>
        <p:spPr>
          <a:xfrm>
            <a:off x="685800"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small details of the moment</a:t>
            </a:r>
            <a:endParaRPr lang="en-US" sz="1500" dirty="0"/>
          </a:p>
          <a:p>
            <a:pPr indent="0" marL="0">
              <a:spcAft>
                <a:spcPts val="400"/>
              </a:spcAft>
              <a:buNone/>
            </a:pPr>
            <a:r>
              <a:rPr lang="en-US" sz="1400" dirty="0">
                <a:solidFill>
                  <a:schemeClr val="tx1"/>
                </a:solidFill>
              </a:rPr>
              <a:t>Can we talk? Do we know who did what? Next slide.</a:t>
            </a:r>
            <a:endParaRPr lang="en-US" sz="1500" dirty="0"/>
          </a:p>
          <a:p>
            <a:pPr indent="0" marL="0">
              <a:spcAft>
                <a:spcPts val="400"/>
              </a:spcAft>
              <a:buNone/>
            </a:pPr>
            <a:r>
              <a:rPr lang="en-US" sz="1200" i="1" dirty="0">
                <a:solidFill>
                  <a:srgbClr val="6B7A70"/>
                </a:solidFill>
              </a:rPr>
              <a:t>Ostrom's word: microsituational variables</a:t>
            </a:r>
            <a:endParaRPr lang="en-US" sz="1500" dirty="0"/>
          </a:p>
        </p:txBody>
      </p:sp>
      <p:sp>
        <p:nvSpPr>
          <p:cNvPr id="12" name="card People who learn and pick up habits"/>
          <p:cNvSpPr/>
          <p:nvPr/>
        </p:nvSpPr>
        <p:spPr>
          <a:xfrm>
            <a:off x="548640" y="5237226"/>
            <a:ext cx="5477256" cy="1026414"/>
          </a:xfrm>
          <a:prstGeom prst="roundRect">
            <a:avLst>
              <a:gd name="adj" fmla="val 7127"/>
            </a:avLst>
          </a:prstGeom>
          <a:solidFill>
            <a:schemeClr val="bg2"/>
          </a:solidFill>
          <a:ln w="12700">
            <a:solidFill>
              <a:schemeClr val="bg2"/>
            </a:solidFill>
            <a:prstDash val="solid"/>
          </a:ln>
        </p:spPr>
      </p:sp>
      <p:sp>
        <p:nvSpPr>
          <p:cNvPr id="13" name="Text 10"/>
          <p:cNvSpPr txBox="1"/>
          <p:nvPr/>
        </p:nvSpPr>
        <p:spPr>
          <a:xfrm>
            <a:off x="685800"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People who learn and pick up habits</a:t>
            </a:r>
            <a:endParaRPr lang="en-US" sz="1500" dirty="0"/>
          </a:p>
          <a:p>
            <a:pPr indent="0" marL="0">
              <a:spcAft>
                <a:spcPts val="400"/>
              </a:spcAft>
              <a:buNone/>
            </a:pPr>
            <a:r>
              <a:rPr lang="en-US" sz="1400" dirty="0">
                <a:solidFill>
                  <a:schemeClr val="tx1"/>
                </a:solidFill>
              </a:rPr>
              <a:t>Not pure calculators. We learn from what happens and take on shared expectations.</a:t>
            </a:r>
            <a:endParaRPr lang="en-US" sz="1500" dirty="0"/>
          </a:p>
          <a:p>
            <a:pPr indent="0" marL="0">
              <a:spcAft>
                <a:spcPts val="400"/>
              </a:spcAft>
              <a:buNone/>
            </a:pPr>
            <a:r>
              <a:rPr lang="en-US" sz="1200" i="1" dirty="0">
                <a:solidFill>
                  <a:srgbClr val="6B7A70"/>
                </a:solidFill>
              </a:rPr>
              <a:t>Ostrom's word: learning and norm-adopting individuals</a:t>
            </a:r>
            <a:endParaRPr lang="en-US" sz="1500" dirty="0"/>
          </a:p>
        </p:txBody>
      </p:sp>
      <p:sp>
        <p:nvSpPr>
          <p:cNvPr id="14" name="card Someone who does their share"/>
          <p:cNvSpPr/>
          <p:nvPr/>
        </p:nvSpPr>
        <p:spPr>
          <a:xfrm>
            <a:off x="6135624" y="1828800"/>
            <a:ext cx="5477256" cy="1026414"/>
          </a:xfrm>
          <a:prstGeom prst="roundRect">
            <a:avLst>
              <a:gd name="adj" fmla="val 7127"/>
            </a:avLst>
          </a:prstGeom>
          <a:solidFill>
            <a:schemeClr val="bg2"/>
          </a:solidFill>
          <a:ln w="12700">
            <a:solidFill>
              <a:schemeClr val="bg2"/>
            </a:solidFill>
            <a:prstDash val="solid"/>
          </a:ln>
        </p:spPr>
      </p:sp>
      <p:sp>
        <p:nvSpPr>
          <p:cNvPr id="15" name="Text 12"/>
          <p:cNvSpPr txBox="1"/>
          <p:nvPr/>
        </p:nvSpPr>
        <p:spPr>
          <a:xfrm>
            <a:off x="6272784"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Someone who does their share</a:t>
            </a:r>
            <a:endParaRPr lang="en-US" sz="1500" dirty="0"/>
          </a:p>
          <a:p>
            <a:pPr indent="0" marL="0">
              <a:spcAft>
                <a:spcPts val="400"/>
              </a:spcAft>
              <a:buNone/>
            </a:pPr>
            <a:r>
              <a:rPr lang="en-US" sz="1400" dirty="0">
                <a:solidFill>
                  <a:schemeClr val="tx1"/>
                </a:solidFill>
              </a:rPr>
              <a:t>I pitch in if you pitch in.</a:t>
            </a:r>
            <a:endParaRPr lang="en-US" sz="1500" dirty="0"/>
          </a:p>
          <a:p>
            <a:pPr indent="0" marL="0">
              <a:spcAft>
                <a:spcPts val="400"/>
              </a:spcAft>
              <a:buNone/>
            </a:pPr>
            <a:r>
              <a:rPr lang="en-US" sz="1200" i="1" dirty="0">
                <a:solidFill>
                  <a:srgbClr val="6B7A70"/>
                </a:solidFill>
              </a:rPr>
              <a:t>Ostrom's word: reciprocator</a:t>
            </a:r>
            <a:endParaRPr lang="en-US" sz="1500" dirty="0"/>
          </a:p>
        </p:txBody>
      </p:sp>
      <p:sp>
        <p:nvSpPr>
          <p:cNvPr id="16" name="card How sure I am the others will do their share"/>
          <p:cNvSpPr/>
          <p:nvPr/>
        </p:nvSpPr>
        <p:spPr>
          <a:xfrm>
            <a:off x="6135624" y="2964942"/>
            <a:ext cx="5477256" cy="1026414"/>
          </a:xfrm>
          <a:prstGeom prst="roundRect">
            <a:avLst>
              <a:gd name="adj" fmla="val 7127"/>
            </a:avLst>
          </a:prstGeom>
          <a:solidFill>
            <a:schemeClr val="bg2"/>
          </a:solidFill>
          <a:ln w="12700">
            <a:solidFill>
              <a:schemeClr val="bg2"/>
            </a:solidFill>
            <a:prstDash val="solid"/>
          </a:ln>
        </p:spPr>
      </p:sp>
      <p:sp>
        <p:nvSpPr>
          <p:cNvPr id="17" name="Text 14"/>
          <p:cNvSpPr txBox="1"/>
          <p:nvPr/>
        </p:nvSpPr>
        <p:spPr>
          <a:xfrm>
            <a:off x="6272784"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How sure I am the others will do their share</a:t>
            </a:r>
            <a:endParaRPr lang="en-US" sz="1500" dirty="0"/>
          </a:p>
          <a:p>
            <a:pPr indent="0" marL="0">
              <a:spcAft>
                <a:spcPts val="400"/>
              </a:spcAft>
              <a:buNone/>
            </a:pPr>
            <a:r>
              <a:rPr lang="en-US" sz="1400" dirty="0">
                <a:solidFill>
                  <a:schemeClr val="tx1"/>
                </a:solidFill>
              </a:rPr>
              <a:t>The trust in the middle of the picture.</a:t>
            </a:r>
            <a:endParaRPr lang="en-US" sz="1500" dirty="0"/>
          </a:p>
          <a:p>
            <a:pPr indent="0" marL="0">
              <a:spcAft>
                <a:spcPts val="400"/>
              </a:spcAft>
              <a:buNone/>
            </a:pPr>
            <a:r>
              <a:rPr lang="en-US" sz="1200" i="1" dirty="0">
                <a:solidFill>
                  <a:srgbClr val="6B7A70"/>
                </a:solidFill>
              </a:rPr>
              <a:t>Ostrom's word: levels of trust that other participants are reciprocators</a:t>
            </a:r>
            <a:endParaRPr lang="en-US" sz="1500" dirty="0"/>
          </a:p>
        </p:txBody>
      </p:sp>
      <p:sp>
        <p:nvSpPr>
          <p:cNvPr id="18" name="card How much we pitch in"/>
          <p:cNvSpPr/>
          <p:nvPr/>
        </p:nvSpPr>
        <p:spPr>
          <a:xfrm>
            <a:off x="6135624" y="4101084"/>
            <a:ext cx="5477256" cy="1026414"/>
          </a:xfrm>
          <a:prstGeom prst="roundRect">
            <a:avLst>
              <a:gd name="adj" fmla="val 7127"/>
            </a:avLst>
          </a:prstGeom>
          <a:solidFill>
            <a:schemeClr val="bg2"/>
          </a:solidFill>
          <a:ln w="12700">
            <a:solidFill>
              <a:schemeClr val="bg2"/>
            </a:solidFill>
            <a:prstDash val="solid"/>
          </a:ln>
        </p:spPr>
      </p:sp>
      <p:sp>
        <p:nvSpPr>
          <p:cNvPr id="19" name="Text 16"/>
          <p:cNvSpPr txBox="1"/>
          <p:nvPr/>
        </p:nvSpPr>
        <p:spPr>
          <a:xfrm>
            <a:off x="6272784"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How much we pitch in</a:t>
            </a:r>
            <a:endParaRPr lang="en-US" sz="1500" dirty="0"/>
          </a:p>
          <a:p>
            <a:pPr indent="0" marL="0">
              <a:spcAft>
                <a:spcPts val="400"/>
              </a:spcAft>
              <a:buNone/>
            </a:pPr>
            <a:r>
              <a:rPr lang="en-US" sz="1400" dirty="0">
                <a:solidFill>
                  <a:schemeClr val="tx1"/>
                </a:solidFill>
              </a:rPr>
              <a:t>How much people actually work together.</a:t>
            </a:r>
            <a:endParaRPr lang="en-US" sz="1500" dirty="0"/>
          </a:p>
          <a:p>
            <a:pPr indent="0" marL="0">
              <a:spcAft>
                <a:spcPts val="400"/>
              </a:spcAft>
              <a:buNone/>
            </a:pPr>
            <a:r>
              <a:rPr lang="en-US" sz="1200" i="1" dirty="0">
                <a:solidFill>
                  <a:srgbClr val="6B7A70"/>
                </a:solidFill>
              </a:rPr>
              <a:t>Ostrom's word: levels of cooperation</a:t>
            </a:r>
            <a:endParaRPr lang="en-US" sz="1500" dirty="0"/>
          </a:p>
        </p:txBody>
      </p:sp>
      <p:sp>
        <p:nvSpPr>
          <p:cNvPr id="20" name="card What we all get out of it"/>
          <p:cNvSpPr/>
          <p:nvPr/>
        </p:nvSpPr>
        <p:spPr>
          <a:xfrm>
            <a:off x="6135624" y="5237226"/>
            <a:ext cx="5477256" cy="1026414"/>
          </a:xfrm>
          <a:prstGeom prst="roundRect">
            <a:avLst>
              <a:gd name="adj" fmla="val 7127"/>
            </a:avLst>
          </a:prstGeom>
          <a:solidFill>
            <a:schemeClr val="bg2"/>
          </a:solidFill>
          <a:ln w="12700">
            <a:solidFill>
              <a:schemeClr val="bg2"/>
            </a:solidFill>
            <a:prstDash val="solid"/>
          </a:ln>
        </p:spPr>
      </p:sp>
      <p:sp>
        <p:nvSpPr>
          <p:cNvPr id="21" name="Text 18"/>
          <p:cNvSpPr txBox="1"/>
          <p:nvPr/>
        </p:nvSpPr>
        <p:spPr>
          <a:xfrm>
            <a:off x="6272784"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What we all get out of it</a:t>
            </a:r>
            <a:endParaRPr lang="en-US" sz="1500" dirty="0"/>
          </a:p>
          <a:p>
            <a:pPr indent="0" marL="0">
              <a:spcAft>
                <a:spcPts val="400"/>
              </a:spcAft>
              <a:buNone/>
            </a:pPr>
            <a:r>
              <a:rPr lang="en-US" sz="1400" dirty="0">
                <a:solidFill>
                  <a:schemeClr val="tx1"/>
                </a:solidFill>
              </a:rPr>
              <a:t>What everyone gains, after what it cost.</a:t>
            </a:r>
            <a:endParaRPr lang="en-US" sz="1500" dirty="0"/>
          </a:p>
          <a:p>
            <a:pPr indent="0" marL="0">
              <a:spcAft>
                <a:spcPts val="400"/>
              </a:spcAft>
              <a:buNone/>
            </a:pPr>
            <a:r>
              <a:rPr lang="en-US" sz="1200" i="1" dirty="0">
                <a:solidFill>
                  <a:srgbClr val="6B7A70"/>
                </a:solidFill>
              </a:rPr>
              <a:t>Ostrom's word: net benefits</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9 · DO I DO MY SHARE?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Six things that make trust possible</a:t>
            </a:r>
            <a:endParaRPr lang="en-US" sz="3200" dirty="0"/>
          </a:p>
        </p:txBody>
      </p:sp>
      <p:sp>
        <p:nvSpPr>
          <p:cNvPr id="5" name="card We can talk, face to face"/>
          <p:cNvSpPr/>
          <p:nvPr/>
        </p:nvSpPr>
        <p:spPr>
          <a:xfrm>
            <a:off x="548640" y="1463040"/>
            <a:ext cx="3566160" cy="2240280"/>
          </a:xfrm>
          <a:prstGeom prst="roundRect">
            <a:avLst>
              <a:gd name="adj" fmla="val 3265"/>
            </a:avLst>
          </a:prstGeom>
          <a:solidFill>
            <a:schemeClr val="bg2"/>
          </a:solidFill>
          <a:ln w="12700">
            <a:solidFill>
              <a:schemeClr val="bg2"/>
            </a:solidFill>
            <a:prstDash val="solid"/>
          </a:ln>
        </p:spPr>
      </p:sp>
      <p:sp>
        <p:nvSpPr>
          <p:cNvPr id="6" name="Text 3"/>
          <p:cNvSpPr txBox="1"/>
          <p:nvPr/>
        </p:nvSpPr>
        <p:spPr>
          <a:xfrm>
            <a:off x="685800" y="1554480"/>
            <a:ext cx="3291840" cy="205740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We can talk, face to face</a:t>
            </a:r>
            <a:endParaRPr lang="en-US" sz="1700" dirty="0"/>
          </a:p>
          <a:p>
            <a:pPr indent="0" marL="0">
              <a:spcAft>
                <a:spcPts val="400"/>
              </a:spcAft>
              <a:buNone/>
            </a:pPr>
            <a:r>
              <a:rPr lang="en-US" sz="1500" dirty="0">
                <a:solidFill>
                  <a:schemeClr val="tx1"/>
                </a:solidFill>
              </a:rPr>
              <a:t>Faces and tone tell us who to trust.</a:t>
            </a:r>
            <a:endParaRPr lang="en-US" sz="1700" dirty="0"/>
          </a:p>
          <a:p>
            <a:pPr indent="0" marL="0">
              <a:spcAft>
                <a:spcPts val="400"/>
              </a:spcAft>
              <a:buNone/>
            </a:pPr>
            <a:r>
              <a:rPr lang="en-US" sz="1200" i="1" dirty="0">
                <a:solidFill>
                  <a:srgbClr val="6B7A70"/>
                </a:solidFill>
              </a:rPr>
              <a:t>Ostrom's words: communication</a:t>
            </a:r>
            <a:endParaRPr lang="en-US" sz="1700" dirty="0"/>
          </a:p>
        </p:txBody>
      </p:sp>
      <p:sp>
        <p:nvSpPr>
          <p:cNvPr id="7" name="Text 4"/>
          <p:cNvSpPr txBox="1"/>
          <p:nvPr/>
        </p:nvSpPr>
        <p:spPr>
          <a:xfrm>
            <a:off x="685800" y="3291840"/>
            <a:ext cx="3291840" cy="292608"/>
          </a:xfrm>
          <a:prstGeom prst="rect">
            <a:avLst/>
          </a:prstGeom>
          <a:noFill/>
          <a:ln/>
        </p:spPr>
        <p:txBody>
          <a:bodyPr wrap="square" lIns="0" tIns="0" rIns="0" bIns="0" rtlCol="0" anchor="ctr"/>
          <a:lstStyle/>
          <a:p>
            <a:pPr indent="0" marL="0">
              <a:buNone/>
            </a:pPr>
            <a:r>
              <a:rPr lang="en-US" sz="1300" b="1" dirty="0">
                <a:solidFill>
                  <a:schemeClr val="accent2"/>
                </a:solidFill>
              </a:rPr>
              <a:t>Lasting groups 3, 6</a:t>
            </a:r>
            <a:endParaRPr lang="en-US" sz="1300" dirty="0"/>
          </a:p>
        </p:txBody>
      </p:sp>
      <p:sp>
        <p:nvSpPr>
          <p:cNvPr id="8" name="card We know who has done what"/>
          <p:cNvSpPr/>
          <p:nvPr/>
        </p:nvSpPr>
        <p:spPr>
          <a:xfrm>
            <a:off x="4297680" y="1463040"/>
            <a:ext cx="3566160" cy="2240280"/>
          </a:xfrm>
          <a:prstGeom prst="roundRect">
            <a:avLst>
              <a:gd name="adj" fmla="val 3265"/>
            </a:avLst>
          </a:prstGeom>
          <a:solidFill>
            <a:schemeClr val="bg2"/>
          </a:solidFill>
          <a:ln w="12700">
            <a:solidFill>
              <a:schemeClr val="bg2"/>
            </a:solidFill>
            <a:prstDash val="solid"/>
          </a:ln>
        </p:spPr>
      </p:sp>
      <p:sp>
        <p:nvSpPr>
          <p:cNvPr id="9" name="Text 6"/>
          <p:cNvSpPr txBox="1"/>
          <p:nvPr/>
        </p:nvSpPr>
        <p:spPr>
          <a:xfrm>
            <a:off x="4434840" y="1554480"/>
            <a:ext cx="3291840" cy="205740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We know who has done what</a:t>
            </a:r>
            <a:endParaRPr lang="en-US" sz="1700" dirty="0"/>
          </a:p>
          <a:p>
            <a:pPr indent="0" marL="0">
              <a:spcAft>
                <a:spcPts val="400"/>
              </a:spcAft>
              <a:buNone/>
            </a:pPr>
            <a:r>
              <a:rPr lang="en-US" sz="1500" dirty="0">
                <a:solidFill>
                  <a:schemeClr val="tx1"/>
                </a:solidFill>
              </a:rPr>
              <a:t>A track record makes pitching in safer.</a:t>
            </a:r>
            <a:endParaRPr lang="en-US" sz="1700" dirty="0"/>
          </a:p>
          <a:p>
            <a:pPr indent="0" marL="0">
              <a:spcAft>
                <a:spcPts val="400"/>
              </a:spcAft>
              <a:buNone/>
            </a:pPr>
            <a:r>
              <a:rPr lang="en-US" sz="1200" i="1" dirty="0">
                <a:solidFill>
                  <a:srgbClr val="6B7A70"/>
                </a:solidFill>
              </a:rPr>
              <a:t>Ostrom's words: reputations known</a:t>
            </a:r>
            <a:endParaRPr lang="en-US" sz="1700" dirty="0"/>
          </a:p>
        </p:txBody>
      </p:sp>
      <p:sp>
        <p:nvSpPr>
          <p:cNvPr id="10" name="Text 7"/>
          <p:cNvSpPr txBox="1"/>
          <p:nvPr/>
        </p:nvSpPr>
        <p:spPr>
          <a:xfrm>
            <a:off x="4434840" y="3291840"/>
            <a:ext cx="3291840" cy="292608"/>
          </a:xfrm>
          <a:prstGeom prst="rect">
            <a:avLst/>
          </a:prstGeom>
          <a:noFill/>
          <a:ln/>
        </p:spPr>
        <p:txBody>
          <a:bodyPr wrap="square" lIns="0" tIns="0" rIns="0" bIns="0" rtlCol="0" anchor="ctr"/>
          <a:lstStyle/>
          <a:p>
            <a:pPr indent="0" marL="0">
              <a:buNone/>
            </a:pPr>
            <a:r>
              <a:rPr lang="en-US" sz="1300" b="1" dirty="0">
                <a:solidFill>
                  <a:schemeClr val="accent2"/>
                </a:solidFill>
              </a:rPr>
              <a:t>Lasting groups 4</a:t>
            </a:r>
            <a:endParaRPr lang="en-US" sz="1300" dirty="0"/>
          </a:p>
        </p:txBody>
      </p:sp>
      <p:sp>
        <p:nvSpPr>
          <p:cNvPr id="11" name="card My part clearly matters"/>
          <p:cNvSpPr/>
          <p:nvPr/>
        </p:nvSpPr>
        <p:spPr>
          <a:xfrm>
            <a:off x="8046720" y="1463040"/>
            <a:ext cx="3566160" cy="2240280"/>
          </a:xfrm>
          <a:prstGeom prst="roundRect">
            <a:avLst>
              <a:gd name="adj" fmla="val 3265"/>
            </a:avLst>
          </a:prstGeom>
          <a:solidFill>
            <a:schemeClr val="bg2"/>
          </a:solidFill>
          <a:ln w="12700">
            <a:solidFill>
              <a:schemeClr val="bg2"/>
            </a:solidFill>
            <a:prstDash val="solid"/>
          </a:ln>
        </p:spPr>
      </p:sp>
      <p:sp>
        <p:nvSpPr>
          <p:cNvPr id="12" name="Text 9"/>
          <p:cNvSpPr txBox="1"/>
          <p:nvPr/>
        </p:nvSpPr>
        <p:spPr>
          <a:xfrm>
            <a:off x="8183880" y="1554480"/>
            <a:ext cx="3291840" cy="205740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My part clearly matters</a:t>
            </a:r>
            <a:endParaRPr lang="en-US" sz="1700" dirty="0"/>
          </a:p>
          <a:p>
            <a:pPr indent="0" marL="0">
              <a:spcAft>
                <a:spcPts val="400"/>
              </a:spcAft>
              <a:buNone/>
            </a:pPr>
            <a:r>
              <a:rPr lang="en-US" sz="1500" dirty="0">
                <a:solidFill>
                  <a:schemeClr val="tx1"/>
                </a:solidFill>
              </a:rPr>
              <a:t>I can see my share made a difference.</a:t>
            </a:r>
            <a:endParaRPr lang="en-US" sz="1700" dirty="0"/>
          </a:p>
          <a:p>
            <a:pPr indent="0" marL="0">
              <a:spcAft>
                <a:spcPts val="400"/>
              </a:spcAft>
              <a:buNone/>
            </a:pPr>
            <a:r>
              <a:rPr lang="en-US" sz="1200" i="1" dirty="0">
                <a:solidFill>
                  <a:srgbClr val="6B7A70"/>
                </a:solidFill>
              </a:rPr>
              <a:t>Ostrom's words: high marginal per capita return</a:t>
            </a:r>
            <a:endParaRPr lang="en-US" sz="1700" dirty="0"/>
          </a:p>
        </p:txBody>
      </p:sp>
      <p:sp>
        <p:nvSpPr>
          <p:cNvPr id="13" name="Text 10"/>
          <p:cNvSpPr txBox="1"/>
          <p:nvPr/>
        </p:nvSpPr>
        <p:spPr>
          <a:xfrm>
            <a:off x="8183880" y="3291840"/>
            <a:ext cx="3291840" cy="292608"/>
          </a:xfrm>
          <a:prstGeom prst="rect">
            <a:avLst/>
          </a:prstGeom>
          <a:noFill/>
          <a:ln/>
        </p:spPr>
        <p:txBody>
          <a:bodyPr wrap="square" lIns="0" tIns="0" rIns="0" bIns="0" rtlCol="0" anchor="ctr"/>
          <a:lstStyle/>
          <a:p>
            <a:pPr indent="0" marL="0">
              <a:buNone/>
            </a:pPr>
            <a:r>
              <a:rPr lang="en-US" sz="1300" b="1" dirty="0">
                <a:solidFill>
                  <a:schemeClr val="accent2"/>
                </a:solidFill>
              </a:rPr>
              <a:t>Lasting groups 2</a:t>
            </a:r>
            <a:endParaRPr lang="en-US" sz="1300" dirty="0"/>
          </a:p>
        </p:txBody>
      </p:sp>
      <p:sp>
        <p:nvSpPr>
          <p:cNvPr id="14" name="card I can walk away"/>
          <p:cNvSpPr/>
          <p:nvPr/>
        </p:nvSpPr>
        <p:spPr>
          <a:xfrm>
            <a:off x="548640" y="3886200"/>
            <a:ext cx="3566160" cy="2240280"/>
          </a:xfrm>
          <a:prstGeom prst="roundRect">
            <a:avLst>
              <a:gd name="adj" fmla="val 3265"/>
            </a:avLst>
          </a:prstGeom>
          <a:solidFill>
            <a:schemeClr val="bg2"/>
          </a:solidFill>
          <a:ln w="12700">
            <a:solidFill>
              <a:schemeClr val="bg2"/>
            </a:solidFill>
            <a:prstDash val="solid"/>
          </a:ln>
        </p:spPr>
      </p:sp>
      <p:sp>
        <p:nvSpPr>
          <p:cNvPr id="15" name="Text 12"/>
          <p:cNvSpPr txBox="1"/>
          <p:nvPr/>
        </p:nvSpPr>
        <p:spPr>
          <a:xfrm>
            <a:off x="685800" y="3977640"/>
            <a:ext cx="3291840" cy="205740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I can walk away</a:t>
            </a:r>
            <a:endParaRPr lang="en-US" sz="1700" dirty="0"/>
          </a:p>
          <a:p>
            <a:pPr indent="0" marL="0">
              <a:spcAft>
                <a:spcPts val="400"/>
              </a:spcAft>
              <a:buNone/>
            </a:pPr>
            <a:r>
              <a:rPr lang="en-US" sz="1500" dirty="0">
                <a:solidFill>
                  <a:schemeClr val="tx1"/>
                </a:solidFill>
              </a:rPr>
              <a:t>Nobody's stuck being the only one still trying.</a:t>
            </a:r>
            <a:endParaRPr lang="en-US" sz="1700" dirty="0"/>
          </a:p>
          <a:p>
            <a:pPr indent="0" marL="0">
              <a:spcAft>
                <a:spcPts val="400"/>
              </a:spcAft>
              <a:buNone/>
            </a:pPr>
            <a:r>
              <a:rPr lang="en-US" sz="1200" i="1" dirty="0">
                <a:solidFill>
                  <a:srgbClr val="6B7A70"/>
                </a:solidFill>
              </a:rPr>
              <a:t>Ostrom's words: entry and exit</a:t>
            </a:r>
            <a:endParaRPr lang="en-US" sz="1700" dirty="0"/>
          </a:p>
        </p:txBody>
      </p:sp>
      <p:sp>
        <p:nvSpPr>
          <p:cNvPr id="16" name="Text 13"/>
          <p:cNvSpPr txBox="1"/>
          <p:nvPr/>
        </p:nvSpPr>
        <p:spPr>
          <a:xfrm>
            <a:off x="685800" y="5715000"/>
            <a:ext cx="3291840" cy="292608"/>
          </a:xfrm>
          <a:prstGeom prst="rect">
            <a:avLst/>
          </a:prstGeom>
          <a:noFill/>
          <a:ln/>
        </p:spPr>
        <p:txBody>
          <a:bodyPr wrap="square" lIns="0" tIns="0" rIns="0" bIns="0" rtlCol="0" anchor="ctr"/>
          <a:lstStyle/>
          <a:p>
            <a:pPr indent="0" marL="0">
              <a:buNone/>
            </a:pPr>
            <a:r>
              <a:rPr lang="en-US" sz="1300" b="1" dirty="0">
                <a:solidFill>
                  <a:schemeClr val="accent2"/>
                </a:solidFill>
              </a:rPr>
              <a:t>Lasting groups 1</a:t>
            </a:r>
            <a:endParaRPr lang="en-US" sz="1300" dirty="0"/>
          </a:p>
        </p:txBody>
      </p:sp>
      <p:sp>
        <p:nvSpPr>
          <p:cNvPr id="17" name="card We'll be here a long time"/>
          <p:cNvSpPr/>
          <p:nvPr/>
        </p:nvSpPr>
        <p:spPr>
          <a:xfrm>
            <a:off x="4297680" y="3886200"/>
            <a:ext cx="3566160" cy="2240280"/>
          </a:xfrm>
          <a:prstGeom prst="roundRect">
            <a:avLst>
              <a:gd name="adj" fmla="val 3265"/>
            </a:avLst>
          </a:prstGeom>
          <a:solidFill>
            <a:schemeClr val="bg2"/>
          </a:solidFill>
          <a:ln w="12700">
            <a:solidFill>
              <a:schemeClr val="bg2"/>
            </a:solidFill>
            <a:prstDash val="solid"/>
          </a:ln>
        </p:spPr>
      </p:sp>
      <p:sp>
        <p:nvSpPr>
          <p:cNvPr id="18" name="Text 15"/>
          <p:cNvSpPr txBox="1"/>
          <p:nvPr/>
        </p:nvSpPr>
        <p:spPr>
          <a:xfrm>
            <a:off x="4434840" y="3977640"/>
            <a:ext cx="3291840" cy="205740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We'll be here a long time</a:t>
            </a:r>
            <a:endParaRPr lang="en-US" sz="1700" dirty="0"/>
          </a:p>
          <a:p>
            <a:pPr indent="0" marL="0">
              <a:spcAft>
                <a:spcPts val="400"/>
              </a:spcAft>
              <a:buNone/>
            </a:pPr>
            <a:r>
              <a:rPr lang="en-US" sz="1500" dirty="0">
                <a:solidFill>
                  <a:schemeClr val="tx1"/>
                </a:solidFill>
              </a:rPr>
              <a:t>Pitching in pays more over years than weeks.</a:t>
            </a:r>
            <a:endParaRPr lang="en-US" sz="1700" dirty="0"/>
          </a:p>
          <a:p>
            <a:pPr indent="0" marL="0">
              <a:spcAft>
                <a:spcPts val="400"/>
              </a:spcAft>
              <a:buNone/>
            </a:pPr>
            <a:r>
              <a:rPr lang="en-US" sz="1200" i="1" dirty="0">
                <a:solidFill>
                  <a:srgbClr val="6B7A70"/>
                </a:solidFill>
              </a:rPr>
              <a:t>Ostrom's words: long time horizon</a:t>
            </a:r>
            <a:endParaRPr lang="en-US" sz="1700" dirty="0"/>
          </a:p>
        </p:txBody>
      </p:sp>
      <p:sp>
        <p:nvSpPr>
          <p:cNvPr id="19" name="Text 16"/>
          <p:cNvSpPr txBox="1"/>
          <p:nvPr/>
        </p:nvSpPr>
        <p:spPr>
          <a:xfrm>
            <a:off x="4434840" y="5715000"/>
            <a:ext cx="3291840" cy="292608"/>
          </a:xfrm>
          <a:prstGeom prst="rect">
            <a:avLst/>
          </a:prstGeom>
          <a:noFill/>
          <a:ln/>
        </p:spPr>
        <p:txBody>
          <a:bodyPr wrap="square" lIns="0" tIns="0" rIns="0" bIns="0" rtlCol="0" anchor="ctr"/>
          <a:lstStyle/>
          <a:p>
            <a:pPr indent="0" marL="0">
              <a:buNone/>
            </a:pPr>
            <a:r>
              <a:rPr lang="en-US" sz="1300" b="1" dirty="0">
                <a:solidFill>
                  <a:schemeClr val="accent2"/>
                </a:solidFill>
              </a:rPr>
              <a:t>Lasting groups 7</a:t>
            </a:r>
            <a:endParaRPr lang="en-US" sz="1300" dirty="0"/>
          </a:p>
        </p:txBody>
      </p:sp>
      <p:sp>
        <p:nvSpPr>
          <p:cNvPr id="20" name="card We made our own penalties"/>
          <p:cNvSpPr/>
          <p:nvPr/>
        </p:nvSpPr>
        <p:spPr>
          <a:xfrm>
            <a:off x="8046720" y="3886200"/>
            <a:ext cx="3566160" cy="2240280"/>
          </a:xfrm>
          <a:prstGeom prst="roundRect">
            <a:avLst>
              <a:gd name="adj" fmla="val 3265"/>
            </a:avLst>
          </a:prstGeom>
          <a:solidFill>
            <a:schemeClr val="bg2"/>
          </a:solidFill>
          <a:ln w="12700">
            <a:solidFill>
              <a:schemeClr val="bg2"/>
            </a:solidFill>
            <a:prstDash val="solid"/>
          </a:ln>
        </p:spPr>
      </p:sp>
      <p:sp>
        <p:nvSpPr>
          <p:cNvPr id="21" name="Text 18"/>
          <p:cNvSpPr txBox="1"/>
          <p:nvPr/>
        </p:nvSpPr>
        <p:spPr>
          <a:xfrm>
            <a:off x="8183880" y="3977640"/>
            <a:ext cx="3291840" cy="205740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We made our own penalties</a:t>
            </a:r>
            <a:endParaRPr lang="en-US" sz="1700" dirty="0"/>
          </a:p>
          <a:p>
            <a:pPr indent="0" marL="0">
              <a:spcAft>
                <a:spcPts val="400"/>
              </a:spcAft>
              <a:buNone/>
            </a:pPr>
            <a:r>
              <a:rPr lang="en-US" sz="1500" dirty="0">
                <a:solidFill>
                  <a:schemeClr val="tx1"/>
                </a:solidFill>
              </a:rPr>
              <a:t>Penalties we agreed to are rarely needed; ones forced on us backfire.</a:t>
            </a:r>
            <a:endParaRPr lang="en-US" sz="1700" dirty="0"/>
          </a:p>
          <a:p>
            <a:pPr indent="0" marL="0">
              <a:spcAft>
                <a:spcPts val="400"/>
              </a:spcAft>
              <a:buNone/>
            </a:pPr>
            <a:r>
              <a:rPr lang="en-US" sz="1200" i="1" dirty="0">
                <a:solidFill>
                  <a:srgbClr val="6B7A70"/>
                </a:solidFill>
              </a:rPr>
              <a:t>Ostrom's words: agreed-upon sanctioning</a:t>
            </a:r>
            <a:endParaRPr lang="en-US" sz="1700" dirty="0"/>
          </a:p>
        </p:txBody>
      </p:sp>
      <p:sp>
        <p:nvSpPr>
          <p:cNvPr id="22" name="Text 19"/>
          <p:cNvSpPr txBox="1"/>
          <p:nvPr/>
        </p:nvSpPr>
        <p:spPr>
          <a:xfrm>
            <a:off x="8183880" y="5715000"/>
            <a:ext cx="3291840" cy="292608"/>
          </a:xfrm>
          <a:prstGeom prst="rect">
            <a:avLst/>
          </a:prstGeom>
          <a:noFill/>
          <a:ln/>
        </p:spPr>
        <p:txBody>
          <a:bodyPr wrap="square" lIns="0" tIns="0" rIns="0" bIns="0" rtlCol="0" anchor="ctr"/>
          <a:lstStyle/>
          <a:p>
            <a:pPr indent="0" marL="0">
              <a:buNone/>
            </a:pPr>
            <a:r>
              <a:rPr lang="en-US" sz="1300" b="1" dirty="0">
                <a:solidFill>
                  <a:schemeClr val="accent2"/>
                </a:solidFill>
              </a:rPr>
              <a:t>Lasting groups 5, 3</a:t>
            </a:r>
            <a:endParaRPr lang="en-US" sz="13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STEP 9 · DO I DO MY SHARE?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What a neighborhood can change this month</a:t>
            </a:r>
            <a:endParaRPr lang="en-US" sz="3200" dirty="0"/>
          </a:p>
        </p:txBody>
      </p:sp>
      <p:sp>
        <p:nvSpPr>
          <p:cNvPr id="5" name="Text 2"/>
          <p:cNvSpPr/>
          <p:nvPr/>
        </p:nvSpPr>
        <p:spPr>
          <a:xfrm>
            <a:off x="548640" y="146304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3"/>
          <p:cNvSpPr txBox="1"/>
          <p:nvPr/>
        </p:nvSpPr>
        <p:spPr>
          <a:xfrm>
            <a:off x="1325880" y="1463040"/>
            <a:ext cx="10241280" cy="548640"/>
          </a:xfrm>
          <a:prstGeom prst="rect">
            <a:avLst/>
          </a:prstGeom>
          <a:noFill/>
          <a:ln/>
        </p:spPr>
        <p:txBody>
          <a:bodyPr wrap="square" lIns="0" tIns="0" rIns="0" bIns="0" rtlCol="0" anchor="ctr"/>
          <a:lstStyle/>
          <a:p>
            <a:pPr indent="0" marL="0">
              <a:buNone/>
            </a:pPr>
            <a:r>
              <a:rPr lang="en-US" sz="1800" b="1" dirty="0">
                <a:solidFill>
                  <a:schemeClr val="tx2"/>
                </a:solidFill>
              </a:rPr>
              <a:t>Meet in person, </a:t>
            </a:r>
            <a:pPr indent="0" marL="0">
              <a:buNone/>
            </a:pPr>
            <a:r>
              <a:rPr lang="en-US" sz="1800" dirty="0">
                <a:solidFill>
                  <a:schemeClr val="tx1"/>
                </a:solidFill>
              </a:rPr>
              <a:t>regularly, with everyone who shares the thing. Not only the organizers.</a:t>
            </a:r>
            <a:endParaRPr lang="en-US" sz="1800" dirty="0"/>
          </a:p>
        </p:txBody>
      </p:sp>
      <p:sp>
        <p:nvSpPr>
          <p:cNvPr id="7" name="Text 4"/>
          <p:cNvSpPr/>
          <p:nvPr/>
        </p:nvSpPr>
        <p:spPr>
          <a:xfrm>
            <a:off x="548640" y="2267712"/>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8" name="Text 5"/>
          <p:cNvSpPr txBox="1"/>
          <p:nvPr/>
        </p:nvSpPr>
        <p:spPr>
          <a:xfrm>
            <a:off x="1325880" y="2267712"/>
            <a:ext cx="10241280" cy="548640"/>
          </a:xfrm>
          <a:prstGeom prst="rect">
            <a:avLst/>
          </a:prstGeom>
          <a:noFill/>
          <a:ln/>
        </p:spPr>
        <p:txBody>
          <a:bodyPr wrap="square" lIns="0" tIns="0" rIns="0" bIns="0" rtlCol="0" anchor="ctr"/>
          <a:lstStyle/>
          <a:p>
            <a:pPr indent="0" marL="0">
              <a:buNone/>
            </a:pPr>
            <a:r>
              <a:rPr lang="en-US" sz="1800" b="1" dirty="0">
                <a:solidFill>
                  <a:schemeClr val="tx2"/>
                </a:solidFill>
              </a:rPr>
              <a:t>Keep a record people agree to, </a:t>
            </a:r>
            <a:pPr indent="0" marL="0">
              <a:buNone/>
            </a:pPr>
            <a:r>
              <a:rPr lang="en-US" sz="1800" dirty="0">
                <a:solidFill>
                  <a:schemeClr val="tx1"/>
                </a:solidFill>
              </a:rPr>
              <a:t>of who did what. Kept with them, never about them behind their backs.</a:t>
            </a:r>
            <a:endParaRPr lang="en-US" sz="1800" dirty="0"/>
          </a:p>
        </p:txBody>
      </p:sp>
      <p:sp>
        <p:nvSpPr>
          <p:cNvPr id="9" name="Text 6"/>
          <p:cNvSpPr/>
          <p:nvPr/>
        </p:nvSpPr>
        <p:spPr>
          <a:xfrm>
            <a:off x="548640" y="3072384"/>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0" name="Text 7"/>
          <p:cNvSpPr txBox="1"/>
          <p:nvPr/>
        </p:nvSpPr>
        <p:spPr>
          <a:xfrm>
            <a:off x="1325880" y="3072384"/>
            <a:ext cx="10241280" cy="548640"/>
          </a:xfrm>
          <a:prstGeom prst="rect">
            <a:avLst/>
          </a:prstGeom>
          <a:noFill/>
          <a:ln/>
        </p:spPr>
        <p:txBody>
          <a:bodyPr wrap="square" lIns="0" tIns="0" rIns="0" bIns="0" rtlCol="0" anchor="ctr"/>
          <a:lstStyle/>
          <a:p>
            <a:pPr indent="0" marL="0">
              <a:buNone/>
            </a:pPr>
            <a:r>
              <a:rPr lang="en-US" sz="1800" b="1" dirty="0">
                <a:solidFill>
                  <a:schemeClr val="tx2"/>
                </a:solidFill>
              </a:rPr>
              <a:t>Make contributions visible: </a:t>
            </a:r>
            <a:pPr indent="0" marL="0">
              <a:buNone/>
            </a:pPr>
            <a:r>
              <a:rPr lang="en-US" sz="1800" dirty="0">
                <a:solidFill>
                  <a:schemeClr val="tx1"/>
                </a:solidFill>
              </a:rPr>
              <a:t>a simple chart of tank levels or work hours shows each person their share mattered.</a:t>
            </a:r>
            <a:endParaRPr lang="en-US" sz="1800" dirty="0"/>
          </a:p>
        </p:txBody>
      </p:sp>
      <p:sp>
        <p:nvSpPr>
          <p:cNvPr id="11" name="Text 8"/>
          <p:cNvSpPr/>
          <p:nvPr/>
        </p:nvSpPr>
        <p:spPr>
          <a:xfrm>
            <a:off x="548640" y="3877056"/>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2" name="Text 9"/>
          <p:cNvSpPr txBox="1"/>
          <p:nvPr/>
        </p:nvSpPr>
        <p:spPr>
          <a:xfrm>
            <a:off x="1325880" y="3877056"/>
            <a:ext cx="10241280" cy="548640"/>
          </a:xfrm>
          <a:prstGeom prst="rect">
            <a:avLst/>
          </a:prstGeom>
          <a:noFill/>
          <a:ln/>
        </p:spPr>
        <p:txBody>
          <a:bodyPr wrap="square" lIns="0" tIns="0" rIns="0" bIns="0" rtlCol="0" anchor="ctr"/>
          <a:lstStyle/>
          <a:p>
            <a:pPr indent="0" marL="0">
              <a:buNone/>
            </a:pPr>
            <a:r>
              <a:rPr lang="en-US" sz="1800" b="1" dirty="0">
                <a:solidFill>
                  <a:schemeClr val="tx2"/>
                </a:solidFill>
              </a:rPr>
              <a:t>Let people leave easily, </a:t>
            </a:r>
            <a:pPr indent="0" marL="0">
              <a:buNone/>
            </a:pPr>
            <a:r>
              <a:rPr lang="en-US" sz="1800" dirty="0">
                <a:solidFill>
                  <a:schemeClr val="tx1"/>
                </a:solidFill>
              </a:rPr>
              <a:t>and take their own records with them. Free to leave makes staying a choice.</a:t>
            </a:r>
            <a:endParaRPr lang="en-US" sz="1800" dirty="0"/>
          </a:p>
        </p:txBody>
      </p:sp>
      <p:sp>
        <p:nvSpPr>
          <p:cNvPr id="13" name="Text 10"/>
          <p:cNvSpPr/>
          <p:nvPr/>
        </p:nvSpPr>
        <p:spPr>
          <a:xfrm>
            <a:off x="548640" y="4681728"/>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14" name="Text 11"/>
          <p:cNvSpPr txBox="1"/>
          <p:nvPr/>
        </p:nvSpPr>
        <p:spPr>
          <a:xfrm>
            <a:off x="1325880" y="4681728"/>
            <a:ext cx="10241280" cy="548640"/>
          </a:xfrm>
          <a:prstGeom prst="rect">
            <a:avLst/>
          </a:prstGeom>
          <a:noFill/>
          <a:ln/>
        </p:spPr>
        <p:txBody>
          <a:bodyPr wrap="square" lIns="0" tIns="0" rIns="0" bIns="0" rtlCol="0" anchor="ctr"/>
          <a:lstStyle/>
          <a:p>
            <a:pPr indent="0" marL="0">
              <a:buNone/>
            </a:pPr>
            <a:r>
              <a:rPr lang="en-US" sz="1800" b="1" dirty="0">
                <a:solidFill>
                  <a:schemeClr val="tx2"/>
                </a:solidFill>
              </a:rPr>
              <a:t>Plan for years, not weeks: </a:t>
            </a:r>
            <a:pPr indent="0" marL="0">
              <a:buNone/>
            </a:pPr>
            <a:r>
              <a:rPr lang="en-US" sz="1800" dirty="0">
                <a:solidFill>
                  <a:schemeClr val="tx1"/>
                </a:solidFill>
              </a:rPr>
              <a:t>secure the lease; write down how the rules can change.</a:t>
            </a:r>
            <a:endParaRPr lang="en-US" sz="1800" dirty="0"/>
          </a:p>
        </p:txBody>
      </p:sp>
      <p:sp>
        <p:nvSpPr>
          <p:cNvPr id="15" name="Text 12"/>
          <p:cNvSpPr/>
          <p:nvPr/>
        </p:nvSpPr>
        <p:spPr>
          <a:xfrm>
            <a:off x="548640" y="548640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16" name="Text 13"/>
          <p:cNvSpPr txBox="1"/>
          <p:nvPr/>
        </p:nvSpPr>
        <p:spPr>
          <a:xfrm>
            <a:off x="1325880" y="5486400"/>
            <a:ext cx="10241280" cy="548640"/>
          </a:xfrm>
          <a:prstGeom prst="rect">
            <a:avLst/>
          </a:prstGeom>
          <a:noFill/>
          <a:ln/>
        </p:spPr>
        <p:txBody>
          <a:bodyPr wrap="square" lIns="0" tIns="0" rIns="0" bIns="0" rtlCol="0" anchor="ctr"/>
          <a:lstStyle/>
          <a:p>
            <a:pPr indent="0" marL="0">
              <a:buNone/>
            </a:pPr>
            <a:r>
              <a:rPr lang="en-US" sz="1800" b="1" dirty="0">
                <a:solidFill>
                  <a:schemeClr val="tx2"/>
                </a:solidFill>
              </a:rPr>
              <a:t>Write your own penalties, </a:t>
            </a:r>
            <a:pPr indent="0" marL="0">
              <a:buNone/>
            </a:pPr>
            <a:r>
              <a:rPr lang="en-US" sz="1800" dirty="0">
                <a:solidFill>
                  <a:schemeClr val="tx1"/>
                </a:solidFill>
              </a:rPr>
              <a:t>together, starting small. Agreed penalties are the ones that rarely need using.</a:t>
            </a:r>
            <a:endParaRPr lang="en-US" sz="18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CLOSING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Zooming back out</a:t>
            </a:r>
            <a:endParaRPr lang="en-US" sz="3200" dirty="0"/>
          </a:p>
        </p:txBody>
      </p:sp>
      <p:sp>
        <p:nvSpPr>
          <p:cNvPr id="5" name="Text 2"/>
          <p:cNvSpPr/>
          <p:nvPr/>
        </p:nvSpPr>
        <p:spPr>
          <a:xfrm>
            <a:off x="548640" y="141732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3"/>
          <p:cNvSpPr txBox="1"/>
          <p:nvPr/>
        </p:nvSpPr>
        <p:spPr>
          <a:xfrm>
            <a:off x="1143000" y="1417320"/>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The people and the place:  </a:t>
            </a:r>
            <a:pPr indent="0" marL="0">
              <a:buNone/>
            </a:pPr>
            <a:r>
              <a:rPr lang="en-US" sz="1700" dirty="0">
                <a:solidFill>
                  <a:schemeClr val="tx1"/>
                </a:solidFill>
              </a:rPr>
              <a:t>What is around the thing decides what is possible.</a:t>
            </a:r>
            <a:endParaRPr lang="en-US" sz="1700" dirty="0"/>
          </a:p>
        </p:txBody>
      </p:sp>
      <p:sp>
        <p:nvSpPr>
          <p:cNvPr id="7" name="Text 4"/>
          <p:cNvSpPr/>
          <p:nvPr/>
        </p:nvSpPr>
        <p:spPr>
          <a:xfrm>
            <a:off x="548640" y="1947672"/>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5"/>
          <p:cNvSpPr txBox="1"/>
          <p:nvPr/>
        </p:nvSpPr>
        <p:spPr>
          <a:xfrm>
            <a:off x="1143000" y="1947672"/>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What we're sharing:  </a:t>
            </a:r>
            <a:pPr indent="0" marL="0">
              <a:buNone/>
            </a:pPr>
            <a:r>
              <a:rPr lang="en-US" sz="1700" dirty="0">
                <a:solidFill>
                  <a:schemeClr val="tx1"/>
                </a:solidFill>
              </a:rPr>
              <a:t>Whether it runs out, and whether we can keep people out, decides the trouble.</a:t>
            </a:r>
            <a:endParaRPr lang="en-US" sz="1700" dirty="0"/>
          </a:p>
        </p:txBody>
      </p:sp>
      <p:sp>
        <p:nvSpPr>
          <p:cNvPr id="9" name="Text 6"/>
          <p:cNvSpPr/>
          <p:nvPr/>
        </p:nvSpPr>
        <p:spPr>
          <a:xfrm>
            <a:off x="548640" y="2478024"/>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0" name="Text 7"/>
          <p:cNvSpPr txBox="1"/>
          <p:nvPr/>
        </p:nvSpPr>
        <p:spPr>
          <a:xfrm>
            <a:off x="1143000" y="2478024"/>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Where we meet and choose:  </a:t>
            </a:r>
            <a:pPr indent="0" marL="0">
              <a:buNone/>
            </a:pPr>
            <a:r>
              <a:rPr lang="en-US" sz="1700" dirty="0">
                <a:solidFill>
                  <a:schemeClr val="tx1"/>
                </a:solidFill>
              </a:rPr>
              <a:t>The stuff, the people and how things really work shape every get-together.</a:t>
            </a:r>
            <a:endParaRPr lang="en-US" sz="1700" dirty="0"/>
          </a:p>
        </p:txBody>
      </p:sp>
      <p:sp>
        <p:nvSpPr>
          <p:cNvPr id="11" name="Text 8"/>
          <p:cNvSpPr/>
          <p:nvPr/>
        </p:nvSpPr>
        <p:spPr>
          <a:xfrm>
            <a:off x="548640" y="3008376"/>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2" name="Text 9"/>
          <p:cNvSpPr txBox="1"/>
          <p:nvPr/>
        </p:nvSpPr>
        <p:spPr>
          <a:xfrm>
            <a:off x="1143000" y="3008376"/>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Who sets the rules:  </a:t>
            </a:r>
            <a:pPr indent="0" marL="0">
              <a:buNone/>
            </a:pPr>
            <a:r>
              <a:rPr lang="en-US" sz="1700" dirty="0">
                <a:solidFill>
                  <a:schemeClr val="tx1"/>
                </a:solidFill>
              </a:rPr>
              <a:t>Each layer sets the rules for the one below.</a:t>
            </a:r>
            <a:endParaRPr lang="en-US" sz="1700" dirty="0"/>
          </a:p>
        </p:txBody>
      </p:sp>
      <p:sp>
        <p:nvSpPr>
          <p:cNvPr id="13" name="Text 10"/>
          <p:cNvSpPr/>
          <p:nvPr/>
        </p:nvSpPr>
        <p:spPr>
          <a:xfrm>
            <a:off x="548640" y="3538728"/>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4" name="Text 11"/>
          <p:cNvSpPr txBox="1"/>
          <p:nvPr/>
        </p:nvSpPr>
        <p:spPr>
          <a:xfrm>
            <a:off x="1143000" y="3538728"/>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What's going on when we meet:  </a:t>
            </a:r>
            <a:pPr indent="0" marL="0">
              <a:buNone/>
            </a:pPr>
            <a:r>
              <a:rPr lang="en-US" sz="1700" dirty="0">
                <a:solidFill>
                  <a:schemeClr val="tx1"/>
                </a:solidFill>
              </a:rPr>
              <a:t>Every get-together has the same seven moving parts.</a:t>
            </a:r>
            <a:endParaRPr lang="en-US" sz="1700" dirty="0"/>
          </a:p>
        </p:txBody>
      </p:sp>
      <p:sp>
        <p:nvSpPr>
          <p:cNvPr id="15" name="Text 12"/>
          <p:cNvSpPr/>
          <p:nvPr/>
        </p:nvSpPr>
        <p:spPr>
          <a:xfrm>
            <a:off x="548640" y="40690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16" name="Text 13"/>
          <p:cNvSpPr txBox="1"/>
          <p:nvPr/>
        </p:nvSpPr>
        <p:spPr>
          <a:xfrm>
            <a:off x="1143000" y="4069080"/>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The house rules:  </a:t>
            </a:r>
            <a:pPr indent="0" marL="0">
              <a:buNone/>
            </a:pPr>
            <a:r>
              <a:rPr lang="en-US" sz="1700" dirty="0">
                <a:solidFill>
                  <a:schemeClr val="tx1"/>
                </a:solidFill>
              </a:rPr>
              <a:t>Seven kinds of house rule shape those parts.</a:t>
            </a:r>
            <a:endParaRPr lang="en-US" sz="1700" dirty="0"/>
          </a:p>
        </p:txBody>
      </p:sp>
      <p:sp>
        <p:nvSpPr>
          <p:cNvPr id="17" name="Text 14"/>
          <p:cNvSpPr/>
          <p:nvPr/>
        </p:nvSpPr>
        <p:spPr>
          <a:xfrm>
            <a:off x="548640" y="4599432"/>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18" name="Text 15"/>
          <p:cNvSpPr txBox="1"/>
          <p:nvPr/>
        </p:nvSpPr>
        <p:spPr>
          <a:xfrm>
            <a:off x="1143000" y="4599432"/>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What long-lasting groups do:  </a:t>
            </a:r>
            <a:pPr indent="0" marL="0">
              <a:buNone/>
            </a:pPr>
            <a:r>
              <a:rPr lang="en-US" sz="1700" dirty="0">
                <a:solidFill>
                  <a:schemeClr val="tx1"/>
                </a:solidFill>
              </a:rPr>
              <a:t>Lasting groups do eight things.</a:t>
            </a:r>
            <a:endParaRPr lang="en-US" sz="1700" dirty="0"/>
          </a:p>
        </p:txBody>
      </p:sp>
      <p:sp>
        <p:nvSpPr>
          <p:cNvPr id="19" name="Text 16"/>
          <p:cNvSpPr/>
          <p:nvPr/>
        </p:nvSpPr>
        <p:spPr>
          <a:xfrm>
            <a:off x="548640" y="5129784"/>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20" name="Text 17"/>
          <p:cNvSpPr txBox="1"/>
          <p:nvPr/>
        </p:nvSpPr>
        <p:spPr>
          <a:xfrm>
            <a:off x="1143000" y="5129784"/>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How a rule is put together:  </a:t>
            </a:r>
            <a:pPr indent="0" marL="0">
              <a:buNone/>
            </a:pPr>
            <a:r>
              <a:rPr lang="en-US" sz="1700" dirty="0">
                <a:solidFill>
                  <a:schemeClr val="tx1"/>
                </a:solidFill>
              </a:rPr>
              <a:t>Every rule has the same few parts; look for the missing "or else".</a:t>
            </a:r>
            <a:endParaRPr lang="en-US" sz="1700" dirty="0"/>
          </a:p>
        </p:txBody>
      </p:sp>
      <p:sp>
        <p:nvSpPr>
          <p:cNvPr id="21" name="Text 18"/>
          <p:cNvSpPr/>
          <p:nvPr/>
        </p:nvSpPr>
        <p:spPr>
          <a:xfrm>
            <a:off x="548640" y="5660136"/>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9</a:t>
            </a:r>
            <a:endParaRPr lang="en-US" sz="1400" dirty="0"/>
          </a:p>
        </p:txBody>
      </p:sp>
      <p:sp>
        <p:nvSpPr>
          <p:cNvPr id="22" name="Text 19"/>
          <p:cNvSpPr txBox="1"/>
          <p:nvPr/>
        </p:nvSpPr>
        <p:spPr>
          <a:xfrm>
            <a:off x="1143000" y="5660136"/>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Do I do my share?  </a:t>
            </a:r>
            <a:pPr indent="0" marL="0">
              <a:buNone/>
            </a:pPr>
            <a:r>
              <a:rPr lang="en-US" sz="1700" dirty="0">
                <a:solidFill>
                  <a:schemeClr val="tx1"/>
                </a:solidFill>
              </a:rPr>
              <a:t>I do my share when I trust you will.</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CLOSING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Questions to take to your group</a:t>
            </a:r>
            <a:endParaRPr lang="en-US" sz="3200" dirty="0"/>
          </a:p>
        </p:txBody>
      </p:sp>
      <p:sp>
        <p:nvSpPr>
          <p:cNvPr id="5" name="card 1"/>
          <p:cNvSpPr/>
          <p:nvPr/>
        </p:nvSpPr>
        <p:spPr>
          <a:xfrm>
            <a:off x="548640" y="1417320"/>
            <a:ext cx="3566160" cy="1463040"/>
          </a:xfrm>
          <a:prstGeom prst="roundRect">
            <a:avLst>
              <a:gd name="adj" fmla="val 5000"/>
            </a:avLst>
          </a:prstGeom>
          <a:solidFill>
            <a:schemeClr val="bg2"/>
          </a:solidFill>
          <a:ln w="12700">
            <a:solidFill>
              <a:schemeClr val="bg2"/>
            </a:solidFill>
            <a:prstDash val="solid"/>
          </a:ln>
        </p:spPr>
      </p:sp>
      <p:sp>
        <p:nvSpPr>
          <p:cNvPr id="6" name="Text 3"/>
          <p:cNvSpPr txBox="1"/>
          <p:nvPr/>
        </p:nvSpPr>
        <p:spPr>
          <a:xfrm>
            <a:off x="685800" y="15087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1</a:t>
            </a:r>
            <a:endParaRPr lang="en-US" sz="1600" dirty="0"/>
          </a:p>
          <a:p>
            <a:pPr indent="0" marL="0">
              <a:spcAft>
                <a:spcPts val="400"/>
              </a:spcAft>
              <a:buNone/>
            </a:pPr>
            <a:r>
              <a:rPr lang="en-US" sz="1600" dirty="0">
                <a:solidFill>
                  <a:schemeClr val="tx1"/>
                </a:solidFill>
              </a:rPr>
              <a:t>What is around the thing we share?</a:t>
            </a:r>
            <a:endParaRPr lang="en-US" sz="1600" dirty="0"/>
          </a:p>
        </p:txBody>
      </p:sp>
      <p:sp>
        <p:nvSpPr>
          <p:cNvPr id="7" name="card 2"/>
          <p:cNvSpPr/>
          <p:nvPr/>
        </p:nvSpPr>
        <p:spPr>
          <a:xfrm>
            <a:off x="4297680" y="1417320"/>
            <a:ext cx="3566160" cy="1463040"/>
          </a:xfrm>
          <a:prstGeom prst="roundRect">
            <a:avLst>
              <a:gd name="adj" fmla="val 5000"/>
            </a:avLst>
          </a:prstGeom>
          <a:solidFill>
            <a:schemeClr val="bg2"/>
          </a:solidFill>
          <a:ln w="12700">
            <a:solidFill>
              <a:schemeClr val="bg2"/>
            </a:solidFill>
            <a:prstDash val="solid"/>
          </a:ln>
        </p:spPr>
      </p:sp>
      <p:sp>
        <p:nvSpPr>
          <p:cNvPr id="8" name="Text 5"/>
          <p:cNvSpPr txBox="1"/>
          <p:nvPr/>
        </p:nvSpPr>
        <p:spPr>
          <a:xfrm>
            <a:off x="4434840" y="15087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2</a:t>
            </a:r>
            <a:endParaRPr lang="en-US" sz="1600" dirty="0"/>
          </a:p>
          <a:p>
            <a:pPr indent="0" marL="0">
              <a:spcAft>
                <a:spcPts val="400"/>
              </a:spcAft>
              <a:buNone/>
            </a:pPr>
            <a:r>
              <a:rPr lang="en-US" sz="1600" dirty="0">
                <a:solidFill>
                  <a:schemeClr val="tx1"/>
                </a:solidFill>
              </a:rPr>
              <a:t>Does it run out? Can we keep people out?</a:t>
            </a:r>
            <a:endParaRPr lang="en-US" sz="1600" dirty="0"/>
          </a:p>
        </p:txBody>
      </p:sp>
      <p:sp>
        <p:nvSpPr>
          <p:cNvPr id="9" name="card 3"/>
          <p:cNvSpPr/>
          <p:nvPr/>
        </p:nvSpPr>
        <p:spPr>
          <a:xfrm>
            <a:off x="8046720" y="1417320"/>
            <a:ext cx="3566160" cy="1463040"/>
          </a:xfrm>
          <a:prstGeom prst="roundRect">
            <a:avLst>
              <a:gd name="adj" fmla="val 5000"/>
            </a:avLst>
          </a:prstGeom>
          <a:solidFill>
            <a:schemeClr val="bg2"/>
          </a:solidFill>
          <a:ln w="12700">
            <a:solidFill>
              <a:schemeClr val="bg2"/>
            </a:solidFill>
            <a:prstDash val="solid"/>
          </a:ln>
        </p:spPr>
      </p:sp>
      <p:sp>
        <p:nvSpPr>
          <p:cNvPr id="10" name="Text 7"/>
          <p:cNvSpPr txBox="1"/>
          <p:nvPr/>
        </p:nvSpPr>
        <p:spPr>
          <a:xfrm>
            <a:off x="8183880" y="15087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3</a:t>
            </a:r>
            <a:endParaRPr lang="en-US" sz="1600" dirty="0"/>
          </a:p>
          <a:p>
            <a:pPr indent="0" marL="0">
              <a:spcAft>
                <a:spcPts val="400"/>
              </a:spcAft>
              <a:buNone/>
            </a:pPr>
            <a:r>
              <a:rPr lang="en-US" sz="1600" dirty="0">
                <a:solidFill>
                  <a:schemeClr val="tx1"/>
                </a:solidFill>
              </a:rPr>
              <a:t>Where do we really meet and decide?</a:t>
            </a:r>
            <a:endParaRPr lang="en-US" sz="1600" dirty="0"/>
          </a:p>
        </p:txBody>
      </p:sp>
      <p:sp>
        <p:nvSpPr>
          <p:cNvPr id="11" name="card 4"/>
          <p:cNvSpPr/>
          <p:nvPr/>
        </p:nvSpPr>
        <p:spPr>
          <a:xfrm>
            <a:off x="548640" y="3017520"/>
            <a:ext cx="3566160" cy="1463040"/>
          </a:xfrm>
          <a:prstGeom prst="roundRect">
            <a:avLst>
              <a:gd name="adj" fmla="val 5000"/>
            </a:avLst>
          </a:prstGeom>
          <a:solidFill>
            <a:schemeClr val="bg2"/>
          </a:solidFill>
          <a:ln w="12700">
            <a:solidFill>
              <a:schemeClr val="bg2"/>
            </a:solidFill>
            <a:prstDash val="solid"/>
          </a:ln>
        </p:spPr>
      </p:sp>
      <p:sp>
        <p:nvSpPr>
          <p:cNvPr id="12" name="Text 9"/>
          <p:cNvSpPr txBox="1"/>
          <p:nvPr/>
        </p:nvSpPr>
        <p:spPr>
          <a:xfrm>
            <a:off x="685800" y="31089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4</a:t>
            </a:r>
            <a:endParaRPr lang="en-US" sz="1600" dirty="0"/>
          </a:p>
          <a:p>
            <a:pPr indent="0" marL="0">
              <a:spcAft>
                <a:spcPts val="400"/>
              </a:spcAft>
              <a:buNone/>
            </a:pPr>
            <a:r>
              <a:rPr lang="en-US" sz="1600" dirty="0">
                <a:solidFill>
                  <a:schemeClr val="tx1"/>
                </a:solidFill>
              </a:rPr>
              <a:t>Who decides who decides? Is anyone missing a seat?</a:t>
            </a:r>
            <a:endParaRPr lang="en-US" sz="1600" dirty="0"/>
          </a:p>
        </p:txBody>
      </p:sp>
      <p:sp>
        <p:nvSpPr>
          <p:cNvPr id="13" name="card 5"/>
          <p:cNvSpPr/>
          <p:nvPr/>
        </p:nvSpPr>
        <p:spPr>
          <a:xfrm>
            <a:off x="4297680" y="3017520"/>
            <a:ext cx="3566160" cy="1463040"/>
          </a:xfrm>
          <a:prstGeom prst="roundRect">
            <a:avLst>
              <a:gd name="adj" fmla="val 5000"/>
            </a:avLst>
          </a:prstGeom>
          <a:solidFill>
            <a:schemeClr val="bg2"/>
          </a:solidFill>
          <a:ln w="12700">
            <a:solidFill>
              <a:schemeClr val="bg2"/>
            </a:solidFill>
            <a:prstDash val="solid"/>
          </a:ln>
        </p:spPr>
      </p:sp>
      <p:sp>
        <p:nvSpPr>
          <p:cNvPr id="14" name="Text 11"/>
          <p:cNvSpPr txBox="1"/>
          <p:nvPr/>
        </p:nvSpPr>
        <p:spPr>
          <a:xfrm>
            <a:off x="4434840" y="31089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5</a:t>
            </a:r>
            <a:endParaRPr lang="en-US" sz="1600" dirty="0"/>
          </a:p>
          <a:p>
            <a:pPr indent="0" marL="0">
              <a:spcAft>
                <a:spcPts val="400"/>
              </a:spcAft>
              <a:buNone/>
            </a:pPr>
            <a:r>
              <a:rPr lang="en-US" sz="1600" dirty="0">
                <a:solidFill>
                  <a:schemeClr val="tx1"/>
                </a:solidFill>
              </a:rPr>
              <a:t>What roles are there, and what does each know?</a:t>
            </a:r>
            <a:endParaRPr lang="en-US" sz="1600" dirty="0"/>
          </a:p>
        </p:txBody>
      </p:sp>
      <p:sp>
        <p:nvSpPr>
          <p:cNvPr id="15" name="card 6"/>
          <p:cNvSpPr/>
          <p:nvPr/>
        </p:nvSpPr>
        <p:spPr>
          <a:xfrm>
            <a:off x="8046720" y="3017520"/>
            <a:ext cx="3566160" cy="1463040"/>
          </a:xfrm>
          <a:prstGeom prst="roundRect">
            <a:avLst>
              <a:gd name="adj" fmla="val 5000"/>
            </a:avLst>
          </a:prstGeom>
          <a:solidFill>
            <a:schemeClr val="bg2"/>
          </a:solidFill>
          <a:ln w="12700">
            <a:solidFill>
              <a:schemeClr val="bg2"/>
            </a:solidFill>
            <a:prstDash val="solid"/>
          </a:ln>
        </p:spPr>
      </p:sp>
      <p:sp>
        <p:nvSpPr>
          <p:cNvPr id="16" name="Text 13"/>
          <p:cNvSpPr txBox="1"/>
          <p:nvPr/>
        </p:nvSpPr>
        <p:spPr>
          <a:xfrm>
            <a:off x="8183880" y="31089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6</a:t>
            </a:r>
            <a:endParaRPr lang="en-US" sz="1600" dirty="0"/>
          </a:p>
          <a:p>
            <a:pPr indent="0" marL="0">
              <a:spcAft>
                <a:spcPts val="400"/>
              </a:spcAft>
              <a:buNone/>
            </a:pPr>
            <a:r>
              <a:rPr lang="en-US" sz="1600" dirty="0">
                <a:solidFill>
                  <a:schemeClr val="tx1"/>
                </a:solidFill>
              </a:rPr>
              <a:t>Which of our rules are written down, and which are just habits?</a:t>
            </a:r>
            <a:endParaRPr lang="en-US" sz="1600" dirty="0"/>
          </a:p>
        </p:txBody>
      </p:sp>
      <p:sp>
        <p:nvSpPr>
          <p:cNvPr id="17" name="card 7"/>
          <p:cNvSpPr/>
          <p:nvPr/>
        </p:nvSpPr>
        <p:spPr>
          <a:xfrm>
            <a:off x="548640" y="4617720"/>
            <a:ext cx="3566160" cy="1463040"/>
          </a:xfrm>
          <a:prstGeom prst="roundRect">
            <a:avLst>
              <a:gd name="adj" fmla="val 5000"/>
            </a:avLst>
          </a:prstGeom>
          <a:solidFill>
            <a:schemeClr val="bg2"/>
          </a:solidFill>
          <a:ln w="12700">
            <a:solidFill>
              <a:schemeClr val="bg2"/>
            </a:solidFill>
            <a:prstDash val="solid"/>
          </a:ln>
        </p:spPr>
      </p:sp>
      <p:sp>
        <p:nvSpPr>
          <p:cNvPr id="18" name="Text 15"/>
          <p:cNvSpPr txBox="1"/>
          <p:nvPr/>
        </p:nvSpPr>
        <p:spPr>
          <a:xfrm>
            <a:off x="685800" y="47091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7</a:t>
            </a:r>
            <a:endParaRPr lang="en-US" sz="1600" dirty="0"/>
          </a:p>
          <a:p>
            <a:pPr indent="0" marL="0">
              <a:spcAft>
                <a:spcPts val="400"/>
              </a:spcAft>
              <a:buNone/>
            </a:pPr>
            <a:r>
              <a:rPr lang="en-US" sz="1600" dirty="0">
                <a:solidFill>
                  <a:schemeClr val="tx1"/>
                </a:solidFill>
              </a:rPr>
              <a:t>Which of the eight are we missing?</a:t>
            </a:r>
            <a:endParaRPr lang="en-US" sz="1600" dirty="0"/>
          </a:p>
        </p:txBody>
      </p:sp>
      <p:sp>
        <p:nvSpPr>
          <p:cNvPr id="19" name="card 8"/>
          <p:cNvSpPr/>
          <p:nvPr/>
        </p:nvSpPr>
        <p:spPr>
          <a:xfrm>
            <a:off x="4297680" y="4617720"/>
            <a:ext cx="3566160" cy="1463040"/>
          </a:xfrm>
          <a:prstGeom prst="roundRect">
            <a:avLst>
              <a:gd name="adj" fmla="val 5000"/>
            </a:avLst>
          </a:prstGeom>
          <a:solidFill>
            <a:schemeClr val="bg2"/>
          </a:solidFill>
          <a:ln w="12700">
            <a:solidFill>
              <a:schemeClr val="bg2"/>
            </a:solidFill>
            <a:prstDash val="solid"/>
          </a:ln>
        </p:spPr>
      </p:sp>
      <p:sp>
        <p:nvSpPr>
          <p:cNvPr id="20" name="Text 17"/>
          <p:cNvSpPr txBox="1"/>
          <p:nvPr/>
        </p:nvSpPr>
        <p:spPr>
          <a:xfrm>
            <a:off x="4434840" y="47091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8</a:t>
            </a:r>
            <a:endParaRPr lang="en-US" sz="1600" dirty="0"/>
          </a:p>
          <a:p>
            <a:pPr indent="0" marL="0">
              <a:spcAft>
                <a:spcPts val="400"/>
              </a:spcAft>
              <a:buNone/>
            </a:pPr>
            <a:r>
              <a:rPr lang="en-US" sz="1600" dirty="0">
                <a:solidFill>
                  <a:schemeClr val="tx1"/>
                </a:solidFill>
              </a:rPr>
              <a:t>Which of our rules has no "or else"?</a:t>
            </a:r>
            <a:endParaRPr lang="en-US" sz="1600" dirty="0"/>
          </a:p>
        </p:txBody>
      </p:sp>
      <p:sp>
        <p:nvSpPr>
          <p:cNvPr id="21" name="card 9"/>
          <p:cNvSpPr/>
          <p:nvPr/>
        </p:nvSpPr>
        <p:spPr>
          <a:xfrm>
            <a:off x="8046720" y="4617720"/>
            <a:ext cx="3566160" cy="1463040"/>
          </a:xfrm>
          <a:prstGeom prst="roundRect">
            <a:avLst>
              <a:gd name="adj" fmla="val 5000"/>
            </a:avLst>
          </a:prstGeom>
          <a:solidFill>
            <a:schemeClr val="bg2"/>
          </a:solidFill>
          <a:ln w="12700">
            <a:solidFill>
              <a:schemeClr val="bg2"/>
            </a:solidFill>
            <a:prstDash val="solid"/>
          </a:ln>
        </p:spPr>
      </p:sp>
      <p:sp>
        <p:nvSpPr>
          <p:cNvPr id="22" name="Text 19"/>
          <p:cNvSpPr txBox="1"/>
          <p:nvPr/>
        </p:nvSpPr>
        <p:spPr>
          <a:xfrm>
            <a:off x="8183880" y="47091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9</a:t>
            </a:r>
            <a:endParaRPr lang="en-US" sz="1600" dirty="0"/>
          </a:p>
          <a:p>
            <a:pPr indent="0" marL="0">
              <a:spcAft>
                <a:spcPts val="400"/>
              </a:spcAft>
              <a:buNone/>
            </a:pPr>
            <a:r>
              <a:rPr lang="en-US" sz="1600" dirty="0">
                <a:solidFill>
                  <a:schemeClr val="tx1"/>
                </a:solidFill>
              </a:rPr>
              <a:t>What would make each of us surer the others will do their share?</a:t>
            </a:r>
            <a:endParaRPr lang="en-US" sz="16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CLOSING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Everyday words, and Ostrom's (1 of 2)</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Alphabetical by the everyday words, with the word Ostrom used.</a:t>
            </a:r>
            <a:endParaRPr lang="en-US" sz="1500" dirty="0"/>
          </a:p>
        </p:txBody>
      </p:sp>
      <p:sp>
        <p:nvSpPr>
          <p:cNvPr id="6" name="card Can run out, hard to fence off"/>
          <p:cNvSpPr/>
          <p:nvPr/>
        </p:nvSpPr>
        <p:spPr>
          <a:xfrm>
            <a:off x="548640" y="1828800"/>
            <a:ext cx="5477256" cy="647700"/>
          </a:xfrm>
          <a:prstGeom prst="roundRect">
            <a:avLst>
              <a:gd name="adj" fmla="val 11294"/>
            </a:avLst>
          </a:prstGeom>
          <a:solidFill>
            <a:schemeClr val="bg2"/>
          </a:solidFill>
          <a:ln w="12700">
            <a:solidFill>
              <a:schemeClr val="bg2"/>
            </a:solidFill>
            <a:prstDash val="solid"/>
          </a:ln>
        </p:spPr>
      </p:sp>
      <p:sp>
        <p:nvSpPr>
          <p:cNvPr id="7" name="Text 4"/>
          <p:cNvSpPr txBox="1"/>
          <p:nvPr/>
        </p:nvSpPr>
        <p:spPr>
          <a:xfrm>
            <a:off x="685800" y="1920240"/>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Can run out, hard to fence off</a:t>
            </a:r>
            <a:endParaRPr lang="en-US" sz="1500" dirty="0"/>
          </a:p>
          <a:p>
            <a:pPr indent="0" marL="0">
              <a:spcAft>
                <a:spcPts val="400"/>
              </a:spcAft>
              <a:buNone/>
            </a:pPr>
            <a:r>
              <a:rPr lang="en-US" sz="1200" i="1" dirty="0">
                <a:solidFill>
                  <a:srgbClr val="6B7A70"/>
                </a:solidFill>
              </a:rPr>
              <a:t>Ostrom's word: common-pool resource</a:t>
            </a:r>
            <a:endParaRPr lang="en-US" sz="1500" dirty="0"/>
          </a:p>
        </p:txBody>
      </p:sp>
      <p:sp>
        <p:nvSpPr>
          <p:cNvPr id="8" name="card Deciding who sets the house rules"/>
          <p:cNvSpPr/>
          <p:nvPr/>
        </p:nvSpPr>
        <p:spPr>
          <a:xfrm>
            <a:off x="548640" y="2586228"/>
            <a:ext cx="5477256" cy="647700"/>
          </a:xfrm>
          <a:prstGeom prst="roundRect">
            <a:avLst>
              <a:gd name="adj" fmla="val 11294"/>
            </a:avLst>
          </a:prstGeom>
          <a:solidFill>
            <a:schemeClr val="bg2"/>
          </a:solidFill>
          <a:ln w="12700">
            <a:solidFill>
              <a:schemeClr val="bg2"/>
            </a:solidFill>
            <a:prstDash val="solid"/>
          </a:ln>
        </p:spPr>
      </p:sp>
      <p:sp>
        <p:nvSpPr>
          <p:cNvPr id="9" name="Text 6"/>
          <p:cNvSpPr txBox="1"/>
          <p:nvPr/>
        </p:nvSpPr>
        <p:spPr>
          <a:xfrm>
            <a:off x="685800" y="2677668"/>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Deciding who sets the house rules</a:t>
            </a:r>
            <a:endParaRPr lang="en-US" sz="1500" dirty="0"/>
          </a:p>
          <a:p>
            <a:pPr indent="0" marL="0">
              <a:spcAft>
                <a:spcPts val="400"/>
              </a:spcAft>
              <a:buNone/>
            </a:pPr>
            <a:r>
              <a:rPr lang="en-US" sz="1200" i="1" dirty="0">
                <a:solidFill>
                  <a:srgbClr val="6B7A70"/>
                </a:solidFill>
              </a:rPr>
              <a:t>Ostrom's word: constitutional</a:t>
            </a:r>
            <a:endParaRPr lang="en-US" sz="1500" dirty="0"/>
          </a:p>
        </p:txBody>
      </p:sp>
      <p:sp>
        <p:nvSpPr>
          <p:cNvPr id="10" name="card Doing the work"/>
          <p:cNvSpPr/>
          <p:nvPr/>
        </p:nvSpPr>
        <p:spPr>
          <a:xfrm>
            <a:off x="548640" y="3343656"/>
            <a:ext cx="5477256" cy="647700"/>
          </a:xfrm>
          <a:prstGeom prst="roundRect">
            <a:avLst>
              <a:gd name="adj" fmla="val 11294"/>
            </a:avLst>
          </a:prstGeom>
          <a:solidFill>
            <a:schemeClr val="bg2"/>
          </a:solidFill>
          <a:ln w="12700">
            <a:solidFill>
              <a:schemeClr val="bg2"/>
            </a:solidFill>
            <a:prstDash val="solid"/>
          </a:ln>
        </p:spPr>
      </p:sp>
      <p:sp>
        <p:nvSpPr>
          <p:cNvPr id="11" name="Text 8"/>
          <p:cNvSpPr txBox="1"/>
          <p:nvPr/>
        </p:nvSpPr>
        <p:spPr>
          <a:xfrm>
            <a:off x="685800" y="3435096"/>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Doing the work</a:t>
            </a:r>
            <a:endParaRPr lang="en-US" sz="1500" dirty="0"/>
          </a:p>
          <a:p>
            <a:pPr indent="0" marL="0">
              <a:spcAft>
                <a:spcPts val="400"/>
              </a:spcAft>
              <a:buNone/>
            </a:pPr>
            <a:r>
              <a:rPr lang="en-US" sz="1200" i="1" dirty="0">
                <a:solidFill>
                  <a:srgbClr val="6B7A70"/>
                </a:solidFill>
              </a:rPr>
              <a:t>Ostrom's word: operational</a:t>
            </a:r>
            <a:endParaRPr lang="en-US" sz="1500" dirty="0"/>
          </a:p>
        </p:txBody>
      </p:sp>
      <p:sp>
        <p:nvSpPr>
          <p:cNvPr id="12" name="card Everyone gets it, helped or not"/>
          <p:cNvSpPr/>
          <p:nvPr/>
        </p:nvSpPr>
        <p:spPr>
          <a:xfrm>
            <a:off x="548640" y="4101084"/>
            <a:ext cx="5477256" cy="647700"/>
          </a:xfrm>
          <a:prstGeom prst="roundRect">
            <a:avLst>
              <a:gd name="adj" fmla="val 11294"/>
            </a:avLst>
          </a:prstGeom>
          <a:solidFill>
            <a:schemeClr val="bg2"/>
          </a:solidFill>
          <a:ln w="12700">
            <a:solidFill>
              <a:schemeClr val="bg2"/>
            </a:solidFill>
            <a:prstDash val="solid"/>
          </a:ln>
        </p:spPr>
      </p:sp>
      <p:sp>
        <p:nvSpPr>
          <p:cNvPr id="13" name="Text 10"/>
          <p:cNvSpPr txBox="1"/>
          <p:nvPr/>
        </p:nvSpPr>
        <p:spPr>
          <a:xfrm>
            <a:off x="685800" y="4192524"/>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Everyone gets it, helped or not</a:t>
            </a:r>
            <a:endParaRPr lang="en-US" sz="1500" dirty="0"/>
          </a:p>
          <a:p>
            <a:pPr indent="0" marL="0">
              <a:spcAft>
                <a:spcPts val="400"/>
              </a:spcAft>
              <a:buNone/>
            </a:pPr>
            <a:r>
              <a:rPr lang="en-US" sz="1200" i="1" dirty="0">
                <a:solidFill>
                  <a:srgbClr val="6B7A70"/>
                </a:solidFill>
              </a:rPr>
              <a:t>Ostrom's word: public good</a:t>
            </a:r>
            <a:endParaRPr lang="en-US" sz="1500" dirty="0"/>
          </a:p>
        </p:txBody>
      </p:sp>
      <p:sp>
        <p:nvSpPr>
          <p:cNvPr id="14" name="card Groups within groups"/>
          <p:cNvSpPr/>
          <p:nvPr/>
        </p:nvSpPr>
        <p:spPr>
          <a:xfrm>
            <a:off x="548640" y="4858512"/>
            <a:ext cx="5477256" cy="647700"/>
          </a:xfrm>
          <a:prstGeom prst="roundRect">
            <a:avLst>
              <a:gd name="adj" fmla="val 11294"/>
            </a:avLst>
          </a:prstGeom>
          <a:solidFill>
            <a:schemeClr val="bg2"/>
          </a:solidFill>
          <a:ln w="12700">
            <a:solidFill>
              <a:schemeClr val="bg2"/>
            </a:solidFill>
            <a:prstDash val="solid"/>
          </a:ln>
        </p:spPr>
      </p:sp>
      <p:sp>
        <p:nvSpPr>
          <p:cNvPr id="15" name="Text 12"/>
          <p:cNvSpPr txBox="1"/>
          <p:nvPr/>
        </p:nvSpPr>
        <p:spPr>
          <a:xfrm>
            <a:off x="685800" y="4949952"/>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Groups within groups</a:t>
            </a:r>
            <a:endParaRPr lang="en-US" sz="1500" dirty="0"/>
          </a:p>
          <a:p>
            <a:pPr indent="0" marL="0">
              <a:spcAft>
                <a:spcPts val="400"/>
              </a:spcAft>
              <a:buNone/>
            </a:pPr>
            <a:r>
              <a:rPr lang="en-US" sz="1200" i="1" dirty="0">
                <a:solidFill>
                  <a:srgbClr val="6B7A70"/>
                </a:solidFill>
              </a:rPr>
              <a:t>Ostrom's word: nested enterprises</a:t>
            </a:r>
            <a:endParaRPr lang="en-US" sz="1500" dirty="0"/>
          </a:p>
        </p:txBody>
      </p:sp>
      <p:sp>
        <p:nvSpPr>
          <p:cNvPr id="16" name="card How a rule is put together"/>
          <p:cNvSpPr/>
          <p:nvPr/>
        </p:nvSpPr>
        <p:spPr>
          <a:xfrm>
            <a:off x="548640" y="5615940"/>
            <a:ext cx="5477256" cy="647700"/>
          </a:xfrm>
          <a:prstGeom prst="roundRect">
            <a:avLst>
              <a:gd name="adj" fmla="val 11294"/>
            </a:avLst>
          </a:prstGeom>
          <a:solidFill>
            <a:schemeClr val="bg2"/>
          </a:solidFill>
          <a:ln w="12700">
            <a:solidFill>
              <a:schemeClr val="bg2"/>
            </a:solidFill>
            <a:prstDash val="solid"/>
          </a:ln>
        </p:spPr>
      </p:sp>
      <p:sp>
        <p:nvSpPr>
          <p:cNvPr id="17" name="Text 14"/>
          <p:cNvSpPr txBox="1"/>
          <p:nvPr/>
        </p:nvSpPr>
        <p:spPr>
          <a:xfrm>
            <a:off x="685800" y="5707380"/>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How a rule is put together</a:t>
            </a:r>
            <a:endParaRPr lang="en-US" sz="1500" dirty="0"/>
          </a:p>
          <a:p>
            <a:pPr indent="0" marL="0">
              <a:spcAft>
                <a:spcPts val="400"/>
              </a:spcAft>
              <a:buNone/>
            </a:pPr>
            <a:r>
              <a:rPr lang="en-US" sz="1200" i="1" dirty="0">
                <a:solidFill>
                  <a:srgbClr val="6B7A70"/>
                </a:solidFill>
              </a:rPr>
              <a:t>Ostrom's word: Institutional Grammar; ADICO</a:t>
            </a:r>
            <a:endParaRPr lang="en-US" sz="1500" dirty="0"/>
          </a:p>
        </p:txBody>
      </p:sp>
      <p:sp>
        <p:nvSpPr>
          <p:cNvPr id="18" name="card How things really work here"/>
          <p:cNvSpPr/>
          <p:nvPr/>
        </p:nvSpPr>
        <p:spPr>
          <a:xfrm>
            <a:off x="6135624" y="1828800"/>
            <a:ext cx="5477256" cy="647700"/>
          </a:xfrm>
          <a:prstGeom prst="roundRect">
            <a:avLst>
              <a:gd name="adj" fmla="val 11294"/>
            </a:avLst>
          </a:prstGeom>
          <a:solidFill>
            <a:schemeClr val="bg2"/>
          </a:solidFill>
          <a:ln w="12700">
            <a:solidFill>
              <a:schemeClr val="bg2"/>
            </a:solidFill>
            <a:prstDash val="solid"/>
          </a:ln>
        </p:spPr>
      </p:sp>
      <p:sp>
        <p:nvSpPr>
          <p:cNvPr id="19" name="Text 16"/>
          <p:cNvSpPr txBox="1"/>
          <p:nvPr/>
        </p:nvSpPr>
        <p:spPr>
          <a:xfrm>
            <a:off x="6272784" y="1920240"/>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How things really work here</a:t>
            </a:r>
            <a:endParaRPr lang="en-US" sz="1500" dirty="0"/>
          </a:p>
          <a:p>
            <a:pPr indent="0" marL="0">
              <a:spcAft>
                <a:spcPts val="400"/>
              </a:spcAft>
              <a:buNone/>
            </a:pPr>
            <a:r>
              <a:rPr lang="en-US" sz="1200" i="1" dirty="0">
                <a:solidFill>
                  <a:srgbClr val="6B7A70"/>
                </a:solidFill>
              </a:rPr>
              <a:t>Ostrom's word: rules-in-use</a:t>
            </a:r>
            <a:endParaRPr lang="en-US" sz="1500" dirty="0"/>
          </a:p>
        </p:txBody>
      </p:sp>
      <p:sp>
        <p:nvSpPr>
          <p:cNvPr id="20" name="card How we decide"/>
          <p:cNvSpPr/>
          <p:nvPr/>
        </p:nvSpPr>
        <p:spPr>
          <a:xfrm>
            <a:off x="6135624" y="2586228"/>
            <a:ext cx="5477256" cy="647700"/>
          </a:xfrm>
          <a:prstGeom prst="roundRect">
            <a:avLst>
              <a:gd name="adj" fmla="val 11294"/>
            </a:avLst>
          </a:prstGeom>
          <a:solidFill>
            <a:schemeClr val="bg2"/>
          </a:solidFill>
          <a:ln w="12700">
            <a:solidFill>
              <a:schemeClr val="bg2"/>
            </a:solidFill>
            <a:prstDash val="solid"/>
          </a:ln>
        </p:spPr>
      </p:sp>
      <p:sp>
        <p:nvSpPr>
          <p:cNvPr id="21" name="Text 18"/>
          <p:cNvSpPr txBox="1"/>
          <p:nvPr/>
        </p:nvSpPr>
        <p:spPr>
          <a:xfrm>
            <a:off x="6272784" y="2677668"/>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How we decide</a:t>
            </a:r>
            <a:endParaRPr lang="en-US" sz="1500" dirty="0"/>
          </a:p>
          <a:p>
            <a:pPr indent="0" marL="0">
              <a:spcAft>
                <a:spcPts val="400"/>
              </a:spcAft>
              <a:buNone/>
            </a:pPr>
            <a:r>
              <a:rPr lang="en-US" sz="1200" i="1" dirty="0">
                <a:solidFill>
                  <a:srgbClr val="6B7A70"/>
                </a:solidFill>
              </a:rPr>
              <a:t>Ostrom's word: aggregation rules</a:t>
            </a:r>
            <a:endParaRPr lang="en-US" sz="1500" dirty="0"/>
          </a:p>
        </p:txBody>
      </p:sp>
      <p:sp>
        <p:nvSpPr>
          <p:cNvPr id="22" name="card How we judge whether it worked"/>
          <p:cNvSpPr/>
          <p:nvPr/>
        </p:nvSpPr>
        <p:spPr>
          <a:xfrm>
            <a:off x="6135624" y="3343656"/>
            <a:ext cx="5477256" cy="647700"/>
          </a:xfrm>
          <a:prstGeom prst="roundRect">
            <a:avLst>
              <a:gd name="adj" fmla="val 11294"/>
            </a:avLst>
          </a:prstGeom>
          <a:solidFill>
            <a:schemeClr val="bg2"/>
          </a:solidFill>
          <a:ln w="12700">
            <a:solidFill>
              <a:schemeClr val="bg2"/>
            </a:solidFill>
            <a:prstDash val="solid"/>
          </a:ln>
        </p:spPr>
      </p:sp>
      <p:sp>
        <p:nvSpPr>
          <p:cNvPr id="23" name="Text 20"/>
          <p:cNvSpPr txBox="1"/>
          <p:nvPr/>
        </p:nvSpPr>
        <p:spPr>
          <a:xfrm>
            <a:off x="6272784" y="3435096"/>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How we judge whether it worked</a:t>
            </a:r>
            <a:endParaRPr lang="en-US" sz="1500" dirty="0"/>
          </a:p>
          <a:p>
            <a:pPr indent="0" marL="0">
              <a:spcAft>
                <a:spcPts val="400"/>
              </a:spcAft>
              <a:buNone/>
            </a:pPr>
            <a:r>
              <a:rPr lang="en-US" sz="1200" i="1" dirty="0">
                <a:solidFill>
                  <a:srgbClr val="6B7A70"/>
                </a:solidFill>
              </a:rPr>
              <a:t>Ostrom's word: evaluative criteria</a:t>
            </a:r>
            <a:endParaRPr lang="en-US" sz="1500" dirty="0"/>
          </a:p>
        </p:txBody>
      </p:sp>
      <p:sp>
        <p:nvSpPr>
          <p:cNvPr id="24" name="card Keeping an eye out"/>
          <p:cNvSpPr/>
          <p:nvPr/>
        </p:nvSpPr>
        <p:spPr>
          <a:xfrm>
            <a:off x="6135624" y="4101084"/>
            <a:ext cx="5477256" cy="647700"/>
          </a:xfrm>
          <a:prstGeom prst="roundRect">
            <a:avLst>
              <a:gd name="adj" fmla="val 11294"/>
            </a:avLst>
          </a:prstGeom>
          <a:solidFill>
            <a:schemeClr val="bg2"/>
          </a:solidFill>
          <a:ln w="12700">
            <a:solidFill>
              <a:schemeClr val="bg2"/>
            </a:solidFill>
            <a:prstDash val="solid"/>
          </a:ln>
        </p:spPr>
      </p:sp>
      <p:sp>
        <p:nvSpPr>
          <p:cNvPr id="25" name="Text 22"/>
          <p:cNvSpPr txBox="1"/>
          <p:nvPr/>
        </p:nvSpPr>
        <p:spPr>
          <a:xfrm>
            <a:off x="6272784" y="4192524"/>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Keeping an eye out</a:t>
            </a:r>
            <a:endParaRPr lang="en-US" sz="1500" dirty="0"/>
          </a:p>
          <a:p>
            <a:pPr indent="0" marL="0">
              <a:spcAft>
                <a:spcPts val="400"/>
              </a:spcAft>
              <a:buNone/>
            </a:pPr>
            <a:r>
              <a:rPr lang="en-US" sz="1200" i="1" dirty="0">
                <a:solidFill>
                  <a:srgbClr val="6B7A70"/>
                </a:solidFill>
              </a:rPr>
              <a:t>Ostrom's word: monitoring</a:t>
            </a:r>
            <a:endParaRPr lang="en-US" sz="1500" dirty="0"/>
          </a:p>
        </p:txBody>
      </p:sp>
      <p:sp>
        <p:nvSpPr>
          <p:cNvPr id="26" name="card Members only"/>
          <p:cNvSpPr/>
          <p:nvPr/>
        </p:nvSpPr>
        <p:spPr>
          <a:xfrm>
            <a:off x="6135624" y="4858512"/>
            <a:ext cx="5477256" cy="647700"/>
          </a:xfrm>
          <a:prstGeom prst="roundRect">
            <a:avLst>
              <a:gd name="adj" fmla="val 11294"/>
            </a:avLst>
          </a:prstGeom>
          <a:solidFill>
            <a:schemeClr val="bg2"/>
          </a:solidFill>
          <a:ln w="12700">
            <a:solidFill>
              <a:schemeClr val="bg2"/>
            </a:solidFill>
            <a:prstDash val="solid"/>
          </a:ln>
        </p:spPr>
      </p:sp>
      <p:sp>
        <p:nvSpPr>
          <p:cNvPr id="27" name="Text 24"/>
          <p:cNvSpPr txBox="1"/>
          <p:nvPr/>
        </p:nvSpPr>
        <p:spPr>
          <a:xfrm>
            <a:off x="6272784" y="4949952"/>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Members only</a:t>
            </a:r>
            <a:endParaRPr lang="en-US" sz="1500" dirty="0"/>
          </a:p>
          <a:p>
            <a:pPr indent="0" marL="0">
              <a:spcAft>
                <a:spcPts val="400"/>
              </a:spcAft>
              <a:buNone/>
            </a:pPr>
            <a:r>
              <a:rPr lang="en-US" sz="1200" i="1" dirty="0">
                <a:solidFill>
                  <a:srgbClr val="6B7A70"/>
                </a:solidFill>
              </a:rPr>
              <a:t>Ostrom's word: toll (club) good</a:t>
            </a:r>
            <a:endParaRPr lang="en-US" sz="1500" dirty="0"/>
          </a:p>
        </p:txBody>
      </p:sp>
      <p:sp>
        <p:nvSpPr>
          <p:cNvPr id="28" name="card The people and the place, together"/>
          <p:cNvSpPr/>
          <p:nvPr/>
        </p:nvSpPr>
        <p:spPr>
          <a:xfrm>
            <a:off x="6135624" y="5615940"/>
            <a:ext cx="5477256" cy="647700"/>
          </a:xfrm>
          <a:prstGeom prst="roundRect">
            <a:avLst>
              <a:gd name="adj" fmla="val 11294"/>
            </a:avLst>
          </a:prstGeom>
          <a:solidFill>
            <a:schemeClr val="bg2"/>
          </a:solidFill>
          <a:ln w="12700">
            <a:solidFill>
              <a:schemeClr val="bg2"/>
            </a:solidFill>
            <a:prstDash val="solid"/>
          </a:ln>
        </p:spPr>
      </p:sp>
      <p:sp>
        <p:nvSpPr>
          <p:cNvPr id="29" name="Text 26"/>
          <p:cNvSpPr txBox="1"/>
          <p:nvPr/>
        </p:nvSpPr>
        <p:spPr>
          <a:xfrm>
            <a:off x="6272784" y="5707380"/>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people and the place, together</a:t>
            </a:r>
            <a:endParaRPr lang="en-US" sz="1500" dirty="0"/>
          </a:p>
          <a:p>
            <a:pPr indent="0" marL="0">
              <a:spcAft>
                <a:spcPts val="400"/>
              </a:spcAft>
              <a:buNone/>
            </a:pPr>
            <a:r>
              <a:rPr lang="en-US" sz="1200" i="1" dirty="0">
                <a:solidFill>
                  <a:srgbClr val="6B7A70"/>
                </a:solidFill>
              </a:rPr>
              <a:t>Ostrom's word: social-ecological system</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CLOSING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Everyday words, and Ostrom's (2 of 2)</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Alphabetical by the everyday words, with the word Ostrom used.</a:t>
            </a:r>
            <a:endParaRPr lang="en-US" sz="1500" dirty="0"/>
          </a:p>
        </p:txBody>
      </p:sp>
      <p:sp>
        <p:nvSpPr>
          <p:cNvPr id="6" name="card Roles"/>
          <p:cNvSpPr/>
          <p:nvPr/>
        </p:nvSpPr>
        <p:spPr>
          <a:xfrm>
            <a:off x="548640" y="1828800"/>
            <a:ext cx="5477256" cy="647700"/>
          </a:xfrm>
          <a:prstGeom prst="roundRect">
            <a:avLst>
              <a:gd name="adj" fmla="val 11294"/>
            </a:avLst>
          </a:prstGeom>
          <a:solidFill>
            <a:schemeClr val="bg2"/>
          </a:solidFill>
          <a:ln w="12700">
            <a:solidFill>
              <a:schemeClr val="bg2"/>
            </a:solidFill>
            <a:prstDash val="solid"/>
          </a:ln>
        </p:spPr>
      </p:sp>
      <p:sp>
        <p:nvSpPr>
          <p:cNvPr id="7" name="Text 4"/>
          <p:cNvSpPr txBox="1"/>
          <p:nvPr/>
        </p:nvSpPr>
        <p:spPr>
          <a:xfrm>
            <a:off x="685800" y="1920240"/>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Roles</a:t>
            </a:r>
            <a:endParaRPr lang="en-US" sz="1500" dirty="0"/>
          </a:p>
          <a:p>
            <a:pPr indent="0" marL="0">
              <a:spcAft>
                <a:spcPts val="400"/>
              </a:spcAft>
              <a:buNone/>
            </a:pPr>
            <a:r>
              <a:rPr lang="en-US" sz="1200" i="1" dirty="0">
                <a:solidFill>
                  <a:srgbClr val="6B7A70"/>
                </a:solidFill>
              </a:rPr>
              <a:t>Ostrom's word: positions</a:t>
            </a:r>
            <a:endParaRPr lang="en-US" sz="1500" dirty="0"/>
          </a:p>
        </p:txBody>
      </p:sp>
      <p:sp>
        <p:nvSpPr>
          <p:cNvPr id="8" name="card Setting the house rules"/>
          <p:cNvSpPr/>
          <p:nvPr/>
        </p:nvSpPr>
        <p:spPr>
          <a:xfrm>
            <a:off x="548640" y="2586228"/>
            <a:ext cx="5477256" cy="647700"/>
          </a:xfrm>
          <a:prstGeom prst="roundRect">
            <a:avLst>
              <a:gd name="adj" fmla="val 11294"/>
            </a:avLst>
          </a:prstGeom>
          <a:solidFill>
            <a:schemeClr val="bg2"/>
          </a:solidFill>
          <a:ln w="12700">
            <a:solidFill>
              <a:schemeClr val="bg2"/>
            </a:solidFill>
            <a:prstDash val="solid"/>
          </a:ln>
        </p:spPr>
      </p:sp>
      <p:sp>
        <p:nvSpPr>
          <p:cNvPr id="9" name="Text 6"/>
          <p:cNvSpPr txBox="1"/>
          <p:nvPr/>
        </p:nvSpPr>
        <p:spPr>
          <a:xfrm>
            <a:off x="685800" y="2677668"/>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Setting the house rules</a:t>
            </a:r>
            <a:endParaRPr lang="en-US" sz="1500" dirty="0"/>
          </a:p>
          <a:p>
            <a:pPr indent="0" marL="0">
              <a:spcAft>
                <a:spcPts val="400"/>
              </a:spcAft>
              <a:buNone/>
            </a:pPr>
            <a:r>
              <a:rPr lang="en-US" sz="1200" i="1" dirty="0">
                <a:solidFill>
                  <a:srgbClr val="6B7A70"/>
                </a:solidFill>
              </a:rPr>
              <a:t>Ostrom's word: collective choice</a:t>
            </a:r>
            <a:endParaRPr lang="en-US" sz="1500" dirty="0"/>
          </a:p>
        </p:txBody>
      </p:sp>
      <p:sp>
        <p:nvSpPr>
          <p:cNvPr id="10" name="card The small details of the moment"/>
          <p:cNvSpPr/>
          <p:nvPr/>
        </p:nvSpPr>
        <p:spPr>
          <a:xfrm>
            <a:off x="548640" y="3343656"/>
            <a:ext cx="5477256" cy="647700"/>
          </a:xfrm>
          <a:prstGeom prst="roundRect">
            <a:avLst>
              <a:gd name="adj" fmla="val 11294"/>
            </a:avLst>
          </a:prstGeom>
          <a:solidFill>
            <a:schemeClr val="bg2"/>
          </a:solidFill>
          <a:ln w="12700">
            <a:solidFill>
              <a:schemeClr val="bg2"/>
            </a:solidFill>
            <a:prstDash val="solid"/>
          </a:ln>
        </p:spPr>
      </p:sp>
      <p:sp>
        <p:nvSpPr>
          <p:cNvPr id="11" name="Text 8"/>
          <p:cNvSpPr txBox="1"/>
          <p:nvPr/>
        </p:nvSpPr>
        <p:spPr>
          <a:xfrm>
            <a:off x="685800" y="3435096"/>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small details of the moment</a:t>
            </a:r>
            <a:endParaRPr lang="en-US" sz="1500" dirty="0"/>
          </a:p>
          <a:p>
            <a:pPr indent="0" marL="0">
              <a:spcAft>
                <a:spcPts val="400"/>
              </a:spcAft>
              <a:buNone/>
            </a:pPr>
            <a:r>
              <a:rPr lang="en-US" sz="1200" i="1" dirty="0">
                <a:solidFill>
                  <a:srgbClr val="6B7A70"/>
                </a:solidFill>
              </a:rPr>
              <a:t>Ostrom's word: microsituational variables</a:t>
            </a:r>
            <a:endParaRPr lang="en-US" sz="1500" dirty="0"/>
          </a:p>
        </p:txBody>
      </p:sp>
      <p:sp>
        <p:nvSpPr>
          <p:cNvPr id="12" name="card Someone who does their share"/>
          <p:cNvSpPr/>
          <p:nvPr/>
        </p:nvSpPr>
        <p:spPr>
          <a:xfrm>
            <a:off x="548640" y="4101084"/>
            <a:ext cx="5477256" cy="647700"/>
          </a:xfrm>
          <a:prstGeom prst="roundRect">
            <a:avLst>
              <a:gd name="adj" fmla="val 11294"/>
            </a:avLst>
          </a:prstGeom>
          <a:solidFill>
            <a:schemeClr val="bg2"/>
          </a:solidFill>
          <a:ln w="12700">
            <a:solidFill>
              <a:schemeClr val="bg2"/>
            </a:solidFill>
            <a:prstDash val="solid"/>
          </a:ln>
        </p:spPr>
      </p:sp>
      <p:sp>
        <p:nvSpPr>
          <p:cNvPr id="13" name="Text 10"/>
          <p:cNvSpPr txBox="1"/>
          <p:nvPr/>
        </p:nvSpPr>
        <p:spPr>
          <a:xfrm>
            <a:off x="685800" y="4192524"/>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Someone who does their share</a:t>
            </a:r>
            <a:endParaRPr lang="en-US" sz="1500" dirty="0"/>
          </a:p>
          <a:p>
            <a:pPr indent="0" marL="0">
              <a:spcAft>
                <a:spcPts val="400"/>
              </a:spcAft>
              <a:buNone/>
            </a:pPr>
            <a:r>
              <a:rPr lang="en-US" sz="1200" i="1" dirty="0">
                <a:solidFill>
                  <a:srgbClr val="6B7A70"/>
                </a:solidFill>
              </a:rPr>
              <a:t>Ostrom's word: reciprocator</a:t>
            </a:r>
            <a:endParaRPr lang="en-US" sz="1500" dirty="0"/>
          </a:p>
        </p:txBody>
      </p:sp>
      <p:sp>
        <p:nvSpPr>
          <p:cNvPr id="14" name="card The stuff"/>
          <p:cNvSpPr/>
          <p:nvPr/>
        </p:nvSpPr>
        <p:spPr>
          <a:xfrm>
            <a:off x="548640" y="4858512"/>
            <a:ext cx="5477256" cy="647700"/>
          </a:xfrm>
          <a:prstGeom prst="roundRect">
            <a:avLst>
              <a:gd name="adj" fmla="val 11294"/>
            </a:avLst>
          </a:prstGeom>
          <a:solidFill>
            <a:schemeClr val="bg2"/>
          </a:solidFill>
          <a:ln w="12700">
            <a:solidFill>
              <a:schemeClr val="bg2"/>
            </a:solidFill>
            <a:prstDash val="solid"/>
          </a:ln>
        </p:spPr>
      </p:sp>
      <p:sp>
        <p:nvSpPr>
          <p:cNvPr id="15" name="Text 12"/>
          <p:cNvSpPr txBox="1"/>
          <p:nvPr/>
        </p:nvSpPr>
        <p:spPr>
          <a:xfrm>
            <a:off x="685800" y="4949952"/>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stuff</a:t>
            </a:r>
            <a:endParaRPr lang="en-US" sz="1500" dirty="0"/>
          </a:p>
          <a:p>
            <a:pPr indent="0" marL="0">
              <a:spcAft>
                <a:spcPts val="400"/>
              </a:spcAft>
              <a:buNone/>
            </a:pPr>
            <a:r>
              <a:rPr lang="en-US" sz="1200" i="1" dirty="0">
                <a:solidFill>
                  <a:srgbClr val="6B7A70"/>
                </a:solidFill>
              </a:rPr>
              <a:t>Ostrom's word: biophysical conditions</a:t>
            </a:r>
            <a:endParaRPr lang="en-US" sz="1500" dirty="0"/>
          </a:p>
        </p:txBody>
      </p:sp>
      <p:sp>
        <p:nvSpPr>
          <p:cNvPr id="16" name="card Taking from it / putting back into it"/>
          <p:cNvSpPr/>
          <p:nvPr/>
        </p:nvSpPr>
        <p:spPr>
          <a:xfrm>
            <a:off x="548640" y="5615940"/>
            <a:ext cx="5477256" cy="647700"/>
          </a:xfrm>
          <a:prstGeom prst="roundRect">
            <a:avLst>
              <a:gd name="adj" fmla="val 11294"/>
            </a:avLst>
          </a:prstGeom>
          <a:solidFill>
            <a:schemeClr val="bg2"/>
          </a:solidFill>
          <a:ln w="12700">
            <a:solidFill>
              <a:schemeClr val="bg2"/>
            </a:solidFill>
            <a:prstDash val="solid"/>
          </a:ln>
        </p:spPr>
      </p:sp>
      <p:sp>
        <p:nvSpPr>
          <p:cNvPr id="17" name="Text 14"/>
          <p:cNvSpPr txBox="1"/>
          <p:nvPr/>
        </p:nvSpPr>
        <p:spPr>
          <a:xfrm>
            <a:off x="685800" y="5707380"/>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Taking from it / putting back into it</a:t>
            </a:r>
            <a:endParaRPr lang="en-US" sz="1500" dirty="0"/>
          </a:p>
          <a:p>
            <a:pPr indent="0" marL="0">
              <a:spcAft>
                <a:spcPts val="400"/>
              </a:spcAft>
              <a:buNone/>
            </a:pPr>
            <a:r>
              <a:rPr lang="en-US" sz="1200" i="1" dirty="0">
                <a:solidFill>
                  <a:srgbClr val="6B7A70"/>
                </a:solidFill>
              </a:rPr>
              <a:t>Ostrom's word: appropriation / provision</a:t>
            </a:r>
            <a:endParaRPr lang="en-US" sz="1500" dirty="0"/>
          </a:p>
        </p:txBody>
      </p:sp>
      <p:sp>
        <p:nvSpPr>
          <p:cNvPr id="18" name="card The ways we do things here"/>
          <p:cNvSpPr/>
          <p:nvPr/>
        </p:nvSpPr>
        <p:spPr>
          <a:xfrm>
            <a:off x="6135624" y="1828800"/>
            <a:ext cx="5477256" cy="647700"/>
          </a:xfrm>
          <a:prstGeom prst="roundRect">
            <a:avLst>
              <a:gd name="adj" fmla="val 11294"/>
            </a:avLst>
          </a:prstGeom>
          <a:solidFill>
            <a:schemeClr val="bg2"/>
          </a:solidFill>
          <a:ln w="12700">
            <a:solidFill>
              <a:schemeClr val="bg2"/>
            </a:solidFill>
            <a:prstDash val="solid"/>
          </a:ln>
        </p:spPr>
      </p:sp>
      <p:sp>
        <p:nvSpPr>
          <p:cNvPr id="19" name="Text 16"/>
          <p:cNvSpPr txBox="1"/>
          <p:nvPr/>
        </p:nvSpPr>
        <p:spPr>
          <a:xfrm>
            <a:off x="6272784" y="1920240"/>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The ways we do things here</a:t>
            </a:r>
            <a:endParaRPr lang="en-US" sz="1500" dirty="0"/>
          </a:p>
          <a:p>
            <a:pPr indent="0" marL="0">
              <a:spcAft>
                <a:spcPts val="400"/>
              </a:spcAft>
              <a:buNone/>
            </a:pPr>
            <a:r>
              <a:rPr lang="en-US" sz="1200" i="1" dirty="0">
                <a:solidFill>
                  <a:srgbClr val="6B7A70"/>
                </a:solidFill>
              </a:rPr>
              <a:t>Ostrom's word: institution</a:t>
            </a:r>
            <a:endParaRPr lang="en-US" sz="1500" dirty="0"/>
          </a:p>
        </p:txBody>
      </p:sp>
      <p:sp>
        <p:nvSpPr>
          <p:cNvPr id="20" name="card What lasting groups do"/>
          <p:cNvSpPr/>
          <p:nvPr/>
        </p:nvSpPr>
        <p:spPr>
          <a:xfrm>
            <a:off x="6135624" y="2586228"/>
            <a:ext cx="5477256" cy="647700"/>
          </a:xfrm>
          <a:prstGeom prst="roundRect">
            <a:avLst>
              <a:gd name="adj" fmla="val 11294"/>
            </a:avLst>
          </a:prstGeom>
          <a:solidFill>
            <a:schemeClr val="bg2"/>
          </a:solidFill>
          <a:ln w="12700">
            <a:solidFill>
              <a:schemeClr val="bg2"/>
            </a:solidFill>
            <a:prstDash val="solid"/>
          </a:ln>
        </p:spPr>
      </p:sp>
      <p:sp>
        <p:nvSpPr>
          <p:cNvPr id="21" name="Text 18"/>
          <p:cNvSpPr txBox="1"/>
          <p:nvPr/>
        </p:nvSpPr>
        <p:spPr>
          <a:xfrm>
            <a:off x="6272784" y="2677668"/>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What lasting groups do</a:t>
            </a:r>
            <a:endParaRPr lang="en-US" sz="1500" dirty="0"/>
          </a:p>
          <a:p>
            <a:pPr indent="0" marL="0">
              <a:spcAft>
                <a:spcPts val="400"/>
              </a:spcAft>
              <a:buNone/>
            </a:pPr>
            <a:r>
              <a:rPr lang="en-US" sz="1200" i="1" dirty="0">
                <a:solidFill>
                  <a:srgbClr val="6B7A70"/>
                </a:solidFill>
              </a:rPr>
              <a:t>Ostrom's word: design principles</a:t>
            </a:r>
            <a:endParaRPr lang="en-US" sz="1500" dirty="0"/>
          </a:p>
        </p:txBody>
      </p:sp>
      <p:sp>
        <p:nvSpPr>
          <p:cNvPr id="22" name="card What we all take for granted"/>
          <p:cNvSpPr/>
          <p:nvPr/>
        </p:nvSpPr>
        <p:spPr>
          <a:xfrm>
            <a:off x="6135624" y="3343656"/>
            <a:ext cx="5477256" cy="647700"/>
          </a:xfrm>
          <a:prstGeom prst="roundRect">
            <a:avLst>
              <a:gd name="adj" fmla="val 11294"/>
            </a:avLst>
          </a:prstGeom>
          <a:solidFill>
            <a:schemeClr val="bg2"/>
          </a:solidFill>
          <a:ln w="12700">
            <a:solidFill>
              <a:schemeClr val="bg2"/>
            </a:solidFill>
            <a:prstDash val="solid"/>
          </a:ln>
        </p:spPr>
      </p:sp>
      <p:sp>
        <p:nvSpPr>
          <p:cNvPr id="23" name="Text 20"/>
          <p:cNvSpPr txBox="1"/>
          <p:nvPr/>
        </p:nvSpPr>
        <p:spPr>
          <a:xfrm>
            <a:off x="6272784" y="3435096"/>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What we all take for granted</a:t>
            </a:r>
            <a:endParaRPr lang="en-US" sz="1500" dirty="0"/>
          </a:p>
          <a:p>
            <a:pPr indent="0" marL="0">
              <a:spcAft>
                <a:spcPts val="400"/>
              </a:spcAft>
              <a:buNone/>
            </a:pPr>
            <a:r>
              <a:rPr lang="en-US" sz="1200" i="1" dirty="0">
                <a:solidFill>
                  <a:srgbClr val="6B7A70"/>
                </a:solidFill>
              </a:rPr>
              <a:t>Ostrom's word: metaconstitutional</a:t>
            </a:r>
            <a:endParaRPr lang="en-US" sz="1500" dirty="0"/>
          </a:p>
        </p:txBody>
      </p:sp>
      <p:sp>
        <p:nvSpPr>
          <p:cNvPr id="24" name="card What's on the table"/>
          <p:cNvSpPr/>
          <p:nvPr/>
        </p:nvSpPr>
        <p:spPr>
          <a:xfrm>
            <a:off x="6135624" y="4101084"/>
            <a:ext cx="5477256" cy="647700"/>
          </a:xfrm>
          <a:prstGeom prst="roundRect">
            <a:avLst>
              <a:gd name="adj" fmla="val 11294"/>
            </a:avLst>
          </a:prstGeom>
          <a:solidFill>
            <a:schemeClr val="bg2"/>
          </a:solidFill>
          <a:ln w="12700">
            <a:solidFill>
              <a:schemeClr val="bg2"/>
            </a:solidFill>
            <a:prstDash val="solid"/>
          </a:ln>
        </p:spPr>
      </p:sp>
      <p:sp>
        <p:nvSpPr>
          <p:cNvPr id="25" name="Text 22"/>
          <p:cNvSpPr txBox="1"/>
          <p:nvPr/>
        </p:nvSpPr>
        <p:spPr>
          <a:xfrm>
            <a:off x="6272784" y="4192524"/>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What's on the table</a:t>
            </a:r>
            <a:endParaRPr lang="en-US" sz="1500" dirty="0"/>
          </a:p>
          <a:p>
            <a:pPr indent="0" marL="0">
              <a:spcAft>
                <a:spcPts val="400"/>
              </a:spcAft>
              <a:buNone/>
            </a:pPr>
            <a:r>
              <a:rPr lang="en-US" sz="1200" i="1" dirty="0">
                <a:solidFill>
                  <a:srgbClr val="6B7A70"/>
                </a:solidFill>
              </a:rPr>
              <a:t>Ostrom's word: scope rules</a:t>
            </a:r>
            <a:endParaRPr lang="en-US" sz="1500" dirty="0"/>
          </a:p>
        </p:txBody>
      </p:sp>
      <p:sp>
        <p:nvSpPr>
          <p:cNvPr id="26" name="card Where we meet and choose"/>
          <p:cNvSpPr/>
          <p:nvPr/>
        </p:nvSpPr>
        <p:spPr>
          <a:xfrm>
            <a:off x="6135624" y="4858512"/>
            <a:ext cx="5477256" cy="647700"/>
          </a:xfrm>
          <a:prstGeom prst="roundRect">
            <a:avLst>
              <a:gd name="adj" fmla="val 11294"/>
            </a:avLst>
          </a:prstGeom>
          <a:solidFill>
            <a:schemeClr val="bg2"/>
          </a:solidFill>
          <a:ln w="12700">
            <a:solidFill>
              <a:schemeClr val="bg2"/>
            </a:solidFill>
            <a:prstDash val="solid"/>
          </a:ln>
        </p:spPr>
      </p:sp>
      <p:sp>
        <p:nvSpPr>
          <p:cNvPr id="27" name="Text 24"/>
          <p:cNvSpPr txBox="1"/>
          <p:nvPr/>
        </p:nvSpPr>
        <p:spPr>
          <a:xfrm>
            <a:off x="6272784" y="4949952"/>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Where we meet and choose</a:t>
            </a:r>
            <a:endParaRPr lang="en-US" sz="1500" dirty="0"/>
          </a:p>
          <a:p>
            <a:pPr indent="0" marL="0">
              <a:spcAft>
                <a:spcPts val="400"/>
              </a:spcAft>
              <a:buNone/>
            </a:pPr>
            <a:r>
              <a:rPr lang="en-US" sz="1200" i="1" dirty="0">
                <a:solidFill>
                  <a:srgbClr val="6B7A70"/>
                </a:solidFill>
              </a:rPr>
              <a:t>Ostrom's word: action situation</a:t>
            </a:r>
            <a:endParaRPr lang="en-US" sz="1500" dirty="0"/>
          </a:p>
        </p:txBody>
      </p:sp>
      <p:sp>
        <p:nvSpPr>
          <p:cNvPr id="28" name="card A word first, then step up"/>
          <p:cNvSpPr/>
          <p:nvPr/>
        </p:nvSpPr>
        <p:spPr>
          <a:xfrm>
            <a:off x="6135624" y="5615940"/>
            <a:ext cx="5477256" cy="647700"/>
          </a:xfrm>
          <a:prstGeom prst="roundRect">
            <a:avLst>
              <a:gd name="adj" fmla="val 11294"/>
            </a:avLst>
          </a:prstGeom>
          <a:solidFill>
            <a:schemeClr val="bg2"/>
          </a:solidFill>
          <a:ln w="12700">
            <a:solidFill>
              <a:schemeClr val="bg2"/>
            </a:solidFill>
            <a:prstDash val="solid"/>
          </a:ln>
        </p:spPr>
      </p:sp>
      <p:sp>
        <p:nvSpPr>
          <p:cNvPr id="29" name="Text 26"/>
          <p:cNvSpPr txBox="1"/>
          <p:nvPr/>
        </p:nvSpPr>
        <p:spPr>
          <a:xfrm>
            <a:off x="6272784" y="5707380"/>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 word first, then step up</a:t>
            </a:r>
            <a:endParaRPr lang="en-US" sz="1500" dirty="0"/>
          </a:p>
          <a:p>
            <a:pPr indent="0" marL="0">
              <a:spcAft>
                <a:spcPts val="400"/>
              </a:spcAft>
              <a:buNone/>
            </a:pPr>
            <a:r>
              <a:rPr lang="en-US" sz="1200" i="1" dirty="0">
                <a:solidFill>
                  <a:srgbClr val="6B7A70"/>
                </a:solidFill>
              </a:rPr>
              <a:t>Ostrom's word: graduated sanctions</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371600"/>
          </a:xfrm>
          <a:prstGeom prst="rect">
            <a:avLst/>
          </a:prstGeom>
          <a:noFill/>
          <a:ln/>
        </p:spPr>
        <p:txBody>
          <a:bodyPr wrap="square" rtlCol="0" anchor="b"/>
          <a:lstStyle/>
          <a:p>
            <a:pPr indent="0" marL="0">
              <a:buNone/>
            </a:pPr>
            <a:r>
              <a:rPr lang="en-US" sz="4800" b="1" dirty="0">
                <a:solidFill>
                  <a:schemeClr val="bg1"/>
                </a:solidFill>
              </a:rPr>
              <a:t>Sources</a:t>
            </a:r>
            <a:endParaRPr lang="en-US" sz="4800" dirty="0"/>
          </a:p>
        </p:txBody>
      </p:sp>
      <p:sp>
        <p:nvSpPr>
          <p:cNvPr id="3" name="Text 1"/>
          <p:cNvSpPr txBox="1"/>
          <p:nvPr/>
        </p:nvSpPr>
        <p:spPr>
          <a:xfrm>
            <a:off x="731520" y="3200400"/>
            <a:ext cx="10698480" cy="2377440"/>
          </a:xfrm>
          <a:prstGeom prst="rect">
            <a:avLst/>
          </a:prstGeom>
          <a:noFill/>
          <a:ln/>
        </p:spPr>
        <p:txBody>
          <a:bodyPr wrap="square" lIns="0" tIns="0" rIns="0" bIns="0" rtlCol="0" anchor="t"/>
          <a:lstStyle/>
          <a:p>
            <a:pPr indent="0" marL="0">
              <a:spcAft>
                <a:spcPts val="800"/>
              </a:spcAft>
              <a:buNone/>
            </a:pPr>
            <a:r>
              <a:rPr lang="en-US" sz="1600" dirty="0">
                <a:solidFill>
                  <a:srgbClr val="EEF3EA"/>
                </a:solidFill>
              </a:rPr>
              <a:t>Ostrom, E. (2010). Beyond Markets and States: Polycentric Governance of Complex Economic Systems. American Economic Review 100(3). The 2009 Nobel lecture; Figures 1 to 6.</a:t>
            </a:r>
            <a:endParaRPr lang="en-US" sz="1600" dirty="0"/>
          </a:p>
          <a:p>
            <a:pPr indent="0" marL="0">
              <a:spcAft>
                <a:spcPts val="800"/>
              </a:spcAft>
              <a:buNone/>
            </a:pPr>
            <a:r>
              <a:rPr lang="en-US" sz="1600" dirty="0">
                <a:solidFill>
                  <a:srgbClr val="EEF3EA"/>
                </a:solidFill>
              </a:rPr>
              <a:t>Ostrom, E. (1990). Governing the Commons. Ostrom, E. (2005). Understanding Institutional Diversity.</a:t>
            </a:r>
            <a:endParaRPr lang="en-US" sz="1600" dirty="0"/>
          </a:p>
          <a:p>
            <a:pPr indent="0" marL="0">
              <a:spcAft>
                <a:spcPts val="800"/>
              </a:spcAft>
              <a:buNone/>
            </a:pPr>
            <a:r>
              <a:rPr lang="en-US" sz="1600" dirty="0">
                <a:solidFill>
                  <a:srgbClr val="EEF3EA"/>
                </a:solidFill>
              </a:rPr>
              <a:t>Ostrom, E. (2009). A General Framework for Analyzing Sustainability of Social-Ecological Systems. Science 325.</a:t>
            </a:r>
            <a:endParaRPr lang="en-US" sz="1600" dirty="0"/>
          </a:p>
          <a:p>
            <a:pPr indent="0" marL="0">
              <a:spcAft>
                <a:spcPts val="800"/>
              </a:spcAft>
              <a:buNone/>
            </a:pPr>
            <a:r>
              <a:rPr lang="en-US" sz="1600" dirty="0">
                <a:solidFill>
                  <a:srgbClr val="EEF3EA"/>
                </a:solidFill>
              </a:rPr>
              <a:t>Cox, Arnold and Villamayor Tomas (2010), design principles. Crawford and Ostrom (1995), ADICO. Frantz and Siddiki (2021), IG 2.0. Poteete, Janssen and Ostrom (2010), Working Together.</a:t>
            </a:r>
            <a:endParaRPr lang="en-US" sz="1600" dirty="0"/>
          </a:p>
        </p:txBody>
      </p:sp>
      <p:sp>
        <p:nvSpPr>
          <p:cNvPr id="4" name="Text 0"/>
          <p:cNvSpPr/>
          <p:nvPr>
            <p:ph idx="102" type="body" hasCustomPrompt="1"/>
          </p:nvPr>
        </p:nvSpPr>
        <p:spPr>
          <a:xfrm>
            <a:off x="731520" y="5760720"/>
            <a:ext cx="10058400" cy="457200"/>
          </a:xfrm>
          <a:prstGeom prst="rect">
            <a:avLst/>
          </a:prstGeom>
          <a:noFill/>
          <a:ln/>
        </p:spPr>
        <p:txBody>
          <a:bodyPr wrap="square" rtlCol="0"/>
          <a:lstStyle/>
          <a:p>
            <a:pPr indent="0" marL="0">
              <a:buNone/>
            </a:pPr>
            <a:r>
              <a:rPr lang="en-US" sz="1400" dirty="0">
                <a:solidFill>
                  <a:schemeClr val="accent2"/>
                </a:solidFill>
              </a:rPr>
              <a:t>Marc Pierson and Claude Opus 5.5 · October 2026</a:t>
            </a:r>
            <a:endParaRPr lang="en-US" sz="1400" dirty="0"/>
          </a:p>
        </p:txBody>
      </p:sp>
      <p:sp>
        <p:nvSpPr>
          <p:cNvPr id="6" name="Text 0"/>
          <p:cNvSpPr/>
          <p:nvPr>
            <p:ph idx="101" type="body" hasCustomPrompt="1"/>
          </p:nvPr>
        </p:nvSpPr>
        <p:spPr>
          <a:xfrm>
            <a:off x="731520" y="3291840"/>
            <a:ext cx="10058400" cy="1188720"/>
          </a:xfrm>
          <a:prstGeom prst="rect">
            <a:avLst/>
          </a:prstGeom>
          <a:noFill/>
          <a:ln/>
        </p:spPr>
        <p:txBody>
          <a:bodyPr wrap="square" rtlCol="0" anchor="t"/>
          <a:lstStyle/>
          <a:p>
            <a:pPr indent="0" marL="0">
              <a:buNone/>
            </a:pPr>
            <a:endParaRPr lang="en-US" sz="2200" dirty="0"/>
          </a:p>
        </p:txBody>
      </p:sp>
    </p:spTree>
  </p:cSld>
  <p:clrMapOvr>
    <a:masterClrMapping/>
  </p:clrMapOvr>
</p:sld>
</file>

<file path=ppt/theme/theme1.xml><?xml version="1.0" encoding="utf-8"?>
<a:theme xmlns:a="http://schemas.openxmlformats.org/drawingml/2006/main" name="Commons">
  <a:themeElements>
    <a:clrScheme name="Commons">
      <a:dk1>
        <a:srgbClr val="1E2A22"/>
      </a:dk1>
      <a:lt1>
        <a:srgbClr val="FFFFFF"/>
      </a:lt1>
      <a:dk2>
        <a:srgbClr val="1F3D2B"/>
      </a:dk2>
      <a:lt2>
        <a:srgbClr val="EEF3EA"/>
      </a:lt2>
      <a:accent1>
        <a:srgbClr val="2E6B45"/>
      </a:accent1>
      <a:accent2>
        <a:srgbClr val="C9822A"/>
      </a:accent2>
      <a:accent3>
        <a:srgbClr val="3E7CB1"/>
      </a:accent3>
      <a:accent4>
        <a:srgbClr val="B5532D"/>
      </a:accent4>
      <a:accent5>
        <a:srgbClr val="7FA35B"/>
      </a:accent5>
      <a:accent6>
        <a:srgbClr val="6B5B95"/>
      </a:accent6>
      <a:hlink>
        <a:srgbClr val="3E7CB1"/>
      </a:hlink>
      <a:folHlink>
        <a:srgbClr val="6B5B95"/>
      </a:folHlink>
    </a:clrScheme>
    <a:fontScheme name="Commo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Governing What We Share</dc:title>
  <dc:subject>PptxGenJS Presentation</dc:subject>
  <dc:creator>Marc Pierson</dc:creator>
  <cp:lastModifiedBy>Marc Pierson</cp:lastModifiedBy>
  <cp:revision>1</cp:revision>
  <dcterms:created xsi:type="dcterms:W3CDTF">2026-10-04T16:24:57Z</dcterms:created>
  <dcterms:modified xsi:type="dcterms:W3CDTF">2026-10-04T16:24:57Z</dcterms:modified>
</cp:coreProperties>
</file>