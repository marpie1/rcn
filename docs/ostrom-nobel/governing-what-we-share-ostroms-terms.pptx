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709d41c-d086-9114-fd22-f6fcadc54f99}">
          <p14:sldIdLst>
            <p14:sldId id="256"/>
            <p14:sldId id="257"/>
            <p14:sldId id="258"/>
            <p14:sldId id="259"/>
            <p14:sldId id="303"/>
            <p14:sldId id="304"/>
            <p14:sldId id="305"/>
            <p14:sldId id="306"/>
          </p14:sldIdLst>
        </p14:section>
        <p14:section name="1 · The whole system" id="{c1e74f01-3ec8-3b44-42ff-cea05fb888ac}">
          <p14:sldIdLst>
            <p14:sldId id="260"/>
            <p14:sldId id="261"/>
            <p14:sldId id="262"/>
            <p14:sldId id="263"/>
            <p14:sldId id="264"/>
          </p14:sldIdLst>
        </p14:section>
        <p14:section name="2 · What we share" id="{44c9cdb9-cd5b-d981-b062-49bf784fac88}">
          <p14:sldIdLst>
            <p14:sldId id="265"/>
            <p14:sldId id="266"/>
            <p14:sldId id="267"/>
            <p14:sldId id="268"/>
          </p14:sldIdLst>
        </p14:section>
        <p14:section name="3 · One situation in its setting" id="{03c1d85b-04cf-3c15-4452-d02c8858a87d}">
          <p14:sldIdLst>
            <p14:sldId id="269"/>
            <p14:sldId id="270"/>
            <p14:sldId id="271"/>
            <p14:sldId id="272"/>
          </p14:sldIdLst>
        </p14:section>
        <p14:section name="4 · Layers of decision" id="{da14d3ae-d834-3659-fbff-e3c63b1d8f11}">
          <p14:sldIdLst>
            <p14:sldId id="273"/>
            <p14:sldId id="274"/>
            <p14:sldId id="275"/>
            <p14:sldId id="276"/>
            <p14:sldId id="277"/>
            <p14:sldId id="278"/>
          </p14:sldIdLst>
        </p14:section>
        <p14:section name="5 · Inside one situation" id="{294b2105-ecda-9132-9707-8e694652caa0}">
          <p14:sldIdLst>
            <p14:sldId id="279"/>
            <p14:sldId id="280"/>
            <p14:sldId id="281"/>
          </p14:sldIdLst>
        </p14:section>
        <p14:section name="6 · The rules that shape it" id="{fdeb0746-5ed7-d2a2-dda8-c9a723b624ea}">
          <p14:sldIdLst>
            <p14:sldId id="282"/>
            <p14:sldId id="283"/>
            <p14:sldId id="284"/>
            <p14:sldId id="285"/>
            <p14:sldId id="286"/>
            <p14:sldId id="287"/>
          </p14:sldIdLst>
        </p14:section>
        <p14:section name="7 · What lasting rules share" id="{3461784f-1e65-cacd-c50d-cb514fa31a80}">
          <p14:sldIdLst>
            <p14:sldId id="288"/>
            <p14:sldId id="289"/>
            <p14:sldId id="290"/>
            <p14:sldId id="291"/>
            <p14:sldId id="292"/>
          </p14:sldIdLst>
        </p14:section>
        <p14:section name="8 · One sentence of a rule" id="{57aff759-adc4-30ca-9e49-7621f6c2a047}">
          <p14:sldIdLst>
            <p14:sldId id="293"/>
            <p14:sldId id="294"/>
            <p14:sldId id="295"/>
            <p14:sldId id="296"/>
            <p14:sldId id="297"/>
          </p14:sldIdLst>
        </p14:section>
        <p14:section name="9 · One person deciding" id="{ee6f13a2-4880-092f-c0da-446296a4729e}">
          <p14:sldIdLst>
            <p14:sldId id="298"/>
            <p14:sldId id="299"/>
            <p14:sldId id="300"/>
            <p14:sldId id="301"/>
            <p14:sldId id="302"/>
          </p14:sldIdLst>
        </p14:section>
        <p14:section name="Closing" id="{b005a006-b0b8-62c6-eb80-d76aab8e9e95}">
          <p14:sldIdLst>
            <p14:sldId id="30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for people new to Elinor Ostrom and new to community organizing. It moves from the largest scale (the whole system a shared resource sits in) down to the smallest (one person deciding whether to trust the others). Every technical word on every diagram is translated on the slide that follows it, and there is a full glossary at the end. A companion deck, governing-what-we-share.pptx, tells the same story with everyday words first.
Marc Pierson and Claude Opus 5.5 ·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Garrett Hardin's 1968 essay 'The Tragedy of the Commons' told a simple story: anything shared will be used up, because each person gains by taking a bit more. The usual answers were: let the government control it, or divide it into private property. Elinor Ostrom spent decades looking at real places (fisheries, forests, irrigation systems, alpine meadows) and found that ordinary people often govern shared things well themselves, sometimes for centuries. The Swiss village of Torbel formally organized its shared alpine meadows in 1483. In 2009 she became the first woman to receive the Nobel Prize in Economics. Her lecture that year is the source of most diagrams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camera zooming in. We start with everything around a shared resource, and end with one person in one moment asking 'is it worth it to cooperate?'. Each step is a different question. Problems you see at one scale are often fixed at another, which is one of the main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imagined community garden we will follow through every scale. Ostrom studied fisheries and irrigation systems, but the same ideas fit a garden, a tool library, a neighborhood fund, or a health co-op. A second example, a community health worker who is never at the table, appears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as wide as possible. Ostrom's last major framework, the social-ecological system, puts the commons inside its whole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Ostrom's Figure 6. Read it from the middle out. The centre box is where people actually act. The four corners shape what they do, and what they do changes the four corners (the dashed arrows). Around everything are the wider social, economic and political settings, and related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term on the Figure 6 diagram, translated.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the diagram home. Each corner of Figure 6 has an Elm Street answer. Ask your own group to fill in the four corners for whatever you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Ostrom's 2009 Science paper and the Nobel lecture. Across many field studies these ten made it more likely that users would organize themselves to protect a shared resource. They are not a recipe, but they are good questions to ask of your own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rules, ask what kind of thing is shared. Ostrom's Figure 1 sorts goods by two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is the first figure of the lecture. Ostrom took the old two-way split of goods (private and public) and showed there are at least four kinds, because two separate questions are involved. Her work was mostly about the common-pool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term on the Figure 1 diagram, translated.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group to place the things it shares. The point is not the box; it is the problem each box brings. And note that drought moves the garden water from "plenty" toward "fiercely contested".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zoom in from the whole system to a single 'action situation' and the three kinds of thing outside it that shape it. This is the core picture of Ostrom's Institutional Analysis and Development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Ostrom's Figure 2. The green title at the top is Marc's: the two halves of the lecture, building trust, and making rules that fit the place. The dashed arrow labelled 'changes the rules' was added from Ostrom's text; it is where step 4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term on the Figure 2 diagram, translated.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 insisted on 'rules-in-use': the rules people actually follow. A written bylaw is a first guess at them. You only find the real ones by watching and asking. This is why coding a document is never the whole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dashed 'changes the rules' arrow in Figure 2 hides a stack of decision layers. Ostrom called them levels of action. This drawing is an added panel: the lecture mentions the levels in one sentence and has no figure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levels. Metaconstitutional: culture and what people think is even possible. Constitutional: who may make the rules and how. Collective choice: making and changing the everyday rules. Operational: doing the work. Each is itself an action situation. Its outcomes are the rules for the level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term on the levels drawing, translated.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garden, four levels. Notice how much more each higher decision changes, and how rarely it is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test you can use in any meeting. When someone proposes a change, ask which of these three it is. The leverage rises as you go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second example. A neighborhood health co-op. Its community health worker (CHW) is never part of decisions. Read at each level, the same complaint means something different, and only the top reading points to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open the action situation box itself. Ostrom built these seven parts with the game theorist Reinhard Selten so that field studies, experiments and mathematical models could all use one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Ostrom's own one-sentence version: participants are assigned to positions; in those positions they choose among actions, in light of their information, the control they have over how actions lead to outcomes, and the costs and benefits assigned to actions and outcomes. That sentence names all seven parts. The small 'linked to' oval is a drawing convenience: in her figure, Information and Control point at the arrow between Actions and Potential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term on the Figure 3 diagram, translated.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 wraps the seven parts in a blue box of rules. Each kind of rule shapes exactly one part. The green labels are Marc's additions: the questions a person asks from inside their seat.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Ostrom's Figure 4: rules as outside variables directly affecting the elements of an action situation. Her advice was to ask of any rule: which part of the situation does it affect? That sorts every rule into one of seven kinds. Ostrom found many versions of each kind; 27 different boundary rules in common-pool resource cases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Figure 4, enlarged. Point to each blue rule box and the red arrow leaving it: that is the part of the situation it shapes. Then read the green dotted label beside it: Marc's question from inside the seat. The next two slides translate every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names on the Figure 4 diagram, translated, with Elm Street examples.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 draws the situation from outside, like an analyst. Marc's labels draw it from inside, like a participant.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Aggregation rules are the ones groups most often leave unstated. Two people can sincerely disagree about whether something 'passed' because each assumed a different rule. A simple demonstration: one set of votes, four different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 first looked for specific rules that worked everywhere, and found none: the rules that worked varied enormously from place to place. So she moved up one level of generality and found patterns. She called them design principles, while stressing that people did not have them in mind when building their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 as updated by Cox, Arnold and Villamayor Tomas (2010), who reviewed over 100 studies and split three principles in two. About two-thirds of those studies found that robust resource systems had most of the principles and failures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Terms used in the principles, translated.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own synthesis (not Ostrom's): which of the seven rule kinds, and which level, each principle depends on. This is how the frames connect. Principle 2A is the exception: whether rules fit the place is a judgment about the place, not something any rule can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people affected help make the rules' sounds simple. The rule kinds split it into five questions, and a group can fail any one of them while sincerely believing it follows principle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are made of sentences. Crawford and Ostrom (1995) showed every rule-like sentence has the same few parts, which they called ADICO. A later version, Institutional Grammar 2.0 (Frantz and Siddiki 2021), adds a few more. The Agreement Checker asks these parts as plain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one sentence from the garden bylaw and ask it the plain questions. Each part has a job. The OR ELSE is the part most often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term used for the parts of a rule, translated.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grammar sorts sentences by strength. In real documents the OR ELSE is usually empty, which tells you the sentence is a hope, not a rule, and that what people actually do will drift away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gaps the grammar reveals that a quick read misses. Each one ties a single sentence back to a design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zoom. Good rules are not enough on their own. Ostrom's Nobel lecture says cooperation runs on trust: confidence that the others will do their share. Rules matter because they create the conditions in which that trust can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Ostrom's Figure 5. People are not the narrowly selfish calculators of older theory: they learn and adopt norms. But they will not keep cooperating if they believe others will not. The structure of the situation, especially the small features of it, decides whether trust can grow. Marc's question from Figure 4, 'Is it worth the effort and risk?', is answered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term on the Figure 5 diagram, translated.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Ostrom's six (lecture pp. 661-662), from experiments and field studies. The design principles paired with each are our reading, not Ostrom's: they show how the rules from steps 6 and 7 build the conditions for trust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cannot rewrite a constitution this month. You can change these small conditions now, and they are where trust starts. Each matches one of Ostrom's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scales are one picture seen at different distances. A problem noticed at one scale is often fixed at another: a complaint at the operational level may need a constitutional fix; a rule that never works may be missing the trust it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question per scale. Start anywhere; most groups start with the last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specialist word in this deck, A to G.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 to S. Read the terms aloud with the diagram on screen; each card is the plain-language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Diagrams: the RCN Graph Tool drawings in docs/ostrom-nobel/, rebuilt from the lecture figures with Marc's annotations. The levels panel and the Elm Street examples are additions, not Ostrom's.
Marc Pierson and Claude Opus 5.5 ·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371600"/>
          </a:xfrm>
          <a:prstGeom prst="rect">
            <a:avLst/>
          </a:prstGeom>
          <a:noFill/>
          <a:ln/>
        </p:spPr>
        <p:txBody>
          <a:bodyPr wrap="square" rtlCol="0"/>
          <a:lstStyle>
            <a:lvl1pPr indent="0" marL="0">
              <a:buNone/>
              <a:defRPr lang="en-US" sz="4800" b="1" dirty="0">
                <a:solidFill>
                  <a:schemeClr val="bg1"/>
                </a:solidFill>
              </a:defRPr>
            </a:lvl1pPr>
          </a:lstStyle>
          <a:p>
            <a:pPr indent="0" marL="0">
              <a:buNone/>
            </a:pPr>
            <a:endParaRPr lang="en-US" sz="4800" dirty="0"/>
          </a:p>
        </p:txBody>
      </p:sp>
      <p:sp>
        <p:nvSpPr>
          <p:cNvPr id="3" name="Text 0"/>
          <p:cNvSpPr/>
          <p:nvPr>
            <p:ph idx="101" type="body" hasCustomPrompt="1"/>
          </p:nvPr>
        </p:nvSpPr>
        <p:spPr>
          <a:xfrm>
            <a:off x="731520" y="3291840"/>
            <a:ext cx="10058400" cy="118872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
        <p:nvSpPr>
          <p:cNvPr id="4" name="Text 0"/>
          <p:cNvSpPr/>
          <p:nvPr>
            <p:ph idx="102" type="body" hasCustomPrompt="1"/>
          </p:nvPr>
        </p:nvSpPr>
        <p:spPr>
          <a:xfrm>
            <a:off x="731520" y="5760720"/>
            <a:ext cx="10058400" cy="457200"/>
          </a:xfrm>
          <a:prstGeom prst="rect">
            <a:avLst/>
          </a:prstGeom>
          <a:noFill/>
          <a:ln/>
        </p:spPr>
        <p:txBody>
          <a:bodyPr wrap="square" rtlCol="0"/>
          <a:lstStyle>
            <a:lvl1pPr indent="0" marL="0">
              <a:buNone/>
              <a:defRPr lang="en-US" sz="1400" dirty="0">
                <a:solidFill>
                  <a:schemeClr val="accent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lvl1pPr indent="0" marL="0">
              <a:buNone/>
              <a:defRPr lang="en-US" sz="1200" b="1" spc="1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4" name="Text 0"/>
          <p:cNvSpPr/>
          <p:nvPr/>
        </p:nvSpPr>
        <p:spPr>
          <a:xfrm>
            <a:off x="548640" y="6446520"/>
            <a:ext cx="5486400" cy="274320"/>
          </a:xfrm>
          <a:prstGeom prst="rect">
            <a:avLst/>
          </a:prstGeom>
          <a:noFill/>
          <a:ln/>
        </p:spPr>
        <p:txBody>
          <a:bodyPr wrap="square" rtlCol="0" anchor="ctr"/>
          <a:lstStyle/>
          <a:p>
            <a:pPr indent="0" marL="0">
              <a:buNone/>
            </a:pPr>
            <a:r>
              <a:rPr lang="en-US" sz="1000" dirty="0">
                <a:solidFill>
                  <a:srgbClr val="6B7A70"/>
                </a:solidFill>
              </a:rPr>
              <a:t>Governing What We Share</a:t>
            </a:r>
            <a:endParaRPr lang="en-US" sz="10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371600"/>
          </a:xfrm>
          <a:prstGeom prst="rect">
            <a:avLst/>
          </a:prstGeom>
          <a:noFill/>
          <a:ln/>
        </p:spPr>
        <p:txBody>
          <a:bodyPr wrap="square" rtlCol="0" anchor="b"/>
          <a:lstStyle/>
          <a:p>
            <a:pPr indent="0" marL="0">
              <a:buNone/>
            </a:pPr>
            <a:r>
              <a:rPr lang="en-US" sz="4800" b="1" dirty="0">
                <a:solidFill>
                  <a:schemeClr val="bg1"/>
                </a:solidFill>
              </a:rPr>
              <a:t>Governing What We Share</a:t>
            </a:r>
            <a:endParaRPr lang="en-US" sz="4800" dirty="0"/>
          </a:p>
        </p:txBody>
      </p:sp>
      <p:sp>
        <p:nvSpPr>
          <p:cNvPr id="3" name="Text 0"/>
          <p:cNvSpPr/>
          <p:nvPr>
            <p:ph idx="101" type="body" hasCustomPrompt="1"/>
          </p:nvPr>
        </p:nvSpPr>
        <p:spPr>
          <a:xfrm>
            <a:off x="731520" y="3291840"/>
            <a:ext cx="10058400" cy="1188720"/>
          </a:xfrm>
          <a:prstGeom prst="rect">
            <a:avLst/>
          </a:prstGeom>
          <a:noFill/>
          <a:ln/>
        </p:spPr>
        <p:txBody>
          <a:bodyPr wrap="square" rtlCol="0" anchor="t"/>
          <a:lstStyle/>
          <a:p>
            <a:pPr indent="0" marL="0">
              <a:buNone/>
            </a:pPr>
            <a:r>
              <a:rPr lang="en-US" sz="2200" dirty="0">
                <a:solidFill>
                  <a:schemeClr val="bg2"/>
                </a:solidFill>
              </a:rPr>
              <a:t>Elinor Ostrom's way of seeing a commons, from the whole system down to one person deciding, for neighbors who want to organize</a:t>
            </a:r>
            <a:endParaRPr lang="en-US" sz="2200" dirty="0"/>
          </a:p>
        </p:txBody>
      </p:sp>
      <p:sp>
        <p:nvSpPr>
          <p:cNvPr id="4" name="Text 0"/>
          <p:cNvSpPr/>
          <p:nvPr>
            <p:ph idx="102" type="body" hasCustomPrompt="1"/>
          </p:nvPr>
        </p:nvSpPr>
        <p:spPr>
          <a:xfrm>
            <a:off x="731520" y="5760720"/>
            <a:ext cx="10058400" cy="457200"/>
          </a:xfrm>
          <a:prstGeom prst="rect">
            <a:avLst/>
          </a:prstGeom>
          <a:noFill/>
          <a:ln/>
        </p:spPr>
        <p:txBody>
          <a:bodyPr wrap="square" rtlCol="0"/>
          <a:lstStyle/>
          <a:p>
            <a:pPr indent="0" marL="0">
              <a:buNone/>
            </a:pPr>
            <a:r>
              <a:rPr lang="en-US" sz="1400" dirty="0">
                <a:solidFill>
                  <a:schemeClr val="accent2"/>
                </a:solidFill>
              </a:rPr>
              <a:t>Marc Pierson and Claude Opus 5.5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OPENING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The question Ostrom answered</a:t>
            </a:r>
            <a:endParaRPr lang="en-US" sz="3200" dirty="0"/>
          </a:p>
        </p:txBody>
      </p:sp>
      <p:sp>
        <p:nvSpPr>
          <p:cNvPr id="5" name="card The old story"/>
          <p:cNvSpPr/>
          <p:nvPr/>
        </p:nvSpPr>
        <p:spPr>
          <a:xfrm>
            <a:off x="548640" y="1463040"/>
            <a:ext cx="5394960" cy="2194560"/>
          </a:xfrm>
          <a:prstGeom prst="roundRect">
            <a:avLst>
              <a:gd name="adj" fmla="val 3333"/>
            </a:avLst>
          </a:prstGeom>
          <a:solidFill>
            <a:srgbClr val="F6E9E4"/>
          </a:solidFill>
          <a:ln w="12700">
            <a:solidFill>
              <a:srgbClr val="F6E9E4"/>
            </a:solidFill>
            <a:prstDash val="solid"/>
          </a:ln>
        </p:spPr>
      </p:sp>
      <p:sp>
        <p:nvSpPr>
          <p:cNvPr id="6" name="Text 3"/>
          <p:cNvSpPr txBox="1"/>
          <p:nvPr/>
        </p:nvSpPr>
        <p:spPr>
          <a:xfrm>
            <a:off x="685800" y="1554480"/>
            <a:ext cx="5120640" cy="2011680"/>
          </a:xfrm>
          <a:prstGeom prst="rect">
            <a:avLst/>
          </a:prstGeom>
          <a:noFill/>
          <a:ln/>
        </p:spPr>
        <p:txBody>
          <a:bodyPr wrap="square" lIns="0" tIns="0" rIns="0" bIns="0" rtlCol="0" anchor="t"/>
          <a:lstStyle/>
          <a:p>
            <a:pPr indent="0" marL="0">
              <a:spcAft>
                <a:spcPts val="400"/>
              </a:spcAft>
              <a:buNone/>
            </a:pPr>
            <a:r>
              <a:rPr lang="en-US" sz="1600" b="1" dirty="0">
                <a:solidFill>
                  <a:schemeClr val="accent4"/>
                </a:solidFill>
              </a:rPr>
              <a:t>The old story</a:t>
            </a:r>
            <a:endParaRPr lang="en-US" sz="1600" dirty="0"/>
          </a:p>
          <a:p>
            <a:pPr indent="0" marL="0">
              <a:spcAft>
                <a:spcPts val="400"/>
              </a:spcAft>
              <a:buNone/>
            </a:pPr>
            <a:r>
              <a:rPr lang="en-US" sz="1400" dirty="0">
                <a:solidFill>
                  <a:schemeClr val="tx1"/>
                </a:solidFill>
              </a:rPr>
              <a:t>Anything shared gets used up. Each person gains by taking a little more, so together they ruin it. The only fixes: the government takes control, or the shared thing is divided into private property.</a:t>
            </a:r>
            <a:endParaRPr lang="en-US" sz="1600" dirty="0"/>
          </a:p>
        </p:txBody>
      </p:sp>
      <p:sp>
        <p:nvSpPr>
          <p:cNvPr id="7" name="card What Ostrom found"/>
          <p:cNvSpPr/>
          <p:nvPr/>
        </p:nvSpPr>
        <p:spPr>
          <a:xfrm>
            <a:off x="6217920" y="1463040"/>
            <a:ext cx="5394960" cy="2194560"/>
          </a:xfrm>
          <a:prstGeom prst="roundRect">
            <a:avLst>
              <a:gd name="adj" fmla="val 3333"/>
            </a:avLst>
          </a:prstGeom>
          <a:solidFill>
            <a:schemeClr val="bg2"/>
          </a:solidFill>
          <a:ln w="12700">
            <a:solidFill>
              <a:schemeClr val="bg2"/>
            </a:solidFill>
            <a:prstDash val="solid"/>
          </a:ln>
        </p:spPr>
      </p:sp>
      <p:sp>
        <p:nvSpPr>
          <p:cNvPr id="8" name="Text 5"/>
          <p:cNvSpPr txBox="1"/>
          <p:nvPr/>
        </p:nvSpPr>
        <p:spPr>
          <a:xfrm>
            <a:off x="6355080" y="1554480"/>
            <a:ext cx="5120640" cy="201168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What Ostrom found</a:t>
            </a:r>
            <a:endParaRPr lang="en-US" sz="1600" dirty="0"/>
          </a:p>
          <a:p>
            <a:pPr indent="0" marL="0">
              <a:spcAft>
                <a:spcPts val="400"/>
              </a:spcAft>
              <a:buNone/>
            </a:pPr>
            <a:r>
              <a:rPr lang="en-US" sz="1400" dirty="0">
                <a:solidFill>
                  <a:schemeClr val="tx1"/>
                </a:solidFill>
              </a:rPr>
              <a:t>People who share a resource often make their own rules, watch each other, settle disputes, and keep it healthy for generations. Not always. But often enough to ask: what do the ones that last have in common?</a:t>
            </a:r>
            <a:endParaRPr lang="en-US" sz="1600" dirty="0"/>
          </a:p>
        </p:txBody>
      </p:sp>
      <p:sp>
        <p:nvSpPr>
          <p:cNvPr id="9" name="Text 6"/>
          <p:cNvSpPr txBox="1"/>
          <p:nvPr/>
        </p:nvSpPr>
        <p:spPr>
          <a:xfrm>
            <a:off x="548640" y="3977640"/>
            <a:ext cx="5394960" cy="2103120"/>
          </a:xfrm>
          <a:prstGeom prst="rect">
            <a:avLst/>
          </a:prstGeom>
          <a:noFill/>
          <a:ln/>
        </p:spPr>
        <p:txBody>
          <a:bodyPr wrap="square" lIns="0" tIns="0" rIns="0" bIns="0" rtlCol="0" anchor="t"/>
          <a:lstStyle/>
          <a:p>
            <a:pPr indent="0" marL="0">
              <a:buNone/>
            </a:pPr>
            <a:r>
              <a:rPr lang="en-US" sz="5400" b="1" dirty="0">
                <a:solidFill>
                  <a:schemeClr val="accent2"/>
                </a:solidFill>
              </a:rPr>
              <a:t>1483</a:t>
            </a:r>
            <a:endParaRPr lang="en-US" sz="5400" dirty="0"/>
          </a:p>
          <a:p>
            <a:pPr indent="0" marL="0">
              <a:buNone/>
            </a:pPr>
            <a:r>
              <a:rPr lang="en-US" sz="1400" dirty="0">
                <a:solidFill>
                  <a:schemeClr val="tx1"/>
                </a:solidFill>
              </a:rPr>
              <a:t>the year the Swiss village of Torbel formally organized the meadows it shares</a:t>
            </a:r>
            <a:endParaRPr lang="en-US" sz="5400" dirty="0"/>
          </a:p>
        </p:txBody>
      </p:sp>
      <p:sp>
        <p:nvSpPr>
          <p:cNvPr id="10" name="Text 7"/>
          <p:cNvSpPr txBox="1"/>
          <p:nvPr/>
        </p:nvSpPr>
        <p:spPr>
          <a:xfrm>
            <a:off x="6217920" y="3977640"/>
            <a:ext cx="5394960" cy="2103120"/>
          </a:xfrm>
          <a:prstGeom prst="rect">
            <a:avLst/>
          </a:prstGeom>
          <a:noFill/>
          <a:ln/>
        </p:spPr>
        <p:txBody>
          <a:bodyPr wrap="square" lIns="0" tIns="0" rIns="0" bIns="0" rtlCol="0" anchor="t"/>
          <a:lstStyle/>
          <a:p>
            <a:pPr indent="0" marL="0">
              <a:buNone/>
            </a:pPr>
            <a:r>
              <a:rPr lang="en-US" sz="5400" b="1" dirty="0">
                <a:solidFill>
                  <a:schemeClr val="accent2"/>
                </a:solidFill>
              </a:rPr>
              <a:t>2009</a:t>
            </a:r>
            <a:endParaRPr lang="en-US" sz="5400" dirty="0"/>
          </a:p>
          <a:p>
            <a:pPr indent="0" marL="0">
              <a:buNone/>
            </a:pPr>
            <a:r>
              <a:rPr lang="en-US" sz="1400" dirty="0">
                <a:solidFill>
                  <a:schemeClr val="tx1"/>
                </a:solidFill>
              </a:rPr>
              <a:t>Ostrom becomes the first woman to receive the Nobel Prize in Economics. Her lecture is the source of this deck.</a:t>
            </a:r>
            <a:endParaRPr lang="en-US" sz="5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OPENING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How this deck moves: we zoom in, nine steps</a:t>
            </a:r>
            <a:endParaRPr lang="en-US" sz="3200" dirty="0"/>
          </a:p>
        </p:txBody>
      </p:sp>
      <p:sp>
        <p:nvSpPr>
          <p:cNvPr id="5" name="Text 2"/>
          <p:cNvSpPr/>
          <p:nvPr/>
        </p:nvSpPr>
        <p:spPr>
          <a:xfrm>
            <a:off x="548640" y="1463040"/>
            <a:ext cx="411480" cy="41148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3"/>
          <p:cNvSpPr txBox="1"/>
          <p:nvPr/>
        </p:nvSpPr>
        <p:spPr>
          <a:xfrm>
            <a:off x="1097280" y="1463040"/>
            <a:ext cx="8229600" cy="411480"/>
          </a:xfrm>
          <a:prstGeom prst="rect">
            <a:avLst/>
          </a:prstGeom>
          <a:noFill/>
          <a:ln/>
        </p:spPr>
        <p:txBody>
          <a:bodyPr wrap="square" lIns="0" tIns="0" rIns="0" bIns="0" rtlCol="0" anchor="ctr"/>
          <a:lstStyle/>
          <a:p>
            <a:pPr indent="0" marL="0">
              <a:buNone/>
            </a:pPr>
            <a:r>
              <a:rPr lang="en-US" sz="1600" b="1" dirty="0">
                <a:solidFill>
                  <a:schemeClr val="tx2"/>
                </a:solidFill>
              </a:rPr>
              <a:t>The whole system   </a:t>
            </a:r>
            <a:pPr indent="0" marL="0">
              <a:buNone/>
            </a:pPr>
            <a:r>
              <a:rPr lang="en-US" sz="1600" dirty="0">
                <a:solidFill>
                  <a:srgbClr val="3E4A42"/>
                </a:solidFill>
              </a:rPr>
              <a:t>What surrounds a shared resource?</a:t>
            </a:r>
            <a:endParaRPr lang="en-US" sz="1600" dirty="0"/>
          </a:p>
        </p:txBody>
      </p:sp>
      <p:sp>
        <p:nvSpPr>
          <p:cNvPr id="7" name="Text 4"/>
          <p:cNvSpPr/>
          <p:nvPr/>
        </p:nvSpPr>
        <p:spPr>
          <a:xfrm>
            <a:off x="777240" y="1984248"/>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8" name="Text 5"/>
          <p:cNvSpPr txBox="1"/>
          <p:nvPr/>
        </p:nvSpPr>
        <p:spPr>
          <a:xfrm>
            <a:off x="1325880" y="1984248"/>
            <a:ext cx="8229600" cy="411480"/>
          </a:xfrm>
          <a:prstGeom prst="rect">
            <a:avLst/>
          </a:prstGeom>
          <a:noFill/>
          <a:ln/>
        </p:spPr>
        <p:txBody>
          <a:bodyPr wrap="square" lIns="0" tIns="0" rIns="0" bIns="0" rtlCol="0" anchor="ctr"/>
          <a:lstStyle/>
          <a:p>
            <a:pPr indent="0" marL="0">
              <a:buNone/>
            </a:pPr>
            <a:r>
              <a:rPr lang="en-US" sz="1600" b="1" dirty="0">
                <a:solidFill>
                  <a:schemeClr val="tx2"/>
                </a:solidFill>
              </a:rPr>
              <a:t>What we share   </a:t>
            </a:r>
            <a:pPr indent="0" marL="0">
              <a:buNone/>
            </a:pPr>
            <a:r>
              <a:rPr lang="en-US" sz="1600" dirty="0">
                <a:solidFill>
                  <a:srgbClr val="3E4A42"/>
                </a:solidFill>
              </a:rPr>
              <a:t>What kind of thing is being shared?</a:t>
            </a:r>
            <a:endParaRPr lang="en-US" sz="1600" dirty="0"/>
          </a:p>
        </p:txBody>
      </p:sp>
      <p:sp>
        <p:nvSpPr>
          <p:cNvPr id="9" name="Text 6"/>
          <p:cNvSpPr/>
          <p:nvPr/>
        </p:nvSpPr>
        <p:spPr>
          <a:xfrm>
            <a:off x="1005840" y="2505456"/>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0" name="Text 7"/>
          <p:cNvSpPr txBox="1"/>
          <p:nvPr/>
        </p:nvSpPr>
        <p:spPr>
          <a:xfrm>
            <a:off x="1554480" y="2505456"/>
            <a:ext cx="8229600" cy="411480"/>
          </a:xfrm>
          <a:prstGeom prst="rect">
            <a:avLst/>
          </a:prstGeom>
          <a:noFill/>
          <a:ln/>
        </p:spPr>
        <p:txBody>
          <a:bodyPr wrap="square" lIns="0" tIns="0" rIns="0" bIns="0" rtlCol="0" anchor="ctr"/>
          <a:lstStyle/>
          <a:p>
            <a:pPr indent="0" marL="0">
              <a:buNone/>
            </a:pPr>
            <a:r>
              <a:rPr lang="en-US" sz="1600" b="1" dirty="0">
                <a:solidFill>
                  <a:schemeClr val="tx2"/>
                </a:solidFill>
              </a:rPr>
              <a:t>One situation in its setting   </a:t>
            </a:r>
            <a:pPr indent="0" marL="0">
              <a:buNone/>
            </a:pPr>
            <a:r>
              <a:rPr lang="en-US" sz="1600" dirty="0">
                <a:solidFill>
                  <a:srgbClr val="3E4A42"/>
                </a:solidFill>
              </a:rPr>
              <a:t>Where do people meet and choose?</a:t>
            </a:r>
            <a:endParaRPr lang="en-US" sz="1600" dirty="0"/>
          </a:p>
        </p:txBody>
      </p:sp>
      <p:sp>
        <p:nvSpPr>
          <p:cNvPr id="11" name="Text 8"/>
          <p:cNvSpPr/>
          <p:nvPr/>
        </p:nvSpPr>
        <p:spPr>
          <a:xfrm>
            <a:off x="1234440" y="3026664"/>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2" name="Text 9"/>
          <p:cNvSpPr txBox="1"/>
          <p:nvPr/>
        </p:nvSpPr>
        <p:spPr>
          <a:xfrm>
            <a:off x="1783080" y="3026664"/>
            <a:ext cx="8229600" cy="411480"/>
          </a:xfrm>
          <a:prstGeom prst="rect">
            <a:avLst/>
          </a:prstGeom>
          <a:noFill/>
          <a:ln/>
        </p:spPr>
        <p:txBody>
          <a:bodyPr wrap="square" lIns="0" tIns="0" rIns="0" bIns="0" rtlCol="0" anchor="ctr"/>
          <a:lstStyle/>
          <a:p>
            <a:pPr indent="0" marL="0">
              <a:buNone/>
            </a:pPr>
            <a:r>
              <a:rPr lang="en-US" sz="1600" b="1" dirty="0">
                <a:solidFill>
                  <a:schemeClr val="tx2"/>
                </a:solidFill>
              </a:rPr>
              <a:t>Layers of decision   </a:t>
            </a:r>
            <a:pPr indent="0" marL="0">
              <a:buNone/>
            </a:pPr>
            <a:r>
              <a:rPr lang="en-US" sz="1600" dirty="0">
                <a:solidFill>
                  <a:srgbClr val="3E4A42"/>
                </a:solidFill>
              </a:rPr>
              <a:t>Who decides the rules, and who decides who decides?</a:t>
            </a:r>
            <a:endParaRPr lang="en-US" sz="1600" dirty="0"/>
          </a:p>
        </p:txBody>
      </p:sp>
      <p:sp>
        <p:nvSpPr>
          <p:cNvPr id="13" name="Text 10"/>
          <p:cNvSpPr/>
          <p:nvPr/>
        </p:nvSpPr>
        <p:spPr>
          <a:xfrm>
            <a:off x="1463040" y="3547872"/>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14" name="Text 11"/>
          <p:cNvSpPr txBox="1"/>
          <p:nvPr/>
        </p:nvSpPr>
        <p:spPr>
          <a:xfrm>
            <a:off x="2011680" y="3547872"/>
            <a:ext cx="8229600" cy="411480"/>
          </a:xfrm>
          <a:prstGeom prst="rect">
            <a:avLst/>
          </a:prstGeom>
          <a:noFill/>
          <a:ln/>
        </p:spPr>
        <p:txBody>
          <a:bodyPr wrap="square" lIns="0" tIns="0" rIns="0" bIns="0" rtlCol="0" anchor="ctr"/>
          <a:lstStyle/>
          <a:p>
            <a:pPr indent="0" marL="0">
              <a:buNone/>
            </a:pPr>
            <a:r>
              <a:rPr lang="en-US" sz="1600" b="1" dirty="0">
                <a:solidFill>
                  <a:schemeClr val="tx2"/>
                </a:solidFill>
              </a:rPr>
              <a:t>Inside one situation   </a:t>
            </a:r>
            <a:pPr indent="0" marL="0">
              <a:buNone/>
            </a:pPr>
            <a:r>
              <a:rPr lang="en-US" sz="1600" dirty="0">
                <a:solidFill>
                  <a:srgbClr val="3E4A42"/>
                </a:solidFill>
              </a:rPr>
              <a:t>What are the working parts of one situation?</a:t>
            </a:r>
            <a:endParaRPr lang="en-US" sz="1600" dirty="0"/>
          </a:p>
        </p:txBody>
      </p:sp>
      <p:sp>
        <p:nvSpPr>
          <p:cNvPr id="15" name="Text 12"/>
          <p:cNvSpPr/>
          <p:nvPr/>
        </p:nvSpPr>
        <p:spPr>
          <a:xfrm>
            <a:off x="1691640" y="4069080"/>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16" name="Text 13"/>
          <p:cNvSpPr txBox="1"/>
          <p:nvPr/>
        </p:nvSpPr>
        <p:spPr>
          <a:xfrm>
            <a:off x="2240280" y="4069080"/>
            <a:ext cx="8229600" cy="411480"/>
          </a:xfrm>
          <a:prstGeom prst="rect">
            <a:avLst/>
          </a:prstGeom>
          <a:noFill/>
          <a:ln/>
        </p:spPr>
        <p:txBody>
          <a:bodyPr wrap="square" lIns="0" tIns="0" rIns="0" bIns="0" rtlCol="0" anchor="ctr"/>
          <a:lstStyle/>
          <a:p>
            <a:pPr indent="0" marL="0">
              <a:buNone/>
            </a:pPr>
            <a:r>
              <a:rPr lang="en-US" sz="1600" b="1" dirty="0">
                <a:solidFill>
                  <a:schemeClr val="tx2"/>
                </a:solidFill>
              </a:rPr>
              <a:t>The rules that shape it   </a:t>
            </a:r>
            <a:pPr indent="0" marL="0">
              <a:buNone/>
            </a:pPr>
            <a:r>
              <a:rPr lang="en-US" sz="1600" dirty="0">
                <a:solidFill>
                  <a:srgbClr val="3E4A42"/>
                </a:solidFill>
              </a:rPr>
              <a:t>Which rule shapes which part?</a:t>
            </a:r>
            <a:endParaRPr lang="en-US" sz="1600" dirty="0"/>
          </a:p>
        </p:txBody>
      </p:sp>
      <p:sp>
        <p:nvSpPr>
          <p:cNvPr id="17" name="Text 14"/>
          <p:cNvSpPr/>
          <p:nvPr/>
        </p:nvSpPr>
        <p:spPr>
          <a:xfrm>
            <a:off x="1920240" y="4590288"/>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18" name="Text 15"/>
          <p:cNvSpPr txBox="1"/>
          <p:nvPr/>
        </p:nvSpPr>
        <p:spPr>
          <a:xfrm>
            <a:off x="2468880" y="4590288"/>
            <a:ext cx="8229600" cy="411480"/>
          </a:xfrm>
          <a:prstGeom prst="rect">
            <a:avLst/>
          </a:prstGeom>
          <a:noFill/>
          <a:ln/>
        </p:spPr>
        <p:txBody>
          <a:bodyPr wrap="square" lIns="0" tIns="0" rIns="0" bIns="0" rtlCol="0" anchor="ctr"/>
          <a:lstStyle/>
          <a:p>
            <a:pPr indent="0" marL="0">
              <a:buNone/>
            </a:pPr>
            <a:r>
              <a:rPr lang="en-US" sz="1600" b="1" dirty="0">
                <a:solidFill>
                  <a:schemeClr val="tx2"/>
                </a:solidFill>
              </a:rPr>
              <a:t>What lasting rules share   </a:t>
            </a:r>
            <a:pPr indent="0" marL="0">
              <a:buNone/>
            </a:pPr>
            <a:r>
              <a:rPr lang="en-US" sz="1600" dirty="0">
                <a:solidFill>
                  <a:srgbClr val="3E4A42"/>
                </a:solidFill>
              </a:rPr>
              <a:t>What do the rules of long-lasting commons have in common?</a:t>
            </a:r>
            <a:endParaRPr lang="en-US" sz="1600" dirty="0"/>
          </a:p>
        </p:txBody>
      </p:sp>
      <p:sp>
        <p:nvSpPr>
          <p:cNvPr id="19" name="Text 16"/>
          <p:cNvSpPr/>
          <p:nvPr/>
        </p:nvSpPr>
        <p:spPr>
          <a:xfrm>
            <a:off x="2148840" y="5111496"/>
            <a:ext cx="411480" cy="41148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8</a:t>
            </a:r>
            <a:endParaRPr lang="en-US" sz="1500" dirty="0"/>
          </a:p>
        </p:txBody>
      </p:sp>
      <p:sp>
        <p:nvSpPr>
          <p:cNvPr id="20" name="Text 17"/>
          <p:cNvSpPr txBox="1"/>
          <p:nvPr/>
        </p:nvSpPr>
        <p:spPr>
          <a:xfrm>
            <a:off x="2697480" y="5111496"/>
            <a:ext cx="8229600" cy="411480"/>
          </a:xfrm>
          <a:prstGeom prst="rect">
            <a:avLst/>
          </a:prstGeom>
          <a:noFill/>
          <a:ln/>
        </p:spPr>
        <p:txBody>
          <a:bodyPr wrap="square" lIns="0" tIns="0" rIns="0" bIns="0" rtlCol="0" anchor="ctr"/>
          <a:lstStyle/>
          <a:p>
            <a:pPr indent="0" marL="0">
              <a:buNone/>
            </a:pPr>
            <a:r>
              <a:rPr lang="en-US" sz="1600" b="1" dirty="0">
                <a:solidFill>
                  <a:schemeClr val="tx2"/>
                </a:solidFill>
              </a:rPr>
              <a:t>One sentence of a rule   </a:t>
            </a:r>
            <a:pPr indent="0" marL="0">
              <a:buNone/>
            </a:pPr>
            <a:r>
              <a:rPr lang="en-US" sz="1600" dirty="0">
                <a:solidFill>
                  <a:srgbClr val="3E4A42"/>
                </a:solidFill>
              </a:rPr>
              <a:t>How is one rule built?</a:t>
            </a:r>
            <a:endParaRPr lang="en-US" sz="1600" dirty="0"/>
          </a:p>
        </p:txBody>
      </p:sp>
      <p:sp>
        <p:nvSpPr>
          <p:cNvPr id="21" name="Text 18"/>
          <p:cNvSpPr/>
          <p:nvPr/>
        </p:nvSpPr>
        <p:spPr>
          <a:xfrm>
            <a:off x="2377440" y="5632704"/>
            <a:ext cx="411480" cy="41148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9</a:t>
            </a:r>
            <a:endParaRPr lang="en-US" sz="1500" dirty="0"/>
          </a:p>
        </p:txBody>
      </p:sp>
      <p:sp>
        <p:nvSpPr>
          <p:cNvPr id="22" name="Text 19"/>
          <p:cNvSpPr txBox="1"/>
          <p:nvPr/>
        </p:nvSpPr>
        <p:spPr>
          <a:xfrm>
            <a:off x="2926080" y="5632704"/>
            <a:ext cx="8229600" cy="411480"/>
          </a:xfrm>
          <a:prstGeom prst="rect">
            <a:avLst/>
          </a:prstGeom>
          <a:noFill/>
          <a:ln/>
        </p:spPr>
        <p:txBody>
          <a:bodyPr wrap="square" lIns="0" tIns="0" rIns="0" bIns="0" rtlCol="0" anchor="ctr"/>
          <a:lstStyle/>
          <a:p>
            <a:pPr indent="0" marL="0">
              <a:buNone/>
            </a:pPr>
            <a:r>
              <a:rPr lang="en-US" sz="1600" b="1" dirty="0">
                <a:solidFill>
                  <a:schemeClr val="tx2"/>
                </a:solidFill>
              </a:rPr>
              <a:t>One person deciding   </a:t>
            </a:r>
            <a:pPr indent="0" marL="0">
              <a:buNone/>
            </a:pPr>
            <a:r>
              <a:rPr lang="en-US" sz="1600" dirty="0">
                <a:solidFill>
                  <a:srgbClr val="3E4A42"/>
                </a:solidFill>
              </a:rPr>
              <a:t>Why does a person choose to cooperate?</a:t>
            </a:r>
            <a:endParaRPr lang="en-US" sz="1600" dirty="0"/>
          </a:p>
        </p:txBody>
      </p:sp>
      <p:sp>
        <p:nvSpPr>
          <p:cNvPr id="23" name="Text 20"/>
          <p:cNvSpPr txBox="1"/>
          <p:nvPr/>
        </p:nvSpPr>
        <p:spPr>
          <a:xfrm>
            <a:off x="9966960" y="1463040"/>
            <a:ext cx="1645920" cy="411480"/>
          </a:xfrm>
          <a:prstGeom prst="rect">
            <a:avLst/>
          </a:prstGeom>
          <a:noFill/>
          <a:ln/>
        </p:spPr>
        <p:txBody>
          <a:bodyPr wrap="square" lIns="0" tIns="0" rIns="0" bIns="0" rtlCol="0" anchor="ctr"/>
          <a:lstStyle/>
          <a:p>
            <a:pPr algn="r" indent="0" marL="0">
              <a:buNone/>
            </a:pPr>
            <a:r>
              <a:rPr lang="en-US" sz="1300" i="1" dirty="0">
                <a:solidFill>
                  <a:srgbClr val="5B6B60"/>
                </a:solidFill>
              </a:rPr>
              <a:t>largest</a:t>
            </a:r>
            <a:endParaRPr lang="en-US" sz="1300" dirty="0"/>
          </a:p>
        </p:txBody>
      </p:sp>
      <p:sp>
        <p:nvSpPr>
          <p:cNvPr id="24" name="Text 21"/>
          <p:cNvSpPr txBox="1"/>
          <p:nvPr/>
        </p:nvSpPr>
        <p:spPr>
          <a:xfrm>
            <a:off x="9966960" y="5632704"/>
            <a:ext cx="1645920" cy="411480"/>
          </a:xfrm>
          <a:prstGeom prst="rect">
            <a:avLst/>
          </a:prstGeom>
          <a:noFill/>
          <a:ln/>
        </p:spPr>
        <p:txBody>
          <a:bodyPr wrap="square" lIns="0" tIns="0" rIns="0" bIns="0" rtlCol="0" anchor="ctr"/>
          <a:lstStyle/>
          <a:p>
            <a:pPr algn="r" indent="0" marL="0">
              <a:buNone/>
            </a:pPr>
            <a:r>
              <a:rPr lang="en-US" sz="1300" i="1" dirty="0">
                <a:solidFill>
                  <a:srgbClr val="5B6B60"/>
                </a:solidFill>
              </a:rPr>
              <a:t>smallest</a:t>
            </a:r>
            <a:endParaRPr lang="en-US" sz="13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OPENING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One example all the way down: the Elm Street garden</a:t>
            </a:r>
            <a:endParaRPr lang="en-US" sz="3200" dirty="0"/>
          </a:p>
        </p:txBody>
      </p:sp>
      <p:sp>
        <p:nvSpPr>
          <p:cNvPr id="5" name="card 30 plots, one water tank"/>
          <p:cNvSpPr/>
          <p:nvPr/>
        </p:nvSpPr>
        <p:spPr>
          <a:xfrm>
            <a:off x="548640" y="1554480"/>
            <a:ext cx="5440680" cy="2103120"/>
          </a:xfrm>
          <a:prstGeom prst="roundRect">
            <a:avLst>
              <a:gd name="adj" fmla="val 3478"/>
            </a:avLst>
          </a:prstGeom>
          <a:solidFill>
            <a:schemeClr val="bg2"/>
          </a:solidFill>
          <a:ln w="12700">
            <a:solidFill>
              <a:schemeClr val="bg2"/>
            </a:solidFill>
            <a:prstDash val="solid"/>
          </a:ln>
        </p:spPr>
      </p:sp>
      <p:sp>
        <p:nvSpPr>
          <p:cNvPr id="6" name="Text 3"/>
          <p:cNvSpPr txBox="1"/>
          <p:nvPr/>
        </p:nvSpPr>
        <p:spPr>
          <a:xfrm>
            <a:off x="685800" y="1645920"/>
            <a:ext cx="5166360" cy="1920240"/>
          </a:xfrm>
          <a:prstGeom prst="rect">
            <a:avLst/>
          </a:prstGeom>
          <a:noFill/>
          <a:ln/>
        </p:spPr>
        <p:txBody>
          <a:bodyPr wrap="square" lIns="0" tIns="0" rIns="0" bIns="0" rtlCol="0" anchor="t"/>
          <a:lstStyle/>
          <a:p>
            <a:pPr indent="0" marL="0">
              <a:spcAft>
                <a:spcPts val="400"/>
              </a:spcAft>
              <a:buNone/>
            </a:pPr>
            <a:r>
              <a:rPr lang="en-US" sz="2000" b="1" dirty="0">
                <a:solidFill>
                  <a:schemeClr val="tx2"/>
                </a:solidFill>
              </a:rPr>
              <a:t>30 plots, one water tank</a:t>
            </a:r>
            <a:endParaRPr lang="en-US" sz="2000" dirty="0"/>
          </a:p>
          <a:p>
            <a:pPr indent="0" marL="0">
              <a:spcAft>
                <a:spcPts val="400"/>
              </a:spcAft>
              <a:buNone/>
            </a:pPr>
            <a:r>
              <a:rPr lang="en-US" sz="1600" dirty="0">
                <a:solidFill>
                  <a:schemeClr val="tx1"/>
                </a:solidFill>
              </a:rPr>
              <a:t>The garden shares a single rain-fed tank. In a dry summer there is not enough for everyone.</a:t>
            </a:r>
            <a:endParaRPr lang="en-US" sz="2000" dirty="0"/>
          </a:p>
        </p:txBody>
      </p:sp>
      <p:sp>
        <p:nvSpPr>
          <p:cNvPr id="7" name="card A written bylaw"/>
          <p:cNvSpPr/>
          <p:nvPr/>
        </p:nvSpPr>
        <p:spPr>
          <a:xfrm>
            <a:off x="6172200" y="1554480"/>
            <a:ext cx="5440680" cy="2103120"/>
          </a:xfrm>
          <a:prstGeom prst="roundRect">
            <a:avLst>
              <a:gd name="adj" fmla="val 3478"/>
            </a:avLst>
          </a:prstGeom>
          <a:solidFill>
            <a:schemeClr val="bg2"/>
          </a:solidFill>
          <a:ln w="12700">
            <a:solidFill>
              <a:schemeClr val="bg2"/>
            </a:solidFill>
            <a:prstDash val="solid"/>
          </a:ln>
        </p:spPr>
      </p:sp>
      <p:sp>
        <p:nvSpPr>
          <p:cNvPr id="8" name="Text 5"/>
          <p:cNvSpPr txBox="1"/>
          <p:nvPr/>
        </p:nvSpPr>
        <p:spPr>
          <a:xfrm>
            <a:off x="6309360" y="1645920"/>
            <a:ext cx="5166360" cy="1920240"/>
          </a:xfrm>
          <a:prstGeom prst="rect">
            <a:avLst/>
          </a:prstGeom>
          <a:noFill/>
          <a:ln/>
        </p:spPr>
        <p:txBody>
          <a:bodyPr wrap="square" lIns="0" tIns="0" rIns="0" bIns="0" rtlCol="0" anchor="t"/>
          <a:lstStyle/>
          <a:p>
            <a:pPr indent="0" marL="0">
              <a:spcAft>
                <a:spcPts val="400"/>
              </a:spcAft>
              <a:buNone/>
            </a:pPr>
            <a:r>
              <a:rPr lang="en-US" sz="2000" b="1" dirty="0">
                <a:solidFill>
                  <a:schemeClr val="tx2"/>
                </a:solidFill>
              </a:rPr>
              <a:t>A written bylaw</a:t>
            </a:r>
            <a:endParaRPr lang="en-US" sz="2000" dirty="0"/>
          </a:p>
          <a:p>
            <a:pPr indent="0" marL="0">
              <a:spcAft>
                <a:spcPts val="400"/>
              </a:spcAft>
              <a:buNone/>
            </a:pPr>
            <a:r>
              <a:rPr lang="en-US" sz="1600" dirty="0">
                <a:solidFill>
                  <a:schemeClr val="tx1"/>
                </a:solidFill>
              </a:rPr>
              <a:t>Watering days are assigned. No sprinklers when the tank is below half.</a:t>
            </a:r>
            <a:endParaRPr lang="en-US" sz="2000" dirty="0"/>
          </a:p>
        </p:txBody>
      </p:sp>
      <p:sp>
        <p:nvSpPr>
          <p:cNvPr id="9" name="card A water keeper"/>
          <p:cNvSpPr/>
          <p:nvPr/>
        </p:nvSpPr>
        <p:spPr>
          <a:xfrm>
            <a:off x="548640" y="3886200"/>
            <a:ext cx="5440680" cy="2103120"/>
          </a:xfrm>
          <a:prstGeom prst="roundRect">
            <a:avLst>
              <a:gd name="adj" fmla="val 3478"/>
            </a:avLst>
          </a:prstGeom>
          <a:solidFill>
            <a:schemeClr val="bg2"/>
          </a:solidFill>
          <a:ln w="12700">
            <a:solidFill>
              <a:schemeClr val="bg2"/>
            </a:solidFill>
            <a:prstDash val="solid"/>
          </a:ln>
        </p:spPr>
      </p:sp>
      <p:sp>
        <p:nvSpPr>
          <p:cNvPr id="10" name="Text 7"/>
          <p:cNvSpPr txBox="1"/>
          <p:nvPr/>
        </p:nvSpPr>
        <p:spPr>
          <a:xfrm>
            <a:off x="685800" y="3977640"/>
            <a:ext cx="5166360" cy="1920240"/>
          </a:xfrm>
          <a:prstGeom prst="rect">
            <a:avLst/>
          </a:prstGeom>
          <a:noFill/>
          <a:ln/>
        </p:spPr>
        <p:txBody>
          <a:bodyPr wrap="square" lIns="0" tIns="0" rIns="0" bIns="0" rtlCol="0" anchor="t"/>
          <a:lstStyle/>
          <a:p>
            <a:pPr indent="0" marL="0">
              <a:spcAft>
                <a:spcPts val="400"/>
              </a:spcAft>
              <a:buNone/>
            </a:pPr>
            <a:r>
              <a:rPr lang="en-US" sz="2000" b="1" dirty="0">
                <a:solidFill>
                  <a:schemeClr val="tx2"/>
                </a:solidFill>
              </a:rPr>
              <a:t>A water keeper</a:t>
            </a:r>
            <a:endParaRPr lang="en-US" sz="2000" dirty="0"/>
          </a:p>
          <a:p>
            <a:pPr indent="0" marL="0">
              <a:spcAft>
                <a:spcPts val="400"/>
              </a:spcAft>
              <a:buNone/>
            </a:pPr>
            <a:r>
              <a:rPr lang="en-US" sz="1600" dirty="0">
                <a:solidFill>
                  <a:schemeClr val="tx1"/>
                </a:solidFill>
              </a:rPr>
              <a:t>A gardener chosen each spring to watch the tank and enforce the watering rules.</a:t>
            </a:r>
            <a:endParaRPr lang="en-US" sz="2000" dirty="0"/>
          </a:p>
        </p:txBody>
      </p:sp>
      <p:sp>
        <p:nvSpPr>
          <p:cNvPr id="11" name="card A spring meeting"/>
          <p:cNvSpPr/>
          <p:nvPr/>
        </p:nvSpPr>
        <p:spPr>
          <a:xfrm>
            <a:off x="6172200" y="3886200"/>
            <a:ext cx="5440680" cy="2103120"/>
          </a:xfrm>
          <a:prstGeom prst="roundRect">
            <a:avLst>
              <a:gd name="adj" fmla="val 3478"/>
            </a:avLst>
          </a:prstGeom>
          <a:solidFill>
            <a:schemeClr val="bg2"/>
          </a:solidFill>
          <a:ln w="12700">
            <a:solidFill>
              <a:schemeClr val="bg2"/>
            </a:solidFill>
            <a:prstDash val="solid"/>
          </a:ln>
        </p:spPr>
      </p:sp>
      <p:sp>
        <p:nvSpPr>
          <p:cNvPr id="12" name="Text 9"/>
          <p:cNvSpPr txBox="1"/>
          <p:nvPr/>
        </p:nvSpPr>
        <p:spPr>
          <a:xfrm>
            <a:off x="6309360" y="3977640"/>
            <a:ext cx="5166360" cy="1920240"/>
          </a:xfrm>
          <a:prstGeom prst="rect">
            <a:avLst/>
          </a:prstGeom>
          <a:noFill/>
          <a:ln/>
        </p:spPr>
        <p:txBody>
          <a:bodyPr wrap="square" lIns="0" tIns="0" rIns="0" bIns="0" rtlCol="0" anchor="t"/>
          <a:lstStyle/>
          <a:p>
            <a:pPr indent="0" marL="0">
              <a:spcAft>
                <a:spcPts val="400"/>
              </a:spcAft>
              <a:buNone/>
            </a:pPr>
            <a:r>
              <a:rPr lang="en-US" sz="2000" b="1" dirty="0">
                <a:solidFill>
                  <a:schemeClr val="tx2"/>
                </a:solidFill>
              </a:rPr>
              <a:t>A spring meeting</a:t>
            </a:r>
            <a:endParaRPr lang="en-US" sz="2000" dirty="0"/>
          </a:p>
          <a:p>
            <a:pPr indent="0" marL="0">
              <a:spcAft>
                <a:spcPts val="400"/>
              </a:spcAft>
              <a:buNone/>
            </a:pPr>
            <a:r>
              <a:rPr lang="en-US" sz="1600" dirty="0">
                <a:solidFill>
                  <a:schemeClr val="tx1"/>
                </a:solidFill>
              </a:rPr>
              <a:t>Where gardeners change the rules. The city leases them the land.</a:t>
            </a:r>
            <a:endParaRPr lang="en-US" sz="20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nchor="b"/>
          <a:lstStyle/>
          <a:p>
            <a:pPr indent="0" marL="0">
              <a:buNone/>
            </a:pPr>
            <a:r>
              <a:rPr lang="en-US" sz="4000" b="1" dirty="0">
                <a:solidFill>
                  <a:schemeClr val="bg1"/>
                </a:solidFill>
              </a:rPr>
              <a:t>The whole system</a:t>
            </a: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nchor="t"/>
          <a:lstStyle/>
          <a:p>
            <a:pPr indent="0" marL="0">
              <a:buNone/>
            </a:pPr>
            <a:r>
              <a:rPr lang="en-US" sz="1800" dirty="0">
                <a:solidFill>
                  <a:schemeClr val="bg2"/>
                </a:solidFill>
              </a:rPr>
              <a:t>Everything around a shared resource: nature, people, rules, and the wider world they sit in.</a:t>
            </a:r>
            <a:endParaRPr lang="en-US" sz="1800" dirty="0"/>
          </a:p>
        </p:txBody>
      </p:sp>
      <p:sp>
        <p:nvSpPr>
          <p:cNvPr id="4" name="Text 2"/>
          <p:cNvSpPr txBox="1"/>
          <p:nvPr/>
        </p:nvSpPr>
        <p:spPr>
          <a:xfrm>
            <a:off x="7223760" y="411480"/>
            <a:ext cx="4297680" cy="365760"/>
          </a:xfrm>
          <a:prstGeom prst="rect">
            <a:avLst/>
          </a:prstGeom>
          <a:noFill/>
          <a:ln/>
        </p:spPr>
        <p:txBody>
          <a:bodyPr wrap="square" lIns="0" tIns="0" rIns="0" bIns="0" rtlCol="0" anchor="ctr"/>
          <a:lstStyle/>
          <a:p>
            <a:pPr indent="0" marL="0">
              <a:buNone/>
            </a:pPr>
            <a:r>
              <a:rPr lang="en-US" sz="1200" b="1" spc="200" kern="0" dirty="0">
                <a:solidFill>
                  <a:schemeClr val="accent2"/>
                </a:solidFill>
              </a:rPr>
              <a:t>ZOOMING IN</a:t>
            </a:r>
            <a:endParaRPr lang="en-US" sz="1200" dirty="0"/>
          </a:p>
        </p:txBody>
      </p:sp>
      <p:sp>
        <p:nvSpPr>
          <p:cNvPr id="5" name="rung 1"/>
          <p:cNvSpPr/>
          <p:nvPr/>
        </p:nvSpPr>
        <p:spPr>
          <a:xfrm>
            <a:off x="7223760" y="914400"/>
            <a:ext cx="4297680" cy="457200"/>
          </a:xfrm>
          <a:prstGeom prst="roundRect">
            <a:avLst>
              <a:gd name="adj" fmla="val 16000"/>
            </a:avLst>
          </a:prstGeom>
          <a:solidFill>
            <a:schemeClr val="accent2"/>
          </a:solidFill>
          <a:ln w="9525">
            <a:solidFill>
              <a:schemeClr val="accent2"/>
            </a:solidFill>
          </a:ln>
        </p:spPr>
        <p:txBody>
          <a:bodyPr wrap="square" lIns="0" tIns="152400" rIns="127000" bIns="0" rtlCol="0" anchor="ctr"/>
          <a:lstStyle/>
          <a:p>
            <a:pPr indent="0" marL="0">
              <a:buNone/>
            </a:pPr>
            <a:r>
              <a:rPr lang="en-US" sz="1500" b="1" dirty="0">
                <a:solidFill>
                  <a:schemeClr val="tx2"/>
                </a:solidFill>
              </a:rPr>
              <a:t>1   The whole system</a:t>
            </a:r>
            <a:endParaRPr lang="en-US" sz="1500" dirty="0"/>
          </a:p>
        </p:txBody>
      </p:sp>
      <p:sp>
        <p:nvSpPr>
          <p:cNvPr id="6" name="rung 2"/>
          <p:cNvSpPr/>
          <p:nvPr/>
        </p:nvSpPr>
        <p:spPr>
          <a:xfrm>
            <a:off x="7333488" y="1444752"/>
            <a:ext cx="418795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2   What we share</a:t>
            </a:r>
            <a:endParaRPr lang="en-US" sz="1500" dirty="0"/>
          </a:p>
        </p:txBody>
      </p:sp>
      <p:sp>
        <p:nvSpPr>
          <p:cNvPr id="7" name="rung 3"/>
          <p:cNvSpPr/>
          <p:nvPr/>
        </p:nvSpPr>
        <p:spPr>
          <a:xfrm>
            <a:off x="7443216" y="1975104"/>
            <a:ext cx="407822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3   One situation in its setting</a:t>
            </a:r>
            <a:endParaRPr lang="en-US" sz="1500" dirty="0"/>
          </a:p>
        </p:txBody>
      </p:sp>
      <p:sp>
        <p:nvSpPr>
          <p:cNvPr id="8" name="rung 4"/>
          <p:cNvSpPr/>
          <p:nvPr/>
        </p:nvSpPr>
        <p:spPr>
          <a:xfrm>
            <a:off x="7552944" y="2505456"/>
            <a:ext cx="396849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4   Layers of decision</a:t>
            </a:r>
            <a:endParaRPr lang="en-US" sz="1500" dirty="0"/>
          </a:p>
        </p:txBody>
      </p:sp>
      <p:sp>
        <p:nvSpPr>
          <p:cNvPr id="9" name="rung 5"/>
          <p:cNvSpPr/>
          <p:nvPr/>
        </p:nvSpPr>
        <p:spPr>
          <a:xfrm>
            <a:off x="7662672" y="3035808"/>
            <a:ext cx="3858768"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5   Inside one situation</a:t>
            </a:r>
            <a:endParaRPr lang="en-US" sz="1500" dirty="0"/>
          </a:p>
        </p:txBody>
      </p:sp>
      <p:sp>
        <p:nvSpPr>
          <p:cNvPr id="10" name="rung 6"/>
          <p:cNvSpPr/>
          <p:nvPr/>
        </p:nvSpPr>
        <p:spPr>
          <a:xfrm>
            <a:off x="7772400" y="3566160"/>
            <a:ext cx="374904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6   The rules that shape it</a:t>
            </a:r>
            <a:endParaRPr lang="en-US" sz="1500" dirty="0"/>
          </a:p>
        </p:txBody>
      </p:sp>
      <p:sp>
        <p:nvSpPr>
          <p:cNvPr id="11" name="rung 7"/>
          <p:cNvSpPr/>
          <p:nvPr/>
        </p:nvSpPr>
        <p:spPr>
          <a:xfrm>
            <a:off x="7882128" y="4096512"/>
            <a:ext cx="363931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7   What lasting rules share</a:t>
            </a:r>
            <a:endParaRPr lang="en-US" sz="1500" dirty="0"/>
          </a:p>
        </p:txBody>
      </p:sp>
      <p:sp>
        <p:nvSpPr>
          <p:cNvPr id="12" name="rung 8"/>
          <p:cNvSpPr/>
          <p:nvPr/>
        </p:nvSpPr>
        <p:spPr>
          <a:xfrm>
            <a:off x="7991856" y="4626864"/>
            <a:ext cx="352958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8   One sentence of a rule</a:t>
            </a:r>
            <a:endParaRPr lang="en-US" sz="1500" dirty="0"/>
          </a:p>
        </p:txBody>
      </p:sp>
      <p:sp>
        <p:nvSpPr>
          <p:cNvPr id="13" name="rung 9"/>
          <p:cNvSpPr/>
          <p:nvPr/>
        </p:nvSpPr>
        <p:spPr>
          <a:xfrm>
            <a:off x="8101584" y="5157216"/>
            <a:ext cx="341985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9   One person deciding</a:t>
            </a:r>
            <a:endParaRPr lang="en-US" sz="1500" dirty="0"/>
          </a:p>
        </p:txBody>
      </p:sp>
      <p:sp>
        <p:nvSpPr>
          <p:cNvPr id="14" name="Text 12"/>
          <p:cNvSpPr txBox="1"/>
          <p:nvPr/>
        </p:nvSpPr>
        <p:spPr>
          <a:xfrm>
            <a:off x="9601200" y="566928"/>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largest scale</a:t>
            </a:r>
            <a:endParaRPr lang="en-US" sz="1100" dirty="0"/>
          </a:p>
        </p:txBody>
      </p:sp>
      <p:sp>
        <p:nvSpPr>
          <p:cNvPr id="15" name="Text 13"/>
          <p:cNvSpPr txBox="1"/>
          <p:nvPr/>
        </p:nvSpPr>
        <p:spPr>
          <a:xfrm>
            <a:off x="9601200" y="5669280"/>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smallest scale</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1 · THE WHOLE SYSTEM</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Every commons sits inside a larger system</a:t>
            </a:r>
            <a:endParaRPr lang="en-US" sz="3200" dirty="0"/>
          </a:p>
        </p:txBody>
      </p:sp>
      <p:pic>
        <p:nvPicPr>
          <p:cNvPr id="5" name="Image 0" descr="Every commons sits inside a larger system">    </p:cNvPr>
          <p:cNvPicPr>
            <a:picLocks noChangeAspect="1"/>
          </p:cNvPicPr>
          <p:nvPr/>
        </p:nvPicPr>
        <p:blipFill>
          <a:blip r:embed="rId1"/>
          <a:stretch>
            <a:fillRect/>
          </a:stretch>
        </p:blipFill>
        <p:spPr>
          <a:xfrm>
            <a:off x="1673134" y="1417320"/>
            <a:ext cx="5157651" cy="4709160"/>
          </a:xfrm>
          <a:prstGeom prst="rect">
            <a:avLst/>
          </a:prstGeom>
        </p:spPr>
      </p:pic>
      <p:sp>
        <p:nvSpPr>
          <p:cNvPr id="6" name="Text 2"/>
          <p:cNvSpPr txBox="1"/>
          <p:nvPr/>
        </p:nvSpPr>
        <p:spPr>
          <a:xfrm>
            <a:off x="1673134" y="6172200"/>
            <a:ext cx="5157651" cy="274320"/>
          </a:xfrm>
          <a:prstGeom prst="rect">
            <a:avLst/>
          </a:prstGeom>
          <a:noFill/>
          <a:ln/>
        </p:spPr>
        <p:txBody>
          <a:bodyPr wrap="square" lIns="0" tIns="0" rIns="0" bIns="0" rtlCol="0" anchor="ctr"/>
          <a:lstStyle/>
          <a:p>
            <a:pPr indent="0" marL="0">
              <a:buNone/>
            </a:pPr>
            <a:r>
              <a:rPr lang="en-US" sz="1000" i="1" dirty="0">
                <a:solidFill>
                  <a:srgbClr val="5B6B60"/>
                </a:solidFill>
              </a:rPr>
              <a:t>Ostrom 2010, Figure 6, adapted from Ostrom 2007</a:t>
            </a:r>
            <a:endParaRPr lang="en-US" sz="1000" dirty="0"/>
          </a:p>
        </p:txBody>
      </p:sp>
      <p:sp>
        <p:nvSpPr>
          <p:cNvPr id="7" name="reading panel"/>
          <p:cNvSpPr/>
          <p:nvPr/>
        </p:nvSpPr>
        <p:spPr>
          <a:xfrm>
            <a:off x="8321040" y="1417320"/>
            <a:ext cx="3429000" cy="4846320"/>
          </a:xfrm>
          <a:prstGeom prst="roundRect">
            <a:avLst>
              <a:gd name="adj" fmla="val 2133"/>
            </a:avLst>
          </a:prstGeom>
          <a:solidFill>
            <a:schemeClr val="bg2"/>
          </a:solidFill>
          <a:ln w="12700">
            <a:solidFill>
              <a:schemeClr val="bg2"/>
            </a:solidFill>
            <a:prstDash val="solid"/>
          </a:ln>
        </p:spPr>
      </p:sp>
      <p:sp>
        <p:nvSpPr>
          <p:cNvPr id="8" name="Text 4"/>
          <p:cNvSpPr txBox="1"/>
          <p:nvPr/>
        </p:nvSpPr>
        <p:spPr>
          <a:xfrm>
            <a:off x="8503920" y="1554480"/>
            <a:ext cx="31089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HOW TO READ IT</a:t>
            </a:r>
            <a:endParaRPr lang="en-US" sz="1200" dirty="0"/>
          </a:p>
        </p:txBody>
      </p:sp>
      <p:sp>
        <p:nvSpPr>
          <p:cNvPr id="9" name="Text 5"/>
          <p:cNvSpPr txBox="1"/>
          <p:nvPr/>
        </p:nvSpPr>
        <p:spPr>
          <a:xfrm>
            <a:off x="8503920" y="1920240"/>
            <a:ext cx="3108960" cy="4251960"/>
          </a:xfrm>
          <a:prstGeom prst="rect">
            <a:avLst/>
          </a:prstGeom>
          <a:noFill/>
          <a:ln/>
        </p:spPr>
        <p:txBody>
          <a:bodyPr wrap="square" lIns="0" tIns="0" rIns="0" bIns="0" rtlCol="0" anchor="t"/>
          <a:lstStyle/>
          <a:p>
            <a:pPr marL="190500" indent="-190500">
              <a:spcAft>
                <a:spcPts val="800"/>
              </a:spcAft>
              <a:buSzPct val="100000"/>
              <a:buChar char="•"/>
            </a:pPr>
            <a:r>
              <a:rPr lang="en-US" sz="1400" dirty="0">
                <a:solidFill>
                  <a:schemeClr val="tx1"/>
                </a:solidFill>
              </a:rPr>
              <a:t>Four parts meet in the middle: the shared resource, the units taken from it, the people who use it, and the rules and bodies that govern it.</a:t>
            </a:r>
            <a:endParaRPr lang="en-US" sz="1400" dirty="0"/>
          </a:p>
          <a:p>
            <a:pPr marL="190500" indent="-190500">
              <a:spcAft>
                <a:spcPts val="800"/>
              </a:spcAft>
              <a:buSzPct val="100000"/>
              <a:buChar char="•"/>
            </a:pPr>
            <a:r>
              <a:rPr lang="en-US" sz="1400" dirty="0">
                <a:solidFill>
                  <a:schemeClr val="tx1"/>
                </a:solidFill>
              </a:rPr>
              <a:t>Where they meet is an "action situation": people making choices that affect each other.</a:t>
            </a:r>
            <a:endParaRPr lang="en-US" sz="1400" dirty="0"/>
          </a:p>
          <a:p>
            <a:pPr marL="190500" indent="-190500">
              <a:spcAft>
                <a:spcPts val="800"/>
              </a:spcAft>
              <a:buSzPct val="100000"/>
              <a:buChar char="•"/>
            </a:pPr>
            <a:r>
              <a:rPr lang="en-US" sz="1400" dirty="0">
                <a:solidFill>
                  <a:schemeClr val="tx1"/>
                </a:solidFill>
              </a:rPr>
              <a:t>Solid arrows: this affects that. Dashed arrows: results come back around and change things.</a:t>
            </a:r>
            <a:endParaRPr lang="en-US" sz="1400" dirty="0"/>
          </a:p>
          <a:p>
            <a:pPr marL="190500" indent="-190500">
              <a:spcAft>
                <a:spcPts val="800"/>
              </a:spcAft>
              <a:buSzPct val="100000"/>
              <a:buChar char="•"/>
            </a:pPr>
            <a:r>
              <a:rPr lang="en-US" sz="1400" dirty="0">
                <a:solidFill>
                  <a:schemeClr val="tx1"/>
                </a:solidFill>
              </a:rPr>
              <a:t>Above and below: the wider world of money, law and politics, and neighboring ecosystems.</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1 · THE WHOLE SYSTEM</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Words on this diagram, in plain language</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Every term on the Figure 6 diagram, translated.</a:t>
            </a:r>
            <a:endParaRPr lang="en-US" sz="1500" dirty="0"/>
          </a:p>
        </p:txBody>
      </p:sp>
      <p:sp>
        <p:nvSpPr>
          <p:cNvPr id="6" name="card Social-ecological system (SES)"/>
          <p:cNvSpPr/>
          <p:nvPr/>
        </p:nvSpPr>
        <p:spPr>
          <a:xfrm>
            <a:off x="548640" y="1828800"/>
            <a:ext cx="5477256" cy="799186"/>
          </a:xfrm>
          <a:prstGeom prst="roundRect">
            <a:avLst>
              <a:gd name="adj" fmla="val 9153"/>
            </a:avLst>
          </a:prstGeom>
          <a:solidFill>
            <a:schemeClr val="bg2"/>
          </a:solidFill>
          <a:ln w="12700">
            <a:solidFill>
              <a:schemeClr val="bg2"/>
            </a:solidFill>
            <a:prstDash val="solid"/>
          </a:ln>
        </p:spPr>
      </p:sp>
      <p:sp>
        <p:nvSpPr>
          <p:cNvPr id="7" name="Text 4"/>
          <p:cNvSpPr txBox="1"/>
          <p:nvPr/>
        </p:nvSpPr>
        <p:spPr>
          <a:xfrm>
            <a:off x="685800" y="1920240"/>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Social-ecological system (SES)</a:t>
            </a:r>
            <a:endParaRPr lang="en-US" sz="1500" dirty="0"/>
          </a:p>
          <a:p>
            <a:pPr indent="0" marL="0">
              <a:spcAft>
                <a:spcPts val="400"/>
              </a:spcAft>
              <a:buNone/>
            </a:pPr>
            <a:r>
              <a:rPr lang="en-US" sz="1400" dirty="0">
                <a:solidFill>
                  <a:schemeClr val="tx1"/>
                </a:solidFill>
              </a:rPr>
              <a:t>People and nature tangled together, studied as one system rather than separately.</a:t>
            </a:r>
            <a:endParaRPr lang="en-US" sz="1500" dirty="0"/>
          </a:p>
        </p:txBody>
      </p:sp>
      <p:sp>
        <p:nvSpPr>
          <p:cNvPr id="8" name="card Resource system (RS)"/>
          <p:cNvSpPr/>
          <p:nvPr/>
        </p:nvSpPr>
        <p:spPr>
          <a:xfrm>
            <a:off x="548640" y="2737714"/>
            <a:ext cx="5477256" cy="799186"/>
          </a:xfrm>
          <a:prstGeom prst="roundRect">
            <a:avLst>
              <a:gd name="adj" fmla="val 9153"/>
            </a:avLst>
          </a:prstGeom>
          <a:solidFill>
            <a:schemeClr val="bg2"/>
          </a:solidFill>
          <a:ln w="12700">
            <a:solidFill>
              <a:schemeClr val="bg2"/>
            </a:solidFill>
            <a:prstDash val="solid"/>
          </a:ln>
        </p:spPr>
      </p:sp>
      <p:sp>
        <p:nvSpPr>
          <p:cNvPr id="9" name="Text 6"/>
          <p:cNvSpPr txBox="1"/>
          <p:nvPr/>
        </p:nvSpPr>
        <p:spPr>
          <a:xfrm>
            <a:off x="685800" y="2829154"/>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Resource system (RS)</a:t>
            </a:r>
            <a:endParaRPr lang="en-US" sz="1500" dirty="0"/>
          </a:p>
          <a:p>
            <a:pPr indent="0" marL="0">
              <a:spcAft>
                <a:spcPts val="400"/>
              </a:spcAft>
              <a:buNone/>
            </a:pPr>
            <a:r>
              <a:rPr lang="en-US" sz="1400" dirty="0">
                <a:solidFill>
                  <a:schemeClr val="tx1"/>
                </a:solidFill>
              </a:rPr>
              <a:t>The shared thing as a whole: the garden, the lake, the forest, the fund.</a:t>
            </a:r>
            <a:endParaRPr lang="en-US" sz="1500" dirty="0"/>
          </a:p>
        </p:txBody>
      </p:sp>
      <p:sp>
        <p:nvSpPr>
          <p:cNvPr id="10" name="card Resource units (RU)"/>
          <p:cNvSpPr/>
          <p:nvPr/>
        </p:nvSpPr>
        <p:spPr>
          <a:xfrm>
            <a:off x="548640" y="3646627"/>
            <a:ext cx="5477256" cy="799186"/>
          </a:xfrm>
          <a:prstGeom prst="roundRect">
            <a:avLst>
              <a:gd name="adj" fmla="val 9153"/>
            </a:avLst>
          </a:prstGeom>
          <a:solidFill>
            <a:schemeClr val="bg2"/>
          </a:solidFill>
          <a:ln w="12700">
            <a:solidFill>
              <a:schemeClr val="bg2"/>
            </a:solidFill>
            <a:prstDash val="solid"/>
          </a:ln>
        </p:spPr>
      </p:sp>
      <p:sp>
        <p:nvSpPr>
          <p:cNvPr id="11" name="Text 8"/>
          <p:cNvSpPr txBox="1"/>
          <p:nvPr/>
        </p:nvSpPr>
        <p:spPr>
          <a:xfrm>
            <a:off x="685800" y="3738067"/>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Resource units (RU)</a:t>
            </a:r>
            <a:endParaRPr lang="en-US" sz="1500" dirty="0"/>
          </a:p>
          <a:p>
            <a:pPr indent="0" marL="0">
              <a:spcAft>
                <a:spcPts val="400"/>
              </a:spcAft>
              <a:buNone/>
            </a:pPr>
            <a:r>
              <a:rPr lang="en-US" sz="1400" dirty="0">
                <a:solidFill>
                  <a:schemeClr val="tx1"/>
                </a:solidFill>
              </a:rPr>
              <a:t>The pieces people take or use from it: gallons of water, fish, plots, hours, dollars.</a:t>
            </a:r>
            <a:endParaRPr lang="en-US" sz="1500" dirty="0"/>
          </a:p>
        </p:txBody>
      </p:sp>
      <p:sp>
        <p:nvSpPr>
          <p:cNvPr id="12" name="card Governance system (GS)"/>
          <p:cNvSpPr/>
          <p:nvPr/>
        </p:nvSpPr>
        <p:spPr>
          <a:xfrm>
            <a:off x="548640" y="4555541"/>
            <a:ext cx="5477256" cy="799186"/>
          </a:xfrm>
          <a:prstGeom prst="roundRect">
            <a:avLst>
              <a:gd name="adj" fmla="val 9153"/>
            </a:avLst>
          </a:prstGeom>
          <a:solidFill>
            <a:schemeClr val="bg2"/>
          </a:solidFill>
          <a:ln w="12700">
            <a:solidFill>
              <a:schemeClr val="bg2"/>
            </a:solidFill>
            <a:prstDash val="solid"/>
          </a:ln>
        </p:spPr>
      </p:sp>
      <p:sp>
        <p:nvSpPr>
          <p:cNvPr id="13" name="Text 10"/>
          <p:cNvSpPr txBox="1"/>
          <p:nvPr/>
        </p:nvSpPr>
        <p:spPr>
          <a:xfrm>
            <a:off x="685800" y="4646981"/>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Governance system (GS)</a:t>
            </a:r>
            <a:endParaRPr lang="en-US" sz="1500" dirty="0"/>
          </a:p>
          <a:p>
            <a:pPr indent="0" marL="0">
              <a:spcAft>
                <a:spcPts val="400"/>
              </a:spcAft>
              <a:buNone/>
            </a:pPr>
            <a:r>
              <a:rPr lang="en-US" sz="1400" dirty="0">
                <a:solidFill>
                  <a:schemeClr val="tx1"/>
                </a:solidFill>
              </a:rPr>
              <a:t>The rules, and whoever makes and enforces them: the bylaw, the spring meeting, the city, the water keeper.</a:t>
            </a:r>
            <a:endParaRPr lang="en-US" sz="1500" dirty="0"/>
          </a:p>
        </p:txBody>
      </p:sp>
      <p:sp>
        <p:nvSpPr>
          <p:cNvPr id="14" name="card Users (U)"/>
          <p:cNvSpPr/>
          <p:nvPr/>
        </p:nvSpPr>
        <p:spPr>
          <a:xfrm>
            <a:off x="548640" y="5464454"/>
            <a:ext cx="5477256" cy="799186"/>
          </a:xfrm>
          <a:prstGeom prst="roundRect">
            <a:avLst>
              <a:gd name="adj" fmla="val 9153"/>
            </a:avLst>
          </a:prstGeom>
          <a:solidFill>
            <a:schemeClr val="bg2"/>
          </a:solidFill>
          <a:ln w="12700">
            <a:solidFill>
              <a:schemeClr val="bg2"/>
            </a:solidFill>
            <a:prstDash val="solid"/>
          </a:ln>
        </p:spPr>
      </p:sp>
      <p:sp>
        <p:nvSpPr>
          <p:cNvPr id="15" name="Text 12"/>
          <p:cNvSpPr txBox="1"/>
          <p:nvPr/>
        </p:nvSpPr>
        <p:spPr>
          <a:xfrm>
            <a:off x="685800" y="5555894"/>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Users (U)</a:t>
            </a:r>
            <a:endParaRPr lang="en-US" sz="1500" dirty="0"/>
          </a:p>
          <a:p>
            <a:pPr indent="0" marL="0">
              <a:spcAft>
                <a:spcPts val="400"/>
              </a:spcAft>
              <a:buNone/>
            </a:pPr>
            <a:r>
              <a:rPr lang="en-US" sz="1400" dirty="0">
                <a:solidFill>
                  <a:schemeClr val="tx1"/>
                </a:solidFill>
              </a:rPr>
              <a:t>The people who use the resource. Ostrom later called them "actors".</a:t>
            </a:r>
            <a:endParaRPr lang="en-US" sz="1500" dirty="0"/>
          </a:p>
        </p:txBody>
      </p:sp>
      <p:sp>
        <p:nvSpPr>
          <p:cNvPr id="16" name="card Action situation"/>
          <p:cNvSpPr/>
          <p:nvPr/>
        </p:nvSpPr>
        <p:spPr>
          <a:xfrm>
            <a:off x="6135624" y="1828800"/>
            <a:ext cx="5477256" cy="799186"/>
          </a:xfrm>
          <a:prstGeom prst="roundRect">
            <a:avLst>
              <a:gd name="adj" fmla="val 9153"/>
            </a:avLst>
          </a:prstGeom>
          <a:solidFill>
            <a:schemeClr val="bg2"/>
          </a:solidFill>
          <a:ln w="12700">
            <a:solidFill>
              <a:schemeClr val="bg2"/>
            </a:solidFill>
            <a:prstDash val="solid"/>
          </a:ln>
        </p:spPr>
      </p:sp>
      <p:sp>
        <p:nvSpPr>
          <p:cNvPr id="17" name="Text 14"/>
          <p:cNvSpPr txBox="1"/>
          <p:nvPr/>
        </p:nvSpPr>
        <p:spPr>
          <a:xfrm>
            <a:off x="6272784" y="1920240"/>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Action situation</a:t>
            </a:r>
            <a:endParaRPr lang="en-US" sz="1500" dirty="0"/>
          </a:p>
          <a:p>
            <a:pPr indent="0" marL="0">
              <a:spcAft>
                <a:spcPts val="400"/>
              </a:spcAft>
              <a:buNone/>
            </a:pPr>
            <a:r>
              <a:rPr lang="en-US" sz="1400" dirty="0">
                <a:solidFill>
                  <a:schemeClr val="tx1"/>
                </a:solidFill>
              </a:rPr>
              <a:t>Any setting where people meet and make choices that affect each other. Step 3 opens it up.</a:t>
            </a:r>
            <a:endParaRPr lang="en-US" sz="1500" dirty="0"/>
          </a:p>
        </p:txBody>
      </p:sp>
      <p:sp>
        <p:nvSpPr>
          <p:cNvPr id="18" name="card Interactions (I) and outcomes (O)"/>
          <p:cNvSpPr/>
          <p:nvPr/>
        </p:nvSpPr>
        <p:spPr>
          <a:xfrm>
            <a:off x="6135624" y="2737714"/>
            <a:ext cx="5477256" cy="799186"/>
          </a:xfrm>
          <a:prstGeom prst="roundRect">
            <a:avLst>
              <a:gd name="adj" fmla="val 9153"/>
            </a:avLst>
          </a:prstGeom>
          <a:solidFill>
            <a:schemeClr val="bg2"/>
          </a:solidFill>
          <a:ln w="12700">
            <a:solidFill>
              <a:schemeClr val="bg2"/>
            </a:solidFill>
            <a:prstDash val="solid"/>
          </a:ln>
        </p:spPr>
      </p:sp>
      <p:sp>
        <p:nvSpPr>
          <p:cNvPr id="19" name="Text 16"/>
          <p:cNvSpPr txBox="1"/>
          <p:nvPr/>
        </p:nvSpPr>
        <p:spPr>
          <a:xfrm>
            <a:off x="6272784" y="2829154"/>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Interactions (I) and outcomes (O)</a:t>
            </a:r>
            <a:endParaRPr lang="en-US" sz="1500" dirty="0"/>
          </a:p>
          <a:p>
            <a:pPr indent="0" marL="0">
              <a:spcAft>
                <a:spcPts val="400"/>
              </a:spcAft>
              <a:buNone/>
            </a:pPr>
            <a:r>
              <a:rPr lang="en-US" sz="1400" dirty="0">
                <a:solidFill>
                  <a:schemeClr val="tx1"/>
                </a:solidFill>
              </a:rPr>
              <a:t>What people do there (take, share news, argue, invest), and what results, for people and for nature.</a:t>
            </a:r>
            <a:endParaRPr lang="en-US" sz="1500" dirty="0"/>
          </a:p>
        </p:txBody>
      </p:sp>
      <p:sp>
        <p:nvSpPr>
          <p:cNvPr id="20" name="card Social, economic and political settings (S)"/>
          <p:cNvSpPr/>
          <p:nvPr/>
        </p:nvSpPr>
        <p:spPr>
          <a:xfrm>
            <a:off x="6135624" y="3646627"/>
            <a:ext cx="5477256" cy="799186"/>
          </a:xfrm>
          <a:prstGeom prst="roundRect">
            <a:avLst>
              <a:gd name="adj" fmla="val 9153"/>
            </a:avLst>
          </a:prstGeom>
          <a:solidFill>
            <a:schemeClr val="bg2"/>
          </a:solidFill>
          <a:ln w="12700">
            <a:solidFill>
              <a:schemeClr val="bg2"/>
            </a:solidFill>
            <a:prstDash val="solid"/>
          </a:ln>
        </p:spPr>
      </p:sp>
      <p:sp>
        <p:nvSpPr>
          <p:cNvPr id="21" name="Text 18"/>
          <p:cNvSpPr txBox="1"/>
          <p:nvPr/>
        </p:nvSpPr>
        <p:spPr>
          <a:xfrm>
            <a:off x="6272784" y="3738067"/>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Social, economic and political settings (S)</a:t>
            </a:r>
            <a:endParaRPr lang="en-US" sz="1500" dirty="0"/>
          </a:p>
          <a:p>
            <a:pPr indent="0" marL="0">
              <a:spcAft>
                <a:spcPts val="400"/>
              </a:spcAft>
              <a:buNone/>
            </a:pPr>
            <a:r>
              <a:rPr lang="en-US" sz="1400" dirty="0">
                <a:solidFill>
                  <a:schemeClr val="tx1"/>
                </a:solidFill>
              </a:rPr>
              <a:t>The wider world: the economy, laws, politics, population change, markets, the news.</a:t>
            </a:r>
            <a:endParaRPr lang="en-US" sz="1500" dirty="0"/>
          </a:p>
        </p:txBody>
      </p:sp>
      <p:sp>
        <p:nvSpPr>
          <p:cNvPr id="22" name="card Related ecosystems (ECO)"/>
          <p:cNvSpPr/>
          <p:nvPr/>
        </p:nvSpPr>
        <p:spPr>
          <a:xfrm>
            <a:off x="6135624" y="4555541"/>
            <a:ext cx="5477256" cy="799186"/>
          </a:xfrm>
          <a:prstGeom prst="roundRect">
            <a:avLst>
              <a:gd name="adj" fmla="val 9153"/>
            </a:avLst>
          </a:prstGeom>
          <a:solidFill>
            <a:schemeClr val="bg2"/>
          </a:solidFill>
          <a:ln w="12700">
            <a:solidFill>
              <a:schemeClr val="bg2"/>
            </a:solidFill>
            <a:prstDash val="solid"/>
          </a:ln>
        </p:spPr>
      </p:sp>
      <p:sp>
        <p:nvSpPr>
          <p:cNvPr id="23" name="Text 20"/>
          <p:cNvSpPr txBox="1"/>
          <p:nvPr/>
        </p:nvSpPr>
        <p:spPr>
          <a:xfrm>
            <a:off x="6272784" y="4646981"/>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Related ecosystems (ECO)</a:t>
            </a:r>
            <a:endParaRPr lang="en-US" sz="1500" dirty="0"/>
          </a:p>
          <a:p>
            <a:pPr indent="0" marL="0">
              <a:spcAft>
                <a:spcPts val="400"/>
              </a:spcAft>
              <a:buNone/>
            </a:pPr>
            <a:r>
              <a:rPr lang="en-US" sz="1400" dirty="0">
                <a:solidFill>
                  <a:schemeClr val="tx1"/>
                </a:solidFill>
              </a:rPr>
              <a:t>Natural systems next door that affect this one: weather, pollution, water flowing in and out.</a:t>
            </a:r>
            <a:endParaRPr lang="en-US" sz="1500" dirty="0"/>
          </a:p>
        </p:txBody>
      </p:sp>
      <p:sp>
        <p:nvSpPr>
          <p:cNvPr id="24" name="card Direct causal link / feedback"/>
          <p:cNvSpPr/>
          <p:nvPr/>
        </p:nvSpPr>
        <p:spPr>
          <a:xfrm>
            <a:off x="6135624" y="5464454"/>
            <a:ext cx="5477256" cy="799186"/>
          </a:xfrm>
          <a:prstGeom prst="roundRect">
            <a:avLst>
              <a:gd name="adj" fmla="val 9153"/>
            </a:avLst>
          </a:prstGeom>
          <a:solidFill>
            <a:schemeClr val="bg2"/>
          </a:solidFill>
          <a:ln w="12700">
            <a:solidFill>
              <a:schemeClr val="bg2"/>
            </a:solidFill>
            <a:prstDash val="solid"/>
          </a:ln>
        </p:spPr>
      </p:sp>
      <p:sp>
        <p:nvSpPr>
          <p:cNvPr id="25" name="Text 22"/>
          <p:cNvSpPr txBox="1"/>
          <p:nvPr/>
        </p:nvSpPr>
        <p:spPr>
          <a:xfrm>
            <a:off x="6272784" y="5555894"/>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Direct causal link / feedback</a:t>
            </a:r>
            <a:endParaRPr lang="en-US" sz="1500" dirty="0"/>
          </a:p>
          <a:p>
            <a:pPr indent="0" marL="0">
              <a:spcAft>
                <a:spcPts val="400"/>
              </a:spcAft>
              <a:buNone/>
            </a:pPr>
            <a:r>
              <a:rPr lang="en-US" sz="1400" dirty="0">
                <a:solidFill>
                  <a:schemeClr val="tx1"/>
                </a:solidFill>
              </a:rPr>
              <a:t>Solid arrow: one thing affects another. Dashed arrow: results loop back and change what caused them.</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1 · THE WHOLE SYSTEM</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The four parts at Elm Street</a:t>
            </a:r>
            <a:endParaRPr lang="en-US" sz="3200" dirty="0"/>
          </a:p>
        </p:txBody>
      </p:sp>
      <p:sp>
        <p:nvSpPr>
          <p:cNvPr id="5" name="card Resource system"/>
          <p:cNvSpPr/>
          <p:nvPr/>
        </p:nvSpPr>
        <p:spPr>
          <a:xfrm>
            <a:off x="548640" y="1463040"/>
            <a:ext cx="5440680" cy="1417320"/>
          </a:xfrm>
          <a:prstGeom prst="roundRect">
            <a:avLst>
              <a:gd name="adj" fmla="val 5161"/>
            </a:avLst>
          </a:prstGeom>
          <a:solidFill>
            <a:srgbClr val="ECECD9"/>
          </a:solidFill>
          <a:ln w="12700">
            <a:solidFill>
              <a:srgbClr val="ECECD9"/>
            </a:solidFill>
            <a:prstDash val="solid"/>
          </a:ln>
        </p:spPr>
      </p:sp>
      <p:sp>
        <p:nvSpPr>
          <p:cNvPr id="6" name="Text 3"/>
          <p:cNvSpPr txBox="1"/>
          <p:nvPr/>
        </p:nvSpPr>
        <p:spPr>
          <a:xfrm>
            <a:off x="685800" y="1554480"/>
            <a:ext cx="5166360" cy="12344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Resource system</a:t>
            </a:r>
            <a:endParaRPr lang="en-US" sz="1800" dirty="0"/>
          </a:p>
          <a:p>
            <a:pPr indent="0" marL="0">
              <a:spcAft>
                <a:spcPts val="400"/>
              </a:spcAft>
              <a:buNone/>
            </a:pPr>
            <a:r>
              <a:rPr lang="en-US" sz="1600" dirty="0">
                <a:solidFill>
                  <a:schemeClr val="tx1"/>
                </a:solidFill>
              </a:rPr>
              <a:t>The garden and its rain-fed tank.</a:t>
            </a:r>
            <a:endParaRPr lang="en-US" sz="1800" dirty="0"/>
          </a:p>
        </p:txBody>
      </p:sp>
      <p:sp>
        <p:nvSpPr>
          <p:cNvPr id="7" name="card Resource units"/>
          <p:cNvSpPr/>
          <p:nvPr/>
        </p:nvSpPr>
        <p:spPr>
          <a:xfrm>
            <a:off x="6172200" y="1463040"/>
            <a:ext cx="5440680" cy="1417320"/>
          </a:xfrm>
          <a:prstGeom prst="roundRect">
            <a:avLst>
              <a:gd name="adj" fmla="val 5161"/>
            </a:avLst>
          </a:prstGeom>
          <a:solidFill>
            <a:srgbClr val="ECECD9"/>
          </a:solidFill>
          <a:ln w="12700">
            <a:solidFill>
              <a:srgbClr val="ECECD9"/>
            </a:solidFill>
            <a:prstDash val="solid"/>
          </a:ln>
        </p:spPr>
      </p:sp>
      <p:sp>
        <p:nvSpPr>
          <p:cNvPr id="8" name="Text 5"/>
          <p:cNvSpPr txBox="1"/>
          <p:nvPr/>
        </p:nvSpPr>
        <p:spPr>
          <a:xfrm>
            <a:off x="6309360" y="1554480"/>
            <a:ext cx="5166360" cy="12344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Resource units</a:t>
            </a:r>
            <a:endParaRPr lang="en-US" sz="1800" dirty="0"/>
          </a:p>
          <a:p>
            <a:pPr indent="0" marL="0">
              <a:spcAft>
                <a:spcPts val="400"/>
              </a:spcAft>
              <a:buNone/>
            </a:pPr>
            <a:r>
              <a:rPr lang="en-US" sz="1600" dirty="0">
                <a:solidFill>
                  <a:schemeClr val="tx1"/>
                </a:solidFill>
              </a:rPr>
              <a:t>Gallons of water. Plots. The harvest.</a:t>
            </a:r>
            <a:endParaRPr lang="en-US" sz="1800" dirty="0"/>
          </a:p>
        </p:txBody>
      </p:sp>
      <p:sp>
        <p:nvSpPr>
          <p:cNvPr id="9" name="card Governance system"/>
          <p:cNvSpPr/>
          <p:nvPr/>
        </p:nvSpPr>
        <p:spPr>
          <a:xfrm>
            <a:off x="548640" y="3063240"/>
            <a:ext cx="5440680" cy="1417320"/>
          </a:xfrm>
          <a:prstGeom prst="roundRect">
            <a:avLst>
              <a:gd name="adj" fmla="val 5161"/>
            </a:avLst>
          </a:prstGeom>
          <a:solidFill>
            <a:srgbClr val="DCE8F4"/>
          </a:solidFill>
          <a:ln w="12700">
            <a:solidFill>
              <a:srgbClr val="DCE8F4"/>
            </a:solidFill>
            <a:prstDash val="solid"/>
          </a:ln>
        </p:spPr>
      </p:sp>
      <p:sp>
        <p:nvSpPr>
          <p:cNvPr id="10" name="Text 7"/>
          <p:cNvSpPr txBox="1"/>
          <p:nvPr/>
        </p:nvSpPr>
        <p:spPr>
          <a:xfrm>
            <a:off x="685800" y="3154680"/>
            <a:ext cx="5166360" cy="12344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Governance system</a:t>
            </a:r>
            <a:endParaRPr lang="en-US" sz="1800" dirty="0"/>
          </a:p>
          <a:p>
            <a:pPr indent="0" marL="0">
              <a:spcAft>
                <a:spcPts val="400"/>
              </a:spcAft>
              <a:buNone/>
            </a:pPr>
            <a:r>
              <a:rPr lang="en-US" sz="1600" dirty="0">
                <a:solidFill>
                  <a:schemeClr val="tx1"/>
                </a:solidFill>
              </a:rPr>
              <a:t>The bylaw, the spring meeting, the water keeper, the city lease.</a:t>
            </a:r>
            <a:endParaRPr lang="en-US" sz="1800" dirty="0"/>
          </a:p>
        </p:txBody>
      </p:sp>
      <p:sp>
        <p:nvSpPr>
          <p:cNvPr id="11" name="card Users"/>
          <p:cNvSpPr/>
          <p:nvPr/>
        </p:nvSpPr>
        <p:spPr>
          <a:xfrm>
            <a:off x="6172200" y="3063240"/>
            <a:ext cx="5440680" cy="1417320"/>
          </a:xfrm>
          <a:prstGeom prst="roundRect">
            <a:avLst>
              <a:gd name="adj" fmla="val 5161"/>
            </a:avLst>
          </a:prstGeom>
          <a:solidFill>
            <a:srgbClr val="F8E6CF"/>
          </a:solidFill>
          <a:ln w="12700">
            <a:solidFill>
              <a:srgbClr val="F8E6CF"/>
            </a:solidFill>
            <a:prstDash val="solid"/>
          </a:ln>
        </p:spPr>
      </p:sp>
      <p:sp>
        <p:nvSpPr>
          <p:cNvPr id="12" name="Text 9"/>
          <p:cNvSpPr txBox="1"/>
          <p:nvPr/>
        </p:nvSpPr>
        <p:spPr>
          <a:xfrm>
            <a:off x="6309360" y="3154680"/>
            <a:ext cx="5166360" cy="12344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Users</a:t>
            </a:r>
            <a:endParaRPr lang="en-US" sz="1800" dirty="0"/>
          </a:p>
          <a:p>
            <a:pPr indent="0" marL="0">
              <a:spcAft>
                <a:spcPts val="400"/>
              </a:spcAft>
              <a:buNone/>
            </a:pPr>
            <a:r>
              <a:rPr lang="en-US" sz="1600" dirty="0">
                <a:solidFill>
                  <a:schemeClr val="tx1"/>
                </a:solidFill>
              </a:rPr>
              <a:t>30 gardeners, their families, and newcomers on the waiting list.</a:t>
            </a:r>
            <a:endParaRPr lang="en-US" sz="1800" dirty="0"/>
          </a:p>
        </p:txBody>
      </p:sp>
      <p:sp>
        <p:nvSpPr>
          <p:cNvPr id="13" name="card Wider settings"/>
          <p:cNvSpPr/>
          <p:nvPr/>
        </p:nvSpPr>
        <p:spPr>
          <a:xfrm>
            <a:off x="548640" y="4754880"/>
            <a:ext cx="5440680" cy="1463040"/>
          </a:xfrm>
          <a:prstGeom prst="roundRect">
            <a:avLst>
              <a:gd name="adj" fmla="val 5000"/>
            </a:avLst>
          </a:prstGeom>
          <a:solidFill>
            <a:srgbClr val="FFFFFF"/>
          </a:solidFill>
          <a:ln w="12700">
            <a:solidFill>
              <a:srgbClr val="C9D3CC"/>
            </a:solidFill>
            <a:prstDash val="solid"/>
          </a:ln>
        </p:spPr>
      </p:sp>
      <p:sp>
        <p:nvSpPr>
          <p:cNvPr id="14" name="Text 11"/>
          <p:cNvSpPr txBox="1"/>
          <p:nvPr/>
        </p:nvSpPr>
        <p:spPr>
          <a:xfrm>
            <a:off x="685800" y="4846320"/>
            <a:ext cx="5166360" cy="128016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Wider settings</a:t>
            </a:r>
            <a:endParaRPr lang="en-US" sz="1600" dirty="0"/>
          </a:p>
          <a:p>
            <a:pPr indent="0" marL="0">
              <a:spcAft>
                <a:spcPts val="400"/>
              </a:spcAft>
              <a:buNone/>
            </a:pPr>
            <a:r>
              <a:rPr lang="en-US" sz="1400" dirty="0">
                <a:solidFill>
                  <a:schemeClr val="tx1"/>
                </a:solidFill>
              </a:rPr>
              <a:t>City budget and drought policy. Rents. Who has time to garden.</a:t>
            </a:r>
            <a:endParaRPr lang="en-US" sz="1600" dirty="0"/>
          </a:p>
        </p:txBody>
      </p:sp>
      <p:sp>
        <p:nvSpPr>
          <p:cNvPr id="15" name="card Related ecosystems"/>
          <p:cNvSpPr/>
          <p:nvPr/>
        </p:nvSpPr>
        <p:spPr>
          <a:xfrm>
            <a:off x="6172200" y="4754880"/>
            <a:ext cx="5440680" cy="1463040"/>
          </a:xfrm>
          <a:prstGeom prst="roundRect">
            <a:avLst>
              <a:gd name="adj" fmla="val 5000"/>
            </a:avLst>
          </a:prstGeom>
          <a:solidFill>
            <a:srgbClr val="FFFFFF"/>
          </a:solidFill>
          <a:ln w="12700">
            <a:solidFill>
              <a:srgbClr val="C9D3CC"/>
            </a:solidFill>
            <a:prstDash val="solid"/>
          </a:ln>
        </p:spPr>
      </p:sp>
      <p:sp>
        <p:nvSpPr>
          <p:cNvPr id="16" name="Text 13"/>
          <p:cNvSpPr txBox="1"/>
          <p:nvPr/>
        </p:nvSpPr>
        <p:spPr>
          <a:xfrm>
            <a:off x="6309360" y="4846320"/>
            <a:ext cx="5166360" cy="128016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Related ecosystems</a:t>
            </a:r>
            <a:endParaRPr lang="en-US" sz="1600" dirty="0"/>
          </a:p>
          <a:p>
            <a:pPr indent="0" marL="0">
              <a:spcAft>
                <a:spcPts val="400"/>
              </a:spcAft>
              <a:buNone/>
            </a:pPr>
            <a:r>
              <a:rPr lang="en-US" sz="1400" dirty="0">
                <a:solidFill>
                  <a:schemeClr val="tx1"/>
                </a:solidFill>
              </a:rPr>
              <a:t>The watershed. Rainfall. Heat waves.</a:t>
            </a:r>
            <a:endParaRPr lang="en-US" sz="16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1 · THE WHOLE SYSTEM</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Ten things that make it more likely people organize at all</a:t>
            </a:r>
            <a:endParaRPr lang="en-US" sz="3200" dirty="0"/>
          </a:p>
        </p:txBody>
      </p:sp>
      <p:sp>
        <p:nvSpPr>
          <p:cNvPr id="5" name="card Size of the resource"/>
          <p:cNvSpPr/>
          <p:nvPr/>
        </p:nvSpPr>
        <p:spPr>
          <a:xfrm>
            <a:off x="548640" y="1417320"/>
            <a:ext cx="5440680" cy="868680"/>
          </a:xfrm>
          <a:prstGeom prst="roundRect">
            <a:avLst>
              <a:gd name="adj" fmla="val 8421"/>
            </a:avLst>
          </a:prstGeom>
          <a:solidFill>
            <a:schemeClr val="bg2"/>
          </a:solidFill>
          <a:ln w="12700">
            <a:solidFill>
              <a:schemeClr val="bg2"/>
            </a:solidFill>
            <a:prstDash val="solid"/>
          </a:ln>
        </p:spPr>
      </p:sp>
      <p:sp>
        <p:nvSpPr>
          <p:cNvPr id="6" name="Text 3"/>
          <p:cNvSpPr txBox="1"/>
          <p:nvPr/>
        </p:nvSpPr>
        <p:spPr>
          <a:xfrm>
            <a:off x="685800" y="1508760"/>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Size of the resource</a:t>
            </a:r>
            <a:endParaRPr lang="en-US" sz="1500" dirty="0"/>
          </a:p>
          <a:p>
            <a:pPr indent="0" marL="0">
              <a:spcAft>
                <a:spcPts val="400"/>
              </a:spcAft>
              <a:buNone/>
            </a:pPr>
            <a:r>
              <a:rPr lang="en-US" sz="1400" dirty="0">
                <a:solidFill>
                  <a:schemeClr val="tx1"/>
                </a:solidFill>
              </a:rPr>
              <a:t>Not so big no one can see all of it.</a:t>
            </a:r>
            <a:endParaRPr lang="en-US" sz="1500" dirty="0"/>
          </a:p>
        </p:txBody>
      </p:sp>
      <p:sp>
        <p:nvSpPr>
          <p:cNvPr id="7" name="card Productivity"/>
          <p:cNvSpPr/>
          <p:nvPr/>
        </p:nvSpPr>
        <p:spPr>
          <a:xfrm>
            <a:off x="6172200" y="1417320"/>
            <a:ext cx="5440680" cy="868680"/>
          </a:xfrm>
          <a:prstGeom prst="roundRect">
            <a:avLst>
              <a:gd name="adj" fmla="val 8421"/>
            </a:avLst>
          </a:prstGeom>
          <a:solidFill>
            <a:schemeClr val="bg2"/>
          </a:solidFill>
          <a:ln w="12700">
            <a:solidFill>
              <a:schemeClr val="bg2"/>
            </a:solidFill>
            <a:prstDash val="solid"/>
          </a:ln>
        </p:spPr>
      </p:sp>
      <p:sp>
        <p:nvSpPr>
          <p:cNvPr id="8" name="Text 5"/>
          <p:cNvSpPr txBox="1"/>
          <p:nvPr/>
        </p:nvSpPr>
        <p:spPr>
          <a:xfrm>
            <a:off x="6309360" y="1508760"/>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Productivity</a:t>
            </a:r>
            <a:endParaRPr lang="en-US" sz="1500" dirty="0"/>
          </a:p>
          <a:p>
            <a:pPr indent="0" marL="0">
              <a:spcAft>
                <a:spcPts val="400"/>
              </a:spcAft>
              <a:buNone/>
            </a:pPr>
            <a:r>
              <a:rPr lang="en-US" sz="1400" dirty="0">
                <a:solidFill>
                  <a:schemeClr val="tx1"/>
                </a:solidFill>
              </a:rPr>
              <a:t>Not so ruined it is hopeless, not so plentiful no one cares.</a:t>
            </a:r>
            <a:endParaRPr lang="en-US" sz="1500" dirty="0"/>
          </a:p>
        </p:txBody>
      </p:sp>
      <p:sp>
        <p:nvSpPr>
          <p:cNvPr id="9" name="card Predictability"/>
          <p:cNvSpPr/>
          <p:nvPr/>
        </p:nvSpPr>
        <p:spPr>
          <a:xfrm>
            <a:off x="548640" y="2395728"/>
            <a:ext cx="5440680" cy="868680"/>
          </a:xfrm>
          <a:prstGeom prst="roundRect">
            <a:avLst>
              <a:gd name="adj" fmla="val 8421"/>
            </a:avLst>
          </a:prstGeom>
          <a:solidFill>
            <a:schemeClr val="bg2"/>
          </a:solidFill>
          <a:ln w="12700">
            <a:solidFill>
              <a:schemeClr val="bg2"/>
            </a:solidFill>
            <a:prstDash val="solid"/>
          </a:ln>
        </p:spPr>
      </p:sp>
      <p:sp>
        <p:nvSpPr>
          <p:cNvPr id="10" name="Text 7"/>
          <p:cNvSpPr txBox="1"/>
          <p:nvPr/>
        </p:nvSpPr>
        <p:spPr>
          <a:xfrm>
            <a:off x="685800" y="2487168"/>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Predictability</a:t>
            </a:r>
            <a:endParaRPr lang="en-US" sz="1500" dirty="0"/>
          </a:p>
          <a:p>
            <a:pPr indent="0" marL="0">
              <a:spcAft>
                <a:spcPts val="400"/>
              </a:spcAft>
              <a:buNone/>
            </a:pPr>
            <a:r>
              <a:rPr lang="en-US" sz="1400" dirty="0">
                <a:solidFill>
                  <a:schemeClr val="tx1"/>
                </a:solidFill>
              </a:rPr>
              <a:t>People can tell how it will behave.</a:t>
            </a:r>
            <a:endParaRPr lang="en-US" sz="1500" dirty="0"/>
          </a:p>
        </p:txBody>
      </p:sp>
      <p:sp>
        <p:nvSpPr>
          <p:cNvPr id="11" name="card Mobility of the units"/>
          <p:cNvSpPr/>
          <p:nvPr/>
        </p:nvSpPr>
        <p:spPr>
          <a:xfrm>
            <a:off x="6172200" y="2395728"/>
            <a:ext cx="5440680" cy="868680"/>
          </a:xfrm>
          <a:prstGeom prst="roundRect">
            <a:avLst>
              <a:gd name="adj" fmla="val 8421"/>
            </a:avLst>
          </a:prstGeom>
          <a:solidFill>
            <a:schemeClr val="bg2"/>
          </a:solidFill>
          <a:ln w="12700">
            <a:solidFill>
              <a:schemeClr val="bg2"/>
            </a:solidFill>
            <a:prstDash val="solid"/>
          </a:ln>
        </p:spPr>
      </p:sp>
      <p:sp>
        <p:nvSpPr>
          <p:cNvPr id="12" name="Text 9"/>
          <p:cNvSpPr txBox="1"/>
          <p:nvPr/>
        </p:nvSpPr>
        <p:spPr>
          <a:xfrm>
            <a:off x="6309360" y="2487168"/>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Mobility of the units</a:t>
            </a:r>
            <a:endParaRPr lang="en-US" sz="1500" dirty="0"/>
          </a:p>
          <a:p>
            <a:pPr indent="0" marL="0">
              <a:spcAft>
                <a:spcPts val="400"/>
              </a:spcAft>
              <a:buNone/>
            </a:pPr>
            <a:r>
              <a:rPr lang="en-US" sz="1400" dirty="0">
                <a:solidFill>
                  <a:schemeClr val="tx1"/>
                </a:solidFill>
              </a:rPr>
              <a:t>Water and fish move; plots stay put. Moving units are harder.</a:t>
            </a:r>
            <a:endParaRPr lang="en-US" sz="1500" dirty="0"/>
          </a:p>
        </p:txBody>
      </p:sp>
      <p:sp>
        <p:nvSpPr>
          <p:cNvPr id="13" name="card Collective-choice rules"/>
          <p:cNvSpPr/>
          <p:nvPr/>
        </p:nvSpPr>
        <p:spPr>
          <a:xfrm>
            <a:off x="548640" y="3374136"/>
            <a:ext cx="5440680" cy="868680"/>
          </a:xfrm>
          <a:prstGeom prst="roundRect">
            <a:avLst>
              <a:gd name="adj" fmla="val 8421"/>
            </a:avLst>
          </a:prstGeom>
          <a:solidFill>
            <a:schemeClr val="bg2"/>
          </a:solidFill>
          <a:ln w="12700">
            <a:solidFill>
              <a:schemeClr val="bg2"/>
            </a:solidFill>
            <a:prstDash val="solid"/>
          </a:ln>
        </p:spPr>
      </p:sp>
      <p:sp>
        <p:nvSpPr>
          <p:cNvPr id="14" name="Text 11"/>
          <p:cNvSpPr txBox="1"/>
          <p:nvPr/>
        </p:nvSpPr>
        <p:spPr>
          <a:xfrm>
            <a:off x="685800" y="3465576"/>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Collective-choice rules</a:t>
            </a:r>
            <a:endParaRPr lang="en-US" sz="1500" dirty="0"/>
          </a:p>
          <a:p>
            <a:pPr indent="0" marL="0">
              <a:spcAft>
                <a:spcPts val="400"/>
              </a:spcAft>
              <a:buNone/>
            </a:pPr>
            <a:r>
              <a:rPr lang="en-US" sz="1400" dirty="0">
                <a:solidFill>
                  <a:schemeClr val="tx1"/>
                </a:solidFill>
              </a:rPr>
              <a:t>Users can change their own rules.</a:t>
            </a:r>
            <a:endParaRPr lang="en-US" sz="1500" dirty="0"/>
          </a:p>
        </p:txBody>
      </p:sp>
      <p:sp>
        <p:nvSpPr>
          <p:cNvPr id="15" name="card Number of users"/>
          <p:cNvSpPr/>
          <p:nvPr/>
        </p:nvSpPr>
        <p:spPr>
          <a:xfrm>
            <a:off x="6172200" y="3374136"/>
            <a:ext cx="5440680" cy="868680"/>
          </a:xfrm>
          <a:prstGeom prst="roundRect">
            <a:avLst>
              <a:gd name="adj" fmla="val 8421"/>
            </a:avLst>
          </a:prstGeom>
          <a:solidFill>
            <a:schemeClr val="bg2"/>
          </a:solidFill>
          <a:ln w="12700">
            <a:solidFill>
              <a:schemeClr val="bg2"/>
            </a:solidFill>
            <a:prstDash val="solid"/>
          </a:ln>
        </p:spPr>
      </p:sp>
      <p:sp>
        <p:nvSpPr>
          <p:cNvPr id="16" name="Text 13"/>
          <p:cNvSpPr txBox="1"/>
          <p:nvPr/>
        </p:nvSpPr>
        <p:spPr>
          <a:xfrm>
            <a:off x="6309360" y="3465576"/>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Number of users</a:t>
            </a:r>
            <a:endParaRPr lang="en-US" sz="1500" dirty="0"/>
          </a:p>
          <a:p>
            <a:pPr indent="0" marL="0">
              <a:spcAft>
                <a:spcPts val="400"/>
              </a:spcAft>
              <a:buNone/>
            </a:pPr>
            <a:r>
              <a:rPr lang="en-US" sz="1400" dirty="0">
                <a:solidFill>
                  <a:schemeClr val="tx1"/>
                </a:solidFill>
              </a:rPr>
              <a:t>Enough to do the work, few enough to know each other.</a:t>
            </a:r>
            <a:endParaRPr lang="en-US" sz="1500" dirty="0"/>
          </a:p>
        </p:txBody>
      </p:sp>
      <p:sp>
        <p:nvSpPr>
          <p:cNvPr id="17" name="card Leadership"/>
          <p:cNvSpPr/>
          <p:nvPr/>
        </p:nvSpPr>
        <p:spPr>
          <a:xfrm>
            <a:off x="548640" y="4352544"/>
            <a:ext cx="5440680" cy="868680"/>
          </a:xfrm>
          <a:prstGeom prst="roundRect">
            <a:avLst>
              <a:gd name="adj" fmla="val 8421"/>
            </a:avLst>
          </a:prstGeom>
          <a:solidFill>
            <a:schemeClr val="bg2"/>
          </a:solidFill>
          <a:ln w="12700">
            <a:solidFill>
              <a:schemeClr val="bg2"/>
            </a:solidFill>
            <a:prstDash val="solid"/>
          </a:ln>
        </p:spPr>
      </p:sp>
      <p:sp>
        <p:nvSpPr>
          <p:cNvPr id="18" name="Text 15"/>
          <p:cNvSpPr txBox="1"/>
          <p:nvPr/>
        </p:nvSpPr>
        <p:spPr>
          <a:xfrm>
            <a:off x="685800" y="4443984"/>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Leadership</a:t>
            </a:r>
            <a:endParaRPr lang="en-US" sz="1500" dirty="0"/>
          </a:p>
          <a:p>
            <a:pPr indent="0" marL="0">
              <a:spcAft>
                <a:spcPts val="400"/>
              </a:spcAft>
              <a:buNone/>
            </a:pPr>
            <a:r>
              <a:rPr lang="en-US" sz="1400" dirty="0">
                <a:solidFill>
                  <a:schemeClr val="tx1"/>
                </a:solidFill>
              </a:rPr>
              <a:t>Someone willing to start and organize.</a:t>
            </a:r>
            <a:endParaRPr lang="en-US" sz="1500" dirty="0"/>
          </a:p>
        </p:txBody>
      </p:sp>
      <p:sp>
        <p:nvSpPr>
          <p:cNvPr id="19" name="card Norms and social capital"/>
          <p:cNvSpPr/>
          <p:nvPr/>
        </p:nvSpPr>
        <p:spPr>
          <a:xfrm>
            <a:off x="6172200" y="4352544"/>
            <a:ext cx="5440680" cy="868680"/>
          </a:xfrm>
          <a:prstGeom prst="roundRect">
            <a:avLst>
              <a:gd name="adj" fmla="val 8421"/>
            </a:avLst>
          </a:prstGeom>
          <a:solidFill>
            <a:schemeClr val="bg2"/>
          </a:solidFill>
          <a:ln w="12700">
            <a:solidFill>
              <a:schemeClr val="bg2"/>
            </a:solidFill>
            <a:prstDash val="solid"/>
          </a:ln>
        </p:spPr>
      </p:sp>
      <p:sp>
        <p:nvSpPr>
          <p:cNvPr id="20" name="Text 17"/>
          <p:cNvSpPr txBox="1"/>
          <p:nvPr/>
        </p:nvSpPr>
        <p:spPr>
          <a:xfrm>
            <a:off x="6309360" y="4443984"/>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Norms and social capital</a:t>
            </a:r>
            <a:endParaRPr lang="en-US" sz="1500" dirty="0"/>
          </a:p>
          <a:p>
            <a:pPr indent="0" marL="0">
              <a:spcAft>
                <a:spcPts val="400"/>
              </a:spcAft>
              <a:buNone/>
            </a:pPr>
            <a:r>
              <a:rPr lang="en-US" sz="1400" dirty="0">
                <a:solidFill>
                  <a:schemeClr val="tx1"/>
                </a:solidFill>
              </a:rPr>
              <a:t>Shared expectations and trust already exist.</a:t>
            </a:r>
            <a:endParaRPr lang="en-US" sz="1500" dirty="0"/>
          </a:p>
        </p:txBody>
      </p:sp>
      <p:sp>
        <p:nvSpPr>
          <p:cNvPr id="21" name="card Knowledge of the system"/>
          <p:cNvSpPr/>
          <p:nvPr/>
        </p:nvSpPr>
        <p:spPr>
          <a:xfrm>
            <a:off x="548640" y="5330952"/>
            <a:ext cx="5440680" cy="868680"/>
          </a:xfrm>
          <a:prstGeom prst="roundRect">
            <a:avLst>
              <a:gd name="adj" fmla="val 8421"/>
            </a:avLst>
          </a:prstGeom>
          <a:solidFill>
            <a:schemeClr val="bg2"/>
          </a:solidFill>
          <a:ln w="12700">
            <a:solidFill>
              <a:schemeClr val="bg2"/>
            </a:solidFill>
            <a:prstDash val="solid"/>
          </a:ln>
        </p:spPr>
      </p:sp>
      <p:sp>
        <p:nvSpPr>
          <p:cNvPr id="22" name="Text 19"/>
          <p:cNvSpPr txBox="1"/>
          <p:nvPr/>
        </p:nvSpPr>
        <p:spPr>
          <a:xfrm>
            <a:off x="685800" y="5422392"/>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Knowledge of the system</a:t>
            </a:r>
            <a:endParaRPr lang="en-US" sz="1500" dirty="0"/>
          </a:p>
          <a:p>
            <a:pPr indent="0" marL="0">
              <a:spcAft>
                <a:spcPts val="400"/>
              </a:spcAft>
              <a:buNone/>
            </a:pPr>
            <a:r>
              <a:rPr lang="en-US" sz="1400" dirty="0">
                <a:solidFill>
                  <a:schemeClr val="tx1"/>
                </a:solidFill>
              </a:rPr>
              <a:t>People understand how the resource works.</a:t>
            </a:r>
            <a:endParaRPr lang="en-US" sz="1500" dirty="0"/>
          </a:p>
        </p:txBody>
      </p:sp>
      <p:sp>
        <p:nvSpPr>
          <p:cNvPr id="23" name="card Importance to users"/>
          <p:cNvSpPr/>
          <p:nvPr/>
        </p:nvSpPr>
        <p:spPr>
          <a:xfrm>
            <a:off x="6172200" y="5330952"/>
            <a:ext cx="5440680" cy="868680"/>
          </a:xfrm>
          <a:prstGeom prst="roundRect">
            <a:avLst>
              <a:gd name="adj" fmla="val 8421"/>
            </a:avLst>
          </a:prstGeom>
          <a:solidFill>
            <a:schemeClr val="bg2"/>
          </a:solidFill>
          <a:ln w="12700">
            <a:solidFill>
              <a:schemeClr val="bg2"/>
            </a:solidFill>
            <a:prstDash val="solid"/>
          </a:ln>
        </p:spPr>
      </p:sp>
      <p:sp>
        <p:nvSpPr>
          <p:cNvPr id="24" name="Text 21"/>
          <p:cNvSpPr txBox="1"/>
          <p:nvPr/>
        </p:nvSpPr>
        <p:spPr>
          <a:xfrm>
            <a:off x="6309360" y="5422392"/>
            <a:ext cx="5166360" cy="6858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Importance to users</a:t>
            </a:r>
            <a:endParaRPr lang="en-US" sz="1500" dirty="0"/>
          </a:p>
          <a:p>
            <a:pPr indent="0" marL="0">
              <a:spcAft>
                <a:spcPts val="400"/>
              </a:spcAft>
              <a:buNone/>
            </a:pPr>
            <a:r>
              <a:rPr lang="en-US" sz="1400" dirty="0">
                <a:solidFill>
                  <a:schemeClr val="tx1"/>
                </a:solidFill>
              </a:rPr>
              <a:t>It matters enough to their lives to be worth the effort.</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nchor="b"/>
          <a:lstStyle/>
          <a:p>
            <a:pPr indent="0" marL="0">
              <a:buNone/>
            </a:pPr>
            <a:r>
              <a:rPr lang="en-US" sz="4000" b="1" dirty="0">
                <a:solidFill>
                  <a:schemeClr val="bg1"/>
                </a:solidFill>
              </a:rPr>
              <a:t>What we share</a:t>
            </a: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nchor="t"/>
          <a:lstStyle/>
          <a:p>
            <a:pPr indent="0" marL="0">
              <a:buNone/>
            </a:pPr>
            <a:r>
              <a:rPr lang="en-US" sz="1800" dirty="0">
                <a:solidFill>
                  <a:schemeClr val="bg2"/>
                </a:solidFill>
              </a:rPr>
              <a:t>Not every shared thing is the same kind of thing. The kind decides the problem.</a:t>
            </a:r>
            <a:endParaRPr lang="en-US" sz="1800" dirty="0"/>
          </a:p>
        </p:txBody>
      </p:sp>
      <p:sp>
        <p:nvSpPr>
          <p:cNvPr id="4" name="Text 2"/>
          <p:cNvSpPr txBox="1"/>
          <p:nvPr/>
        </p:nvSpPr>
        <p:spPr>
          <a:xfrm>
            <a:off x="7223760" y="411480"/>
            <a:ext cx="4297680" cy="365760"/>
          </a:xfrm>
          <a:prstGeom prst="rect">
            <a:avLst/>
          </a:prstGeom>
          <a:noFill/>
          <a:ln/>
        </p:spPr>
        <p:txBody>
          <a:bodyPr wrap="square" lIns="0" tIns="0" rIns="0" bIns="0" rtlCol="0" anchor="ctr"/>
          <a:lstStyle/>
          <a:p>
            <a:pPr indent="0" marL="0">
              <a:buNone/>
            </a:pPr>
            <a:r>
              <a:rPr lang="en-US" sz="1200" b="1" spc="200" kern="0" dirty="0">
                <a:solidFill>
                  <a:schemeClr val="accent2"/>
                </a:solidFill>
              </a:rPr>
              <a:t>ZOOMING IN</a:t>
            </a:r>
            <a:endParaRPr lang="en-US" sz="1200" dirty="0"/>
          </a:p>
        </p:txBody>
      </p:sp>
      <p:sp>
        <p:nvSpPr>
          <p:cNvPr id="5" name="rung 1"/>
          <p:cNvSpPr/>
          <p:nvPr/>
        </p:nvSpPr>
        <p:spPr>
          <a:xfrm>
            <a:off x="7223760" y="914400"/>
            <a:ext cx="429768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1   The whole system</a:t>
            </a:r>
            <a:endParaRPr lang="en-US" sz="1500" dirty="0"/>
          </a:p>
        </p:txBody>
      </p:sp>
      <p:sp>
        <p:nvSpPr>
          <p:cNvPr id="6" name="rung 2"/>
          <p:cNvSpPr/>
          <p:nvPr/>
        </p:nvSpPr>
        <p:spPr>
          <a:xfrm>
            <a:off x="7333488" y="1444752"/>
            <a:ext cx="4187952" cy="457200"/>
          </a:xfrm>
          <a:prstGeom prst="roundRect">
            <a:avLst>
              <a:gd name="adj" fmla="val 16000"/>
            </a:avLst>
          </a:prstGeom>
          <a:solidFill>
            <a:schemeClr val="accent2"/>
          </a:solidFill>
          <a:ln w="9525">
            <a:solidFill>
              <a:schemeClr val="accent2"/>
            </a:solidFill>
          </a:ln>
        </p:spPr>
        <p:txBody>
          <a:bodyPr wrap="square" lIns="0" tIns="152400" rIns="127000" bIns="0" rtlCol="0" anchor="ctr"/>
          <a:lstStyle/>
          <a:p>
            <a:pPr indent="0" marL="0">
              <a:buNone/>
            </a:pPr>
            <a:r>
              <a:rPr lang="en-US" sz="1500" b="1" dirty="0">
                <a:solidFill>
                  <a:schemeClr val="tx2"/>
                </a:solidFill>
              </a:rPr>
              <a:t>2   What we share</a:t>
            </a:r>
            <a:endParaRPr lang="en-US" sz="1500" dirty="0"/>
          </a:p>
        </p:txBody>
      </p:sp>
      <p:sp>
        <p:nvSpPr>
          <p:cNvPr id="7" name="rung 3"/>
          <p:cNvSpPr/>
          <p:nvPr/>
        </p:nvSpPr>
        <p:spPr>
          <a:xfrm>
            <a:off x="7443216" y="1975104"/>
            <a:ext cx="407822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3   One situation in its setting</a:t>
            </a:r>
            <a:endParaRPr lang="en-US" sz="1500" dirty="0"/>
          </a:p>
        </p:txBody>
      </p:sp>
      <p:sp>
        <p:nvSpPr>
          <p:cNvPr id="8" name="rung 4"/>
          <p:cNvSpPr/>
          <p:nvPr/>
        </p:nvSpPr>
        <p:spPr>
          <a:xfrm>
            <a:off x="7552944" y="2505456"/>
            <a:ext cx="396849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4   Layers of decision</a:t>
            </a:r>
            <a:endParaRPr lang="en-US" sz="1500" dirty="0"/>
          </a:p>
        </p:txBody>
      </p:sp>
      <p:sp>
        <p:nvSpPr>
          <p:cNvPr id="9" name="rung 5"/>
          <p:cNvSpPr/>
          <p:nvPr/>
        </p:nvSpPr>
        <p:spPr>
          <a:xfrm>
            <a:off x="7662672" y="3035808"/>
            <a:ext cx="3858768"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5   Inside one situation</a:t>
            </a:r>
            <a:endParaRPr lang="en-US" sz="1500" dirty="0"/>
          </a:p>
        </p:txBody>
      </p:sp>
      <p:sp>
        <p:nvSpPr>
          <p:cNvPr id="10" name="rung 6"/>
          <p:cNvSpPr/>
          <p:nvPr/>
        </p:nvSpPr>
        <p:spPr>
          <a:xfrm>
            <a:off x="7772400" y="3566160"/>
            <a:ext cx="374904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6   The rules that shape it</a:t>
            </a:r>
            <a:endParaRPr lang="en-US" sz="1500" dirty="0"/>
          </a:p>
        </p:txBody>
      </p:sp>
      <p:sp>
        <p:nvSpPr>
          <p:cNvPr id="11" name="rung 7"/>
          <p:cNvSpPr/>
          <p:nvPr/>
        </p:nvSpPr>
        <p:spPr>
          <a:xfrm>
            <a:off x="7882128" y="4096512"/>
            <a:ext cx="363931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7   What lasting rules share</a:t>
            </a:r>
            <a:endParaRPr lang="en-US" sz="1500" dirty="0"/>
          </a:p>
        </p:txBody>
      </p:sp>
      <p:sp>
        <p:nvSpPr>
          <p:cNvPr id="12" name="rung 8"/>
          <p:cNvSpPr/>
          <p:nvPr/>
        </p:nvSpPr>
        <p:spPr>
          <a:xfrm>
            <a:off x="7991856" y="4626864"/>
            <a:ext cx="352958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8   One sentence of a rule</a:t>
            </a:r>
            <a:endParaRPr lang="en-US" sz="1500" dirty="0"/>
          </a:p>
        </p:txBody>
      </p:sp>
      <p:sp>
        <p:nvSpPr>
          <p:cNvPr id="13" name="rung 9"/>
          <p:cNvSpPr/>
          <p:nvPr/>
        </p:nvSpPr>
        <p:spPr>
          <a:xfrm>
            <a:off x="8101584" y="5157216"/>
            <a:ext cx="341985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9   One person deciding</a:t>
            </a:r>
            <a:endParaRPr lang="en-US" sz="1500" dirty="0"/>
          </a:p>
        </p:txBody>
      </p:sp>
      <p:sp>
        <p:nvSpPr>
          <p:cNvPr id="14" name="Text 12"/>
          <p:cNvSpPr txBox="1"/>
          <p:nvPr/>
        </p:nvSpPr>
        <p:spPr>
          <a:xfrm>
            <a:off x="9601200" y="566928"/>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largest scale</a:t>
            </a:r>
            <a:endParaRPr lang="en-US" sz="1100" dirty="0"/>
          </a:p>
        </p:txBody>
      </p:sp>
      <p:sp>
        <p:nvSpPr>
          <p:cNvPr id="15" name="Text 13"/>
          <p:cNvSpPr txBox="1"/>
          <p:nvPr/>
        </p:nvSpPr>
        <p:spPr>
          <a:xfrm>
            <a:off x="9601200" y="5669280"/>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smallest scale</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2 · WHAT WE SHARE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Two questions sort everything people share</a:t>
            </a:r>
            <a:endParaRPr lang="en-US" sz="3200" dirty="0"/>
          </a:p>
        </p:txBody>
      </p:sp>
      <p:pic>
        <p:nvPicPr>
          <p:cNvPr id="5" name="Image 0" descr="Two questions sort everything people share">    </p:cNvPr>
          <p:cNvPicPr>
            <a:picLocks noChangeAspect="1"/>
          </p:cNvPicPr>
          <p:nvPr/>
        </p:nvPicPr>
        <p:blipFill>
          <a:blip r:embed="rId1"/>
          <a:stretch>
            <a:fillRect/>
          </a:stretch>
        </p:blipFill>
        <p:spPr>
          <a:xfrm>
            <a:off x="767849" y="1417320"/>
            <a:ext cx="6968223" cy="4709160"/>
          </a:xfrm>
          <a:prstGeom prst="rect">
            <a:avLst/>
          </a:prstGeom>
        </p:spPr>
      </p:pic>
      <p:sp>
        <p:nvSpPr>
          <p:cNvPr id="6" name="Text 2"/>
          <p:cNvSpPr txBox="1"/>
          <p:nvPr/>
        </p:nvSpPr>
        <p:spPr>
          <a:xfrm>
            <a:off x="767849" y="6172200"/>
            <a:ext cx="6968223" cy="274320"/>
          </a:xfrm>
          <a:prstGeom prst="rect">
            <a:avLst/>
          </a:prstGeom>
          <a:noFill/>
          <a:ln/>
        </p:spPr>
        <p:txBody>
          <a:bodyPr wrap="square" lIns="0" tIns="0" rIns="0" bIns="0" rtlCol="0" anchor="ctr"/>
          <a:lstStyle/>
          <a:p>
            <a:pPr indent="0" marL="0">
              <a:buNone/>
            </a:pPr>
            <a:r>
              <a:rPr lang="en-US" sz="1000" i="1" dirty="0">
                <a:solidFill>
                  <a:srgbClr val="5B6B60"/>
                </a:solidFill>
              </a:rPr>
              <a:t>Ostrom 2010, Figure 1, adapted from Ostrom 2005</a:t>
            </a:r>
            <a:endParaRPr lang="en-US" sz="1000" dirty="0"/>
          </a:p>
        </p:txBody>
      </p:sp>
      <p:sp>
        <p:nvSpPr>
          <p:cNvPr id="7" name="reading panel"/>
          <p:cNvSpPr/>
          <p:nvPr/>
        </p:nvSpPr>
        <p:spPr>
          <a:xfrm>
            <a:off x="8321040" y="1417320"/>
            <a:ext cx="3429000" cy="4846320"/>
          </a:xfrm>
          <a:prstGeom prst="roundRect">
            <a:avLst>
              <a:gd name="adj" fmla="val 2133"/>
            </a:avLst>
          </a:prstGeom>
          <a:solidFill>
            <a:schemeClr val="bg2"/>
          </a:solidFill>
          <a:ln w="12700">
            <a:solidFill>
              <a:schemeClr val="bg2"/>
            </a:solidFill>
            <a:prstDash val="solid"/>
          </a:ln>
        </p:spPr>
      </p:sp>
      <p:sp>
        <p:nvSpPr>
          <p:cNvPr id="8" name="Text 4"/>
          <p:cNvSpPr txBox="1"/>
          <p:nvPr/>
        </p:nvSpPr>
        <p:spPr>
          <a:xfrm>
            <a:off x="8503920" y="1554480"/>
            <a:ext cx="31089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HOW TO READ IT</a:t>
            </a:r>
            <a:endParaRPr lang="en-US" sz="1200" dirty="0"/>
          </a:p>
        </p:txBody>
      </p:sp>
      <p:sp>
        <p:nvSpPr>
          <p:cNvPr id="9" name="Text 5"/>
          <p:cNvSpPr txBox="1"/>
          <p:nvPr/>
        </p:nvSpPr>
        <p:spPr>
          <a:xfrm>
            <a:off x="8503920" y="1920240"/>
            <a:ext cx="3108960" cy="4251960"/>
          </a:xfrm>
          <a:prstGeom prst="rect">
            <a:avLst/>
          </a:prstGeom>
          <a:noFill/>
          <a:ln/>
        </p:spPr>
        <p:txBody>
          <a:bodyPr wrap="square" lIns="0" tIns="0" rIns="0" bIns="0" rtlCol="0" anchor="t"/>
          <a:lstStyle/>
          <a:p>
            <a:pPr marL="190500" indent="-190500">
              <a:spcAft>
                <a:spcPts val="800"/>
              </a:spcAft>
              <a:buSzPct val="100000"/>
              <a:buChar char="•"/>
            </a:pPr>
            <a:r>
              <a:rPr lang="en-US" sz="1400" dirty="0">
                <a:solidFill>
                  <a:schemeClr val="tx1"/>
                </a:solidFill>
              </a:rPr>
              <a:t>Across the top: does one person using it leave less for others?</a:t>
            </a:r>
            <a:endParaRPr lang="en-US" sz="1400" dirty="0"/>
          </a:p>
          <a:p>
            <a:pPr marL="190500" indent="-190500">
              <a:spcAft>
                <a:spcPts val="800"/>
              </a:spcAft>
              <a:buSzPct val="100000"/>
              <a:buChar char="•"/>
            </a:pPr>
            <a:r>
              <a:rPr lang="en-US" sz="1400" dirty="0">
                <a:solidFill>
                  <a:schemeClr val="tx1"/>
                </a:solidFill>
              </a:rPr>
              <a:t>Down the side: how hard is it to keep out people who did not pay or help?</a:t>
            </a:r>
            <a:endParaRPr lang="en-US" sz="1400" dirty="0"/>
          </a:p>
          <a:p>
            <a:pPr marL="190500" indent="-190500">
              <a:spcAft>
                <a:spcPts val="800"/>
              </a:spcAft>
              <a:buSzPct val="100000"/>
              <a:buChar char="•"/>
            </a:pPr>
            <a:r>
              <a:rPr lang="en-US" sz="1400" dirty="0">
                <a:solidFill>
                  <a:schemeClr val="tx1"/>
                </a:solidFill>
              </a:rPr>
              <a:t>The answers give four kinds of good, each with its own problem.</a:t>
            </a:r>
            <a:endParaRPr lang="en-US" sz="1400" dirty="0"/>
          </a:p>
          <a:p>
            <a:pPr marL="190500" indent="-190500">
              <a:spcAft>
                <a:spcPts val="800"/>
              </a:spcAft>
              <a:buSzPct val="100000"/>
              <a:buChar char="•"/>
            </a:pPr>
            <a:r>
              <a:rPr lang="en-US" sz="1400" dirty="0">
                <a:solidFill>
                  <a:schemeClr val="tx1"/>
                </a:solidFill>
              </a:rPr>
              <a:t>Ostrom found her design principles in the top-left box: common-pool resources.</a:t>
            </a:r>
            <a:endParaRPr lang="en-US" sz="1400" dirty="0"/>
          </a:p>
          <a:p>
            <a:pPr marL="190500" indent="-190500">
              <a:spcAft>
                <a:spcPts val="800"/>
              </a:spcAft>
              <a:buSzPct val="100000"/>
              <a:buChar char="•"/>
            </a:pPr>
            <a:r>
              <a:rPr lang="en-US" sz="1400" dirty="0">
                <a:solidFill>
                  <a:schemeClr val="tx1"/>
                </a:solidFill>
              </a:rPr>
              <a:t>Both questions are matters of degree. Things move between boxes.</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2 · WHAT WE SHARE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Words on this diagram, in plain language</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Every term on the Figure 1 diagram, translated.</a:t>
            </a:r>
            <a:endParaRPr lang="en-US" sz="1500" dirty="0"/>
          </a:p>
        </p:txBody>
      </p:sp>
      <p:sp>
        <p:nvSpPr>
          <p:cNvPr id="6" name="card Goods"/>
          <p:cNvSpPr/>
          <p:nvPr/>
        </p:nvSpPr>
        <p:spPr>
          <a:xfrm>
            <a:off x="548640" y="1828800"/>
            <a:ext cx="5477256" cy="1026414"/>
          </a:xfrm>
          <a:prstGeom prst="roundRect">
            <a:avLst>
              <a:gd name="adj" fmla="val 7127"/>
            </a:avLst>
          </a:prstGeom>
          <a:solidFill>
            <a:schemeClr val="bg2"/>
          </a:solidFill>
          <a:ln w="12700">
            <a:solidFill>
              <a:schemeClr val="bg2"/>
            </a:solidFill>
            <a:prstDash val="solid"/>
          </a:ln>
        </p:spPr>
      </p:sp>
      <p:sp>
        <p:nvSpPr>
          <p:cNvPr id="7" name="Text 4"/>
          <p:cNvSpPr txBox="1"/>
          <p:nvPr/>
        </p:nvSpPr>
        <p:spPr>
          <a:xfrm>
            <a:off x="685800"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Goods</a:t>
            </a:r>
            <a:endParaRPr lang="en-US" sz="1500" dirty="0"/>
          </a:p>
          <a:p>
            <a:pPr indent="0" marL="0">
              <a:spcAft>
                <a:spcPts val="400"/>
              </a:spcAft>
              <a:buNone/>
            </a:pPr>
            <a:r>
              <a:rPr lang="en-US" sz="1400" dirty="0">
                <a:solidFill>
                  <a:schemeClr val="tx1"/>
                </a:solidFill>
              </a:rPr>
              <a:t>Anything people value and use, not only things for sale. Water, safety, knowledge, a meeting hall.</a:t>
            </a:r>
            <a:endParaRPr lang="en-US" sz="1500" dirty="0"/>
          </a:p>
        </p:txBody>
      </p:sp>
      <p:sp>
        <p:nvSpPr>
          <p:cNvPr id="8" name="card Subtractability of use"/>
          <p:cNvSpPr/>
          <p:nvPr/>
        </p:nvSpPr>
        <p:spPr>
          <a:xfrm>
            <a:off x="548640" y="2964942"/>
            <a:ext cx="5477256" cy="1026414"/>
          </a:xfrm>
          <a:prstGeom prst="roundRect">
            <a:avLst>
              <a:gd name="adj" fmla="val 7127"/>
            </a:avLst>
          </a:prstGeom>
          <a:solidFill>
            <a:schemeClr val="bg2"/>
          </a:solidFill>
          <a:ln w="12700">
            <a:solidFill>
              <a:schemeClr val="bg2"/>
            </a:solidFill>
            <a:prstDash val="solid"/>
          </a:ln>
        </p:spPr>
      </p:sp>
      <p:sp>
        <p:nvSpPr>
          <p:cNvPr id="9" name="Text 6"/>
          <p:cNvSpPr txBox="1"/>
          <p:nvPr/>
        </p:nvSpPr>
        <p:spPr>
          <a:xfrm>
            <a:off x="685800"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Subtractability of use</a:t>
            </a:r>
            <a:endParaRPr lang="en-US" sz="1500" dirty="0"/>
          </a:p>
          <a:p>
            <a:pPr indent="0" marL="0">
              <a:spcAft>
                <a:spcPts val="400"/>
              </a:spcAft>
              <a:buNone/>
            </a:pPr>
            <a:r>
              <a:rPr lang="en-US" sz="1400" dirty="0">
                <a:solidFill>
                  <a:schemeClr val="tx1"/>
                </a:solidFill>
              </a:rPr>
              <a:t>Does my use leave less for you? Economists also call this "rivalry".</a:t>
            </a:r>
            <a:endParaRPr lang="en-US" sz="1500" dirty="0"/>
          </a:p>
        </p:txBody>
      </p:sp>
      <p:sp>
        <p:nvSpPr>
          <p:cNvPr id="10" name="card Difficulty of excluding potential beneficiaries"/>
          <p:cNvSpPr/>
          <p:nvPr/>
        </p:nvSpPr>
        <p:spPr>
          <a:xfrm>
            <a:off x="548640" y="4101084"/>
            <a:ext cx="5477256" cy="1026414"/>
          </a:xfrm>
          <a:prstGeom prst="roundRect">
            <a:avLst>
              <a:gd name="adj" fmla="val 7127"/>
            </a:avLst>
          </a:prstGeom>
          <a:solidFill>
            <a:schemeClr val="bg2"/>
          </a:solidFill>
          <a:ln w="12700">
            <a:solidFill>
              <a:schemeClr val="bg2"/>
            </a:solidFill>
            <a:prstDash val="solid"/>
          </a:ln>
        </p:spPr>
      </p:sp>
      <p:sp>
        <p:nvSpPr>
          <p:cNvPr id="11" name="Text 8"/>
          <p:cNvSpPr txBox="1"/>
          <p:nvPr/>
        </p:nvSpPr>
        <p:spPr>
          <a:xfrm>
            <a:off x="685800"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Difficulty of excluding potential beneficiaries</a:t>
            </a:r>
            <a:endParaRPr lang="en-US" sz="1500" dirty="0"/>
          </a:p>
          <a:p>
            <a:pPr indent="0" marL="0">
              <a:spcAft>
                <a:spcPts val="400"/>
              </a:spcAft>
              <a:buNone/>
            </a:pPr>
            <a:r>
              <a:rPr lang="en-US" sz="1400" dirty="0">
                <a:solidFill>
                  <a:schemeClr val="tx1"/>
                </a:solidFill>
              </a:rPr>
              <a:t>How hard it is to keep people who did not pay or help from benefiting anyway.</a:t>
            </a:r>
            <a:endParaRPr lang="en-US" sz="1500" dirty="0"/>
          </a:p>
        </p:txBody>
      </p:sp>
      <p:sp>
        <p:nvSpPr>
          <p:cNvPr id="12" name="card Common-pool resource"/>
          <p:cNvSpPr/>
          <p:nvPr/>
        </p:nvSpPr>
        <p:spPr>
          <a:xfrm>
            <a:off x="548640" y="5237226"/>
            <a:ext cx="5477256" cy="1026414"/>
          </a:xfrm>
          <a:prstGeom prst="roundRect">
            <a:avLst>
              <a:gd name="adj" fmla="val 7127"/>
            </a:avLst>
          </a:prstGeom>
          <a:solidFill>
            <a:schemeClr val="bg2"/>
          </a:solidFill>
          <a:ln w="12700">
            <a:solidFill>
              <a:schemeClr val="bg2"/>
            </a:solidFill>
            <a:prstDash val="solid"/>
          </a:ln>
        </p:spPr>
      </p:sp>
      <p:sp>
        <p:nvSpPr>
          <p:cNvPr id="13" name="Text 10"/>
          <p:cNvSpPr txBox="1"/>
          <p:nvPr/>
        </p:nvSpPr>
        <p:spPr>
          <a:xfrm>
            <a:off x="685800"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Common-pool resource</a:t>
            </a:r>
            <a:endParaRPr lang="en-US" sz="1500" dirty="0"/>
          </a:p>
          <a:p>
            <a:pPr indent="0" marL="0">
              <a:spcAft>
                <a:spcPts val="400"/>
              </a:spcAft>
              <a:buNone/>
            </a:pPr>
            <a:r>
              <a:rPr lang="en-US" sz="1400" dirty="0">
                <a:solidFill>
                  <a:schemeClr val="tx1"/>
                </a:solidFill>
              </a:rPr>
              <a:t>Hard to keep people out AND use leaves less: groundwater, fisheries, forests, the garden tank in August.</a:t>
            </a:r>
            <a:endParaRPr lang="en-US" sz="1500" dirty="0"/>
          </a:p>
        </p:txBody>
      </p:sp>
      <p:sp>
        <p:nvSpPr>
          <p:cNvPr id="14" name="card Public good"/>
          <p:cNvSpPr/>
          <p:nvPr/>
        </p:nvSpPr>
        <p:spPr>
          <a:xfrm>
            <a:off x="6135624" y="1828800"/>
            <a:ext cx="5477256" cy="1026414"/>
          </a:xfrm>
          <a:prstGeom prst="roundRect">
            <a:avLst>
              <a:gd name="adj" fmla="val 7127"/>
            </a:avLst>
          </a:prstGeom>
          <a:solidFill>
            <a:schemeClr val="bg2"/>
          </a:solidFill>
          <a:ln w="12700">
            <a:solidFill>
              <a:schemeClr val="bg2"/>
            </a:solidFill>
            <a:prstDash val="solid"/>
          </a:ln>
        </p:spPr>
      </p:sp>
      <p:sp>
        <p:nvSpPr>
          <p:cNvPr id="15" name="Text 12"/>
          <p:cNvSpPr txBox="1"/>
          <p:nvPr/>
        </p:nvSpPr>
        <p:spPr>
          <a:xfrm>
            <a:off x="6272784"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Public good</a:t>
            </a:r>
            <a:endParaRPr lang="en-US" sz="1500" dirty="0"/>
          </a:p>
          <a:p>
            <a:pPr indent="0" marL="0">
              <a:spcAft>
                <a:spcPts val="400"/>
              </a:spcAft>
              <a:buNone/>
            </a:pPr>
            <a:r>
              <a:rPr lang="en-US" sz="1400" dirty="0">
                <a:solidFill>
                  <a:schemeClr val="tx1"/>
                </a:solidFill>
              </a:rPr>
              <a:t>Hard to keep people out, but use leaves just as much: neighborhood safety, knowledge, weather forecasts.</a:t>
            </a:r>
            <a:endParaRPr lang="en-US" sz="1500" dirty="0"/>
          </a:p>
        </p:txBody>
      </p:sp>
      <p:sp>
        <p:nvSpPr>
          <p:cNvPr id="16" name="card Toll good (also &quot;club good&quot;)"/>
          <p:cNvSpPr/>
          <p:nvPr/>
        </p:nvSpPr>
        <p:spPr>
          <a:xfrm>
            <a:off x="6135624" y="2964942"/>
            <a:ext cx="5477256" cy="1026414"/>
          </a:xfrm>
          <a:prstGeom prst="roundRect">
            <a:avLst>
              <a:gd name="adj" fmla="val 7127"/>
            </a:avLst>
          </a:prstGeom>
          <a:solidFill>
            <a:schemeClr val="bg2"/>
          </a:solidFill>
          <a:ln w="12700">
            <a:solidFill>
              <a:schemeClr val="bg2"/>
            </a:solidFill>
            <a:prstDash val="solid"/>
          </a:ln>
        </p:spPr>
      </p:sp>
      <p:sp>
        <p:nvSpPr>
          <p:cNvPr id="17" name="Text 14"/>
          <p:cNvSpPr txBox="1"/>
          <p:nvPr/>
        </p:nvSpPr>
        <p:spPr>
          <a:xfrm>
            <a:off x="6272784"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Toll good (also "club good")</a:t>
            </a:r>
            <a:endParaRPr lang="en-US" sz="1500" dirty="0"/>
          </a:p>
          <a:p>
            <a:pPr indent="0" marL="0">
              <a:spcAft>
                <a:spcPts val="400"/>
              </a:spcAft>
              <a:buNone/>
            </a:pPr>
            <a:r>
              <a:rPr lang="en-US" sz="1400" dirty="0">
                <a:solidFill>
                  <a:schemeClr val="tx1"/>
                </a:solidFill>
              </a:rPr>
              <a:t>Easy to keep people out, little is used up until it gets crowded: a theater, a club, a daycare.</a:t>
            </a:r>
            <a:endParaRPr lang="en-US" sz="1500" dirty="0"/>
          </a:p>
        </p:txBody>
      </p:sp>
      <p:sp>
        <p:nvSpPr>
          <p:cNvPr id="18" name="card Private good"/>
          <p:cNvSpPr/>
          <p:nvPr/>
        </p:nvSpPr>
        <p:spPr>
          <a:xfrm>
            <a:off x="6135624" y="4101084"/>
            <a:ext cx="5477256" cy="1026414"/>
          </a:xfrm>
          <a:prstGeom prst="roundRect">
            <a:avLst>
              <a:gd name="adj" fmla="val 7127"/>
            </a:avLst>
          </a:prstGeom>
          <a:solidFill>
            <a:schemeClr val="bg2"/>
          </a:solidFill>
          <a:ln w="12700">
            <a:solidFill>
              <a:schemeClr val="bg2"/>
            </a:solidFill>
            <a:prstDash val="solid"/>
          </a:ln>
        </p:spPr>
      </p:sp>
      <p:sp>
        <p:nvSpPr>
          <p:cNvPr id="19" name="Text 16"/>
          <p:cNvSpPr txBox="1"/>
          <p:nvPr/>
        </p:nvSpPr>
        <p:spPr>
          <a:xfrm>
            <a:off x="6272784"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Private good</a:t>
            </a:r>
            <a:endParaRPr lang="en-US" sz="1500" dirty="0"/>
          </a:p>
          <a:p>
            <a:pPr indent="0" marL="0">
              <a:spcAft>
                <a:spcPts val="400"/>
              </a:spcAft>
              <a:buNone/>
            </a:pPr>
            <a:r>
              <a:rPr lang="en-US" sz="1400" dirty="0">
                <a:solidFill>
                  <a:schemeClr val="tx1"/>
                </a:solidFill>
              </a:rPr>
              <a:t>Easy to keep people out and use leaves less: food, clothing, a car.</a:t>
            </a:r>
            <a:endParaRPr lang="en-US" sz="1500" dirty="0"/>
          </a:p>
        </p:txBody>
      </p:sp>
      <p:sp>
        <p:nvSpPr>
          <p:cNvPr id="20" name="card Free-riding"/>
          <p:cNvSpPr/>
          <p:nvPr/>
        </p:nvSpPr>
        <p:spPr>
          <a:xfrm>
            <a:off x="6135624" y="5237226"/>
            <a:ext cx="5477256" cy="1026414"/>
          </a:xfrm>
          <a:prstGeom prst="roundRect">
            <a:avLst>
              <a:gd name="adj" fmla="val 7127"/>
            </a:avLst>
          </a:prstGeom>
          <a:solidFill>
            <a:schemeClr val="bg2"/>
          </a:solidFill>
          <a:ln w="12700">
            <a:solidFill>
              <a:schemeClr val="bg2"/>
            </a:solidFill>
            <a:prstDash val="solid"/>
          </a:ln>
        </p:spPr>
      </p:sp>
      <p:sp>
        <p:nvSpPr>
          <p:cNvPr id="21" name="Text 18"/>
          <p:cNvSpPr txBox="1"/>
          <p:nvPr/>
        </p:nvSpPr>
        <p:spPr>
          <a:xfrm>
            <a:off x="6272784"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Free-riding</a:t>
            </a:r>
            <a:endParaRPr lang="en-US" sz="1500" dirty="0"/>
          </a:p>
          <a:p>
            <a:pPr indent="0" marL="0">
              <a:spcAft>
                <a:spcPts val="400"/>
              </a:spcAft>
              <a:buNone/>
            </a:pPr>
            <a:r>
              <a:rPr lang="en-US" sz="1400" dirty="0">
                <a:solidFill>
                  <a:schemeClr val="tx1"/>
                </a:solidFill>
              </a:rPr>
              <a:t>Enjoying the benefit without doing your share. The main problem with public goods.</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2 · WHAT WE SHARE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Neighborhood things, sorted</a:t>
            </a:r>
            <a:endParaRPr lang="en-US" sz="3200" dirty="0"/>
          </a:p>
        </p:txBody>
      </p:sp>
      <p:sp>
        <p:nvSpPr>
          <p:cNvPr id="5" name="card Common-pool: the garden water, a shared fund, volunteer hours"/>
          <p:cNvSpPr/>
          <p:nvPr/>
        </p:nvSpPr>
        <p:spPr>
          <a:xfrm>
            <a:off x="548640" y="1463040"/>
            <a:ext cx="5440680" cy="1783080"/>
          </a:xfrm>
          <a:prstGeom prst="roundRect">
            <a:avLst>
              <a:gd name="adj" fmla="val 4103"/>
            </a:avLst>
          </a:prstGeom>
          <a:solidFill>
            <a:srgbClr val="FBEFCB"/>
          </a:solidFill>
          <a:ln w="12700">
            <a:solidFill>
              <a:srgbClr val="FBEFCB"/>
            </a:solidFill>
            <a:prstDash val="solid"/>
          </a:ln>
        </p:spPr>
      </p:sp>
      <p:sp>
        <p:nvSpPr>
          <p:cNvPr id="6" name="Text 3"/>
          <p:cNvSpPr txBox="1"/>
          <p:nvPr/>
        </p:nvSpPr>
        <p:spPr>
          <a:xfrm>
            <a:off x="685800" y="1554480"/>
            <a:ext cx="5166360" cy="16002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Common-pool: the garden water, a shared fund, volunteer hours</a:t>
            </a:r>
            <a:endParaRPr lang="en-US" sz="1600" dirty="0"/>
          </a:p>
          <a:p>
            <a:pPr indent="0" marL="0">
              <a:spcAft>
                <a:spcPts val="400"/>
              </a:spcAft>
              <a:buNone/>
            </a:pPr>
            <a:r>
              <a:rPr lang="en-US" sz="1500" dirty="0">
                <a:solidFill>
                  <a:schemeClr val="tx1"/>
                </a:solidFill>
              </a:rPr>
              <a:t>Two problems at once: people taking too much, and not enough people putting back. Rules about both taking and contributing matter.</a:t>
            </a:r>
            <a:endParaRPr lang="en-US" sz="1600" dirty="0"/>
          </a:p>
        </p:txBody>
      </p:sp>
      <p:sp>
        <p:nvSpPr>
          <p:cNvPr id="7" name="card Public: neighborhood safety, a shared local-knowledge wiki"/>
          <p:cNvSpPr/>
          <p:nvPr/>
        </p:nvSpPr>
        <p:spPr>
          <a:xfrm>
            <a:off x="6172200" y="1463040"/>
            <a:ext cx="5440680" cy="1783080"/>
          </a:xfrm>
          <a:prstGeom prst="roundRect">
            <a:avLst>
              <a:gd name="adj" fmla="val 4103"/>
            </a:avLst>
          </a:prstGeom>
          <a:solidFill>
            <a:srgbClr val="DCE8F4"/>
          </a:solidFill>
          <a:ln w="12700">
            <a:solidFill>
              <a:srgbClr val="DCE8F4"/>
            </a:solidFill>
            <a:prstDash val="solid"/>
          </a:ln>
        </p:spPr>
      </p:sp>
      <p:sp>
        <p:nvSpPr>
          <p:cNvPr id="8" name="Text 5"/>
          <p:cNvSpPr txBox="1"/>
          <p:nvPr/>
        </p:nvSpPr>
        <p:spPr>
          <a:xfrm>
            <a:off x="6309360" y="1554480"/>
            <a:ext cx="5166360" cy="16002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Public: neighborhood safety, a shared local-knowledge wiki</a:t>
            </a:r>
            <a:endParaRPr lang="en-US" sz="1600" dirty="0"/>
          </a:p>
          <a:p>
            <a:pPr indent="0" marL="0">
              <a:spcAft>
                <a:spcPts val="400"/>
              </a:spcAft>
              <a:buNone/>
            </a:pPr>
            <a:r>
              <a:rPr lang="en-US" sz="1500" dirty="0">
                <a:solidFill>
                  <a:schemeClr val="tx1"/>
                </a:solidFill>
              </a:rPr>
              <a:t>Everyone benefits whether or not they helped, so the problem is getting enough people to contribute.</a:t>
            </a:r>
            <a:endParaRPr lang="en-US" sz="1600" dirty="0"/>
          </a:p>
        </p:txBody>
      </p:sp>
      <p:sp>
        <p:nvSpPr>
          <p:cNvPr id="9" name="card Toll: a tool library, a co-op's member services, a meeting hall"/>
          <p:cNvSpPr/>
          <p:nvPr/>
        </p:nvSpPr>
        <p:spPr>
          <a:xfrm>
            <a:off x="548640" y="3383280"/>
            <a:ext cx="5440680" cy="1783080"/>
          </a:xfrm>
          <a:prstGeom prst="roundRect">
            <a:avLst>
              <a:gd name="adj" fmla="val 4103"/>
            </a:avLst>
          </a:prstGeom>
          <a:solidFill>
            <a:srgbClr val="E6E1F2"/>
          </a:solidFill>
          <a:ln w="12700">
            <a:solidFill>
              <a:srgbClr val="E6E1F2"/>
            </a:solidFill>
            <a:prstDash val="solid"/>
          </a:ln>
        </p:spPr>
      </p:sp>
      <p:sp>
        <p:nvSpPr>
          <p:cNvPr id="10" name="Text 7"/>
          <p:cNvSpPr txBox="1"/>
          <p:nvPr/>
        </p:nvSpPr>
        <p:spPr>
          <a:xfrm>
            <a:off x="685800" y="3474720"/>
            <a:ext cx="5166360" cy="16002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Toll: a tool library, a co-op's member services, a meeting hall</a:t>
            </a:r>
            <a:endParaRPr lang="en-US" sz="1600" dirty="0"/>
          </a:p>
          <a:p>
            <a:pPr indent="0" marL="0">
              <a:spcAft>
                <a:spcPts val="400"/>
              </a:spcAft>
              <a:buNone/>
            </a:pPr>
            <a:r>
              <a:rPr lang="en-US" sz="1500" dirty="0">
                <a:solidFill>
                  <a:schemeClr val="tx1"/>
                </a:solidFill>
              </a:rPr>
              <a:t>Membership does most of the work: who is in, what they pay, what happens when it gets crowded.</a:t>
            </a:r>
            <a:endParaRPr lang="en-US" sz="1600" dirty="0"/>
          </a:p>
        </p:txBody>
      </p:sp>
      <p:sp>
        <p:nvSpPr>
          <p:cNvPr id="11" name="card Private: the vegetables from your own plot"/>
          <p:cNvSpPr/>
          <p:nvPr/>
        </p:nvSpPr>
        <p:spPr>
          <a:xfrm>
            <a:off x="6172200" y="3383280"/>
            <a:ext cx="5440680" cy="1783080"/>
          </a:xfrm>
          <a:prstGeom prst="roundRect">
            <a:avLst>
              <a:gd name="adj" fmla="val 4103"/>
            </a:avLst>
          </a:prstGeom>
          <a:solidFill>
            <a:srgbClr val="ECEEEC"/>
          </a:solidFill>
          <a:ln w="12700">
            <a:solidFill>
              <a:srgbClr val="ECEEEC"/>
            </a:solidFill>
            <a:prstDash val="solid"/>
          </a:ln>
        </p:spPr>
      </p:sp>
      <p:sp>
        <p:nvSpPr>
          <p:cNvPr id="12" name="Text 9"/>
          <p:cNvSpPr txBox="1"/>
          <p:nvPr/>
        </p:nvSpPr>
        <p:spPr>
          <a:xfrm>
            <a:off x="6309360" y="3474720"/>
            <a:ext cx="5166360" cy="16002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Private: the vegetables from your own plot</a:t>
            </a:r>
            <a:endParaRPr lang="en-US" sz="1600" dirty="0"/>
          </a:p>
          <a:p>
            <a:pPr indent="0" marL="0">
              <a:spcAft>
                <a:spcPts val="400"/>
              </a:spcAft>
              <a:buNone/>
            </a:pPr>
            <a:r>
              <a:rPr lang="en-US" sz="1500" dirty="0">
                <a:solidFill>
                  <a:schemeClr val="tx1"/>
                </a:solidFill>
              </a:rPr>
              <a:t>Markets and personal choice handle these. Little to govern together.</a:t>
            </a:r>
            <a:endParaRPr lang="en-US" sz="1600" dirty="0"/>
          </a:p>
        </p:txBody>
      </p:sp>
      <p:sp>
        <p:nvSpPr>
          <p:cNvPr id="13" name="Text 10"/>
          <p:cNvSpPr txBox="1"/>
          <p:nvPr/>
        </p:nvSpPr>
        <p:spPr>
          <a:xfrm>
            <a:off x="548640" y="5440680"/>
            <a:ext cx="11064240" cy="731520"/>
          </a:xfrm>
          <a:prstGeom prst="rect">
            <a:avLst/>
          </a:prstGeom>
          <a:noFill/>
          <a:ln/>
        </p:spPr>
        <p:txBody>
          <a:bodyPr wrap="square" lIns="0" tIns="0" rIns="0" bIns="0" rtlCol="0" anchor="t"/>
          <a:lstStyle/>
          <a:p>
            <a:pPr indent="0" marL="0">
              <a:spcAft>
                <a:spcPts val="600"/>
              </a:spcAft>
              <a:buNone/>
            </a:pPr>
            <a:r>
              <a:rPr lang="en-US" sz="1600" i="1" dirty="0">
                <a:solidFill>
                  <a:schemeClr val="accent1"/>
                </a:solidFill>
              </a:rPr>
              <a:t>These are regions, not boxes. In a wet spring the garden water is hardly contested. In a drought, every gallon is.</a:t>
            </a:r>
            <a:endParaRPr lang="en-US" sz="16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nchor="b"/>
          <a:lstStyle/>
          <a:p>
            <a:pPr indent="0" marL="0">
              <a:buNone/>
            </a:pPr>
            <a:r>
              <a:rPr lang="en-US" sz="4000" b="1" dirty="0">
                <a:solidFill>
                  <a:schemeClr val="bg1"/>
                </a:solidFill>
              </a:rPr>
              <a:t>One situation in its setting</a:t>
            </a: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nchor="t"/>
          <a:lstStyle/>
          <a:p>
            <a:pPr indent="0" marL="0">
              <a:buNone/>
            </a:pPr>
            <a:r>
              <a:rPr lang="en-US" sz="1800" dirty="0">
                <a:solidFill>
                  <a:schemeClr val="bg2"/>
                </a:solidFill>
              </a:rPr>
              <a:t>Zoom in to one place where people meet and choose, and what shapes it from outside.</a:t>
            </a:r>
            <a:endParaRPr lang="en-US" sz="1800" dirty="0"/>
          </a:p>
        </p:txBody>
      </p:sp>
      <p:sp>
        <p:nvSpPr>
          <p:cNvPr id="4" name="Text 2"/>
          <p:cNvSpPr txBox="1"/>
          <p:nvPr/>
        </p:nvSpPr>
        <p:spPr>
          <a:xfrm>
            <a:off x="7223760" y="411480"/>
            <a:ext cx="4297680" cy="365760"/>
          </a:xfrm>
          <a:prstGeom prst="rect">
            <a:avLst/>
          </a:prstGeom>
          <a:noFill/>
          <a:ln/>
        </p:spPr>
        <p:txBody>
          <a:bodyPr wrap="square" lIns="0" tIns="0" rIns="0" bIns="0" rtlCol="0" anchor="ctr"/>
          <a:lstStyle/>
          <a:p>
            <a:pPr indent="0" marL="0">
              <a:buNone/>
            </a:pPr>
            <a:r>
              <a:rPr lang="en-US" sz="1200" b="1" spc="200" kern="0" dirty="0">
                <a:solidFill>
                  <a:schemeClr val="accent2"/>
                </a:solidFill>
              </a:rPr>
              <a:t>ZOOMING IN</a:t>
            </a:r>
            <a:endParaRPr lang="en-US" sz="1200" dirty="0"/>
          </a:p>
        </p:txBody>
      </p:sp>
      <p:sp>
        <p:nvSpPr>
          <p:cNvPr id="5" name="rung 1"/>
          <p:cNvSpPr/>
          <p:nvPr/>
        </p:nvSpPr>
        <p:spPr>
          <a:xfrm>
            <a:off x="7223760" y="914400"/>
            <a:ext cx="429768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1   The whole system</a:t>
            </a:r>
            <a:endParaRPr lang="en-US" sz="1500" dirty="0"/>
          </a:p>
        </p:txBody>
      </p:sp>
      <p:sp>
        <p:nvSpPr>
          <p:cNvPr id="6" name="rung 2"/>
          <p:cNvSpPr/>
          <p:nvPr/>
        </p:nvSpPr>
        <p:spPr>
          <a:xfrm>
            <a:off x="7333488" y="1444752"/>
            <a:ext cx="418795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2   What we share</a:t>
            </a:r>
            <a:endParaRPr lang="en-US" sz="1500" dirty="0"/>
          </a:p>
        </p:txBody>
      </p:sp>
      <p:sp>
        <p:nvSpPr>
          <p:cNvPr id="7" name="rung 3"/>
          <p:cNvSpPr/>
          <p:nvPr/>
        </p:nvSpPr>
        <p:spPr>
          <a:xfrm>
            <a:off x="7443216" y="1975104"/>
            <a:ext cx="4078224" cy="457200"/>
          </a:xfrm>
          <a:prstGeom prst="roundRect">
            <a:avLst>
              <a:gd name="adj" fmla="val 16000"/>
            </a:avLst>
          </a:prstGeom>
          <a:solidFill>
            <a:schemeClr val="accent2"/>
          </a:solidFill>
          <a:ln w="9525">
            <a:solidFill>
              <a:schemeClr val="accent2"/>
            </a:solidFill>
          </a:ln>
        </p:spPr>
        <p:txBody>
          <a:bodyPr wrap="square" lIns="0" tIns="152400" rIns="127000" bIns="0" rtlCol="0" anchor="ctr"/>
          <a:lstStyle/>
          <a:p>
            <a:pPr indent="0" marL="0">
              <a:buNone/>
            </a:pPr>
            <a:r>
              <a:rPr lang="en-US" sz="1500" b="1" dirty="0">
                <a:solidFill>
                  <a:schemeClr val="tx2"/>
                </a:solidFill>
              </a:rPr>
              <a:t>3   One situation in its setting</a:t>
            </a:r>
            <a:endParaRPr lang="en-US" sz="1500" dirty="0"/>
          </a:p>
        </p:txBody>
      </p:sp>
      <p:sp>
        <p:nvSpPr>
          <p:cNvPr id="8" name="rung 4"/>
          <p:cNvSpPr/>
          <p:nvPr/>
        </p:nvSpPr>
        <p:spPr>
          <a:xfrm>
            <a:off x="7552944" y="2505456"/>
            <a:ext cx="396849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4   Layers of decision</a:t>
            </a:r>
            <a:endParaRPr lang="en-US" sz="1500" dirty="0"/>
          </a:p>
        </p:txBody>
      </p:sp>
      <p:sp>
        <p:nvSpPr>
          <p:cNvPr id="9" name="rung 5"/>
          <p:cNvSpPr/>
          <p:nvPr/>
        </p:nvSpPr>
        <p:spPr>
          <a:xfrm>
            <a:off x="7662672" y="3035808"/>
            <a:ext cx="3858768"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5   Inside one situation</a:t>
            </a:r>
            <a:endParaRPr lang="en-US" sz="1500" dirty="0"/>
          </a:p>
        </p:txBody>
      </p:sp>
      <p:sp>
        <p:nvSpPr>
          <p:cNvPr id="10" name="rung 6"/>
          <p:cNvSpPr/>
          <p:nvPr/>
        </p:nvSpPr>
        <p:spPr>
          <a:xfrm>
            <a:off x="7772400" y="3566160"/>
            <a:ext cx="374904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6   The rules that shape it</a:t>
            </a:r>
            <a:endParaRPr lang="en-US" sz="1500" dirty="0"/>
          </a:p>
        </p:txBody>
      </p:sp>
      <p:sp>
        <p:nvSpPr>
          <p:cNvPr id="11" name="rung 7"/>
          <p:cNvSpPr/>
          <p:nvPr/>
        </p:nvSpPr>
        <p:spPr>
          <a:xfrm>
            <a:off x="7882128" y="4096512"/>
            <a:ext cx="363931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7   What lasting rules share</a:t>
            </a:r>
            <a:endParaRPr lang="en-US" sz="1500" dirty="0"/>
          </a:p>
        </p:txBody>
      </p:sp>
      <p:sp>
        <p:nvSpPr>
          <p:cNvPr id="12" name="rung 8"/>
          <p:cNvSpPr/>
          <p:nvPr/>
        </p:nvSpPr>
        <p:spPr>
          <a:xfrm>
            <a:off x="7991856" y="4626864"/>
            <a:ext cx="352958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8   One sentence of a rule</a:t>
            </a:r>
            <a:endParaRPr lang="en-US" sz="1500" dirty="0"/>
          </a:p>
        </p:txBody>
      </p:sp>
      <p:sp>
        <p:nvSpPr>
          <p:cNvPr id="13" name="rung 9"/>
          <p:cNvSpPr/>
          <p:nvPr/>
        </p:nvSpPr>
        <p:spPr>
          <a:xfrm>
            <a:off x="8101584" y="5157216"/>
            <a:ext cx="341985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9   One person deciding</a:t>
            </a:r>
            <a:endParaRPr lang="en-US" sz="1500" dirty="0"/>
          </a:p>
        </p:txBody>
      </p:sp>
      <p:sp>
        <p:nvSpPr>
          <p:cNvPr id="14" name="Text 12"/>
          <p:cNvSpPr txBox="1"/>
          <p:nvPr/>
        </p:nvSpPr>
        <p:spPr>
          <a:xfrm>
            <a:off x="9601200" y="566928"/>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largest scale</a:t>
            </a:r>
            <a:endParaRPr lang="en-US" sz="1100" dirty="0"/>
          </a:p>
        </p:txBody>
      </p:sp>
      <p:sp>
        <p:nvSpPr>
          <p:cNvPr id="15" name="Text 13"/>
          <p:cNvSpPr txBox="1"/>
          <p:nvPr/>
        </p:nvSpPr>
        <p:spPr>
          <a:xfrm>
            <a:off x="9601200" y="5669280"/>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smallest scale</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3 · ONE SITUATION IN ITS SETTING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What shapes what people do together</a:t>
            </a:r>
            <a:endParaRPr lang="en-US" sz="3200" dirty="0"/>
          </a:p>
        </p:txBody>
      </p:sp>
      <p:pic>
        <p:nvPicPr>
          <p:cNvPr id="5" name="Image 0" descr="What shapes what people do together">    </p:cNvPr>
          <p:cNvPicPr>
            <a:picLocks noChangeAspect="1"/>
          </p:cNvPicPr>
          <p:nvPr/>
        </p:nvPicPr>
        <p:blipFill>
          <a:blip r:embed="rId1"/>
          <a:stretch>
            <a:fillRect/>
          </a:stretch>
        </p:blipFill>
        <p:spPr>
          <a:xfrm>
            <a:off x="457200" y="1553401"/>
            <a:ext cx="7589520" cy="4436999"/>
          </a:xfrm>
          <a:prstGeom prst="rect">
            <a:avLst/>
          </a:prstGeom>
        </p:spPr>
      </p:pic>
      <p:sp>
        <p:nvSpPr>
          <p:cNvPr id="6" name="Text 2"/>
          <p:cNvSpPr txBox="1"/>
          <p:nvPr/>
        </p:nvSpPr>
        <p:spPr>
          <a:xfrm>
            <a:off x="457200" y="6036119"/>
            <a:ext cx="7589520" cy="274320"/>
          </a:xfrm>
          <a:prstGeom prst="rect">
            <a:avLst/>
          </a:prstGeom>
          <a:noFill/>
          <a:ln/>
        </p:spPr>
        <p:txBody>
          <a:bodyPr wrap="square" lIns="0" tIns="0" rIns="0" bIns="0" rtlCol="0" anchor="ctr"/>
          <a:lstStyle/>
          <a:p>
            <a:pPr indent="0" marL="0">
              <a:buNone/>
            </a:pPr>
            <a:r>
              <a:rPr lang="en-US" sz="1000" i="1" dirty="0">
                <a:solidFill>
                  <a:srgbClr val="5B6B60"/>
                </a:solidFill>
              </a:rPr>
              <a:t>Ostrom 2010, Figure 2, adapted from Ostrom 2005. Green title: Marc's</a:t>
            </a:r>
            <a:endParaRPr lang="en-US" sz="1000" dirty="0"/>
          </a:p>
        </p:txBody>
      </p:sp>
      <p:sp>
        <p:nvSpPr>
          <p:cNvPr id="7" name="reading panel"/>
          <p:cNvSpPr/>
          <p:nvPr/>
        </p:nvSpPr>
        <p:spPr>
          <a:xfrm>
            <a:off x="8321040" y="1417320"/>
            <a:ext cx="3429000" cy="4846320"/>
          </a:xfrm>
          <a:prstGeom prst="roundRect">
            <a:avLst>
              <a:gd name="adj" fmla="val 2133"/>
            </a:avLst>
          </a:prstGeom>
          <a:solidFill>
            <a:schemeClr val="bg2"/>
          </a:solidFill>
          <a:ln w="12700">
            <a:solidFill>
              <a:schemeClr val="bg2"/>
            </a:solidFill>
            <a:prstDash val="solid"/>
          </a:ln>
        </p:spPr>
      </p:sp>
      <p:sp>
        <p:nvSpPr>
          <p:cNvPr id="8" name="Text 4"/>
          <p:cNvSpPr txBox="1"/>
          <p:nvPr/>
        </p:nvSpPr>
        <p:spPr>
          <a:xfrm>
            <a:off x="8503920" y="1554480"/>
            <a:ext cx="31089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HOW TO READ IT</a:t>
            </a:r>
            <a:endParaRPr lang="en-US" sz="1200" dirty="0"/>
          </a:p>
        </p:txBody>
      </p:sp>
      <p:sp>
        <p:nvSpPr>
          <p:cNvPr id="9" name="Text 5"/>
          <p:cNvSpPr txBox="1"/>
          <p:nvPr/>
        </p:nvSpPr>
        <p:spPr>
          <a:xfrm>
            <a:off x="8503920" y="1920240"/>
            <a:ext cx="3108960" cy="4251960"/>
          </a:xfrm>
          <a:prstGeom prst="rect">
            <a:avLst/>
          </a:prstGeom>
          <a:noFill/>
          <a:ln/>
        </p:spPr>
        <p:txBody>
          <a:bodyPr wrap="square" lIns="0" tIns="0" rIns="0" bIns="0" rtlCol="0" anchor="t"/>
          <a:lstStyle/>
          <a:p>
            <a:pPr marL="190500" indent="-190500">
              <a:spcAft>
                <a:spcPts val="800"/>
              </a:spcAft>
              <a:buSzPct val="100000"/>
              <a:buChar char="•"/>
            </a:pPr>
            <a:r>
              <a:rPr lang="en-US" sz="1400" dirty="0">
                <a:solidFill>
                  <a:schemeClr val="tx1"/>
                </a:solidFill>
              </a:rPr>
              <a:t>Left box: three things set the scene. The physical world, who the people are, and the rules they actually follow.</a:t>
            </a:r>
            <a:endParaRPr lang="en-US" sz="1400" dirty="0"/>
          </a:p>
          <a:p>
            <a:pPr marL="190500" indent="-190500">
              <a:spcAft>
                <a:spcPts val="800"/>
              </a:spcAft>
              <a:buSzPct val="100000"/>
              <a:buChar char="•"/>
            </a:pPr>
            <a:r>
              <a:rPr lang="en-US" sz="1400" dirty="0">
                <a:solidFill>
                  <a:schemeClr val="tx1"/>
                </a:solidFill>
              </a:rPr>
              <a:t>Middle: the action situation, where people meet and choose.</a:t>
            </a:r>
            <a:endParaRPr lang="en-US" sz="1400" dirty="0"/>
          </a:p>
          <a:p>
            <a:pPr marL="190500" indent="-190500">
              <a:spcAft>
                <a:spcPts val="800"/>
              </a:spcAft>
              <a:buSzPct val="100000"/>
              <a:buChar char="•"/>
            </a:pPr>
            <a:r>
              <a:rPr lang="en-US" sz="1400" dirty="0">
                <a:solidFill>
                  <a:schemeClr val="tx1"/>
                </a:solidFill>
              </a:rPr>
              <a:t>Right: what they do (interactions), what results (outcomes), and the yardsticks used to judge both.</a:t>
            </a:r>
            <a:endParaRPr lang="en-US" sz="1400" dirty="0"/>
          </a:p>
          <a:p>
            <a:pPr marL="190500" indent="-190500">
              <a:spcAft>
                <a:spcPts val="800"/>
              </a:spcAft>
              <a:buSzPct val="100000"/>
              <a:buChar char="•"/>
            </a:pPr>
            <a:r>
              <a:rPr lang="en-US" sz="1400" dirty="0">
                <a:solidFill>
                  <a:schemeClr val="tx1"/>
                </a:solidFill>
              </a:rPr>
              <a:t>Dashed arrows: results feed back. The long one is people changing their own rules.</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3 · ONE SITUATION IN ITS SETTING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Words on this diagram, in plain language</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Every term on the Figure 2 diagram, translated.</a:t>
            </a:r>
            <a:endParaRPr lang="en-US" sz="1500" dirty="0"/>
          </a:p>
        </p:txBody>
      </p:sp>
      <p:sp>
        <p:nvSpPr>
          <p:cNvPr id="6" name="card IAD framework"/>
          <p:cNvSpPr/>
          <p:nvPr/>
        </p:nvSpPr>
        <p:spPr>
          <a:xfrm>
            <a:off x="548640" y="1828800"/>
            <a:ext cx="5477256" cy="799186"/>
          </a:xfrm>
          <a:prstGeom prst="roundRect">
            <a:avLst>
              <a:gd name="adj" fmla="val 9153"/>
            </a:avLst>
          </a:prstGeom>
          <a:solidFill>
            <a:schemeClr val="bg2"/>
          </a:solidFill>
          <a:ln w="12700">
            <a:solidFill>
              <a:schemeClr val="bg2"/>
            </a:solidFill>
            <a:prstDash val="solid"/>
          </a:ln>
        </p:spPr>
      </p:sp>
      <p:sp>
        <p:nvSpPr>
          <p:cNvPr id="7" name="Text 4"/>
          <p:cNvSpPr txBox="1"/>
          <p:nvPr/>
        </p:nvSpPr>
        <p:spPr>
          <a:xfrm>
            <a:off x="685800" y="1920240"/>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IAD framework</a:t>
            </a:r>
            <a:endParaRPr lang="en-US" sz="1500" dirty="0"/>
          </a:p>
          <a:p>
            <a:pPr indent="0" marL="0">
              <a:spcAft>
                <a:spcPts val="400"/>
              </a:spcAft>
              <a:buNone/>
            </a:pPr>
            <a:r>
              <a:rPr lang="en-US" sz="1400" dirty="0">
                <a:solidFill>
                  <a:schemeClr val="tx1"/>
                </a:solidFill>
              </a:rPr>
              <a:t>Institutional Analysis and Development framework: Ostrom's map for studying how rules shape what people do.</a:t>
            </a:r>
            <a:endParaRPr lang="en-US" sz="1500" dirty="0"/>
          </a:p>
        </p:txBody>
      </p:sp>
      <p:sp>
        <p:nvSpPr>
          <p:cNvPr id="8" name="card Institution"/>
          <p:cNvSpPr/>
          <p:nvPr/>
        </p:nvSpPr>
        <p:spPr>
          <a:xfrm>
            <a:off x="548640" y="2737714"/>
            <a:ext cx="5477256" cy="799186"/>
          </a:xfrm>
          <a:prstGeom prst="roundRect">
            <a:avLst>
              <a:gd name="adj" fmla="val 9153"/>
            </a:avLst>
          </a:prstGeom>
          <a:solidFill>
            <a:schemeClr val="bg2"/>
          </a:solidFill>
          <a:ln w="12700">
            <a:solidFill>
              <a:schemeClr val="bg2"/>
            </a:solidFill>
            <a:prstDash val="solid"/>
          </a:ln>
        </p:spPr>
      </p:sp>
      <p:sp>
        <p:nvSpPr>
          <p:cNvPr id="9" name="Text 6"/>
          <p:cNvSpPr txBox="1"/>
          <p:nvPr/>
        </p:nvSpPr>
        <p:spPr>
          <a:xfrm>
            <a:off x="685800" y="2829154"/>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Institution</a:t>
            </a:r>
            <a:endParaRPr lang="en-US" sz="1500" dirty="0"/>
          </a:p>
          <a:p>
            <a:pPr indent="0" marL="0">
              <a:spcAft>
                <a:spcPts val="400"/>
              </a:spcAft>
              <a:buNone/>
            </a:pPr>
            <a:r>
              <a:rPr lang="en-US" sz="1400" dirty="0">
                <a:solidFill>
                  <a:schemeClr val="tx1"/>
                </a:solidFill>
              </a:rPr>
              <a:t>In Ostrom's sense, not a building or an organization: the rules, norms and shared habits people live by.</a:t>
            </a:r>
            <a:endParaRPr lang="en-US" sz="1500" dirty="0"/>
          </a:p>
        </p:txBody>
      </p:sp>
      <p:sp>
        <p:nvSpPr>
          <p:cNvPr id="10" name="card External variables (also &quot;exogenous&quot;)"/>
          <p:cNvSpPr/>
          <p:nvPr/>
        </p:nvSpPr>
        <p:spPr>
          <a:xfrm>
            <a:off x="548640" y="3646627"/>
            <a:ext cx="5477256" cy="799186"/>
          </a:xfrm>
          <a:prstGeom prst="roundRect">
            <a:avLst>
              <a:gd name="adj" fmla="val 9153"/>
            </a:avLst>
          </a:prstGeom>
          <a:solidFill>
            <a:schemeClr val="bg2"/>
          </a:solidFill>
          <a:ln w="12700">
            <a:solidFill>
              <a:schemeClr val="bg2"/>
            </a:solidFill>
            <a:prstDash val="solid"/>
          </a:ln>
        </p:spPr>
      </p:sp>
      <p:sp>
        <p:nvSpPr>
          <p:cNvPr id="11" name="Text 8"/>
          <p:cNvSpPr txBox="1"/>
          <p:nvPr/>
        </p:nvSpPr>
        <p:spPr>
          <a:xfrm>
            <a:off x="685800" y="3738067"/>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External variables (also "exogenous")</a:t>
            </a:r>
            <a:endParaRPr lang="en-US" sz="1500" dirty="0"/>
          </a:p>
          <a:p>
            <a:pPr indent="0" marL="0">
              <a:spcAft>
                <a:spcPts val="400"/>
              </a:spcAft>
              <a:buNone/>
            </a:pPr>
            <a:r>
              <a:rPr lang="en-US" sz="1400" dirty="0">
                <a:solidFill>
                  <a:schemeClr val="tx1"/>
                </a:solidFill>
              </a:rPr>
              <a:t>Things outside the situation that shape it, which people in the moment cannot change.</a:t>
            </a:r>
            <a:endParaRPr lang="en-US" sz="1500" dirty="0"/>
          </a:p>
        </p:txBody>
      </p:sp>
      <p:sp>
        <p:nvSpPr>
          <p:cNvPr id="12" name="card Biophysical conditions"/>
          <p:cNvSpPr/>
          <p:nvPr/>
        </p:nvSpPr>
        <p:spPr>
          <a:xfrm>
            <a:off x="548640" y="4555541"/>
            <a:ext cx="5477256" cy="799186"/>
          </a:xfrm>
          <a:prstGeom prst="roundRect">
            <a:avLst>
              <a:gd name="adj" fmla="val 9153"/>
            </a:avLst>
          </a:prstGeom>
          <a:solidFill>
            <a:schemeClr val="bg2"/>
          </a:solidFill>
          <a:ln w="12700">
            <a:solidFill>
              <a:schemeClr val="bg2"/>
            </a:solidFill>
            <a:prstDash val="solid"/>
          </a:ln>
        </p:spPr>
      </p:sp>
      <p:sp>
        <p:nvSpPr>
          <p:cNvPr id="13" name="Text 10"/>
          <p:cNvSpPr txBox="1"/>
          <p:nvPr/>
        </p:nvSpPr>
        <p:spPr>
          <a:xfrm>
            <a:off x="685800" y="4646981"/>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Biophysical conditions</a:t>
            </a:r>
            <a:endParaRPr lang="en-US" sz="1500" dirty="0"/>
          </a:p>
          <a:p>
            <a:pPr indent="0" marL="0">
              <a:spcAft>
                <a:spcPts val="400"/>
              </a:spcAft>
              <a:buNone/>
            </a:pPr>
            <a:r>
              <a:rPr lang="en-US" sz="1400" dirty="0">
                <a:solidFill>
                  <a:schemeClr val="tx1"/>
                </a:solidFill>
              </a:rPr>
              <a:t>The physical and natural facts: the water, the soil, the weather, the building.</a:t>
            </a:r>
            <a:endParaRPr lang="en-US" sz="1500" dirty="0"/>
          </a:p>
        </p:txBody>
      </p:sp>
      <p:sp>
        <p:nvSpPr>
          <p:cNvPr id="14" name="card Attributes of community"/>
          <p:cNvSpPr/>
          <p:nvPr/>
        </p:nvSpPr>
        <p:spPr>
          <a:xfrm>
            <a:off x="548640" y="5464454"/>
            <a:ext cx="5477256" cy="799186"/>
          </a:xfrm>
          <a:prstGeom prst="roundRect">
            <a:avLst>
              <a:gd name="adj" fmla="val 9153"/>
            </a:avLst>
          </a:prstGeom>
          <a:solidFill>
            <a:schemeClr val="bg2"/>
          </a:solidFill>
          <a:ln w="12700">
            <a:solidFill>
              <a:schemeClr val="bg2"/>
            </a:solidFill>
            <a:prstDash val="solid"/>
          </a:ln>
        </p:spPr>
      </p:sp>
      <p:sp>
        <p:nvSpPr>
          <p:cNvPr id="15" name="Text 12"/>
          <p:cNvSpPr txBox="1"/>
          <p:nvPr/>
        </p:nvSpPr>
        <p:spPr>
          <a:xfrm>
            <a:off x="685800" y="5555894"/>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Attributes of community</a:t>
            </a:r>
            <a:endParaRPr lang="en-US" sz="1500" dirty="0"/>
          </a:p>
          <a:p>
            <a:pPr indent="0" marL="0">
              <a:spcAft>
                <a:spcPts val="400"/>
              </a:spcAft>
              <a:buNone/>
            </a:pPr>
            <a:r>
              <a:rPr lang="en-US" sz="1400" dirty="0">
                <a:solidFill>
                  <a:schemeClr val="tx1"/>
                </a:solidFill>
              </a:rPr>
              <a:t>Who the people are: their history together, how alike or different they are, what they know, how much they trust.</a:t>
            </a:r>
            <a:endParaRPr lang="en-US" sz="1500" dirty="0"/>
          </a:p>
        </p:txBody>
      </p:sp>
      <p:sp>
        <p:nvSpPr>
          <p:cNvPr id="16" name="card Rules-in-use"/>
          <p:cNvSpPr/>
          <p:nvPr/>
        </p:nvSpPr>
        <p:spPr>
          <a:xfrm>
            <a:off x="6135624" y="1828800"/>
            <a:ext cx="5477256" cy="799186"/>
          </a:xfrm>
          <a:prstGeom prst="roundRect">
            <a:avLst>
              <a:gd name="adj" fmla="val 9153"/>
            </a:avLst>
          </a:prstGeom>
          <a:solidFill>
            <a:schemeClr val="bg2"/>
          </a:solidFill>
          <a:ln w="12700">
            <a:solidFill>
              <a:schemeClr val="bg2"/>
            </a:solidFill>
            <a:prstDash val="solid"/>
          </a:ln>
        </p:spPr>
      </p:sp>
      <p:sp>
        <p:nvSpPr>
          <p:cNvPr id="17" name="Text 14"/>
          <p:cNvSpPr txBox="1"/>
          <p:nvPr/>
        </p:nvSpPr>
        <p:spPr>
          <a:xfrm>
            <a:off x="6272784" y="1920240"/>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Rules-in-use</a:t>
            </a:r>
            <a:endParaRPr lang="en-US" sz="1500" dirty="0"/>
          </a:p>
          <a:p>
            <a:pPr indent="0" marL="0">
              <a:spcAft>
                <a:spcPts val="400"/>
              </a:spcAft>
              <a:buNone/>
            </a:pPr>
            <a:r>
              <a:rPr lang="en-US" sz="1400" dirty="0">
                <a:solidFill>
                  <a:schemeClr val="tx1"/>
                </a:solidFill>
              </a:rPr>
              <a:t>The rules people actually follow, which may differ from what is written down.</a:t>
            </a:r>
            <a:endParaRPr lang="en-US" sz="1500" dirty="0"/>
          </a:p>
        </p:txBody>
      </p:sp>
      <p:sp>
        <p:nvSpPr>
          <p:cNvPr id="18" name="card Action situation(s)"/>
          <p:cNvSpPr/>
          <p:nvPr/>
        </p:nvSpPr>
        <p:spPr>
          <a:xfrm>
            <a:off x="6135624" y="2737714"/>
            <a:ext cx="5477256" cy="799186"/>
          </a:xfrm>
          <a:prstGeom prst="roundRect">
            <a:avLst>
              <a:gd name="adj" fmla="val 9153"/>
            </a:avLst>
          </a:prstGeom>
          <a:solidFill>
            <a:schemeClr val="bg2"/>
          </a:solidFill>
          <a:ln w="12700">
            <a:solidFill>
              <a:schemeClr val="bg2"/>
            </a:solidFill>
            <a:prstDash val="solid"/>
          </a:ln>
        </p:spPr>
      </p:sp>
      <p:sp>
        <p:nvSpPr>
          <p:cNvPr id="19" name="Text 16"/>
          <p:cNvSpPr txBox="1"/>
          <p:nvPr/>
        </p:nvSpPr>
        <p:spPr>
          <a:xfrm>
            <a:off x="6272784" y="2829154"/>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Action situation(s)</a:t>
            </a:r>
            <a:endParaRPr lang="en-US" sz="1500" dirty="0"/>
          </a:p>
          <a:p>
            <a:pPr indent="0" marL="0">
              <a:spcAft>
                <a:spcPts val="400"/>
              </a:spcAft>
              <a:buNone/>
            </a:pPr>
            <a:r>
              <a:rPr lang="en-US" sz="1400" dirty="0">
                <a:solidFill>
                  <a:schemeClr val="tx1"/>
                </a:solidFill>
              </a:rPr>
              <a:t>Any setting where people meet and choose things that affect each other: a meeting, watering day, a market.</a:t>
            </a:r>
            <a:endParaRPr lang="en-US" sz="1500" dirty="0"/>
          </a:p>
        </p:txBody>
      </p:sp>
      <p:sp>
        <p:nvSpPr>
          <p:cNvPr id="20" name="card Interactions and outcomes"/>
          <p:cNvSpPr/>
          <p:nvPr/>
        </p:nvSpPr>
        <p:spPr>
          <a:xfrm>
            <a:off x="6135624" y="3646627"/>
            <a:ext cx="5477256" cy="799186"/>
          </a:xfrm>
          <a:prstGeom prst="roundRect">
            <a:avLst>
              <a:gd name="adj" fmla="val 9153"/>
            </a:avLst>
          </a:prstGeom>
          <a:solidFill>
            <a:schemeClr val="bg2"/>
          </a:solidFill>
          <a:ln w="12700">
            <a:solidFill>
              <a:schemeClr val="bg2"/>
            </a:solidFill>
            <a:prstDash val="solid"/>
          </a:ln>
        </p:spPr>
      </p:sp>
      <p:sp>
        <p:nvSpPr>
          <p:cNvPr id="21" name="Text 18"/>
          <p:cNvSpPr txBox="1"/>
          <p:nvPr/>
        </p:nvSpPr>
        <p:spPr>
          <a:xfrm>
            <a:off x="6272784" y="3738067"/>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Interactions and outcomes</a:t>
            </a:r>
            <a:endParaRPr lang="en-US" sz="1500" dirty="0"/>
          </a:p>
          <a:p>
            <a:pPr indent="0" marL="0">
              <a:spcAft>
                <a:spcPts val="400"/>
              </a:spcAft>
              <a:buNone/>
            </a:pPr>
            <a:r>
              <a:rPr lang="en-US" sz="1400" dirty="0">
                <a:solidFill>
                  <a:schemeClr val="tx1"/>
                </a:solidFill>
              </a:rPr>
              <a:t>What people actually do, and what results from it.</a:t>
            </a:r>
            <a:endParaRPr lang="en-US" sz="1500" dirty="0"/>
          </a:p>
        </p:txBody>
      </p:sp>
      <p:sp>
        <p:nvSpPr>
          <p:cNvPr id="22" name="card Evaluative criteria"/>
          <p:cNvSpPr/>
          <p:nvPr/>
        </p:nvSpPr>
        <p:spPr>
          <a:xfrm>
            <a:off x="6135624" y="4555541"/>
            <a:ext cx="5477256" cy="799186"/>
          </a:xfrm>
          <a:prstGeom prst="roundRect">
            <a:avLst>
              <a:gd name="adj" fmla="val 9153"/>
            </a:avLst>
          </a:prstGeom>
          <a:solidFill>
            <a:schemeClr val="bg2"/>
          </a:solidFill>
          <a:ln w="12700">
            <a:solidFill>
              <a:schemeClr val="bg2"/>
            </a:solidFill>
            <a:prstDash val="solid"/>
          </a:ln>
        </p:spPr>
      </p:sp>
      <p:sp>
        <p:nvSpPr>
          <p:cNvPr id="23" name="Text 20"/>
          <p:cNvSpPr txBox="1"/>
          <p:nvPr/>
        </p:nvSpPr>
        <p:spPr>
          <a:xfrm>
            <a:off x="6272784" y="4646981"/>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Evaluative criteria</a:t>
            </a:r>
            <a:endParaRPr lang="en-US" sz="1500" dirty="0"/>
          </a:p>
          <a:p>
            <a:pPr indent="0" marL="0">
              <a:spcAft>
                <a:spcPts val="400"/>
              </a:spcAft>
              <a:buNone/>
            </a:pPr>
            <a:r>
              <a:rPr lang="en-US" sz="1400" dirty="0">
                <a:solidFill>
                  <a:schemeClr val="tx1"/>
                </a:solidFill>
              </a:rPr>
              <a:t>The yardsticks for judging results: Is it fair? Efficient? Accountable? Will it last?</a:t>
            </a:r>
            <a:endParaRPr lang="en-US" sz="1500" dirty="0"/>
          </a:p>
        </p:txBody>
      </p:sp>
      <p:sp>
        <p:nvSpPr>
          <p:cNvPr id="24" name="card Feedback (dashed arrows)"/>
          <p:cNvSpPr/>
          <p:nvPr/>
        </p:nvSpPr>
        <p:spPr>
          <a:xfrm>
            <a:off x="6135624" y="5464454"/>
            <a:ext cx="5477256" cy="799186"/>
          </a:xfrm>
          <a:prstGeom prst="roundRect">
            <a:avLst>
              <a:gd name="adj" fmla="val 9153"/>
            </a:avLst>
          </a:prstGeom>
          <a:solidFill>
            <a:schemeClr val="bg2"/>
          </a:solidFill>
          <a:ln w="12700">
            <a:solidFill>
              <a:schemeClr val="bg2"/>
            </a:solidFill>
            <a:prstDash val="solid"/>
          </a:ln>
        </p:spPr>
      </p:sp>
      <p:sp>
        <p:nvSpPr>
          <p:cNvPr id="25" name="Text 22"/>
          <p:cNvSpPr txBox="1"/>
          <p:nvPr/>
        </p:nvSpPr>
        <p:spPr>
          <a:xfrm>
            <a:off x="6272784" y="5555894"/>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Feedback (dashed arrows)</a:t>
            </a:r>
            <a:endParaRPr lang="en-US" sz="1500" dirty="0"/>
          </a:p>
          <a:p>
            <a:pPr indent="0" marL="0">
              <a:spcAft>
                <a:spcPts val="400"/>
              </a:spcAft>
              <a:buNone/>
            </a:pPr>
            <a:r>
              <a:rPr lang="en-US" sz="1400" dirty="0">
                <a:solidFill>
                  <a:schemeClr val="tx1"/>
                </a:solidFill>
              </a:rPr>
              <a:t>Results loop back and change the situation, and sometimes the rules themselves.</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3 · ONE SITUATION IN ITS SETTING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Rules on paper and rules in use</a:t>
            </a:r>
            <a:endParaRPr lang="en-US" sz="3200" dirty="0"/>
          </a:p>
        </p:txBody>
      </p:sp>
      <p:sp>
        <p:nvSpPr>
          <p:cNvPr id="5" name="card Rules on paper (the bylaw)"/>
          <p:cNvSpPr/>
          <p:nvPr/>
        </p:nvSpPr>
        <p:spPr>
          <a:xfrm>
            <a:off x="548640" y="1463040"/>
            <a:ext cx="5440680" cy="3108960"/>
          </a:xfrm>
          <a:prstGeom prst="roundRect">
            <a:avLst>
              <a:gd name="adj" fmla="val 2353"/>
            </a:avLst>
          </a:prstGeom>
          <a:solidFill>
            <a:srgbClr val="ECEEEC"/>
          </a:solidFill>
          <a:ln w="12700">
            <a:solidFill>
              <a:srgbClr val="ECEEEC"/>
            </a:solidFill>
            <a:prstDash val="solid"/>
          </a:ln>
        </p:spPr>
      </p:sp>
      <p:sp>
        <p:nvSpPr>
          <p:cNvPr id="6" name="Text 3"/>
          <p:cNvSpPr txBox="1"/>
          <p:nvPr/>
        </p:nvSpPr>
        <p:spPr>
          <a:xfrm>
            <a:off x="685800" y="1554480"/>
            <a:ext cx="5166360" cy="29260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Rules on paper (the bylaw)</a:t>
            </a:r>
            <a:endParaRPr lang="en-US" sz="1800" dirty="0"/>
          </a:p>
          <a:p>
            <a:pPr indent="0" marL="0">
              <a:spcAft>
                <a:spcPts val="400"/>
              </a:spcAft>
              <a:buNone/>
            </a:pPr>
            <a:r>
              <a:rPr lang="en-US" sz="1600" dirty="0">
                <a:solidFill>
                  <a:schemeClr val="tx1"/>
                </a:solidFill>
              </a:rPr>
              <a:t>Water only on your assigned day.</a:t>
            </a:r>
            <a:endParaRPr lang="en-US" sz="1800" dirty="0"/>
          </a:p>
          <a:p>
            <a:pPr indent="0" marL="0">
              <a:spcAft>
                <a:spcPts val="400"/>
              </a:spcAft>
              <a:buNone/>
            </a:pPr>
            <a:endParaRPr lang="en-US" sz="1800" dirty="0"/>
          </a:p>
          <a:p>
            <a:pPr indent="0" marL="0">
              <a:spcAft>
                <a:spcPts val="400"/>
              </a:spcAft>
              <a:buNone/>
            </a:pPr>
            <a:r>
              <a:rPr lang="en-US" sz="1600" dirty="0">
                <a:solidFill>
                  <a:schemeClr val="tx1"/>
                </a:solidFill>
              </a:rPr>
              <a:t>No sprinklers when the tank is below half.</a:t>
            </a:r>
            <a:endParaRPr lang="en-US" sz="1800" dirty="0"/>
          </a:p>
          <a:p>
            <a:pPr indent="0" marL="0">
              <a:spcAft>
                <a:spcPts val="400"/>
              </a:spcAft>
              <a:buNone/>
            </a:pPr>
            <a:endParaRPr lang="en-US" sz="1800" dirty="0"/>
          </a:p>
          <a:p>
            <a:pPr indent="0" marL="0">
              <a:spcAft>
                <a:spcPts val="400"/>
              </a:spcAft>
              <a:buNone/>
            </a:pPr>
            <a:r>
              <a:rPr lang="en-US" sz="1600" dirty="0">
                <a:solidFill>
                  <a:schemeClr val="tx1"/>
                </a:solidFill>
              </a:rPr>
              <a:t>The water keeper suspends anyone who breaks the rules.</a:t>
            </a:r>
            <a:endParaRPr lang="en-US" sz="1800" dirty="0"/>
          </a:p>
        </p:txBody>
      </p:sp>
      <p:sp>
        <p:nvSpPr>
          <p:cNvPr id="7" name="card Rules in use (what people do)"/>
          <p:cNvSpPr/>
          <p:nvPr/>
        </p:nvSpPr>
        <p:spPr>
          <a:xfrm>
            <a:off x="6172200" y="1463040"/>
            <a:ext cx="5440680" cy="3108960"/>
          </a:xfrm>
          <a:prstGeom prst="roundRect">
            <a:avLst>
              <a:gd name="adj" fmla="val 2353"/>
            </a:avLst>
          </a:prstGeom>
          <a:solidFill>
            <a:schemeClr val="bg2"/>
          </a:solidFill>
          <a:ln w="12700">
            <a:solidFill>
              <a:schemeClr val="bg2"/>
            </a:solidFill>
            <a:prstDash val="solid"/>
          </a:ln>
        </p:spPr>
      </p:sp>
      <p:sp>
        <p:nvSpPr>
          <p:cNvPr id="8" name="Text 5"/>
          <p:cNvSpPr txBox="1"/>
          <p:nvPr/>
        </p:nvSpPr>
        <p:spPr>
          <a:xfrm>
            <a:off x="6309360" y="1554480"/>
            <a:ext cx="5166360" cy="29260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Rules in use (what people do)</a:t>
            </a:r>
            <a:endParaRPr lang="en-US" sz="1800" dirty="0"/>
          </a:p>
          <a:p>
            <a:pPr indent="0" marL="0">
              <a:spcAft>
                <a:spcPts val="400"/>
              </a:spcAft>
              <a:buNone/>
            </a:pPr>
            <a:r>
              <a:rPr lang="en-US" sz="1600" dirty="0">
                <a:solidFill>
                  <a:schemeClr val="tx1"/>
                </a:solidFill>
              </a:rPr>
              <a:t>Early risers water any day; nobody minds.</a:t>
            </a:r>
            <a:endParaRPr lang="en-US" sz="1800" dirty="0"/>
          </a:p>
          <a:p>
            <a:pPr indent="0" marL="0">
              <a:spcAft>
                <a:spcPts val="400"/>
              </a:spcAft>
              <a:buNone/>
            </a:pPr>
            <a:endParaRPr lang="en-US" sz="1800" dirty="0"/>
          </a:p>
          <a:p>
            <a:pPr indent="0" marL="0">
              <a:spcAft>
                <a:spcPts val="400"/>
              </a:spcAft>
              <a:buNone/>
            </a:pPr>
            <a:r>
              <a:rPr lang="en-US" sz="1600" dirty="0">
                <a:solidFill>
                  <a:schemeClr val="tx1"/>
                </a:solidFill>
              </a:rPr>
              <a:t>Nobody reads the tank, so "below half" never triggers.</a:t>
            </a:r>
            <a:endParaRPr lang="en-US" sz="1800" dirty="0"/>
          </a:p>
          <a:p>
            <a:pPr indent="0" marL="0">
              <a:spcAft>
                <a:spcPts val="400"/>
              </a:spcAft>
              <a:buNone/>
            </a:pPr>
            <a:endParaRPr lang="en-US" sz="1800" dirty="0"/>
          </a:p>
          <a:p>
            <a:pPr indent="0" marL="0">
              <a:spcAft>
                <a:spcPts val="400"/>
              </a:spcAft>
              <a:buNone/>
            </a:pPr>
            <a:r>
              <a:rPr lang="en-US" sz="1600" dirty="0">
                <a:solidFill>
                  <a:schemeClr val="tx1"/>
                </a:solidFill>
              </a:rPr>
              <a:t>The keeper has never suspended anyone; a quiet word works.</a:t>
            </a:r>
            <a:endParaRPr lang="en-US" sz="1800" dirty="0"/>
          </a:p>
        </p:txBody>
      </p:sp>
      <p:sp>
        <p:nvSpPr>
          <p:cNvPr id="9" name="Text 6"/>
          <p:cNvSpPr txBox="1"/>
          <p:nvPr/>
        </p:nvSpPr>
        <p:spPr>
          <a:xfrm>
            <a:off x="548640" y="4846320"/>
            <a:ext cx="11064240" cy="137160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The gap between the two is the subject. A rule nobody follows has drifted. A habit everybody follows is a rule nobody wrote down. Both are found only by watching, asking, and keeping records over time.</a:t>
            </a:r>
            <a:endParaRPr lang="en-US" sz="17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nchor="b"/>
          <a:lstStyle/>
          <a:p>
            <a:pPr indent="0" marL="0">
              <a:buNone/>
            </a:pPr>
            <a:r>
              <a:rPr lang="en-US" sz="4000" b="1" dirty="0">
                <a:solidFill>
                  <a:schemeClr val="bg1"/>
                </a:solidFill>
              </a:rPr>
              <a:t>Layers of decision</a:t>
            </a: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nchor="t"/>
          <a:lstStyle/>
          <a:p>
            <a:pPr indent="0" marL="0">
              <a:buNone/>
            </a:pPr>
            <a:r>
              <a:rPr lang="en-US" sz="1800" dirty="0">
                <a:solidFill>
                  <a:schemeClr val="bg2"/>
                </a:solidFill>
              </a:rPr>
              <a:t>Rules come from somewhere. Each layer decides the rules for the layer below it.</a:t>
            </a:r>
            <a:endParaRPr lang="en-US" sz="1800" dirty="0"/>
          </a:p>
        </p:txBody>
      </p:sp>
      <p:sp>
        <p:nvSpPr>
          <p:cNvPr id="4" name="Text 2"/>
          <p:cNvSpPr txBox="1"/>
          <p:nvPr/>
        </p:nvSpPr>
        <p:spPr>
          <a:xfrm>
            <a:off x="7223760" y="411480"/>
            <a:ext cx="4297680" cy="365760"/>
          </a:xfrm>
          <a:prstGeom prst="rect">
            <a:avLst/>
          </a:prstGeom>
          <a:noFill/>
          <a:ln/>
        </p:spPr>
        <p:txBody>
          <a:bodyPr wrap="square" lIns="0" tIns="0" rIns="0" bIns="0" rtlCol="0" anchor="ctr"/>
          <a:lstStyle/>
          <a:p>
            <a:pPr indent="0" marL="0">
              <a:buNone/>
            </a:pPr>
            <a:r>
              <a:rPr lang="en-US" sz="1200" b="1" spc="200" kern="0" dirty="0">
                <a:solidFill>
                  <a:schemeClr val="accent2"/>
                </a:solidFill>
              </a:rPr>
              <a:t>ZOOMING IN</a:t>
            </a:r>
            <a:endParaRPr lang="en-US" sz="1200" dirty="0"/>
          </a:p>
        </p:txBody>
      </p:sp>
      <p:sp>
        <p:nvSpPr>
          <p:cNvPr id="5" name="rung 1"/>
          <p:cNvSpPr/>
          <p:nvPr/>
        </p:nvSpPr>
        <p:spPr>
          <a:xfrm>
            <a:off x="7223760" y="914400"/>
            <a:ext cx="429768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1   The whole system</a:t>
            </a:r>
            <a:endParaRPr lang="en-US" sz="1500" dirty="0"/>
          </a:p>
        </p:txBody>
      </p:sp>
      <p:sp>
        <p:nvSpPr>
          <p:cNvPr id="6" name="rung 2"/>
          <p:cNvSpPr/>
          <p:nvPr/>
        </p:nvSpPr>
        <p:spPr>
          <a:xfrm>
            <a:off x="7333488" y="1444752"/>
            <a:ext cx="418795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2   What we share</a:t>
            </a:r>
            <a:endParaRPr lang="en-US" sz="1500" dirty="0"/>
          </a:p>
        </p:txBody>
      </p:sp>
      <p:sp>
        <p:nvSpPr>
          <p:cNvPr id="7" name="rung 3"/>
          <p:cNvSpPr/>
          <p:nvPr/>
        </p:nvSpPr>
        <p:spPr>
          <a:xfrm>
            <a:off x="7443216" y="1975104"/>
            <a:ext cx="407822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3   One situation in its setting</a:t>
            </a:r>
            <a:endParaRPr lang="en-US" sz="1500" dirty="0"/>
          </a:p>
        </p:txBody>
      </p:sp>
      <p:sp>
        <p:nvSpPr>
          <p:cNvPr id="8" name="rung 4"/>
          <p:cNvSpPr/>
          <p:nvPr/>
        </p:nvSpPr>
        <p:spPr>
          <a:xfrm>
            <a:off x="7552944" y="2505456"/>
            <a:ext cx="3968496" cy="457200"/>
          </a:xfrm>
          <a:prstGeom prst="roundRect">
            <a:avLst>
              <a:gd name="adj" fmla="val 16000"/>
            </a:avLst>
          </a:prstGeom>
          <a:solidFill>
            <a:schemeClr val="accent2"/>
          </a:solidFill>
          <a:ln w="9525">
            <a:solidFill>
              <a:schemeClr val="accent2"/>
            </a:solidFill>
          </a:ln>
        </p:spPr>
        <p:txBody>
          <a:bodyPr wrap="square" lIns="0" tIns="152400" rIns="127000" bIns="0" rtlCol="0" anchor="ctr"/>
          <a:lstStyle/>
          <a:p>
            <a:pPr indent="0" marL="0">
              <a:buNone/>
            </a:pPr>
            <a:r>
              <a:rPr lang="en-US" sz="1500" b="1" dirty="0">
                <a:solidFill>
                  <a:schemeClr val="tx2"/>
                </a:solidFill>
              </a:rPr>
              <a:t>4   Layers of decision</a:t>
            </a:r>
            <a:endParaRPr lang="en-US" sz="1500" dirty="0"/>
          </a:p>
        </p:txBody>
      </p:sp>
      <p:sp>
        <p:nvSpPr>
          <p:cNvPr id="9" name="rung 5"/>
          <p:cNvSpPr/>
          <p:nvPr/>
        </p:nvSpPr>
        <p:spPr>
          <a:xfrm>
            <a:off x="7662672" y="3035808"/>
            <a:ext cx="3858768"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5   Inside one situation</a:t>
            </a:r>
            <a:endParaRPr lang="en-US" sz="1500" dirty="0"/>
          </a:p>
        </p:txBody>
      </p:sp>
      <p:sp>
        <p:nvSpPr>
          <p:cNvPr id="10" name="rung 6"/>
          <p:cNvSpPr/>
          <p:nvPr/>
        </p:nvSpPr>
        <p:spPr>
          <a:xfrm>
            <a:off x="7772400" y="3566160"/>
            <a:ext cx="374904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6   The rules that shape it</a:t>
            </a:r>
            <a:endParaRPr lang="en-US" sz="1500" dirty="0"/>
          </a:p>
        </p:txBody>
      </p:sp>
      <p:sp>
        <p:nvSpPr>
          <p:cNvPr id="11" name="rung 7"/>
          <p:cNvSpPr/>
          <p:nvPr/>
        </p:nvSpPr>
        <p:spPr>
          <a:xfrm>
            <a:off x="7882128" y="4096512"/>
            <a:ext cx="363931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7   What lasting rules share</a:t>
            </a:r>
            <a:endParaRPr lang="en-US" sz="1500" dirty="0"/>
          </a:p>
        </p:txBody>
      </p:sp>
      <p:sp>
        <p:nvSpPr>
          <p:cNvPr id="12" name="rung 8"/>
          <p:cNvSpPr/>
          <p:nvPr/>
        </p:nvSpPr>
        <p:spPr>
          <a:xfrm>
            <a:off x="7991856" y="4626864"/>
            <a:ext cx="352958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8   One sentence of a rule</a:t>
            </a:r>
            <a:endParaRPr lang="en-US" sz="1500" dirty="0"/>
          </a:p>
        </p:txBody>
      </p:sp>
      <p:sp>
        <p:nvSpPr>
          <p:cNvPr id="13" name="rung 9"/>
          <p:cNvSpPr/>
          <p:nvPr/>
        </p:nvSpPr>
        <p:spPr>
          <a:xfrm>
            <a:off x="8101584" y="5157216"/>
            <a:ext cx="341985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9   One person deciding</a:t>
            </a:r>
            <a:endParaRPr lang="en-US" sz="1500" dirty="0"/>
          </a:p>
        </p:txBody>
      </p:sp>
      <p:sp>
        <p:nvSpPr>
          <p:cNvPr id="14" name="Text 12"/>
          <p:cNvSpPr txBox="1"/>
          <p:nvPr/>
        </p:nvSpPr>
        <p:spPr>
          <a:xfrm>
            <a:off x="9601200" y="566928"/>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largest scale</a:t>
            </a:r>
            <a:endParaRPr lang="en-US" sz="1100" dirty="0"/>
          </a:p>
        </p:txBody>
      </p:sp>
      <p:sp>
        <p:nvSpPr>
          <p:cNvPr id="15" name="Text 13"/>
          <p:cNvSpPr txBox="1"/>
          <p:nvPr/>
        </p:nvSpPr>
        <p:spPr>
          <a:xfrm>
            <a:off x="9601200" y="5669280"/>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smallest scale</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4 · LAYERS OF DECISION</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Each level decides the rules for the level below</a:t>
            </a:r>
            <a:endParaRPr lang="en-US" sz="3200" dirty="0"/>
          </a:p>
        </p:txBody>
      </p:sp>
      <p:pic>
        <p:nvPicPr>
          <p:cNvPr id="5" name="Image 0" descr="Each level decides the rules for the level below">    </p:cNvPr>
          <p:cNvPicPr>
            <a:picLocks noChangeAspect="1"/>
          </p:cNvPicPr>
          <p:nvPr/>
        </p:nvPicPr>
        <p:blipFill>
          <a:blip r:embed="rId1"/>
          <a:stretch>
            <a:fillRect/>
          </a:stretch>
        </p:blipFill>
        <p:spPr>
          <a:xfrm>
            <a:off x="1407237" y="1417320"/>
            <a:ext cx="5689445" cy="4709160"/>
          </a:xfrm>
          <a:prstGeom prst="rect">
            <a:avLst/>
          </a:prstGeom>
        </p:spPr>
      </p:pic>
      <p:sp>
        <p:nvSpPr>
          <p:cNvPr id="6" name="Text 2"/>
          <p:cNvSpPr txBox="1"/>
          <p:nvPr/>
        </p:nvSpPr>
        <p:spPr>
          <a:xfrm>
            <a:off x="1407237" y="6172200"/>
            <a:ext cx="5689445" cy="274320"/>
          </a:xfrm>
          <a:prstGeom prst="rect">
            <a:avLst/>
          </a:prstGeom>
          <a:noFill/>
          <a:ln/>
        </p:spPr>
        <p:txBody>
          <a:bodyPr wrap="square" lIns="0" tIns="0" rIns="0" bIns="0" rtlCol="0" anchor="ctr"/>
          <a:lstStyle/>
          <a:p>
            <a:pPr indent="0" marL="0">
              <a:buNone/>
            </a:pPr>
            <a:r>
              <a:rPr lang="en-US" sz="1000" i="1" dirty="0">
                <a:solidFill>
                  <a:srgbClr val="5B6B60"/>
                </a:solidFill>
              </a:rPr>
              <a:t>Added panel, after Kiser and Ostrom 1982 and Ostrom 2005; not a lecture figure</a:t>
            </a:r>
            <a:endParaRPr lang="en-US" sz="1000" dirty="0"/>
          </a:p>
        </p:txBody>
      </p:sp>
      <p:sp>
        <p:nvSpPr>
          <p:cNvPr id="7" name="reading panel"/>
          <p:cNvSpPr/>
          <p:nvPr/>
        </p:nvSpPr>
        <p:spPr>
          <a:xfrm>
            <a:off x="8321040" y="1417320"/>
            <a:ext cx="3429000" cy="4846320"/>
          </a:xfrm>
          <a:prstGeom prst="roundRect">
            <a:avLst>
              <a:gd name="adj" fmla="val 2133"/>
            </a:avLst>
          </a:prstGeom>
          <a:solidFill>
            <a:schemeClr val="bg2"/>
          </a:solidFill>
          <a:ln w="12700">
            <a:solidFill>
              <a:schemeClr val="bg2"/>
            </a:solidFill>
            <a:prstDash val="solid"/>
          </a:ln>
        </p:spPr>
      </p:sp>
      <p:sp>
        <p:nvSpPr>
          <p:cNvPr id="8" name="Text 4"/>
          <p:cNvSpPr txBox="1"/>
          <p:nvPr/>
        </p:nvSpPr>
        <p:spPr>
          <a:xfrm>
            <a:off x="8503920" y="1554480"/>
            <a:ext cx="31089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HOW TO READ IT</a:t>
            </a:r>
            <a:endParaRPr lang="en-US" sz="1200" dirty="0"/>
          </a:p>
        </p:txBody>
      </p:sp>
      <p:sp>
        <p:nvSpPr>
          <p:cNvPr id="9" name="Text 5"/>
          <p:cNvSpPr txBox="1"/>
          <p:nvPr/>
        </p:nvSpPr>
        <p:spPr>
          <a:xfrm>
            <a:off x="8503920" y="1920240"/>
            <a:ext cx="3108960" cy="4251960"/>
          </a:xfrm>
          <a:prstGeom prst="rect">
            <a:avLst/>
          </a:prstGeom>
          <a:noFill/>
          <a:ln/>
        </p:spPr>
        <p:txBody>
          <a:bodyPr wrap="square" lIns="0" tIns="0" rIns="0" bIns="0" rtlCol="0" anchor="t"/>
          <a:lstStyle/>
          <a:p>
            <a:pPr marL="190500" indent="-190500">
              <a:spcAft>
                <a:spcPts val="800"/>
              </a:spcAft>
              <a:buSzPct val="100000"/>
              <a:buChar char="•"/>
            </a:pPr>
            <a:r>
              <a:rPr lang="en-US" sz="1400" dirty="0">
                <a:solidFill>
                  <a:schemeClr val="tx1"/>
                </a:solidFill>
              </a:rPr>
              <a:t>Read down: what is decided at each level becomes the working rules of the next one.</a:t>
            </a:r>
            <a:endParaRPr lang="en-US" sz="1400" dirty="0"/>
          </a:p>
          <a:p>
            <a:pPr marL="190500" indent="-190500">
              <a:spcAft>
                <a:spcPts val="800"/>
              </a:spcAft>
              <a:buSzPct val="100000"/>
              <a:buChar char="•"/>
            </a:pPr>
            <a:r>
              <a:rPr lang="en-US" sz="1400" dirty="0">
                <a:solidFill>
                  <a:schemeClr val="tx1"/>
                </a:solidFill>
              </a:rPr>
              <a:t>Read up: people see results in the world and take them to the level that can change the rule.</a:t>
            </a:r>
            <a:endParaRPr lang="en-US" sz="1400" dirty="0"/>
          </a:p>
          <a:p>
            <a:pPr marL="190500" indent="-190500">
              <a:spcAft>
                <a:spcPts val="800"/>
              </a:spcAft>
              <a:buSzPct val="100000"/>
              <a:buChar char="•"/>
            </a:pPr>
            <a:r>
              <a:rPr lang="en-US" sz="1400" dirty="0">
                <a:solidFill>
                  <a:schemeClr val="tx1"/>
                </a:solidFill>
              </a:rPr>
              <a:t>The higher the level, the fewer the decisions, and the more each one changes.</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4 · LAYERS OF DECISION</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Words on this diagram, in plain language</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Every term on the levels drawing, translated.</a:t>
            </a:r>
            <a:endParaRPr lang="en-US" sz="1500" dirty="0"/>
          </a:p>
        </p:txBody>
      </p:sp>
      <p:sp>
        <p:nvSpPr>
          <p:cNvPr id="6" name="card Levels of action"/>
          <p:cNvSpPr/>
          <p:nvPr/>
        </p:nvSpPr>
        <p:spPr>
          <a:xfrm>
            <a:off x="548640" y="1828800"/>
            <a:ext cx="5477256" cy="1026414"/>
          </a:xfrm>
          <a:prstGeom prst="roundRect">
            <a:avLst>
              <a:gd name="adj" fmla="val 7127"/>
            </a:avLst>
          </a:prstGeom>
          <a:solidFill>
            <a:schemeClr val="bg2"/>
          </a:solidFill>
          <a:ln w="12700">
            <a:solidFill>
              <a:schemeClr val="bg2"/>
            </a:solidFill>
            <a:prstDash val="solid"/>
          </a:ln>
        </p:spPr>
      </p:sp>
      <p:sp>
        <p:nvSpPr>
          <p:cNvPr id="7" name="Text 4"/>
          <p:cNvSpPr txBox="1"/>
          <p:nvPr/>
        </p:nvSpPr>
        <p:spPr>
          <a:xfrm>
            <a:off x="685800"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Levels of action</a:t>
            </a:r>
            <a:endParaRPr lang="en-US" sz="1500" dirty="0"/>
          </a:p>
          <a:p>
            <a:pPr indent="0" marL="0">
              <a:spcAft>
                <a:spcPts val="400"/>
              </a:spcAft>
              <a:buNone/>
            </a:pPr>
            <a:r>
              <a:rPr lang="en-US" sz="1400" dirty="0">
                <a:solidFill>
                  <a:schemeClr val="tx1"/>
                </a:solidFill>
              </a:rPr>
              <a:t>Layers of decision making. Each layer decides the rules for the layer below it.</a:t>
            </a:r>
            <a:endParaRPr lang="en-US" sz="1500" dirty="0"/>
          </a:p>
        </p:txBody>
      </p:sp>
      <p:sp>
        <p:nvSpPr>
          <p:cNvPr id="8" name="card Operational"/>
          <p:cNvSpPr/>
          <p:nvPr/>
        </p:nvSpPr>
        <p:spPr>
          <a:xfrm>
            <a:off x="548640" y="2964942"/>
            <a:ext cx="5477256" cy="1026414"/>
          </a:xfrm>
          <a:prstGeom prst="roundRect">
            <a:avLst>
              <a:gd name="adj" fmla="val 7127"/>
            </a:avLst>
          </a:prstGeom>
          <a:solidFill>
            <a:schemeClr val="bg2"/>
          </a:solidFill>
          <a:ln w="12700">
            <a:solidFill>
              <a:schemeClr val="bg2"/>
            </a:solidFill>
            <a:prstDash val="solid"/>
          </a:ln>
        </p:spPr>
      </p:sp>
      <p:sp>
        <p:nvSpPr>
          <p:cNvPr id="9" name="Text 6"/>
          <p:cNvSpPr txBox="1"/>
          <p:nvPr/>
        </p:nvSpPr>
        <p:spPr>
          <a:xfrm>
            <a:off x="685800"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Operational</a:t>
            </a:r>
            <a:endParaRPr lang="en-US" sz="1500" dirty="0"/>
          </a:p>
          <a:p>
            <a:pPr indent="0" marL="0">
              <a:spcAft>
                <a:spcPts val="400"/>
              </a:spcAft>
              <a:buNone/>
            </a:pPr>
            <a:r>
              <a:rPr lang="en-US" sz="1400" dirty="0">
                <a:solidFill>
                  <a:schemeClr val="tx1"/>
                </a:solidFill>
              </a:rPr>
              <a:t>Day-to-day doing: watering, harvesting, paying, watching, applying a penalty.</a:t>
            </a:r>
            <a:endParaRPr lang="en-US" sz="1500" dirty="0"/>
          </a:p>
        </p:txBody>
      </p:sp>
      <p:sp>
        <p:nvSpPr>
          <p:cNvPr id="10" name="card Collective choice"/>
          <p:cNvSpPr/>
          <p:nvPr/>
        </p:nvSpPr>
        <p:spPr>
          <a:xfrm>
            <a:off x="548640" y="4101084"/>
            <a:ext cx="5477256" cy="1026414"/>
          </a:xfrm>
          <a:prstGeom prst="roundRect">
            <a:avLst>
              <a:gd name="adj" fmla="val 7127"/>
            </a:avLst>
          </a:prstGeom>
          <a:solidFill>
            <a:schemeClr val="bg2"/>
          </a:solidFill>
          <a:ln w="12700">
            <a:solidFill>
              <a:schemeClr val="bg2"/>
            </a:solidFill>
            <a:prstDash val="solid"/>
          </a:ln>
        </p:spPr>
      </p:sp>
      <p:sp>
        <p:nvSpPr>
          <p:cNvPr id="11" name="Text 8"/>
          <p:cNvSpPr txBox="1"/>
          <p:nvPr/>
        </p:nvSpPr>
        <p:spPr>
          <a:xfrm>
            <a:off x="685800"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Collective choice</a:t>
            </a:r>
            <a:endParaRPr lang="en-US" sz="1500" dirty="0"/>
          </a:p>
          <a:p>
            <a:pPr indent="0" marL="0">
              <a:spcAft>
                <a:spcPts val="400"/>
              </a:spcAft>
              <a:buNone/>
            </a:pPr>
            <a:r>
              <a:rPr lang="en-US" sz="1400" dirty="0">
                <a:solidFill>
                  <a:schemeClr val="tx1"/>
                </a:solidFill>
              </a:rPr>
              <a:t>Making and changing the everyday rules: a meeting votes to change the watering days.</a:t>
            </a:r>
            <a:endParaRPr lang="en-US" sz="1500" dirty="0"/>
          </a:p>
        </p:txBody>
      </p:sp>
      <p:sp>
        <p:nvSpPr>
          <p:cNvPr id="12" name="card Constitutional"/>
          <p:cNvSpPr/>
          <p:nvPr/>
        </p:nvSpPr>
        <p:spPr>
          <a:xfrm>
            <a:off x="548640" y="5237226"/>
            <a:ext cx="5477256" cy="1026414"/>
          </a:xfrm>
          <a:prstGeom prst="roundRect">
            <a:avLst>
              <a:gd name="adj" fmla="val 7127"/>
            </a:avLst>
          </a:prstGeom>
          <a:solidFill>
            <a:schemeClr val="bg2"/>
          </a:solidFill>
          <a:ln w="12700">
            <a:solidFill>
              <a:schemeClr val="bg2"/>
            </a:solidFill>
            <a:prstDash val="solid"/>
          </a:ln>
        </p:spPr>
      </p:sp>
      <p:sp>
        <p:nvSpPr>
          <p:cNvPr id="13" name="Text 10"/>
          <p:cNvSpPr txBox="1"/>
          <p:nvPr/>
        </p:nvSpPr>
        <p:spPr>
          <a:xfrm>
            <a:off x="685800"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Constitutional</a:t>
            </a:r>
            <a:endParaRPr lang="en-US" sz="1500" dirty="0"/>
          </a:p>
          <a:p>
            <a:pPr indent="0" marL="0">
              <a:spcAft>
                <a:spcPts val="400"/>
              </a:spcAft>
              <a:buNone/>
            </a:pPr>
            <a:r>
              <a:rPr lang="en-US" sz="1400" dirty="0">
                <a:solidFill>
                  <a:schemeClr val="tx1"/>
                </a:solidFill>
              </a:rPr>
              <a:t>Deciding who gets to make the rules, and how they decide: who is a member, how the meeting votes.</a:t>
            </a:r>
            <a:endParaRPr lang="en-US" sz="1500" dirty="0"/>
          </a:p>
        </p:txBody>
      </p:sp>
      <p:sp>
        <p:nvSpPr>
          <p:cNvPr id="14" name="card Metaconstitutional"/>
          <p:cNvSpPr/>
          <p:nvPr/>
        </p:nvSpPr>
        <p:spPr>
          <a:xfrm>
            <a:off x="6135624" y="1828800"/>
            <a:ext cx="5477256" cy="1026414"/>
          </a:xfrm>
          <a:prstGeom prst="roundRect">
            <a:avLst>
              <a:gd name="adj" fmla="val 7127"/>
            </a:avLst>
          </a:prstGeom>
          <a:solidFill>
            <a:schemeClr val="bg2"/>
          </a:solidFill>
          <a:ln w="12700">
            <a:solidFill>
              <a:schemeClr val="bg2"/>
            </a:solidFill>
            <a:prstDash val="solid"/>
          </a:ln>
        </p:spPr>
      </p:sp>
      <p:sp>
        <p:nvSpPr>
          <p:cNvPr id="15" name="Text 12"/>
          <p:cNvSpPr txBox="1"/>
          <p:nvPr/>
        </p:nvSpPr>
        <p:spPr>
          <a:xfrm>
            <a:off x="6272784"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Metaconstitutional</a:t>
            </a:r>
            <a:endParaRPr lang="en-US" sz="1500" dirty="0"/>
          </a:p>
          <a:p>
            <a:pPr indent="0" marL="0">
              <a:spcAft>
                <a:spcPts val="400"/>
              </a:spcAft>
              <a:buNone/>
            </a:pPr>
            <a:r>
              <a:rPr lang="en-US" sz="1400" dirty="0">
                <a:solidFill>
                  <a:schemeClr val="tx1"/>
                </a:solidFill>
              </a:rPr>
              <a:t>The unwritten culture underneath: what people think is fair, who counts, what a rule can even be.</a:t>
            </a:r>
            <a:endParaRPr lang="en-US" sz="1500" dirty="0"/>
          </a:p>
        </p:txBody>
      </p:sp>
      <p:sp>
        <p:nvSpPr>
          <p:cNvPr id="16" name="card Rules-in-use for the level below"/>
          <p:cNvSpPr/>
          <p:nvPr/>
        </p:nvSpPr>
        <p:spPr>
          <a:xfrm>
            <a:off x="6135624" y="2964942"/>
            <a:ext cx="5477256" cy="1026414"/>
          </a:xfrm>
          <a:prstGeom prst="roundRect">
            <a:avLst>
              <a:gd name="adj" fmla="val 7127"/>
            </a:avLst>
          </a:prstGeom>
          <a:solidFill>
            <a:schemeClr val="bg2"/>
          </a:solidFill>
          <a:ln w="12700">
            <a:solidFill>
              <a:schemeClr val="bg2"/>
            </a:solidFill>
            <a:prstDash val="solid"/>
          </a:ln>
        </p:spPr>
      </p:sp>
      <p:sp>
        <p:nvSpPr>
          <p:cNvPr id="17" name="Text 14"/>
          <p:cNvSpPr txBox="1"/>
          <p:nvPr/>
        </p:nvSpPr>
        <p:spPr>
          <a:xfrm>
            <a:off x="6272784"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Rules-in-use for the level below</a:t>
            </a:r>
            <a:endParaRPr lang="en-US" sz="1500" dirty="0"/>
          </a:p>
          <a:p>
            <a:pPr indent="0" marL="0">
              <a:spcAft>
                <a:spcPts val="400"/>
              </a:spcAft>
              <a:buNone/>
            </a:pPr>
            <a:r>
              <a:rPr lang="en-US" sz="1400" dirty="0">
                <a:solidFill>
                  <a:schemeClr val="tx1"/>
                </a:solidFill>
              </a:rPr>
              <a:t>What one layer decides becomes the working rules of the next one down.</a:t>
            </a:r>
            <a:endParaRPr lang="en-US" sz="1500" dirty="0"/>
          </a:p>
        </p:txBody>
      </p:sp>
      <p:sp>
        <p:nvSpPr>
          <p:cNvPr id="18" name="card Seen and judged / a rule problem that keeps recurring"/>
          <p:cNvSpPr/>
          <p:nvPr/>
        </p:nvSpPr>
        <p:spPr>
          <a:xfrm>
            <a:off x="6135624" y="4101084"/>
            <a:ext cx="5477256" cy="1026414"/>
          </a:xfrm>
          <a:prstGeom prst="roundRect">
            <a:avLst>
              <a:gd name="adj" fmla="val 7127"/>
            </a:avLst>
          </a:prstGeom>
          <a:solidFill>
            <a:schemeClr val="bg2"/>
          </a:solidFill>
          <a:ln w="12700">
            <a:solidFill>
              <a:schemeClr val="bg2"/>
            </a:solidFill>
            <a:prstDash val="solid"/>
          </a:ln>
        </p:spPr>
      </p:sp>
      <p:sp>
        <p:nvSpPr>
          <p:cNvPr id="19" name="Text 16"/>
          <p:cNvSpPr txBox="1"/>
          <p:nvPr/>
        </p:nvSpPr>
        <p:spPr>
          <a:xfrm>
            <a:off x="6272784"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Seen and judged / a rule problem that keeps recurring</a:t>
            </a:r>
            <a:endParaRPr lang="en-US" sz="1500" dirty="0"/>
          </a:p>
          <a:p>
            <a:pPr indent="0" marL="0">
              <a:spcAft>
                <a:spcPts val="400"/>
              </a:spcAft>
              <a:buNone/>
            </a:pPr>
            <a:r>
              <a:rPr lang="en-US" sz="1400" dirty="0">
                <a:solidFill>
                  <a:schemeClr val="tx1"/>
                </a:solidFill>
              </a:rPr>
              <a:t>The upward arrows: results are noticed, judged, and taken to a level that can change things.</a:t>
            </a:r>
            <a:endParaRPr lang="en-US" sz="1500" dirty="0"/>
          </a:p>
        </p:txBody>
      </p:sp>
      <p:sp>
        <p:nvSpPr>
          <p:cNvPr id="20" name="card Outcomes in the world"/>
          <p:cNvSpPr/>
          <p:nvPr/>
        </p:nvSpPr>
        <p:spPr>
          <a:xfrm>
            <a:off x="6135624" y="5237226"/>
            <a:ext cx="5477256" cy="1026414"/>
          </a:xfrm>
          <a:prstGeom prst="roundRect">
            <a:avLst>
              <a:gd name="adj" fmla="val 7127"/>
            </a:avLst>
          </a:prstGeom>
          <a:solidFill>
            <a:schemeClr val="bg2"/>
          </a:solidFill>
          <a:ln w="12700">
            <a:solidFill>
              <a:schemeClr val="bg2"/>
            </a:solidFill>
            <a:prstDash val="solid"/>
          </a:ln>
        </p:spPr>
      </p:sp>
      <p:sp>
        <p:nvSpPr>
          <p:cNvPr id="21" name="Text 18"/>
          <p:cNvSpPr txBox="1"/>
          <p:nvPr/>
        </p:nvSpPr>
        <p:spPr>
          <a:xfrm>
            <a:off x="6272784"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Outcomes in the world</a:t>
            </a:r>
            <a:endParaRPr lang="en-US" sz="1500" dirty="0"/>
          </a:p>
          <a:p>
            <a:pPr indent="0" marL="0">
              <a:spcAft>
                <a:spcPts val="400"/>
              </a:spcAft>
              <a:buNone/>
            </a:pPr>
            <a:r>
              <a:rPr lang="en-US" sz="1400" dirty="0">
                <a:solidFill>
                  <a:schemeClr val="tx1"/>
                </a:solidFill>
              </a:rPr>
              <a:t>What actually happens: water used, plots tended, care given, money moved.</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4 · LAYERS OF DECISION</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The four levels at Elm Street</a:t>
            </a:r>
            <a:endParaRPr lang="en-US" sz="3200" dirty="0"/>
          </a:p>
        </p:txBody>
      </p:sp>
      <p:sp>
        <p:nvSpPr>
          <p:cNvPr id="5" name="Text 2"/>
          <p:cNvSpPr/>
          <p:nvPr/>
        </p:nvSpPr>
        <p:spPr>
          <a:xfrm>
            <a:off x="548640" y="1463040"/>
            <a:ext cx="2743200" cy="1005840"/>
          </a:xfrm>
          <a:prstGeom prst="roundRect">
            <a:avLst>
              <a:gd name="adj" fmla="val 7273"/>
            </a:avLst>
          </a:prstGeom>
          <a:solidFill>
            <a:srgbClr val="6B5B95"/>
          </a:solidFill>
          <a:ln/>
        </p:spPr>
        <p:txBody>
          <a:bodyPr wrap="square" lIns="50800" tIns="50800" rIns="50800" bIns="50800" rtlCol="0" anchor="ctr"/>
          <a:lstStyle/>
          <a:p>
            <a:pPr algn="ctr" indent="0" marL="0">
              <a:buNone/>
            </a:pPr>
            <a:r>
              <a:rPr lang="en-US" sz="1700" b="1" dirty="0">
                <a:solidFill>
                  <a:srgbClr val="FFFFFF"/>
                </a:solidFill>
              </a:rPr>
              <a:t>Metaconstitutional</a:t>
            </a:r>
            <a:endParaRPr lang="en-US" sz="1700" dirty="0"/>
          </a:p>
        </p:txBody>
      </p:sp>
      <p:sp>
        <p:nvSpPr>
          <p:cNvPr id="6" name="Text 3"/>
          <p:cNvSpPr txBox="1"/>
          <p:nvPr/>
        </p:nvSpPr>
        <p:spPr>
          <a:xfrm>
            <a:off x="3520440" y="1536192"/>
            <a:ext cx="5120640" cy="914400"/>
          </a:xfrm>
          <a:prstGeom prst="rect">
            <a:avLst/>
          </a:prstGeom>
          <a:noFill/>
          <a:ln/>
        </p:spPr>
        <p:txBody>
          <a:bodyPr wrap="square" lIns="0" tIns="0" rIns="0" bIns="0" rtlCol="0" anchor="ctr"/>
          <a:lstStyle/>
          <a:p>
            <a:pPr indent="0" marL="0">
              <a:spcAft>
                <a:spcPts val="600"/>
              </a:spcAft>
              <a:buNone/>
            </a:pPr>
            <a:r>
              <a:rPr lang="en-US" sz="1700" dirty="0">
                <a:solidFill>
                  <a:schemeClr val="tx1"/>
                </a:solidFill>
              </a:rPr>
              <a:t>Do we think newcomers deserve a plot at all?</a:t>
            </a:r>
            <a:endParaRPr lang="en-US" sz="1700" dirty="0"/>
          </a:p>
        </p:txBody>
      </p:sp>
      <p:sp>
        <p:nvSpPr>
          <p:cNvPr id="7" name="Text 4"/>
          <p:cNvSpPr txBox="1"/>
          <p:nvPr/>
        </p:nvSpPr>
        <p:spPr>
          <a:xfrm>
            <a:off x="8778240" y="1536192"/>
            <a:ext cx="2834640" cy="914400"/>
          </a:xfrm>
          <a:prstGeom prst="rect">
            <a:avLst/>
          </a:prstGeom>
          <a:noFill/>
          <a:ln/>
        </p:spPr>
        <p:txBody>
          <a:bodyPr wrap="square" lIns="0" tIns="0" rIns="0" bIns="0" rtlCol="0" anchor="ctr"/>
          <a:lstStyle/>
          <a:p>
            <a:pPr indent="0" marL="0">
              <a:spcAft>
                <a:spcPts val="600"/>
              </a:spcAft>
              <a:buNone/>
            </a:pPr>
            <a:r>
              <a:rPr lang="en-US" sz="1500" i="1" dirty="0">
                <a:solidFill>
                  <a:srgbClr val="3E4A42"/>
                </a:solidFill>
              </a:rPr>
              <a:t>Unwritten. Strongest.</a:t>
            </a:r>
            <a:endParaRPr lang="en-US" sz="1500" dirty="0"/>
          </a:p>
        </p:txBody>
      </p:sp>
      <p:sp>
        <p:nvSpPr>
          <p:cNvPr id="8" name="Text 5"/>
          <p:cNvSpPr/>
          <p:nvPr/>
        </p:nvSpPr>
        <p:spPr>
          <a:xfrm>
            <a:off x="548640" y="2651760"/>
            <a:ext cx="2743200" cy="1005840"/>
          </a:xfrm>
          <a:prstGeom prst="roundRect">
            <a:avLst>
              <a:gd name="adj" fmla="val 7273"/>
            </a:avLst>
          </a:prstGeom>
          <a:solidFill>
            <a:srgbClr val="B5532D"/>
          </a:solidFill>
          <a:ln/>
        </p:spPr>
        <p:txBody>
          <a:bodyPr wrap="square" lIns="50800" tIns="50800" rIns="50800" bIns="50800" rtlCol="0" anchor="ctr"/>
          <a:lstStyle/>
          <a:p>
            <a:pPr algn="ctr" indent="0" marL="0">
              <a:buNone/>
            </a:pPr>
            <a:r>
              <a:rPr lang="en-US" sz="1700" b="1" dirty="0">
                <a:solidFill>
                  <a:srgbClr val="FFFFFF"/>
                </a:solidFill>
              </a:rPr>
              <a:t>Constitutional</a:t>
            </a:r>
            <a:endParaRPr lang="en-US" sz="1700" dirty="0"/>
          </a:p>
        </p:txBody>
      </p:sp>
      <p:sp>
        <p:nvSpPr>
          <p:cNvPr id="9" name="Text 6"/>
          <p:cNvSpPr txBox="1"/>
          <p:nvPr/>
        </p:nvSpPr>
        <p:spPr>
          <a:xfrm>
            <a:off x="3520440" y="2724912"/>
            <a:ext cx="5120640" cy="914400"/>
          </a:xfrm>
          <a:prstGeom prst="rect">
            <a:avLst/>
          </a:prstGeom>
          <a:noFill/>
          <a:ln/>
        </p:spPr>
        <p:txBody>
          <a:bodyPr wrap="square" lIns="0" tIns="0" rIns="0" bIns="0" rtlCol="0" anchor="ctr"/>
          <a:lstStyle/>
          <a:p>
            <a:pPr indent="0" marL="0">
              <a:spcAft>
                <a:spcPts val="600"/>
              </a:spcAft>
              <a:buNone/>
            </a:pPr>
            <a:r>
              <a:rPr lang="en-US" sz="1700" dirty="0">
                <a:solidFill>
                  <a:schemeClr val="tx1"/>
                </a:solidFill>
              </a:rPr>
              <a:t>Who counts as a member, and how does the spring meeting vote?</a:t>
            </a:r>
            <a:endParaRPr lang="en-US" sz="1700" dirty="0"/>
          </a:p>
        </p:txBody>
      </p:sp>
      <p:sp>
        <p:nvSpPr>
          <p:cNvPr id="10" name="Text 7"/>
          <p:cNvSpPr txBox="1"/>
          <p:nvPr/>
        </p:nvSpPr>
        <p:spPr>
          <a:xfrm>
            <a:off x="8778240" y="2724912"/>
            <a:ext cx="2834640" cy="914400"/>
          </a:xfrm>
          <a:prstGeom prst="rect">
            <a:avLst/>
          </a:prstGeom>
          <a:noFill/>
          <a:ln/>
        </p:spPr>
        <p:txBody>
          <a:bodyPr wrap="square" lIns="0" tIns="0" rIns="0" bIns="0" rtlCol="0" anchor="ctr"/>
          <a:lstStyle/>
          <a:p>
            <a:pPr indent="0" marL="0">
              <a:spcAft>
                <a:spcPts val="600"/>
              </a:spcAft>
              <a:buNone/>
            </a:pPr>
            <a:r>
              <a:rPr lang="en-US" sz="1500" i="1" dirty="0">
                <a:solidFill>
                  <a:srgbClr val="3E4A42"/>
                </a:solidFill>
              </a:rPr>
              <a:t>Most leverage</a:t>
            </a:r>
            <a:endParaRPr lang="en-US" sz="1500" dirty="0"/>
          </a:p>
        </p:txBody>
      </p:sp>
      <p:sp>
        <p:nvSpPr>
          <p:cNvPr id="11" name="Text 8"/>
          <p:cNvSpPr/>
          <p:nvPr/>
        </p:nvSpPr>
        <p:spPr>
          <a:xfrm>
            <a:off x="548640" y="3840480"/>
            <a:ext cx="2743200" cy="1005840"/>
          </a:xfrm>
          <a:prstGeom prst="roundRect">
            <a:avLst>
              <a:gd name="adj" fmla="val 7273"/>
            </a:avLst>
          </a:prstGeom>
          <a:solidFill>
            <a:srgbClr val="C9822A"/>
          </a:solidFill>
          <a:ln/>
        </p:spPr>
        <p:txBody>
          <a:bodyPr wrap="square" lIns="50800" tIns="50800" rIns="50800" bIns="50800" rtlCol="0" anchor="ctr"/>
          <a:lstStyle/>
          <a:p>
            <a:pPr algn="ctr" indent="0" marL="0">
              <a:buNone/>
            </a:pPr>
            <a:r>
              <a:rPr lang="en-US" sz="1700" b="1" dirty="0">
                <a:solidFill>
                  <a:srgbClr val="FFFFFF"/>
                </a:solidFill>
              </a:rPr>
              <a:t>Collective choice</a:t>
            </a:r>
            <a:endParaRPr lang="en-US" sz="1700" dirty="0"/>
          </a:p>
        </p:txBody>
      </p:sp>
      <p:sp>
        <p:nvSpPr>
          <p:cNvPr id="12" name="Text 9"/>
          <p:cNvSpPr txBox="1"/>
          <p:nvPr/>
        </p:nvSpPr>
        <p:spPr>
          <a:xfrm>
            <a:off x="3520440" y="3913632"/>
            <a:ext cx="5120640" cy="914400"/>
          </a:xfrm>
          <a:prstGeom prst="rect">
            <a:avLst/>
          </a:prstGeom>
          <a:noFill/>
          <a:ln/>
        </p:spPr>
        <p:txBody>
          <a:bodyPr wrap="square" lIns="0" tIns="0" rIns="0" bIns="0" rtlCol="0" anchor="ctr"/>
          <a:lstStyle/>
          <a:p>
            <a:pPr indent="0" marL="0">
              <a:spcAft>
                <a:spcPts val="600"/>
              </a:spcAft>
              <a:buNone/>
            </a:pPr>
            <a:r>
              <a:rPr lang="en-US" sz="1700" dirty="0">
                <a:solidFill>
                  <a:schemeClr val="tx1"/>
                </a:solidFill>
              </a:rPr>
              <a:t>The spring meeting changes the watering days.</a:t>
            </a:r>
            <a:endParaRPr lang="en-US" sz="1700" dirty="0"/>
          </a:p>
        </p:txBody>
      </p:sp>
      <p:sp>
        <p:nvSpPr>
          <p:cNvPr id="13" name="Text 10"/>
          <p:cNvSpPr txBox="1"/>
          <p:nvPr/>
        </p:nvSpPr>
        <p:spPr>
          <a:xfrm>
            <a:off x="8778240" y="3913632"/>
            <a:ext cx="2834640" cy="914400"/>
          </a:xfrm>
          <a:prstGeom prst="rect">
            <a:avLst/>
          </a:prstGeom>
          <a:noFill/>
          <a:ln/>
        </p:spPr>
        <p:txBody>
          <a:bodyPr wrap="square" lIns="0" tIns="0" rIns="0" bIns="0" rtlCol="0" anchor="ctr"/>
          <a:lstStyle/>
          <a:p>
            <a:pPr indent="0" marL="0">
              <a:spcAft>
                <a:spcPts val="600"/>
              </a:spcAft>
              <a:buNone/>
            </a:pPr>
            <a:r>
              <a:rPr lang="en-US" sz="1500" i="1" dirty="0">
                <a:solidFill>
                  <a:srgbClr val="3E4A42"/>
                </a:solidFill>
              </a:rPr>
              <a:t>A rule changes</a:t>
            </a:r>
            <a:endParaRPr lang="en-US" sz="1500" dirty="0"/>
          </a:p>
        </p:txBody>
      </p:sp>
      <p:sp>
        <p:nvSpPr>
          <p:cNvPr id="14" name="Text 11"/>
          <p:cNvSpPr/>
          <p:nvPr/>
        </p:nvSpPr>
        <p:spPr>
          <a:xfrm>
            <a:off x="548640" y="5029200"/>
            <a:ext cx="2743200" cy="1005840"/>
          </a:xfrm>
          <a:prstGeom prst="roundRect">
            <a:avLst>
              <a:gd name="adj" fmla="val 7273"/>
            </a:avLst>
          </a:prstGeom>
          <a:solidFill>
            <a:srgbClr val="2E6B45"/>
          </a:solidFill>
          <a:ln/>
        </p:spPr>
        <p:txBody>
          <a:bodyPr wrap="square" lIns="50800" tIns="50800" rIns="50800" bIns="50800" rtlCol="0" anchor="ctr"/>
          <a:lstStyle/>
          <a:p>
            <a:pPr algn="ctr" indent="0" marL="0">
              <a:buNone/>
            </a:pPr>
            <a:r>
              <a:rPr lang="en-US" sz="1700" b="1" dirty="0">
                <a:solidFill>
                  <a:srgbClr val="FFFFFF"/>
                </a:solidFill>
              </a:rPr>
              <a:t>Operational</a:t>
            </a:r>
            <a:endParaRPr lang="en-US" sz="1700" dirty="0"/>
          </a:p>
        </p:txBody>
      </p:sp>
      <p:sp>
        <p:nvSpPr>
          <p:cNvPr id="15" name="Text 12"/>
          <p:cNvSpPr txBox="1"/>
          <p:nvPr/>
        </p:nvSpPr>
        <p:spPr>
          <a:xfrm>
            <a:off x="3520440" y="5102352"/>
            <a:ext cx="5120640" cy="914400"/>
          </a:xfrm>
          <a:prstGeom prst="rect">
            <a:avLst/>
          </a:prstGeom>
          <a:noFill/>
          <a:ln/>
        </p:spPr>
        <p:txBody>
          <a:bodyPr wrap="square" lIns="0" tIns="0" rIns="0" bIns="0" rtlCol="0" anchor="ctr"/>
          <a:lstStyle/>
          <a:p>
            <a:pPr indent="0" marL="0">
              <a:spcAft>
                <a:spcPts val="600"/>
              </a:spcAft>
              <a:buNone/>
            </a:pPr>
            <a:r>
              <a:rPr lang="en-US" sz="1700" dirty="0">
                <a:solidFill>
                  <a:schemeClr val="tx1"/>
                </a:solidFill>
              </a:rPr>
              <a:t>Watering on your day. The keeper speaks to someone who did not.</a:t>
            </a:r>
            <a:endParaRPr lang="en-US" sz="1700" dirty="0"/>
          </a:p>
        </p:txBody>
      </p:sp>
      <p:sp>
        <p:nvSpPr>
          <p:cNvPr id="16" name="Text 13"/>
          <p:cNvSpPr txBox="1"/>
          <p:nvPr/>
        </p:nvSpPr>
        <p:spPr>
          <a:xfrm>
            <a:off x="8778240" y="5102352"/>
            <a:ext cx="2834640" cy="914400"/>
          </a:xfrm>
          <a:prstGeom prst="rect">
            <a:avLst/>
          </a:prstGeom>
          <a:noFill/>
          <a:ln/>
        </p:spPr>
        <p:txBody>
          <a:bodyPr wrap="square" lIns="0" tIns="0" rIns="0" bIns="0" rtlCol="0" anchor="ctr"/>
          <a:lstStyle/>
          <a:p>
            <a:pPr indent="0" marL="0">
              <a:spcAft>
                <a:spcPts val="600"/>
              </a:spcAft>
              <a:buNone/>
            </a:pPr>
            <a:r>
              <a:rPr lang="en-US" sz="1500" i="1" dirty="0">
                <a:solidFill>
                  <a:srgbClr val="3E4A42"/>
                </a:solidFill>
              </a:rPr>
              <a:t>A number changes. Least leverage, most effort</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4 · LAYERS OF DECISION</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A one-question test: which level am I standing on?</a:t>
            </a:r>
            <a:endParaRPr lang="en-US" sz="3200" dirty="0"/>
          </a:p>
        </p:txBody>
      </p:sp>
      <p:sp>
        <p:nvSpPr>
          <p:cNvPr id="5" name="Shape 2"/>
          <p:cNvSpPr/>
          <p:nvPr/>
        </p:nvSpPr>
        <p:spPr>
          <a:xfrm>
            <a:off x="548640" y="1645920"/>
            <a:ext cx="3566160" cy="3840480"/>
          </a:xfrm>
          <a:prstGeom prst="roundRect">
            <a:avLst>
              <a:gd name="adj" fmla="val 2564"/>
            </a:avLst>
          </a:prstGeom>
          <a:solidFill>
            <a:srgbClr val="2E6B45"/>
          </a:solidFill>
          <a:ln w="12700">
            <a:solidFill>
              <a:srgbClr val="2E6B45"/>
            </a:solidFill>
            <a:prstDash val="solid"/>
          </a:ln>
        </p:spPr>
      </p:sp>
      <p:sp>
        <p:nvSpPr>
          <p:cNvPr id="6" name="Text 3"/>
          <p:cNvSpPr txBox="1"/>
          <p:nvPr/>
        </p:nvSpPr>
        <p:spPr>
          <a:xfrm>
            <a:off x="777240" y="1828800"/>
            <a:ext cx="3108960" cy="3474720"/>
          </a:xfrm>
          <a:prstGeom prst="rect">
            <a:avLst/>
          </a:prstGeom>
          <a:noFill/>
          <a:ln/>
        </p:spPr>
        <p:txBody>
          <a:bodyPr wrap="square" lIns="0" tIns="0" rIns="0" bIns="0" rtlCol="0" anchor="ctr"/>
          <a:lstStyle/>
          <a:p>
            <a:pPr indent="0" marL="0">
              <a:buNone/>
            </a:pPr>
            <a:r>
              <a:rPr lang="en-US" sz="2200" b="1" dirty="0">
                <a:solidFill>
                  <a:srgbClr val="FFFFFF"/>
                </a:solidFill>
              </a:rPr>
              <a:t>Does it change a number?</a:t>
            </a:r>
            <a:endParaRPr lang="en-US" sz="2200" dirty="0"/>
          </a:p>
          <a:p>
            <a:pPr indent="0" marL="0">
              <a:buNone/>
            </a:pPr>
            <a:r>
              <a:rPr lang="en-US" sz="1000" dirty="0">
                <a:solidFill>
                  <a:srgbClr val="000000"/>
                </a:solidFill>
              </a:rPr>
              <a:t> </a:t>
            </a:r>
            <a:endParaRPr lang="en-US" sz="2200" dirty="0"/>
          </a:p>
          <a:p>
            <a:pPr indent="0" marL="0">
              <a:buNone/>
            </a:pPr>
            <a:r>
              <a:rPr lang="en-US" sz="2000" b="1" dirty="0">
                <a:solidFill>
                  <a:srgbClr val="FFFFFF"/>
                </a:solidFill>
              </a:rPr>
              <a:t>Operational</a:t>
            </a:r>
            <a:endParaRPr lang="en-US" sz="2200" dirty="0"/>
          </a:p>
          <a:p>
            <a:pPr indent="0" marL="0">
              <a:buNone/>
            </a:pPr>
            <a:r>
              <a:rPr lang="en-US" sz="1500" dirty="0">
                <a:solidFill>
                  <a:srgbClr val="FFFFFF"/>
                </a:solidFill>
              </a:rPr>
              <a:t>Least leverage. Where most effort goes.</a:t>
            </a:r>
            <a:endParaRPr lang="en-US" sz="2200" dirty="0"/>
          </a:p>
        </p:txBody>
      </p:sp>
      <p:sp>
        <p:nvSpPr>
          <p:cNvPr id="7" name="Shape 4"/>
          <p:cNvSpPr/>
          <p:nvPr/>
        </p:nvSpPr>
        <p:spPr>
          <a:xfrm>
            <a:off x="4297680" y="1645920"/>
            <a:ext cx="3566160" cy="3840480"/>
          </a:xfrm>
          <a:prstGeom prst="roundRect">
            <a:avLst>
              <a:gd name="adj" fmla="val 2564"/>
            </a:avLst>
          </a:prstGeom>
          <a:solidFill>
            <a:srgbClr val="C9822A"/>
          </a:solidFill>
          <a:ln w="12700">
            <a:solidFill>
              <a:srgbClr val="C9822A"/>
            </a:solidFill>
            <a:prstDash val="solid"/>
          </a:ln>
        </p:spPr>
      </p:sp>
      <p:sp>
        <p:nvSpPr>
          <p:cNvPr id="8" name="Text 5"/>
          <p:cNvSpPr txBox="1"/>
          <p:nvPr/>
        </p:nvSpPr>
        <p:spPr>
          <a:xfrm>
            <a:off x="4526280" y="1828800"/>
            <a:ext cx="3108960" cy="3474720"/>
          </a:xfrm>
          <a:prstGeom prst="rect">
            <a:avLst/>
          </a:prstGeom>
          <a:noFill/>
          <a:ln/>
        </p:spPr>
        <p:txBody>
          <a:bodyPr wrap="square" lIns="0" tIns="0" rIns="0" bIns="0" rtlCol="0" anchor="ctr"/>
          <a:lstStyle/>
          <a:p>
            <a:pPr indent="0" marL="0">
              <a:buNone/>
            </a:pPr>
            <a:r>
              <a:rPr lang="en-US" sz="2200" b="1" dirty="0">
                <a:solidFill>
                  <a:srgbClr val="FFFFFF"/>
                </a:solidFill>
              </a:rPr>
              <a:t>Does it change a rule?</a:t>
            </a:r>
            <a:endParaRPr lang="en-US" sz="2200" dirty="0"/>
          </a:p>
          <a:p>
            <a:pPr indent="0" marL="0">
              <a:buNone/>
            </a:pPr>
            <a:r>
              <a:rPr lang="en-US" sz="1000" dirty="0">
                <a:solidFill>
                  <a:srgbClr val="000000"/>
                </a:solidFill>
              </a:rPr>
              <a:t> </a:t>
            </a:r>
            <a:endParaRPr lang="en-US" sz="2200" dirty="0"/>
          </a:p>
          <a:p>
            <a:pPr indent="0" marL="0">
              <a:buNone/>
            </a:pPr>
            <a:r>
              <a:rPr lang="en-US" sz="2000" b="1" dirty="0">
                <a:solidFill>
                  <a:srgbClr val="FFFFFF"/>
                </a:solidFill>
              </a:rPr>
              <a:t>Collective choice</a:t>
            </a:r>
            <a:endParaRPr lang="en-US" sz="2200" dirty="0"/>
          </a:p>
          <a:p>
            <a:pPr indent="0" marL="0">
              <a:buNone/>
            </a:pPr>
            <a:r>
              <a:rPr lang="en-US" sz="1500" dirty="0">
                <a:solidFill>
                  <a:srgbClr val="FFFFFF"/>
                </a:solidFill>
              </a:rPr>
              <a:t>Real change, made by the group.</a:t>
            </a:r>
            <a:endParaRPr lang="en-US" sz="2200" dirty="0"/>
          </a:p>
        </p:txBody>
      </p:sp>
      <p:sp>
        <p:nvSpPr>
          <p:cNvPr id="9" name="Shape 6"/>
          <p:cNvSpPr/>
          <p:nvPr/>
        </p:nvSpPr>
        <p:spPr>
          <a:xfrm>
            <a:off x="8046720" y="1645920"/>
            <a:ext cx="3566160" cy="3840480"/>
          </a:xfrm>
          <a:prstGeom prst="roundRect">
            <a:avLst>
              <a:gd name="adj" fmla="val 2564"/>
            </a:avLst>
          </a:prstGeom>
          <a:solidFill>
            <a:srgbClr val="B5532D"/>
          </a:solidFill>
          <a:ln w="12700">
            <a:solidFill>
              <a:srgbClr val="B5532D"/>
            </a:solidFill>
            <a:prstDash val="solid"/>
          </a:ln>
        </p:spPr>
      </p:sp>
      <p:sp>
        <p:nvSpPr>
          <p:cNvPr id="10" name="Text 7"/>
          <p:cNvSpPr txBox="1"/>
          <p:nvPr/>
        </p:nvSpPr>
        <p:spPr>
          <a:xfrm>
            <a:off x="8275320" y="1828800"/>
            <a:ext cx="3108960" cy="3474720"/>
          </a:xfrm>
          <a:prstGeom prst="rect">
            <a:avLst/>
          </a:prstGeom>
          <a:noFill/>
          <a:ln/>
        </p:spPr>
        <p:txBody>
          <a:bodyPr wrap="square" lIns="0" tIns="0" rIns="0" bIns="0" rtlCol="0" anchor="ctr"/>
          <a:lstStyle/>
          <a:p>
            <a:pPr indent="0" marL="0">
              <a:buNone/>
            </a:pPr>
            <a:r>
              <a:rPr lang="en-US" sz="2200" b="1" dirty="0">
                <a:solidFill>
                  <a:srgbClr val="FFFFFF"/>
                </a:solidFill>
              </a:rPr>
              <a:t>Does it change who may change the rule?</a:t>
            </a:r>
            <a:endParaRPr lang="en-US" sz="2200" dirty="0"/>
          </a:p>
          <a:p>
            <a:pPr indent="0" marL="0">
              <a:buNone/>
            </a:pPr>
            <a:r>
              <a:rPr lang="en-US" sz="1000" dirty="0">
                <a:solidFill>
                  <a:srgbClr val="000000"/>
                </a:solidFill>
              </a:rPr>
              <a:t> </a:t>
            </a:r>
            <a:endParaRPr lang="en-US" sz="2200" dirty="0"/>
          </a:p>
          <a:p>
            <a:pPr indent="0" marL="0">
              <a:buNone/>
            </a:pPr>
            <a:r>
              <a:rPr lang="en-US" sz="2000" b="1" dirty="0">
                <a:solidFill>
                  <a:srgbClr val="FFFFFF"/>
                </a:solidFill>
              </a:rPr>
              <a:t>Constitutional</a:t>
            </a:r>
            <a:endParaRPr lang="en-US" sz="2200" dirty="0"/>
          </a:p>
          <a:p>
            <a:pPr indent="0" marL="0">
              <a:buNone/>
            </a:pPr>
            <a:r>
              <a:rPr lang="en-US" sz="1500" dirty="0">
                <a:solidFill>
                  <a:srgbClr val="FFFFFF"/>
                </a:solidFill>
              </a:rPr>
              <a:t>Most leverage. Rare, and lasting.</a:t>
            </a:r>
            <a:endParaRPr lang="en-US" sz="2200" dirty="0"/>
          </a:p>
        </p:txBody>
      </p:sp>
      <p:sp>
        <p:nvSpPr>
          <p:cNvPr id="11" name="Text 8"/>
          <p:cNvSpPr txBox="1"/>
          <p:nvPr/>
        </p:nvSpPr>
        <p:spPr>
          <a:xfrm>
            <a:off x="548640" y="5669280"/>
            <a:ext cx="11064240" cy="6400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Donella Meadows found the same thing in systems: numbers are the weakest place to push, and the power to change a system's structure is among the strongest.</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4 · LAYERS OF DECISION</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One complaint, three levels: the missing seat</a:t>
            </a:r>
            <a:endParaRPr lang="en-US" sz="3200" dirty="0"/>
          </a:p>
        </p:txBody>
      </p:sp>
      <p:sp>
        <p:nvSpPr>
          <p:cNvPr id="5" name="Shape 2"/>
          <p:cNvSpPr/>
          <p:nvPr/>
        </p:nvSpPr>
        <p:spPr>
          <a:xfrm>
            <a:off x="548640" y="4023360"/>
            <a:ext cx="3566160" cy="2240280"/>
          </a:xfrm>
          <a:prstGeom prst="roundRect">
            <a:avLst>
              <a:gd name="adj" fmla="val 3265"/>
            </a:avLst>
          </a:prstGeom>
          <a:solidFill>
            <a:srgbClr val="FFFFFF"/>
          </a:solidFill>
          <a:ln w="31750">
            <a:solidFill>
              <a:srgbClr val="2E6B45"/>
            </a:solidFill>
            <a:prstDash val="solid"/>
          </a:ln>
        </p:spPr>
      </p:sp>
      <p:sp>
        <p:nvSpPr>
          <p:cNvPr id="6" name="Text 3"/>
          <p:cNvSpPr txBox="1"/>
          <p:nvPr/>
        </p:nvSpPr>
        <p:spPr>
          <a:xfrm>
            <a:off x="713232" y="4133088"/>
            <a:ext cx="3246120" cy="2011680"/>
          </a:xfrm>
          <a:prstGeom prst="rect">
            <a:avLst/>
          </a:prstGeom>
          <a:noFill/>
          <a:ln/>
        </p:spPr>
        <p:txBody>
          <a:bodyPr wrap="square" lIns="0" tIns="0" rIns="0" bIns="0" rtlCol="0" anchor="t"/>
          <a:lstStyle/>
          <a:p>
            <a:pPr indent="0" marL="0">
              <a:buNone/>
            </a:pPr>
            <a:r>
              <a:rPr lang="en-US" sz="1700" b="1" dirty="0">
                <a:solidFill>
                  <a:srgbClr val="2E6B45"/>
                </a:solidFill>
              </a:rPr>
              <a:t>Operational reading</a:t>
            </a:r>
            <a:endParaRPr lang="en-US" sz="1700" dirty="0"/>
          </a:p>
          <a:p>
            <a:pPr indent="0" marL="0">
              <a:buNone/>
            </a:pPr>
            <a:r>
              <a:rPr lang="en-US" sz="1500" dirty="0">
                <a:solidFill>
                  <a:schemeClr val="tx1"/>
                </a:solidFill>
              </a:rPr>
              <a:t>"Nobody asks the health worker." Sounds like a communication problem. Fix: ask more often. It does not hold.</a:t>
            </a:r>
            <a:endParaRPr lang="en-US" sz="1700" dirty="0"/>
          </a:p>
        </p:txBody>
      </p:sp>
      <p:sp>
        <p:nvSpPr>
          <p:cNvPr id="7" name="Shape 4"/>
          <p:cNvSpPr/>
          <p:nvPr/>
        </p:nvSpPr>
        <p:spPr>
          <a:xfrm>
            <a:off x="4297680" y="2880360"/>
            <a:ext cx="3566160" cy="2240280"/>
          </a:xfrm>
          <a:prstGeom prst="roundRect">
            <a:avLst>
              <a:gd name="adj" fmla="val 3265"/>
            </a:avLst>
          </a:prstGeom>
          <a:solidFill>
            <a:srgbClr val="FFFFFF"/>
          </a:solidFill>
          <a:ln w="31750">
            <a:solidFill>
              <a:srgbClr val="C9822A"/>
            </a:solidFill>
            <a:prstDash val="solid"/>
          </a:ln>
        </p:spPr>
      </p:sp>
      <p:sp>
        <p:nvSpPr>
          <p:cNvPr id="8" name="Text 5"/>
          <p:cNvSpPr txBox="1"/>
          <p:nvPr/>
        </p:nvSpPr>
        <p:spPr>
          <a:xfrm>
            <a:off x="4462272" y="2990088"/>
            <a:ext cx="3246120" cy="2011680"/>
          </a:xfrm>
          <a:prstGeom prst="rect">
            <a:avLst/>
          </a:prstGeom>
          <a:noFill/>
          <a:ln/>
        </p:spPr>
        <p:txBody>
          <a:bodyPr wrap="square" lIns="0" tIns="0" rIns="0" bIns="0" rtlCol="0" anchor="t"/>
          <a:lstStyle/>
          <a:p>
            <a:pPr indent="0" marL="0">
              <a:buNone/>
            </a:pPr>
            <a:r>
              <a:rPr lang="en-US" sz="1700" b="1" dirty="0">
                <a:solidFill>
                  <a:srgbClr val="C9822A"/>
                </a:solidFill>
              </a:rPr>
              <a:t>Collective-choice reading</a:t>
            </a:r>
            <a:endParaRPr lang="en-US" sz="1700" dirty="0"/>
          </a:p>
          <a:p>
            <a:pPr indent="0" marL="0">
              <a:buNone/>
            </a:pPr>
            <a:r>
              <a:rPr lang="en-US" sz="1500" dirty="0">
                <a:solidFill>
                  <a:schemeClr val="tx1"/>
                </a:solidFill>
              </a:rPr>
              <a:t>"The health worker is not seated where rules are made." A membership problem. Fix: invite them. Still they have no vote.</a:t>
            </a:r>
            <a:endParaRPr lang="en-US" sz="1700" dirty="0"/>
          </a:p>
        </p:txBody>
      </p:sp>
      <p:sp>
        <p:nvSpPr>
          <p:cNvPr id="9" name="Shape 6"/>
          <p:cNvSpPr/>
          <p:nvPr/>
        </p:nvSpPr>
        <p:spPr>
          <a:xfrm>
            <a:off x="8046720" y="1737360"/>
            <a:ext cx="3566160" cy="2240280"/>
          </a:xfrm>
          <a:prstGeom prst="roundRect">
            <a:avLst>
              <a:gd name="adj" fmla="val 3265"/>
            </a:avLst>
          </a:prstGeom>
          <a:solidFill>
            <a:srgbClr val="FFFFFF"/>
          </a:solidFill>
          <a:ln w="31750">
            <a:solidFill>
              <a:srgbClr val="B5532D"/>
            </a:solidFill>
            <a:prstDash val="solid"/>
          </a:ln>
        </p:spPr>
      </p:sp>
      <p:sp>
        <p:nvSpPr>
          <p:cNvPr id="10" name="Text 7"/>
          <p:cNvSpPr txBox="1"/>
          <p:nvPr/>
        </p:nvSpPr>
        <p:spPr>
          <a:xfrm>
            <a:off x="8211312" y="1847088"/>
            <a:ext cx="3246120" cy="2011680"/>
          </a:xfrm>
          <a:prstGeom prst="rect">
            <a:avLst/>
          </a:prstGeom>
          <a:noFill/>
          <a:ln/>
        </p:spPr>
        <p:txBody>
          <a:bodyPr wrap="square" lIns="0" tIns="0" rIns="0" bIns="0" rtlCol="0" anchor="t"/>
          <a:lstStyle/>
          <a:p>
            <a:pPr indent="0" marL="0">
              <a:buNone/>
            </a:pPr>
            <a:r>
              <a:rPr lang="en-US" sz="1700" b="1" dirty="0">
                <a:solidFill>
                  <a:srgbClr val="B5532D"/>
                </a:solidFill>
              </a:rPr>
              <a:t>Constitutional reading</a:t>
            </a:r>
            <a:endParaRPr lang="en-US" sz="1700" dirty="0"/>
          </a:p>
          <a:p>
            <a:pPr indent="0" marL="0">
              <a:buNone/>
            </a:pPr>
            <a:r>
              <a:rPr lang="en-US" sz="1500" dirty="0">
                <a:solidFill>
                  <a:schemeClr val="tx1"/>
                </a:solidFill>
              </a:rPr>
              <a:t>"There is no health-worker seat at all." You cannot seat someone in a role that does not exist. Only a constitutional decision, creating the role, fixes it.</a:t>
            </a:r>
            <a:endParaRPr lang="en-US" sz="1700" dirty="0"/>
          </a:p>
        </p:txBody>
      </p:sp>
      <p:sp>
        <p:nvSpPr>
          <p:cNvPr id="11" name="Text 8"/>
          <p:cNvSpPr txBox="1"/>
          <p:nvPr/>
        </p:nvSpPr>
        <p:spPr>
          <a:xfrm>
            <a:off x="548640" y="1463040"/>
            <a:ext cx="6858000" cy="457200"/>
          </a:xfrm>
          <a:prstGeom prst="rect">
            <a:avLst/>
          </a:prstGeom>
          <a:noFill/>
          <a:ln/>
        </p:spPr>
        <p:txBody>
          <a:bodyPr wrap="square" lIns="0" tIns="0" rIns="0" bIns="0" rtlCol="0" anchor="t"/>
          <a:lstStyle/>
          <a:p>
            <a:pPr indent="0" marL="0">
              <a:spcAft>
                <a:spcPts val="600"/>
              </a:spcAft>
              <a:buNone/>
            </a:pPr>
            <a:r>
              <a:rPr lang="en-US" sz="1800" b="1" dirty="0">
                <a:solidFill>
                  <a:schemeClr val="accent1"/>
                </a:solidFill>
              </a:rPr>
              <a:t>The higher you read, the more leverage the fix has.</a:t>
            </a:r>
            <a:endParaRPr lang="en-US" sz="18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nchor="b"/>
          <a:lstStyle/>
          <a:p>
            <a:pPr indent="0" marL="0">
              <a:buNone/>
            </a:pPr>
            <a:r>
              <a:rPr lang="en-US" sz="4000" b="1" dirty="0">
                <a:solidFill>
                  <a:schemeClr val="bg1"/>
                </a:solidFill>
              </a:rPr>
              <a:t>Inside one situation</a:t>
            </a: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nchor="t"/>
          <a:lstStyle/>
          <a:p>
            <a:pPr indent="0" marL="0">
              <a:buNone/>
            </a:pPr>
            <a:r>
              <a:rPr lang="en-US" sz="1800" dirty="0">
                <a:solidFill>
                  <a:schemeClr val="bg2"/>
                </a:solidFill>
              </a:rPr>
              <a:t>Open up the action situation. Every one has the same seven working parts.</a:t>
            </a:r>
            <a:endParaRPr lang="en-US" sz="1800" dirty="0"/>
          </a:p>
        </p:txBody>
      </p:sp>
      <p:sp>
        <p:nvSpPr>
          <p:cNvPr id="4" name="Text 2"/>
          <p:cNvSpPr txBox="1"/>
          <p:nvPr/>
        </p:nvSpPr>
        <p:spPr>
          <a:xfrm>
            <a:off x="7223760" y="411480"/>
            <a:ext cx="4297680" cy="365760"/>
          </a:xfrm>
          <a:prstGeom prst="rect">
            <a:avLst/>
          </a:prstGeom>
          <a:noFill/>
          <a:ln/>
        </p:spPr>
        <p:txBody>
          <a:bodyPr wrap="square" lIns="0" tIns="0" rIns="0" bIns="0" rtlCol="0" anchor="ctr"/>
          <a:lstStyle/>
          <a:p>
            <a:pPr indent="0" marL="0">
              <a:buNone/>
            </a:pPr>
            <a:r>
              <a:rPr lang="en-US" sz="1200" b="1" spc="200" kern="0" dirty="0">
                <a:solidFill>
                  <a:schemeClr val="accent2"/>
                </a:solidFill>
              </a:rPr>
              <a:t>ZOOMING IN</a:t>
            </a:r>
            <a:endParaRPr lang="en-US" sz="1200" dirty="0"/>
          </a:p>
        </p:txBody>
      </p:sp>
      <p:sp>
        <p:nvSpPr>
          <p:cNvPr id="5" name="rung 1"/>
          <p:cNvSpPr/>
          <p:nvPr/>
        </p:nvSpPr>
        <p:spPr>
          <a:xfrm>
            <a:off x="7223760" y="914400"/>
            <a:ext cx="429768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1   The whole system</a:t>
            </a:r>
            <a:endParaRPr lang="en-US" sz="1500" dirty="0"/>
          </a:p>
        </p:txBody>
      </p:sp>
      <p:sp>
        <p:nvSpPr>
          <p:cNvPr id="6" name="rung 2"/>
          <p:cNvSpPr/>
          <p:nvPr/>
        </p:nvSpPr>
        <p:spPr>
          <a:xfrm>
            <a:off x="7333488" y="1444752"/>
            <a:ext cx="418795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2   What we share</a:t>
            </a:r>
            <a:endParaRPr lang="en-US" sz="1500" dirty="0"/>
          </a:p>
        </p:txBody>
      </p:sp>
      <p:sp>
        <p:nvSpPr>
          <p:cNvPr id="7" name="rung 3"/>
          <p:cNvSpPr/>
          <p:nvPr/>
        </p:nvSpPr>
        <p:spPr>
          <a:xfrm>
            <a:off x="7443216" y="1975104"/>
            <a:ext cx="407822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3   One situation in its setting</a:t>
            </a:r>
            <a:endParaRPr lang="en-US" sz="1500" dirty="0"/>
          </a:p>
        </p:txBody>
      </p:sp>
      <p:sp>
        <p:nvSpPr>
          <p:cNvPr id="8" name="rung 4"/>
          <p:cNvSpPr/>
          <p:nvPr/>
        </p:nvSpPr>
        <p:spPr>
          <a:xfrm>
            <a:off x="7552944" y="2505456"/>
            <a:ext cx="396849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4   Layers of decision</a:t>
            </a:r>
            <a:endParaRPr lang="en-US" sz="1500" dirty="0"/>
          </a:p>
        </p:txBody>
      </p:sp>
      <p:sp>
        <p:nvSpPr>
          <p:cNvPr id="9" name="rung 5"/>
          <p:cNvSpPr/>
          <p:nvPr/>
        </p:nvSpPr>
        <p:spPr>
          <a:xfrm>
            <a:off x="7662672" y="3035808"/>
            <a:ext cx="3858768" cy="457200"/>
          </a:xfrm>
          <a:prstGeom prst="roundRect">
            <a:avLst>
              <a:gd name="adj" fmla="val 16000"/>
            </a:avLst>
          </a:prstGeom>
          <a:solidFill>
            <a:schemeClr val="accent2"/>
          </a:solidFill>
          <a:ln w="9525">
            <a:solidFill>
              <a:schemeClr val="accent2"/>
            </a:solidFill>
          </a:ln>
        </p:spPr>
        <p:txBody>
          <a:bodyPr wrap="square" lIns="0" tIns="152400" rIns="127000" bIns="0" rtlCol="0" anchor="ctr"/>
          <a:lstStyle/>
          <a:p>
            <a:pPr indent="0" marL="0">
              <a:buNone/>
            </a:pPr>
            <a:r>
              <a:rPr lang="en-US" sz="1500" b="1" dirty="0">
                <a:solidFill>
                  <a:schemeClr val="tx2"/>
                </a:solidFill>
              </a:rPr>
              <a:t>5   Inside one situation</a:t>
            </a:r>
            <a:endParaRPr lang="en-US" sz="1500" dirty="0"/>
          </a:p>
        </p:txBody>
      </p:sp>
      <p:sp>
        <p:nvSpPr>
          <p:cNvPr id="10" name="rung 6"/>
          <p:cNvSpPr/>
          <p:nvPr/>
        </p:nvSpPr>
        <p:spPr>
          <a:xfrm>
            <a:off x="7772400" y="3566160"/>
            <a:ext cx="374904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6   The rules that shape it</a:t>
            </a:r>
            <a:endParaRPr lang="en-US" sz="1500" dirty="0"/>
          </a:p>
        </p:txBody>
      </p:sp>
      <p:sp>
        <p:nvSpPr>
          <p:cNvPr id="11" name="rung 7"/>
          <p:cNvSpPr/>
          <p:nvPr/>
        </p:nvSpPr>
        <p:spPr>
          <a:xfrm>
            <a:off x="7882128" y="4096512"/>
            <a:ext cx="363931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7   What lasting rules share</a:t>
            </a:r>
            <a:endParaRPr lang="en-US" sz="1500" dirty="0"/>
          </a:p>
        </p:txBody>
      </p:sp>
      <p:sp>
        <p:nvSpPr>
          <p:cNvPr id="12" name="rung 8"/>
          <p:cNvSpPr/>
          <p:nvPr/>
        </p:nvSpPr>
        <p:spPr>
          <a:xfrm>
            <a:off x="7991856" y="4626864"/>
            <a:ext cx="352958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8   One sentence of a rule</a:t>
            </a:r>
            <a:endParaRPr lang="en-US" sz="1500" dirty="0"/>
          </a:p>
        </p:txBody>
      </p:sp>
      <p:sp>
        <p:nvSpPr>
          <p:cNvPr id="13" name="rung 9"/>
          <p:cNvSpPr/>
          <p:nvPr/>
        </p:nvSpPr>
        <p:spPr>
          <a:xfrm>
            <a:off x="8101584" y="5157216"/>
            <a:ext cx="341985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9   One person deciding</a:t>
            </a:r>
            <a:endParaRPr lang="en-US" sz="1500" dirty="0"/>
          </a:p>
        </p:txBody>
      </p:sp>
      <p:sp>
        <p:nvSpPr>
          <p:cNvPr id="14" name="Text 12"/>
          <p:cNvSpPr txBox="1"/>
          <p:nvPr/>
        </p:nvSpPr>
        <p:spPr>
          <a:xfrm>
            <a:off x="9601200" y="566928"/>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largest scale</a:t>
            </a:r>
            <a:endParaRPr lang="en-US" sz="1100" dirty="0"/>
          </a:p>
        </p:txBody>
      </p:sp>
      <p:sp>
        <p:nvSpPr>
          <p:cNvPr id="15" name="Text 13"/>
          <p:cNvSpPr txBox="1"/>
          <p:nvPr/>
        </p:nvSpPr>
        <p:spPr>
          <a:xfrm>
            <a:off x="9601200" y="5669280"/>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smallest scale</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5 · INSIDE ONE SITUATION</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The seven working parts of any situation</a:t>
            </a:r>
            <a:endParaRPr lang="en-US" sz="3200" dirty="0"/>
          </a:p>
        </p:txBody>
      </p:sp>
      <p:pic>
        <p:nvPicPr>
          <p:cNvPr id="5" name="Image 0" descr="The seven working parts of any situation">    </p:cNvPr>
          <p:cNvPicPr>
            <a:picLocks noChangeAspect="1"/>
          </p:cNvPicPr>
          <p:nvPr/>
        </p:nvPicPr>
        <p:blipFill>
          <a:blip r:embed="rId1"/>
          <a:stretch>
            <a:fillRect/>
          </a:stretch>
        </p:blipFill>
        <p:spPr>
          <a:xfrm>
            <a:off x="2035668" y="1417320"/>
            <a:ext cx="4432584" cy="4709160"/>
          </a:xfrm>
          <a:prstGeom prst="rect">
            <a:avLst/>
          </a:prstGeom>
        </p:spPr>
      </p:pic>
      <p:sp>
        <p:nvSpPr>
          <p:cNvPr id="6" name="Text 2"/>
          <p:cNvSpPr txBox="1"/>
          <p:nvPr/>
        </p:nvSpPr>
        <p:spPr>
          <a:xfrm>
            <a:off x="2035668" y="6172200"/>
            <a:ext cx="4432584" cy="274320"/>
          </a:xfrm>
          <a:prstGeom prst="rect">
            <a:avLst/>
          </a:prstGeom>
          <a:noFill/>
          <a:ln/>
        </p:spPr>
        <p:txBody>
          <a:bodyPr wrap="square" lIns="0" tIns="0" rIns="0" bIns="0" rtlCol="0" anchor="ctr"/>
          <a:lstStyle/>
          <a:p>
            <a:pPr indent="0" marL="0">
              <a:buNone/>
            </a:pPr>
            <a:r>
              <a:rPr lang="en-US" sz="1000" i="1" dirty="0">
                <a:solidFill>
                  <a:srgbClr val="5B6B60"/>
                </a:solidFill>
              </a:rPr>
              <a:t>Ostrom 2010, Figure 3, adapted from Ostrom 2005</a:t>
            </a:r>
            <a:endParaRPr lang="en-US" sz="1000" dirty="0"/>
          </a:p>
        </p:txBody>
      </p:sp>
      <p:sp>
        <p:nvSpPr>
          <p:cNvPr id="7" name="reading panel"/>
          <p:cNvSpPr/>
          <p:nvPr/>
        </p:nvSpPr>
        <p:spPr>
          <a:xfrm>
            <a:off x="8321040" y="1417320"/>
            <a:ext cx="3429000" cy="4846320"/>
          </a:xfrm>
          <a:prstGeom prst="roundRect">
            <a:avLst>
              <a:gd name="adj" fmla="val 2133"/>
            </a:avLst>
          </a:prstGeom>
          <a:solidFill>
            <a:schemeClr val="bg2"/>
          </a:solidFill>
          <a:ln w="12700">
            <a:solidFill>
              <a:schemeClr val="bg2"/>
            </a:solidFill>
            <a:prstDash val="solid"/>
          </a:ln>
        </p:spPr>
      </p:sp>
      <p:sp>
        <p:nvSpPr>
          <p:cNvPr id="8" name="Text 4"/>
          <p:cNvSpPr txBox="1"/>
          <p:nvPr/>
        </p:nvSpPr>
        <p:spPr>
          <a:xfrm>
            <a:off x="8503920" y="1554480"/>
            <a:ext cx="31089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HOW TO READ IT</a:t>
            </a:r>
            <a:endParaRPr lang="en-US" sz="1200" dirty="0"/>
          </a:p>
        </p:txBody>
      </p:sp>
      <p:sp>
        <p:nvSpPr>
          <p:cNvPr id="9" name="Text 5"/>
          <p:cNvSpPr txBox="1"/>
          <p:nvPr/>
        </p:nvSpPr>
        <p:spPr>
          <a:xfrm>
            <a:off x="8503920" y="1920240"/>
            <a:ext cx="3108960" cy="4251960"/>
          </a:xfrm>
          <a:prstGeom prst="rect">
            <a:avLst/>
          </a:prstGeom>
          <a:noFill/>
          <a:ln/>
        </p:spPr>
        <p:txBody>
          <a:bodyPr wrap="square" lIns="0" tIns="0" rIns="0" bIns="0" rtlCol="0" anchor="t"/>
          <a:lstStyle/>
          <a:p>
            <a:pPr marL="190500" indent="-190500">
              <a:spcAft>
                <a:spcPts val="800"/>
              </a:spcAft>
              <a:buSzPct val="100000"/>
              <a:buChar char="•"/>
            </a:pPr>
            <a:r>
              <a:rPr lang="en-US" sz="1400" dirty="0">
                <a:solidFill>
                  <a:schemeClr val="tx1"/>
                </a:solidFill>
              </a:rPr>
              <a:t>People (actors) are put into roles (positions).</a:t>
            </a:r>
            <a:endParaRPr lang="en-US" sz="1400" dirty="0"/>
          </a:p>
          <a:p>
            <a:pPr marL="190500" indent="-190500">
              <a:spcAft>
                <a:spcPts val="800"/>
              </a:spcAft>
              <a:buSzPct val="100000"/>
              <a:buChar char="•"/>
            </a:pPr>
            <a:r>
              <a:rPr lang="en-US" sz="1400" dirty="0">
                <a:solidFill>
                  <a:schemeClr val="tx1"/>
                </a:solidFill>
              </a:rPr>
              <a:t>Roles come with actions they can take.</a:t>
            </a:r>
            <a:endParaRPr lang="en-US" sz="1400" dirty="0"/>
          </a:p>
          <a:p>
            <a:pPr marL="190500" indent="-190500">
              <a:spcAft>
                <a:spcPts val="800"/>
              </a:spcAft>
              <a:buSzPct val="100000"/>
              <a:buChar char="•"/>
            </a:pPr>
            <a:r>
              <a:rPr lang="en-US" sz="1400" dirty="0">
                <a:solidFill>
                  <a:schemeClr val="tx1"/>
                </a:solidFill>
              </a:rPr>
              <a:t>Actions lead to possible results, shaped by what people know (information) and how choices combine (control).</a:t>
            </a:r>
            <a:endParaRPr lang="en-US" sz="1400" dirty="0"/>
          </a:p>
          <a:p>
            <a:pPr marL="190500" indent="-190500">
              <a:spcAft>
                <a:spcPts val="800"/>
              </a:spcAft>
              <a:buSzPct val="100000"/>
              <a:buChar char="•"/>
            </a:pPr>
            <a:r>
              <a:rPr lang="en-US" sz="1400" dirty="0">
                <a:solidFill>
                  <a:schemeClr val="tx1"/>
                </a:solidFill>
              </a:rPr>
              <a:t>Each result carries costs and benefits for each role.</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5 · INSIDE ONE SITUATION</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Words on this diagram, in plain language</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Every term on the Figure 3 diagram, translated.</a:t>
            </a:r>
            <a:endParaRPr lang="en-US" sz="1500" dirty="0"/>
          </a:p>
        </p:txBody>
      </p:sp>
      <p:sp>
        <p:nvSpPr>
          <p:cNvPr id="6" name="card Actors"/>
          <p:cNvSpPr/>
          <p:nvPr/>
        </p:nvSpPr>
        <p:spPr>
          <a:xfrm>
            <a:off x="548640" y="1828800"/>
            <a:ext cx="5477256" cy="799186"/>
          </a:xfrm>
          <a:prstGeom prst="roundRect">
            <a:avLst>
              <a:gd name="adj" fmla="val 9153"/>
            </a:avLst>
          </a:prstGeom>
          <a:solidFill>
            <a:schemeClr val="bg2"/>
          </a:solidFill>
          <a:ln w="12700">
            <a:solidFill>
              <a:schemeClr val="bg2"/>
            </a:solidFill>
            <a:prstDash val="solid"/>
          </a:ln>
        </p:spPr>
      </p:sp>
      <p:sp>
        <p:nvSpPr>
          <p:cNvPr id="7" name="Text 4"/>
          <p:cNvSpPr txBox="1"/>
          <p:nvPr/>
        </p:nvSpPr>
        <p:spPr>
          <a:xfrm>
            <a:off x="685800" y="1920240"/>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Actors</a:t>
            </a:r>
            <a:endParaRPr lang="en-US" sz="1500" dirty="0"/>
          </a:p>
          <a:p>
            <a:pPr indent="0" marL="0">
              <a:spcAft>
                <a:spcPts val="400"/>
              </a:spcAft>
              <a:buNone/>
            </a:pPr>
            <a:r>
              <a:rPr lang="en-US" sz="1400" dirty="0">
                <a:solidFill>
                  <a:schemeClr val="tx1"/>
                </a:solidFill>
              </a:rPr>
              <a:t>The people or organizations taking part. At Elm Street: gardeners, the keeper, the city.</a:t>
            </a:r>
            <a:endParaRPr lang="en-US" sz="1500" dirty="0"/>
          </a:p>
        </p:txBody>
      </p:sp>
      <p:sp>
        <p:nvSpPr>
          <p:cNvPr id="8" name="card Positions"/>
          <p:cNvSpPr/>
          <p:nvPr/>
        </p:nvSpPr>
        <p:spPr>
          <a:xfrm>
            <a:off x="548640" y="2737714"/>
            <a:ext cx="5477256" cy="799186"/>
          </a:xfrm>
          <a:prstGeom prst="roundRect">
            <a:avLst>
              <a:gd name="adj" fmla="val 9153"/>
            </a:avLst>
          </a:prstGeom>
          <a:solidFill>
            <a:schemeClr val="bg2"/>
          </a:solidFill>
          <a:ln w="12700">
            <a:solidFill>
              <a:schemeClr val="bg2"/>
            </a:solidFill>
            <a:prstDash val="solid"/>
          </a:ln>
        </p:spPr>
      </p:sp>
      <p:sp>
        <p:nvSpPr>
          <p:cNvPr id="9" name="Text 6"/>
          <p:cNvSpPr txBox="1"/>
          <p:nvPr/>
        </p:nvSpPr>
        <p:spPr>
          <a:xfrm>
            <a:off x="685800" y="2829154"/>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Positions</a:t>
            </a:r>
            <a:endParaRPr lang="en-US" sz="1500" dirty="0"/>
          </a:p>
          <a:p>
            <a:pPr indent="0" marL="0">
              <a:spcAft>
                <a:spcPts val="400"/>
              </a:spcAft>
              <a:buNone/>
            </a:pPr>
            <a:r>
              <a:rPr lang="en-US" sz="1400" dirty="0">
                <a:solidFill>
                  <a:schemeClr val="tx1"/>
                </a:solidFill>
              </a:rPr>
              <a:t>Roles or seats: gardener, water keeper, chair. A role outlasts the person in it.</a:t>
            </a:r>
            <a:endParaRPr lang="en-US" sz="1500" dirty="0"/>
          </a:p>
        </p:txBody>
      </p:sp>
      <p:sp>
        <p:nvSpPr>
          <p:cNvPr id="10" name="card Actions"/>
          <p:cNvSpPr/>
          <p:nvPr/>
        </p:nvSpPr>
        <p:spPr>
          <a:xfrm>
            <a:off x="548640" y="3646627"/>
            <a:ext cx="5477256" cy="799186"/>
          </a:xfrm>
          <a:prstGeom prst="roundRect">
            <a:avLst>
              <a:gd name="adj" fmla="val 9153"/>
            </a:avLst>
          </a:prstGeom>
          <a:solidFill>
            <a:schemeClr val="bg2"/>
          </a:solidFill>
          <a:ln w="12700">
            <a:solidFill>
              <a:schemeClr val="bg2"/>
            </a:solidFill>
            <a:prstDash val="solid"/>
          </a:ln>
        </p:spPr>
      </p:sp>
      <p:sp>
        <p:nvSpPr>
          <p:cNvPr id="11" name="Text 8"/>
          <p:cNvSpPr txBox="1"/>
          <p:nvPr/>
        </p:nvSpPr>
        <p:spPr>
          <a:xfrm>
            <a:off x="685800" y="3738067"/>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Actions</a:t>
            </a:r>
            <a:endParaRPr lang="en-US" sz="1500" dirty="0"/>
          </a:p>
          <a:p>
            <a:pPr indent="0" marL="0">
              <a:spcAft>
                <a:spcPts val="400"/>
              </a:spcAft>
              <a:buNone/>
            </a:pPr>
            <a:r>
              <a:rPr lang="en-US" sz="1400" dirty="0">
                <a:solidFill>
                  <a:schemeClr val="tx1"/>
                </a:solidFill>
              </a:rPr>
              <a:t>What someone in a position can do: water, harvest, propose, vote, report.</a:t>
            </a:r>
            <a:endParaRPr lang="en-US" sz="1500" dirty="0"/>
          </a:p>
        </p:txBody>
      </p:sp>
      <p:sp>
        <p:nvSpPr>
          <p:cNvPr id="12" name="card INFORMATION about"/>
          <p:cNvSpPr/>
          <p:nvPr/>
        </p:nvSpPr>
        <p:spPr>
          <a:xfrm>
            <a:off x="548640" y="4555541"/>
            <a:ext cx="5477256" cy="799186"/>
          </a:xfrm>
          <a:prstGeom prst="roundRect">
            <a:avLst>
              <a:gd name="adj" fmla="val 9153"/>
            </a:avLst>
          </a:prstGeom>
          <a:solidFill>
            <a:schemeClr val="bg2"/>
          </a:solidFill>
          <a:ln w="12700">
            <a:solidFill>
              <a:schemeClr val="bg2"/>
            </a:solidFill>
            <a:prstDash val="solid"/>
          </a:ln>
        </p:spPr>
      </p:sp>
      <p:sp>
        <p:nvSpPr>
          <p:cNvPr id="13" name="Text 10"/>
          <p:cNvSpPr txBox="1"/>
          <p:nvPr/>
        </p:nvSpPr>
        <p:spPr>
          <a:xfrm>
            <a:off x="685800" y="4646981"/>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INFORMATION about</a:t>
            </a:r>
            <a:endParaRPr lang="en-US" sz="1500" dirty="0"/>
          </a:p>
          <a:p>
            <a:pPr indent="0" marL="0">
              <a:spcAft>
                <a:spcPts val="400"/>
              </a:spcAft>
              <a:buNone/>
            </a:pPr>
            <a:r>
              <a:rPr lang="en-US" sz="1400" dirty="0">
                <a:solidFill>
                  <a:schemeClr val="tx1"/>
                </a:solidFill>
              </a:rPr>
              <a:t>What each person knows when they choose: the tank level, who watered, what others did.</a:t>
            </a:r>
            <a:endParaRPr lang="en-US" sz="1500" dirty="0"/>
          </a:p>
        </p:txBody>
      </p:sp>
      <p:sp>
        <p:nvSpPr>
          <p:cNvPr id="14" name="card CONTROL over"/>
          <p:cNvSpPr/>
          <p:nvPr/>
        </p:nvSpPr>
        <p:spPr>
          <a:xfrm>
            <a:off x="548640" y="5464454"/>
            <a:ext cx="5477256" cy="799186"/>
          </a:xfrm>
          <a:prstGeom prst="roundRect">
            <a:avLst>
              <a:gd name="adj" fmla="val 9153"/>
            </a:avLst>
          </a:prstGeom>
          <a:solidFill>
            <a:schemeClr val="bg2"/>
          </a:solidFill>
          <a:ln w="12700">
            <a:solidFill>
              <a:schemeClr val="bg2"/>
            </a:solidFill>
            <a:prstDash val="solid"/>
          </a:ln>
        </p:spPr>
      </p:sp>
      <p:sp>
        <p:nvSpPr>
          <p:cNvPr id="15" name="Text 12"/>
          <p:cNvSpPr txBox="1"/>
          <p:nvPr/>
        </p:nvSpPr>
        <p:spPr>
          <a:xfrm>
            <a:off x="685800" y="5555894"/>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CONTROL over</a:t>
            </a:r>
            <a:endParaRPr lang="en-US" sz="1500" dirty="0"/>
          </a:p>
          <a:p>
            <a:pPr indent="0" marL="0">
              <a:spcAft>
                <a:spcPts val="400"/>
              </a:spcAft>
              <a:buNone/>
            </a:pPr>
            <a:r>
              <a:rPr lang="en-US" sz="1400" dirty="0">
                <a:solidFill>
                  <a:schemeClr val="tx1"/>
                </a:solidFill>
              </a:rPr>
              <a:t>How individual choices combine into a result: one person decides, a vote, everyone must agree.</a:t>
            </a:r>
            <a:endParaRPr lang="en-US" sz="1500" dirty="0"/>
          </a:p>
        </p:txBody>
      </p:sp>
      <p:sp>
        <p:nvSpPr>
          <p:cNvPr id="16" name="card Potential outcomes"/>
          <p:cNvSpPr/>
          <p:nvPr/>
        </p:nvSpPr>
        <p:spPr>
          <a:xfrm>
            <a:off x="6135624" y="1828800"/>
            <a:ext cx="5477256" cy="799186"/>
          </a:xfrm>
          <a:prstGeom prst="roundRect">
            <a:avLst>
              <a:gd name="adj" fmla="val 9153"/>
            </a:avLst>
          </a:prstGeom>
          <a:solidFill>
            <a:schemeClr val="bg2"/>
          </a:solidFill>
          <a:ln w="12700">
            <a:solidFill>
              <a:schemeClr val="bg2"/>
            </a:solidFill>
            <a:prstDash val="solid"/>
          </a:ln>
        </p:spPr>
      </p:sp>
      <p:sp>
        <p:nvSpPr>
          <p:cNvPr id="17" name="Text 14"/>
          <p:cNvSpPr txBox="1"/>
          <p:nvPr/>
        </p:nvSpPr>
        <p:spPr>
          <a:xfrm>
            <a:off x="6272784" y="1920240"/>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Potential outcomes</a:t>
            </a:r>
            <a:endParaRPr lang="en-US" sz="1500" dirty="0"/>
          </a:p>
          <a:p>
            <a:pPr indent="0" marL="0">
              <a:spcAft>
                <a:spcPts val="400"/>
              </a:spcAft>
              <a:buNone/>
            </a:pPr>
            <a:r>
              <a:rPr lang="en-US" sz="1400" dirty="0">
                <a:solidFill>
                  <a:schemeClr val="tx1"/>
                </a:solidFill>
              </a:rPr>
              <a:t>The results that are possible here: a full tank, dead tomatoes, a fight.</a:t>
            </a:r>
            <a:endParaRPr lang="en-US" sz="1500" dirty="0"/>
          </a:p>
        </p:txBody>
      </p:sp>
      <p:sp>
        <p:nvSpPr>
          <p:cNvPr id="18" name="card Net costs and benefits"/>
          <p:cNvSpPr/>
          <p:nvPr/>
        </p:nvSpPr>
        <p:spPr>
          <a:xfrm>
            <a:off x="6135624" y="2737714"/>
            <a:ext cx="5477256" cy="799186"/>
          </a:xfrm>
          <a:prstGeom prst="roundRect">
            <a:avLst>
              <a:gd name="adj" fmla="val 9153"/>
            </a:avLst>
          </a:prstGeom>
          <a:solidFill>
            <a:schemeClr val="bg2"/>
          </a:solidFill>
          <a:ln w="12700">
            <a:solidFill>
              <a:schemeClr val="bg2"/>
            </a:solidFill>
            <a:prstDash val="solid"/>
          </a:ln>
        </p:spPr>
      </p:sp>
      <p:sp>
        <p:nvSpPr>
          <p:cNvPr id="19" name="Text 16"/>
          <p:cNvSpPr txBox="1"/>
          <p:nvPr/>
        </p:nvSpPr>
        <p:spPr>
          <a:xfrm>
            <a:off x="6272784" y="2829154"/>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Net costs and benefits</a:t>
            </a:r>
            <a:endParaRPr lang="en-US" sz="1500" dirty="0"/>
          </a:p>
          <a:p>
            <a:pPr indent="0" marL="0">
              <a:spcAft>
                <a:spcPts val="400"/>
              </a:spcAft>
              <a:buNone/>
            </a:pPr>
            <a:r>
              <a:rPr lang="en-US" sz="1400" dirty="0">
                <a:solidFill>
                  <a:schemeClr val="tx1"/>
                </a:solidFill>
              </a:rPr>
              <a:t>What each role pays and gains. "Net" means gains minus costs.</a:t>
            </a:r>
            <a:endParaRPr lang="en-US" sz="1500" dirty="0"/>
          </a:p>
        </p:txBody>
      </p:sp>
      <p:sp>
        <p:nvSpPr>
          <p:cNvPr id="20" name="card Assigned to / linked to"/>
          <p:cNvSpPr/>
          <p:nvPr/>
        </p:nvSpPr>
        <p:spPr>
          <a:xfrm>
            <a:off x="6135624" y="3646627"/>
            <a:ext cx="5477256" cy="799186"/>
          </a:xfrm>
          <a:prstGeom prst="roundRect">
            <a:avLst>
              <a:gd name="adj" fmla="val 9153"/>
            </a:avLst>
          </a:prstGeom>
          <a:solidFill>
            <a:schemeClr val="bg2"/>
          </a:solidFill>
          <a:ln w="12700">
            <a:solidFill>
              <a:schemeClr val="bg2"/>
            </a:solidFill>
            <a:prstDash val="solid"/>
          </a:ln>
        </p:spPr>
      </p:sp>
      <p:sp>
        <p:nvSpPr>
          <p:cNvPr id="21" name="Text 18"/>
          <p:cNvSpPr txBox="1"/>
          <p:nvPr/>
        </p:nvSpPr>
        <p:spPr>
          <a:xfrm>
            <a:off x="6272784" y="3738067"/>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Assigned to / linked to</a:t>
            </a:r>
            <a:endParaRPr lang="en-US" sz="1500" dirty="0"/>
          </a:p>
          <a:p>
            <a:pPr indent="0" marL="0">
              <a:spcAft>
                <a:spcPts val="400"/>
              </a:spcAft>
              <a:buNone/>
            </a:pPr>
            <a:r>
              <a:rPr lang="en-US" sz="1400" dirty="0">
                <a:solidFill>
                  <a:schemeClr val="tx1"/>
                </a:solidFill>
              </a:rPr>
              <a:t>Who goes in which seat, and which actions lead to which results.</a:t>
            </a:r>
            <a:endParaRPr lang="en-US" sz="1500" dirty="0"/>
          </a:p>
        </p:txBody>
      </p:sp>
      <p:sp>
        <p:nvSpPr>
          <p:cNvPr id="22" name="card External variables"/>
          <p:cNvSpPr/>
          <p:nvPr/>
        </p:nvSpPr>
        <p:spPr>
          <a:xfrm>
            <a:off x="6135624" y="4555541"/>
            <a:ext cx="5477256" cy="799186"/>
          </a:xfrm>
          <a:prstGeom prst="roundRect">
            <a:avLst>
              <a:gd name="adj" fmla="val 9153"/>
            </a:avLst>
          </a:prstGeom>
          <a:solidFill>
            <a:schemeClr val="bg2"/>
          </a:solidFill>
          <a:ln w="12700">
            <a:solidFill>
              <a:schemeClr val="bg2"/>
            </a:solidFill>
            <a:prstDash val="solid"/>
          </a:ln>
        </p:spPr>
      </p:sp>
      <p:sp>
        <p:nvSpPr>
          <p:cNvPr id="23" name="Text 20"/>
          <p:cNvSpPr txBox="1"/>
          <p:nvPr/>
        </p:nvSpPr>
        <p:spPr>
          <a:xfrm>
            <a:off x="6272784" y="4646981"/>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External variables</a:t>
            </a:r>
            <a:endParaRPr lang="en-US" sz="1500" dirty="0"/>
          </a:p>
          <a:p>
            <a:pPr indent="0" marL="0">
              <a:spcAft>
                <a:spcPts val="400"/>
              </a:spcAft>
              <a:buNone/>
            </a:pPr>
            <a:r>
              <a:rPr lang="en-US" sz="1400" dirty="0">
                <a:solidFill>
                  <a:schemeClr val="tx1"/>
                </a:solidFill>
              </a:rPr>
              <a:t>The outside things from Figure 2 that set up the situation.</a:t>
            </a:r>
            <a:endParaRPr lang="en-US" sz="1500" dirty="0"/>
          </a:p>
        </p:txBody>
      </p:sp>
      <p:sp>
        <p:nvSpPr>
          <p:cNvPr id="24" name="card Action situation"/>
          <p:cNvSpPr/>
          <p:nvPr/>
        </p:nvSpPr>
        <p:spPr>
          <a:xfrm>
            <a:off x="6135624" y="5464454"/>
            <a:ext cx="5477256" cy="799186"/>
          </a:xfrm>
          <a:prstGeom prst="roundRect">
            <a:avLst>
              <a:gd name="adj" fmla="val 9153"/>
            </a:avLst>
          </a:prstGeom>
          <a:solidFill>
            <a:schemeClr val="bg2"/>
          </a:solidFill>
          <a:ln w="12700">
            <a:solidFill>
              <a:schemeClr val="bg2"/>
            </a:solidFill>
            <a:prstDash val="solid"/>
          </a:ln>
        </p:spPr>
      </p:sp>
      <p:sp>
        <p:nvSpPr>
          <p:cNvPr id="25" name="Text 22"/>
          <p:cNvSpPr txBox="1"/>
          <p:nvPr/>
        </p:nvSpPr>
        <p:spPr>
          <a:xfrm>
            <a:off x="6272784" y="5555894"/>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Action situation</a:t>
            </a:r>
            <a:endParaRPr lang="en-US" sz="1500" dirty="0"/>
          </a:p>
          <a:p>
            <a:pPr indent="0" marL="0">
              <a:spcAft>
                <a:spcPts val="400"/>
              </a:spcAft>
              <a:buNone/>
            </a:pPr>
            <a:r>
              <a:rPr lang="en-US" sz="1400" dirty="0">
                <a:solidFill>
                  <a:schemeClr val="tx1"/>
                </a:solidFill>
              </a:rPr>
              <a:t>The setting where all seven parts come together.</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nchor="b"/>
          <a:lstStyle/>
          <a:p>
            <a:pPr indent="0" marL="0">
              <a:buNone/>
            </a:pPr>
            <a:r>
              <a:rPr lang="en-US" sz="4000" b="1" dirty="0">
                <a:solidFill>
                  <a:schemeClr val="bg1"/>
                </a:solidFill>
              </a:rPr>
              <a:t>The rules that shape it</a:t>
            </a: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nchor="t"/>
          <a:lstStyle/>
          <a:p>
            <a:pPr indent="0" marL="0">
              <a:buNone/>
            </a:pPr>
            <a:r>
              <a:rPr lang="en-US" sz="1800" dirty="0">
                <a:solidFill>
                  <a:schemeClr val="bg2"/>
                </a:solidFill>
              </a:rPr>
              <a:t>Seven kinds of rule, one for each working part. Plus Marc's questions from inside the seat.</a:t>
            </a:r>
            <a:endParaRPr lang="en-US" sz="1800" dirty="0"/>
          </a:p>
        </p:txBody>
      </p:sp>
      <p:sp>
        <p:nvSpPr>
          <p:cNvPr id="4" name="Text 2"/>
          <p:cNvSpPr txBox="1"/>
          <p:nvPr/>
        </p:nvSpPr>
        <p:spPr>
          <a:xfrm>
            <a:off x="7223760" y="411480"/>
            <a:ext cx="4297680" cy="365760"/>
          </a:xfrm>
          <a:prstGeom prst="rect">
            <a:avLst/>
          </a:prstGeom>
          <a:noFill/>
          <a:ln/>
        </p:spPr>
        <p:txBody>
          <a:bodyPr wrap="square" lIns="0" tIns="0" rIns="0" bIns="0" rtlCol="0" anchor="ctr"/>
          <a:lstStyle/>
          <a:p>
            <a:pPr indent="0" marL="0">
              <a:buNone/>
            </a:pPr>
            <a:r>
              <a:rPr lang="en-US" sz="1200" b="1" spc="200" kern="0" dirty="0">
                <a:solidFill>
                  <a:schemeClr val="accent2"/>
                </a:solidFill>
              </a:rPr>
              <a:t>ZOOMING IN</a:t>
            </a:r>
            <a:endParaRPr lang="en-US" sz="1200" dirty="0"/>
          </a:p>
        </p:txBody>
      </p:sp>
      <p:sp>
        <p:nvSpPr>
          <p:cNvPr id="5" name="rung 1"/>
          <p:cNvSpPr/>
          <p:nvPr/>
        </p:nvSpPr>
        <p:spPr>
          <a:xfrm>
            <a:off x="7223760" y="914400"/>
            <a:ext cx="429768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1   The whole system</a:t>
            </a:r>
            <a:endParaRPr lang="en-US" sz="1500" dirty="0"/>
          </a:p>
        </p:txBody>
      </p:sp>
      <p:sp>
        <p:nvSpPr>
          <p:cNvPr id="6" name="rung 2"/>
          <p:cNvSpPr/>
          <p:nvPr/>
        </p:nvSpPr>
        <p:spPr>
          <a:xfrm>
            <a:off x="7333488" y="1444752"/>
            <a:ext cx="418795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2   What we share</a:t>
            </a:r>
            <a:endParaRPr lang="en-US" sz="1500" dirty="0"/>
          </a:p>
        </p:txBody>
      </p:sp>
      <p:sp>
        <p:nvSpPr>
          <p:cNvPr id="7" name="rung 3"/>
          <p:cNvSpPr/>
          <p:nvPr/>
        </p:nvSpPr>
        <p:spPr>
          <a:xfrm>
            <a:off x="7443216" y="1975104"/>
            <a:ext cx="407822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3   One situation in its setting</a:t>
            </a:r>
            <a:endParaRPr lang="en-US" sz="1500" dirty="0"/>
          </a:p>
        </p:txBody>
      </p:sp>
      <p:sp>
        <p:nvSpPr>
          <p:cNvPr id="8" name="rung 4"/>
          <p:cNvSpPr/>
          <p:nvPr/>
        </p:nvSpPr>
        <p:spPr>
          <a:xfrm>
            <a:off x="7552944" y="2505456"/>
            <a:ext cx="396849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4   Layers of decision</a:t>
            </a:r>
            <a:endParaRPr lang="en-US" sz="1500" dirty="0"/>
          </a:p>
        </p:txBody>
      </p:sp>
      <p:sp>
        <p:nvSpPr>
          <p:cNvPr id="9" name="rung 5"/>
          <p:cNvSpPr/>
          <p:nvPr/>
        </p:nvSpPr>
        <p:spPr>
          <a:xfrm>
            <a:off x="7662672" y="3035808"/>
            <a:ext cx="3858768"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5   Inside one situation</a:t>
            </a:r>
            <a:endParaRPr lang="en-US" sz="1500" dirty="0"/>
          </a:p>
        </p:txBody>
      </p:sp>
      <p:sp>
        <p:nvSpPr>
          <p:cNvPr id="10" name="rung 6"/>
          <p:cNvSpPr/>
          <p:nvPr/>
        </p:nvSpPr>
        <p:spPr>
          <a:xfrm>
            <a:off x="7772400" y="3566160"/>
            <a:ext cx="3749040" cy="457200"/>
          </a:xfrm>
          <a:prstGeom prst="roundRect">
            <a:avLst>
              <a:gd name="adj" fmla="val 16000"/>
            </a:avLst>
          </a:prstGeom>
          <a:solidFill>
            <a:schemeClr val="accent2"/>
          </a:solidFill>
          <a:ln w="9525">
            <a:solidFill>
              <a:schemeClr val="accent2"/>
            </a:solidFill>
          </a:ln>
        </p:spPr>
        <p:txBody>
          <a:bodyPr wrap="square" lIns="0" tIns="152400" rIns="127000" bIns="0" rtlCol="0" anchor="ctr"/>
          <a:lstStyle/>
          <a:p>
            <a:pPr indent="0" marL="0">
              <a:buNone/>
            </a:pPr>
            <a:r>
              <a:rPr lang="en-US" sz="1500" b="1" dirty="0">
                <a:solidFill>
                  <a:schemeClr val="tx2"/>
                </a:solidFill>
              </a:rPr>
              <a:t>6   The rules that shape it</a:t>
            </a:r>
            <a:endParaRPr lang="en-US" sz="1500" dirty="0"/>
          </a:p>
        </p:txBody>
      </p:sp>
      <p:sp>
        <p:nvSpPr>
          <p:cNvPr id="11" name="rung 7"/>
          <p:cNvSpPr/>
          <p:nvPr/>
        </p:nvSpPr>
        <p:spPr>
          <a:xfrm>
            <a:off x="7882128" y="4096512"/>
            <a:ext cx="363931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7   What lasting rules share</a:t>
            </a:r>
            <a:endParaRPr lang="en-US" sz="1500" dirty="0"/>
          </a:p>
        </p:txBody>
      </p:sp>
      <p:sp>
        <p:nvSpPr>
          <p:cNvPr id="12" name="rung 8"/>
          <p:cNvSpPr/>
          <p:nvPr/>
        </p:nvSpPr>
        <p:spPr>
          <a:xfrm>
            <a:off x="7991856" y="4626864"/>
            <a:ext cx="352958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8   One sentence of a rule</a:t>
            </a:r>
            <a:endParaRPr lang="en-US" sz="1500" dirty="0"/>
          </a:p>
        </p:txBody>
      </p:sp>
      <p:sp>
        <p:nvSpPr>
          <p:cNvPr id="13" name="rung 9"/>
          <p:cNvSpPr/>
          <p:nvPr/>
        </p:nvSpPr>
        <p:spPr>
          <a:xfrm>
            <a:off x="8101584" y="5157216"/>
            <a:ext cx="341985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9   One person deciding</a:t>
            </a:r>
            <a:endParaRPr lang="en-US" sz="1500" dirty="0"/>
          </a:p>
        </p:txBody>
      </p:sp>
      <p:sp>
        <p:nvSpPr>
          <p:cNvPr id="14" name="Text 12"/>
          <p:cNvSpPr txBox="1"/>
          <p:nvPr/>
        </p:nvSpPr>
        <p:spPr>
          <a:xfrm>
            <a:off x="9601200" y="566928"/>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largest scale</a:t>
            </a:r>
            <a:endParaRPr lang="en-US" sz="1100" dirty="0"/>
          </a:p>
        </p:txBody>
      </p:sp>
      <p:sp>
        <p:nvSpPr>
          <p:cNvPr id="15" name="Text 13"/>
          <p:cNvSpPr txBox="1"/>
          <p:nvPr/>
        </p:nvSpPr>
        <p:spPr>
          <a:xfrm>
            <a:off x="9601200" y="5669280"/>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smallest scale</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6 · THE RULES THAT SHAPE IT</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Each kind of rule shapes one part of the situation</a:t>
            </a:r>
            <a:endParaRPr lang="en-US" sz="3200" dirty="0"/>
          </a:p>
        </p:txBody>
      </p:sp>
      <p:pic>
        <p:nvPicPr>
          <p:cNvPr id="5" name="Image 0" descr="Each kind of rule shapes one part of the situation">    </p:cNvPr>
          <p:cNvPicPr>
            <a:picLocks noChangeAspect="1"/>
          </p:cNvPicPr>
          <p:nvPr/>
        </p:nvPicPr>
        <p:blipFill>
          <a:blip r:embed="rId1"/>
          <a:stretch>
            <a:fillRect/>
          </a:stretch>
        </p:blipFill>
        <p:spPr>
          <a:xfrm>
            <a:off x="1111298" y="1417320"/>
            <a:ext cx="6281323" cy="4709160"/>
          </a:xfrm>
          <a:prstGeom prst="rect">
            <a:avLst/>
          </a:prstGeom>
        </p:spPr>
      </p:pic>
      <p:sp>
        <p:nvSpPr>
          <p:cNvPr id="6" name="Text 2"/>
          <p:cNvSpPr txBox="1"/>
          <p:nvPr/>
        </p:nvSpPr>
        <p:spPr>
          <a:xfrm>
            <a:off x="1111298" y="6172200"/>
            <a:ext cx="6281323" cy="274320"/>
          </a:xfrm>
          <a:prstGeom prst="rect">
            <a:avLst/>
          </a:prstGeom>
          <a:noFill/>
          <a:ln/>
        </p:spPr>
        <p:txBody>
          <a:bodyPr wrap="square" lIns="0" tIns="0" rIns="0" bIns="0" rtlCol="0" anchor="ctr"/>
          <a:lstStyle/>
          <a:p>
            <a:pPr indent="0" marL="0">
              <a:buNone/>
            </a:pPr>
            <a:r>
              <a:rPr lang="en-US" sz="1000" i="1" dirty="0">
                <a:solidFill>
                  <a:srgbClr val="5B6B60"/>
                </a:solidFill>
              </a:rPr>
              <a:t>Ostrom 2010, Figure 4, adapted from Ostrom 2005. Green dotted labels: Marc's</a:t>
            </a:r>
            <a:endParaRPr lang="en-US" sz="1000" dirty="0"/>
          </a:p>
        </p:txBody>
      </p:sp>
      <p:sp>
        <p:nvSpPr>
          <p:cNvPr id="7" name="reading panel"/>
          <p:cNvSpPr/>
          <p:nvPr/>
        </p:nvSpPr>
        <p:spPr>
          <a:xfrm>
            <a:off x="8321040" y="1417320"/>
            <a:ext cx="3429000" cy="4846320"/>
          </a:xfrm>
          <a:prstGeom prst="roundRect">
            <a:avLst>
              <a:gd name="adj" fmla="val 2133"/>
            </a:avLst>
          </a:prstGeom>
          <a:solidFill>
            <a:schemeClr val="bg2"/>
          </a:solidFill>
          <a:ln w="12700">
            <a:solidFill>
              <a:schemeClr val="bg2"/>
            </a:solidFill>
            <a:prstDash val="solid"/>
          </a:ln>
        </p:spPr>
      </p:sp>
      <p:sp>
        <p:nvSpPr>
          <p:cNvPr id="8" name="Text 4"/>
          <p:cNvSpPr txBox="1"/>
          <p:nvPr/>
        </p:nvSpPr>
        <p:spPr>
          <a:xfrm>
            <a:off x="8503920" y="1554480"/>
            <a:ext cx="31089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HOW TO READ IT</a:t>
            </a:r>
            <a:endParaRPr lang="en-US" sz="1200" dirty="0"/>
          </a:p>
        </p:txBody>
      </p:sp>
      <p:sp>
        <p:nvSpPr>
          <p:cNvPr id="9" name="Text 5"/>
          <p:cNvSpPr txBox="1"/>
          <p:nvPr/>
        </p:nvSpPr>
        <p:spPr>
          <a:xfrm>
            <a:off x="8503920" y="1920240"/>
            <a:ext cx="3108960" cy="4251960"/>
          </a:xfrm>
          <a:prstGeom prst="rect">
            <a:avLst/>
          </a:prstGeom>
          <a:noFill/>
          <a:ln/>
        </p:spPr>
        <p:txBody>
          <a:bodyPr wrap="square" lIns="0" tIns="0" rIns="0" bIns="0" rtlCol="0" anchor="t"/>
          <a:lstStyle/>
          <a:p>
            <a:pPr marL="190500" indent="-190500">
              <a:spcAft>
                <a:spcPts val="800"/>
              </a:spcAft>
              <a:buSzPct val="100000"/>
              <a:buChar char="•"/>
            </a:pPr>
            <a:r>
              <a:rPr lang="en-US" sz="1400" dirty="0">
                <a:solidFill>
                  <a:schemeClr val="tx1"/>
                </a:solidFill>
              </a:rPr>
              <a:t>Blue box: the rules people actually follow. Green box: the situation from Figure 3.</a:t>
            </a:r>
            <a:endParaRPr lang="en-US" sz="1400" dirty="0"/>
          </a:p>
          <a:p>
            <a:pPr marL="190500" indent="-190500">
              <a:spcAft>
                <a:spcPts val="800"/>
              </a:spcAft>
              <a:buSzPct val="100000"/>
              <a:buChar char="•"/>
            </a:pPr>
            <a:r>
              <a:rPr lang="en-US" sz="1400" dirty="0">
                <a:solidFill>
                  <a:schemeClr val="tx1"/>
                </a:solidFill>
              </a:rPr>
              <a:t>Each red arrow: one kind of rule shaping one working part.</a:t>
            </a:r>
            <a:endParaRPr lang="en-US" sz="1400" dirty="0"/>
          </a:p>
          <a:p>
            <a:pPr marL="190500" indent="-190500">
              <a:spcAft>
                <a:spcPts val="800"/>
              </a:spcAft>
              <a:buSzPct val="100000"/>
              <a:buChar char="•"/>
            </a:pPr>
            <a:r>
              <a:rPr lang="en-US" sz="1400" dirty="0">
                <a:solidFill>
                  <a:schemeClr val="tx1"/>
                </a:solidFill>
              </a:rPr>
              <a:t>Green dotted labels are Marc's: the same rules seen from inside the seat.</a:t>
            </a:r>
            <a:endParaRPr lang="en-US" sz="1400" dirty="0"/>
          </a:p>
          <a:p>
            <a:pPr marL="190500" indent="-190500">
              <a:spcAft>
                <a:spcPts val="800"/>
              </a:spcAft>
              <a:buSzPct val="100000"/>
              <a:buChar char="•"/>
            </a:pPr>
            <a:r>
              <a:rPr lang="en-US" sz="1400" dirty="0">
                <a:solidFill>
                  <a:schemeClr val="tx1"/>
                </a:solidFill>
              </a:rPr>
              <a:t>Outcomes are judged and loop back into the rules (dashed arrows).</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6 · THE RULES THAT SHAPE IT</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Close-up: the rules box, and Marc's questions</a:t>
            </a:r>
            <a:endParaRPr lang="en-US" sz="3200" dirty="0"/>
          </a:p>
        </p:txBody>
      </p:sp>
      <p:pic>
        <p:nvPicPr>
          <p:cNvPr id="5" name="Image 0" descr="Close-up of Figure 4: the seven rule types acting on the seven working parts, with Marc's margin questions">    </p:cNvPr>
          <p:cNvPicPr>
            <a:picLocks noChangeAspect="1"/>
          </p:cNvPicPr>
          <p:nvPr/>
        </p:nvPicPr>
        <p:blipFill>
          <a:blip r:embed="rId1"/>
          <a:stretch>
            <a:fillRect/>
          </a:stretch>
        </p:blipFill>
        <p:spPr>
          <a:xfrm>
            <a:off x="1277171" y="1371600"/>
            <a:ext cx="6041018" cy="4846320"/>
          </a:xfrm>
          <a:prstGeom prst="rect">
            <a:avLst/>
          </a:prstGeom>
        </p:spPr>
      </p:pic>
      <p:sp>
        <p:nvSpPr>
          <p:cNvPr id="6" name="Text 2"/>
          <p:cNvSpPr txBox="1"/>
          <p:nvPr/>
        </p:nvSpPr>
        <p:spPr>
          <a:xfrm>
            <a:off x="1277171" y="6263640"/>
            <a:ext cx="6041018" cy="274320"/>
          </a:xfrm>
          <a:prstGeom prst="rect">
            <a:avLst/>
          </a:prstGeom>
          <a:noFill/>
          <a:ln/>
        </p:spPr>
        <p:txBody>
          <a:bodyPr wrap="square" lIns="0" tIns="0" rIns="0" bIns="0" rtlCol="0" anchor="ctr"/>
          <a:lstStyle/>
          <a:p>
            <a:pPr indent="0" marL="0">
              <a:buNone/>
            </a:pPr>
            <a:r>
              <a:rPr lang="en-US" sz="1000" i="1" dirty="0">
                <a:solidFill>
                  <a:srgbClr val="5B6B60"/>
                </a:solidFill>
              </a:rPr>
              <a:t>Detail of Figure 4. Green dotted labels: Marc's</a:t>
            </a:r>
            <a:endParaRPr lang="en-US" sz="1000" dirty="0"/>
          </a:p>
        </p:txBody>
      </p:sp>
      <p:sp>
        <p:nvSpPr>
          <p:cNvPr id="7" name="card Blue boxes"/>
          <p:cNvSpPr/>
          <p:nvPr/>
        </p:nvSpPr>
        <p:spPr>
          <a:xfrm>
            <a:off x="8412480" y="1371600"/>
            <a:ext cx="3291840" cy="1097280"/>
          </a:xfrm>
          <a:prstGeom prst="roundRect">
            <a:avLst>
              <a:gd name="adj" fmla="val 6667"/>
            </a:avLst>
          </a:prstGeom>
          <a:solidFill>
            <a:schemeClr val="bg2"/>
          </a:solidFill>
          <a:ln w="12700">
            <a:solidFill>
              <a:schemeClr val="bg2"/>
            </a:solidFill>
            <a:prstDash val="solid"/>
          </a:ln>
        </p:spPr>
      </p:sp>
      <p:sp>
        <p:nvSpPr>
          <p:cNvPr id="8" name="Text 4"/>
          <p:cNvSpPr txBox="1"/>
          <p:nvPr/>
        </p:nvSpPr>
        <p:spPr>
          <a:xfrm>
            <a:off x="8549640" y="1463040"/>
            <a:ext cx="301752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Blue boxes</a:t>
            </a:r>
            <a:endParaRPr lang="en-US" sz="1600" dirty="0"/>
          </a:p>
          <a:p>
            <a:pPr indent="0" marL="0">
              <a:spcAft>
                <a:spcPts val="400"/>
              </a:spcAft>
              <a:buNone/>
            </a:pPr>
            <a:r>
              <a:rPr lang="en-US" sz="1400" dirty="0">
                <a:solidFill>
                  <a:schemeClr val="tx1"/>
                </a:solidFill>
              </a:rPr>
              <a:t>the seven kinds of rule</a:t>
            </a:r>
            <a:endParaRPr lang="en-US" sz="1600" dirty="0"/>
          </a:p>
        </p:txBody>
      </p:sp>
      <p:sp>
        <p:nvSpPr>
          <p:cNvPr id="9" name="card Red arrows"/>
          <p:cNvSpPr/>
          <p:nvPr/>
        </p:nvSpPr>
        <p:spPr>
          <a:xfrm>
            <a:off x="8412480" y="2587752"/>
            <a:ext cx="3291840" cy="1097280"/>
          </a:xfrm>
          <a:prstGeom prst="roundRect">
            <a:avLst>
              <a:gd name="adj" fmla="val 6667"/>
            </a:avLst>
          </a:prstGeom>
          <a:solidFill>
            <a:schemeClr val="bg2"/>
          </a:solidFill>
          <a:ln w="12700">
            <a:solidFill>
              <a:schemeClr val="bg2"/>
            </a:solidFill>
            <a:prstDash val="solid"/>
          </a:ln>
        </p:spPr>
      </p:sp>
      <p:sp>
        <p:nvSpPr>
          <p:cNvPr id="10" name="Text 6"/>
          <p:cNvSpPr txBox="1"/>
          <p:nvPr/>
        </p:nvSpPr>
        <p:spPr>
          <a:xfrm>
            <a:off x="8549640" y="2679192"/>
            <a:ext cx="301752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Red arrows</a:t>
            </a:r>
            <a:endParaRPr lang="en-US" sz="1600" dirty="0"/>
          </a:p>
          <a:p>
            <a:pPr indent="0" marL="0">
              <a:spcAft>
                <a:spcPts val="400"/>
              </a:spcAft>
              <a:buNone/>
            </a:pPr>
            <a:r>
              <a:rPr lang="en-US" sz="1400" dirty="0">
                <a:solidFill>
                  <a:schemeClr val="tx1"/>
                </a:solidFill>
              </a:rPr>
              <a:t>which part each rule shapes</a:t>
            </a:r>
            <a:endParaRPr lang="en-US" sz="1600" dirty="0"/>
          </a:p>
        </p:txBody>
      </p:sp>
      <p:sp>
        <p:nvSpPr>
          <p:cNvPr id="11" name="card White boxes"/>
          <p:cNvSpPr/>
          <p:nvPr/>
        </p:nvSpPr>
        <p:spPr>
          <a:xfrm>
            <a:off x="8412480" y="3803904"/>
            <a:ext cx="3291840" cy="1097280"/>
          </a:xfrm>
          <a:prstGeom prst="roundRect">
            <a:avLst>
              <a:gd name="adj" fmla="val 6667"/>
            </a:avLst>
          </a:prstGeom>
          <a:solidFill>
            <a:schemeClr val="bg2"/>
          </a:solidFill>
          <a:ln w="12700">
            <a:solidFill>
              <a:schemeClr val="bg2"/>
            </a:solidFill>
            <a:prstDash val="solid"/>
          </a:ln>
        </p:spPr>
      </p:sp>
      <p:sp>
        <p:nvSpPr>
          <p:cNvPr id="12" name="Text 8"/>
          <p:cNvSpPr txBox="1"/>
          <p:nvPr/>
        </p:nvSpPr>
        <p:spPr>
          <a:xfrm>
            <a:off x="8549640" y="3895344"/>
            <a:ext cx="301752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White boxes</a:t>
            </a:r>
            <a:endParaRPr lang="en-US" sz="1600" dirty="0"/>
          </a:p>
          <a:p>
            <a:pPr indent="0" marL="0">
              <a:spcAft>
                <a:spcPts val="400"/>
              </a:spcAft>
              <a:buNone/>
            </a:pPr>
            <a:r>
              <a:rPr lang="en-US" sz="1400" dirty="0">
                <a:solidFill>
                  <a:schemeClr val="tx1"/>
                </a:solidFill>
              </a:rPr>
              <a:t>the seven working parts from Figure 3</a:t>
            </a:r>
            <a:endParaRPr lang="en-US" sz="1600" dirty="0"/>
          </a:p>
        </p:txBody>
      </p:sp>
      <p:sp>
        <p:nvSpPr>
          <p:cNvPr id="13" name="card Green dotted"/>
          <p:cNvSpPr/>
          <p:nvPr/>
        </p:nvSpPr>
        <p:spPr>
          <a:xfrm>
            <a:off x="8412480" y="5020056"/>
            <a:ext cx="3291840" cy="1097280"/>
          </a:xfrm>
          <a:prstGeom prst="roundRect">
            <a:avLst>
              <a:gd name="adj" fmla="val 6667"/>
            </a:avLst>
          </a:prstGeom>
          <a:solidFill>
            <a:schemeClr val="bg2"/>
          </a:solidFill>
          <a:ln w="12700">
            <a:solidFill>
              <a:schemeClr val="bg2"/>
            </a:solidFill>
            <a:prstDash val="solid"/>
          </a:ln>
        </p:spPr>
      </p:sp>
      <p:sp>
        <p:nvSpPr>
          <p:cNvPr id="14" name="Text 10"/>
          <p:cNvSpPr txBox="1"/>
          <p:nvPr/>
        </p:nvSpPr>
        <p:spPr>
          <a:xfrm>
            <a:off x="8549640" y="5111496"/>
            <a:ext cx="301752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Green dotted</a:t>
            </a:r>
            <a:endParaRPr lang="en-US" sz="1600" dirty="0"/>
          </a:p>
          <a:p>
            <a:pPr indent="0" marL="0">
              <a:spcAft>
                <a:spcPts val="400"/>
              </a:spcAft>
              <a:buNone/>
            </a:pPr>
            <a:r>
              <a:rPr lang="en-US" sz="1400" dirty="0">
                <a:solidFill>
                  <a:schemeClr val="tx1"/>
                </a:solidFill>
              </a:rPr>
              <a:t>Marc's questions: WHO? WHAT? HOW? WHY?, For whom, By whom, Am I allowed?</a:t>
            </a:r>
            <a:endParaRPr lang="en-US" sz="16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6 · THE RULES THAT SHAPE IT</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The seven kinds of rule, in plain language</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The rule names on the Figure 4 diagram, translated, with Elm Street examples.</a:t>
            </a:r>
            <a:endParaRPr lang="en-US" sz="1500" dirty="0"/>
          </a:p>
        </p:txBody>
      </p:sp>
      <p:sp>
        <p:nvSpPr>
          <p:cNvPr id="6" name="card Boundary rules"/>
          <p:cNvSpPr/>
          <p:nvPr/>
        </p:nvSpPr>
        <p:spPr>
          <a:xfrm>
            <a:off x="548640" y="1828800"/>
            <a:ext cx="5477256" cy="1026414"/>
          </a:xfrm>
          <a:prstGeom prst="roundRect">
            <a:avLst>
              <a:gd name="adj" fmla="val 7127"/>
            </a:avLst>
          </a:prstGeom>
          <a:solidFill>
            <a:schemeClr val="bg2"/>
          </a:solidFill>
          <a:ln w="12700">
            <a:solidFill>
              <a:schemeClr val="bg2"/>
            </a:solidFill>
            <a:prstDash val="solid"/>
          </a:ln>
        </p:spPr>
      </p:sp>
      <p:sp>
        <p:nvSpPr>
          <p:cNvPr id="7" name="Text 4"/>
          <p:cNvSpPr txBox="1"/>
          <p:nvPr/>
        </p:nvSpPr>
        <p:spPr>
          <a:xfrm>
            <a:off x="685800"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Boundary rules</a:t>
            </a:r>
            <a:endParaRPr lang="en-US" sz="1500" dirty="0"/>
          </a:p>
          <a:p>
            <a:pPr indent="0" marL="0">
              <a:spcAft>
                <a:spcPts val="400"/>
              </a:spcAft>
              <a:buNone/>
            </a:pPr>
            <a:r>
              <a:rPr lang="en-US" sz="1400" dirty="0">
                <a:solidFill>
                  <a:schemeClr val="tx1"/>
                </a:solidFill>
              </a:rPr>
              <a:t>Who may enter or leave. Who counts as a gardener, how you join, how you leave.</a:t>
            </a:r>
            <a:endParaRPr lang="en-US" sz="1500" dirty="0"/>
          </a:p>
        </p:txBody>
      </p:sp>
      <p:sp>
        <p:nvSpPr>
          <p:cNvPr id="8" name="card Position rules"/>
          <p:cNvSpPr/>
          <p:nvPr/>
        </p:nvSpPr>
        <p:spPr>
          <a:xfrm>
            <a:off x="548640" y="2964942"/>
            <a:ext cx="5477256" cy="1026414"/>
          </a:xfrm>
          <a:prstGeom prst="roundRect">
            <a:avLst>
              <a:gd name="adj" fmla="val 7127"/>
            </a:avLst>
          </a:prstGeom>
          <a:solidFill>
            <a:schemeClr val="bg2"/>
          </a:solidFill>
          <a:ln w="12700">
            <a:solidFill>
              <a:schemeClr val="bg2"/>
            </a:solidFill>
            <a:prstDash val="solid"/>
          </a:ln>
        </p:spPr>
      </p:sp>
      <p:sp>
        <p:nvSpPr>
          <p:cNvPr id="9" name="Text 6"/>
          <p:cNvSpPr txBox="1"/>
          <p:nvPr/>
        </p:nvSpPr>
        <p:spPr>
          <a:xfrm>
            <a:off x="685800"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Position rules</a:t>
            </a:r>
            <a:endParaRPr lang="en-US" sz="1500" dirty="0"/>
          </a:p>
          <a:p>
            <a:pPr indent="0" marL="0">
              <a:spcAft>
                <a:spcPts val="400"/>
              </a:spcAft>
              <a:buNone/>
            </a:pPr>
            <a:r>
              <a:rPr lang="en-US" sz="1400" dirty="0">
                <a:solidFill>
                  <a:schemeClr val="tx1"/>
                </a:solidFill>
              </a:rPr>
              <a:t>What roles exist, and how many people hold each. One water keeper; a chair.</a:t>
            </a:r>
            <a:endParaRPr lang="en-US" sz="1500" dirty="0"/>
          </a:p>
        </p:txBody>
      </p:sp>
      <p:sp>
        <p:nvSpPr>
          <p:cNvPr id="10" name="card Authority / choice rules"/>
          <p:cNvSpPr/>
          <p:nvPr/>
        </p:nvSpPr>
        <p:spPr>
          <a:xfrm>
            <a:off x="548640" y="4101084"/>
            <a:ext cx="5477256" cy="1026414"/>
          </a:xfrm>
          <a:prstGeom prst="roundRect">
            <a:avLst>
              <a:gd name="adj" fmla="val 7127"/>
            </a:avLst>
          </a:prstGeom>
          <a:solidFill>
            <a:schemeClr val="bg2"/>
          </a:solidFill>
          <a:ln w="12700">
            <a:solidFill>
              <a:schemeClr val="bg2"/>
            </a:solidFill>
            <a:prstDash val="solid"/>
          </a:ln>
        </p:spPr>
      </p:sp>
      <p:sp>
        <p:nvSpPr>
          <p:cNvPr id="11" name="Text 8"/>
          <p:cNvSpPr txBox="1"/>
          <p:nvPr/>
        </p:nvSpPr>
        <p:spPr>
          <a:xfrm>
            <a:off x="685800"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Authority / choice rules</a:t>
            </a:r>
            <a:endParaRPr lang="en-US" sz="1500" dirty="0"/>
          </a:p>
          <a:p>
            <a:pPr indent="0" marL="0">
              <a:spcAft>
                <a:spcPts val="400"/>
              </a:spcAft>
              <a:buNone/>
            </a:pPr>
            <a:r>
              <a:rPr lang="en-US" sz="1400" dirty="0">
                <a:solidFill>
                  <a:schemeClr val="tx1"/>
                </a:solidFill>
              </a:rPr>
              <a:t>What each role must, may, or must not do. Gardeners may water on their day.</a:t>
            </a:r>
            <a:endParaRPr lang="en-US" sz="1500" dirty="0"/>
          </a:p>
        </p:txBody>
      </p:sp>
      <p:sp>
        <p:nvSpPr>
          <p:cNvPr id="12" name="card Information rules"/>
          <p:cNvSpPr/>
          <p:nvPr/>
        </p:nvSpPr>
        <p:spPr>
          <a:xfrm>
            <a:off x="548640" y="5237226"/>
            <a:ext cx="5477256" cy="1026414"/>
          </a:xfrm>
          <a:prstGeom prst="roundRect">
            <a:avLst>
              <a:gd name="adj" fmla="val 7127"/>
            </a:avLst>
          </a:prstGeom>
          <a:solidFill>
            <a:schemeClr val="bg2"/>
          </a:solidFill>
          <a:ln w="12700">
            <a:solidFill>
              <a:schemeClr val="bg2"/>
            </a:solidFill>
            <a:prstDash val="solid"/>
          </a:ln>
        </p:spPr>
      </p:sp>
      <p:sp>
        <p:nvSpPr>
          <p:cNvPr id="13" name="Text 10"/>
          <p:cNvSpPr txBox="1"/>
          <p:nvPr/>
        </p:nvSpPr>
        <p:spPr>
          <a:xfrm>
            <a:off x="685800"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Information rules</a:t>
            </a:r>
            <a:endParaRPr lang="en-US" sz="1500" dirty="0"/>
          </a:p>
          <a:p>
            <a:pPr indent="0" marL="0">
              <a:spcAft>
                <a:spcPts val="400"/>
              </a:spcAft>
              <a:buNone/>
            </a:pPr>
            <a:r>
              <a:rPr lang="en-US" sz="1400" dirty="0">
                <a:solidFill>
                  <a:schemeClr val="tx1"/>
                </a:solidFill>
              </a:rPr>
              <a:t>What must, may, or must not be shared, with whom. The keeper reports the tank level weekly.</a:t>
            </a:r>
            <a:endParaRPr lang="en-US" sz="1500" dirty="0"/>
          </a:p>
        </p:txBody>
      </p:sp>
      <p:sp>
        <p:nvSpPr>
          <p:cNvPr id="14" name="card Aggregation rules"/>
          <p:cNvSpPr/>
          <p:nvPr/>
        </p:nvSpPr>
        <p:spPr>
          <a:xfrm>
            <a:off x="6135624" y="1828800"/>
            <a:ext cx="5477256" cy="1026414"/>
          </a:xfrm>
          <a:prstGeom prst="roundRect">
            <a:avLst>
              <a:gd name="adj" fmla="val 7127"/>
            </a:avLst>
          </a:prstGeom>
          <a:solidFill>
            <a:schemeClr val="bg2"/>
          </a:solidFill>
          <a:ln w="12700">
            <a:solidFill>
              <a:schemeClr val="bg2"/>
            </a:solidFill>
            <a:prstDash val="solid"/>
          </a:ln>
        </p:spPr>
      </p:sp>
      <p:sp>
        <p:nvSpPr>
          <p:cNvPr id="15" name="Text 12"/>
          <p:cNvSpPr txBox="1"/>
          <p:nvPr/>
        </p:nvSpPr>
        <p:spPr>
          <a:xfrm>
            <a:off x="6272784"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Aggregation rules</a:t>
            </a:r>
            <a:endParaRPr lang="en-US" sz="1500" dirty="0"/>
          </a:p>
          <a:p>
            <a:pPr indent="0" marL="0">
              <a:spcAft>
                <a:spcPts val="400"/>
              </a:spcAft>
              <a:buNone/>
            </a:pPr>
            <a:r>
              <a:rPr lang="en-US" sz="1400" dirty="0">
                <a:solidFill>
                  <a:schemeClr val="tx1"/>
                </a:solidFill>
              </a:rPr>
              <a:t>How choices combine into a decision. Majority, two-thirds, consensus, the keeper alone.</a:t>
            </a:r>
            <a:endParaRPr lang="en-US" sz="1500" dirty="0"/>
          </a:p>
        </p:txBody>
      </p:sp>
      <p:sp>
        <p:nvSpPr>
          <p:cNvPr id="16" name="card Payoff rules"/>
          <p:cNvSpPr/>
          <p:nvPr/>
        </p:nvSpPr>
        <p:spPr>
          <a:xfrm>
            <a:off x="6135624" y="2964942"/>
            <a:ext cx="5477256" cy="1026414"/>
          </a:xfrm>
          <a:prstGeom prst="roundRect">
            <a:avLst>
              <a:gd name="adj" fmla="val 7127"/>
            </a:avLst>
          </a:prstGeom>
          <a:solidFill>
            <a:schemeClr val="bg2"/>
          </a:solidFill>
          <a:ln w="12700">
            <a:solidFill>
              <a:schemeClr val="bg2"/>
            </a:solidFill>
            <a:prstDash val="solid"/>
          </a:ln>
        </p:spPr>
      </p:sp>
      <p:sp>
        <p:nvSpPr>
          <p:cNvPr id="17" name="Text 14"/>
          <p:cNvSpPr txBox="1"/>
          <p:nvPr/>
        </p:nvSpPr>
        <p:spPr>
          <a:xfrm>
            <a:off x="6272784"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Payoff rules</a:t>
            </a:r>
            <a:endParaRPr lang="en-US" sz="1500" dirty="0"/>
          </a:p>
          <a:p>
            <a:pPr indent="0" marL="0">
              <a:spcAft>
                <a:spcPts val="400"/>
              </a:spcAft>
              <a:buNone/>
            </a:pPr>
            <a:r>
              <a:rPr lang="en-US" sz="1400" dirty="0">
                <a:solidFill>
                  <a:schemeClr val="tx1"/>
                </a:solidFill>
              </a:rPr>
              <a:t>Who pays, who gains, and what happens to rule breakers. Four work hours a season; a week without water.</a:t>
            </a:r>
            <a:endParaRPr lang="en-US" sz="1500" dirty="0"/>
          </a:p>
        </p:txBody>
      </p:sp>
      <p:sp>
        <p:nvSpPr>
          <p:cNvPr id="18" name="card Scope rules"/>
          <p:cNvSpPr/>
          <p:nvPr/>
        </p:nvSpPr>
        <p:spPr>
          <a:xfrm>
            <a:off x="6135624" y="4101084"/>
            <a:ext cx="5477256" cy="1026414"/>
          </a:xfrm>
          <a:prstGeom prst="roundRect">
            <a:avLst>
              <a:gd name="adj" fmla="val 7127"/>
            </a:avLst>
          </a:prstGeom>
          <a:solidFill>
            <a:schemeClr val="bg2"/>
          </a:solidFill>
          <a:ln w="12700">
            <a:solidFill>
              <a:schemeClr val="bg2"/>
            </a:solidFill>
            <a:prstDash val="solid"/>
          </a:ln>
        </p:spPr>
      </p:sp>
      <p:sp>
        <p:nvSpPr>
          <p:cNvPr id="19" name="Text 16"/>
          <p:cNvSpPr txBox="1"/>
          <p:nvPr/>
        </p:nvSpPr>
        <p:spPr>
          <a:xfrm>
            <a:off x="6272784"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Scope rules</a:t>
            </a:r>
            <a:endParaRPr lang="en-US" sz="1500" dirty="0"/>
          </a:p>
          <a:p>
            <a:pPr indent="0" marL="0">
              <a:spcAft>
                <a:spcPts val="400"/>
              </a:spcAft>
              <a:buNone/>
            </a:pPr>
            <a:r>
              <a:rPr lang="en-US" sz="1400" dirty="0">
                <a:solidFill>
                  <a:schemeClr val="tx1"/>
                </a:solidFill>
              </a:rPr>
              <a:t>Which outcomes may be affected, and what is off limits. The meeting may not sell the land.</a:t>
            </a:r>
            <a:endParaRPr lang="en-US" sz="1500" dirty="0"/>
          </a:p>
        </p:txBody>
      </p:sp>
      <p:sp>
        <p:nvSpPr>
          <p:cNvPr id="20" name="card Exogenous variables (title)"/>
          <p:cNvSpPr/>
          <p:nvPr/>
        </p:nvSpPr>
        <p:spPr>
          <a:xfrm>
            <a:off x="6135624" y="5237226"/>
            <a:ext cx="5477256" cy="1026414"/>
          </a:xfrm>
          <a:prstGeom prst="roundRect">
            <a:avLst>
              <a:gd name="adj" fmla="val 7127"/>
            </a:avLst>
          </a:prstGeom>
          <a:solidFill>
            <a:schemeClr val="bg2"/>
          </a:solidFill>
          <a:ln w="12700">
            <a:solidFill>
              <a:schemeClr val="bg2"/>
            </a:solidFill>
            <a:prstDash val="solid"/>
          </a:ln>
        </p:spPr>
      </p:sp>
      <p:sp>
        <p:nvSpPr>
          <p:cNvPr id="21" name="Text 18"/>
          <p:cNvSpPr txBox="1"/>
          <p:nvPr/>
        </p:nvSpPr>
        <p:spPr>
          <a:xfrm>
            <a:off x="6272784"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Exogenous variables (title)</a:t>
            </a:r>
            <a:endParaRPr lang="en-US" sz="1500" dirty="0"/>
          </a:p>
          <a:p>
            <a:pPr indent="0" marL="0">
              <a:spcAft>
                <a:spcPts val="400"/>
              </a:spcAft>
              <a:buNone/>
            </a:pPr>
            <a:r>
              <a:rPr lang="en-US" sz="1400" dirty="0">
                <a:solidFill>
                  <a:schemeClr val="tx1"/>
                </a:solidFill>
              </a:rPr>
              <a:t>"Exogenous" means set from outside. The rules come from outside the situation and shape it.</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6 · THE RULES THAT SHAPE IT</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Marc's questions: the same rules, seen from inside the seat</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Ostrom draws the situation from outside, like an analyst. Marc's labels draw it from inside, like a participant.</a:t>
            </a:r>
            <a:endParaRPr lang="en-US" sz="1500" dirty="0"/>
          </a:p>
        </p:txBody>
      </p:sp>
      <p:sp>
        <p:nvSpPr>
          <p:cNvPr id="6" name="card WHO? (boundary, information, aggregation)"/>
          <p:cNvSpPr/>
          <p:nvPr/>
        </p:nvSpPr>
        <p:spPr>
          <a:xfrm>
            <a:off x="548640" y="1828800"/>
            <a:ext cx="5477256" cy="799186"/>
          </a:xfrm>
          <a:prstGeom prst="roundRect">
            <a:avLst>
              <a:gd name="adj" fmla="val 9153"/>
            </a:avLst>
          </a:prstGeom>
          <a:solidFill>
            <a:schemeClr val="bg2"/>
          </a:solidFill>
          <a:ln w="12700">
            <a:solidFill>
              <a:schemeClr val="bg2"/>
            </a:solidFill>
            <a:prstDash val="solid"/>
          </a:ln>
        </p:spPr>
      </p:sp>
      <p:sp>
        <p:nvSpPr>
          <p:cNvPr id="7" name="Text 4"/>
          <p:cNvSpPr txBox="1"/>
          <p:nvPr/>
        </p:nvSpPr>
        <p:spPr>
          <a:xfrm>
            <a:off x="685800" y="1920240"/>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WHO? (boundary, information, aggregation)</a:t>
            </a:r>
            <a:endParaRPr lang="en-US" sz="1500" dirty="0"/>
          </a:p>
          <a:p>
            <a:pPr indent="0" marL="0">
              <a:spcAft>
                <a:spcPts val="400"/>
              </a:spcAft>
              <a:buNone/>
            </a:pPr>
            <a:r>
              <a:rPr lang="en-US" sz="1400" dirty="0">
                <a:solidFill>
                  <a:schemeClr val="tx1"/>
                </a:solidFill>
              </a:rPr>
              <a:t>Who is in? Who gets told? Who has to agree?</a:t>
            </a:r>
            <a:endParaRPr lang="en-US" sz="1500" dirty="0"/>
          </a:p>
        </p:txBody>
      </p:sp>
      <p:sp>
        <p:nvSpPr>
          <p:cNvPr id="8" name="card WHAT? (choice rules)"/>
          <p:cNvSpPr/>
          <p:nvPr/>
        </p:nvSpPr>
        <p:spPr>
          <a:xfrm>
            <a:off x="548640" y="2737714"/>
            <a:ext cx="5477256" cy="799186"/>
          </a:xfrm>
          <a:prstGeom prst="roundRect">
            <a:avLst>
              <a:gd name="adj" fmla="val 9153"/>
            </a:avLst>
          </a:prstGeom>
          <a:solidFill>
            <a:schemeClr val="bg2"/>
          </a:solidFill>
          <a:ln w="12700">
            <a:solidFill>
              <a:schemeClr val="bg2"/>
            </a:solidFill>
            <a:prstDash val="solid"/>
          </a:ln>
        </p:spPr>
      </p:sp>
      <p:sp>
        <p:nvSpPr>
          <p:cNvPr id="9" name="Text 6"/>
          <p:cNvSpPr txBox="1"/>
          <p:nvPr/>
        </p:nvSpPr>
        <p:spPr>
          <a:xfrm>
            <a:off x="685800" y="2829154"/>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WHAT? (choice rules)</a:t>
            </a:r>
            <a:endParaRPr lang="en-US" sz="1500" dirty="0"/>
          </a:p>
          <a:p>
            <a:pPr indent="0" marL="0">
              <a:spcAft>
                <a:spcPts val="400"/>
              </a:spcAft>
              <a:buNone/>
            </a:pPr>
            <a:r>
              <a:rPr lang="en-US" sz="1400" dirty="0">
                <a:solidFill>
                  <a:schemeClr val="tx1"/>
                </a:solidFill>
              </a:rPr>
              <a:t>What am I allowed, required, or forbidden to do?</a:t>
            </a:r>
            <a:endParaRPr lang="en-US" sz="1500" dirty="0"/>
          </a:p>
        </p:txBody>
      </p:sp>
      <p:sp>
        <p:nvSpPr>
          <p:cNvPr id="10" name="card HOW? (payoff rules)"/>
          <p:cNvSpPr/>
          <p:nvPr/>
        </p:nvSpPr>
        <p:spPr>
          <a:xfrm>
            <a:off x="548640" y="3646627"/>
            <a:ext cx="5477256" cy="799186"/>
          </a:xfrm>
          <a:prstGeom prst="roundRect">
            <a:avLst>
              <a:gd name="adj" fmla="val 9153"/>
            </a:avLst>
          </a:prstGeom>
          <a:solidFill>
            <a:schemeClr val="bg2"/>
          </a:solidFill>
          <a:ln w="12700">
            <a:solidFill>
              <a:schemeClr val="bg2"/>
            </a:solidFill>
            <a:prstDash val="solid"/>
          </a:ln>
        </p:spPr>
      </p:sp>
      <p:sp>
        <p:nvSpPr>
          <p:cNvPr id="11" name="Text 8"/>
          <p:cNvSpPr txBox="1"/>
          <p:nvPr/>
        </p:nvSpPr>
        <p:spPr>
          <a:xfrm>
            <a:off x="685800" y="3738067"/>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HOW? (payoff rules)</a:t>
            </a:r>
            <a:endParaRPr lang="en-US" sz="1500" dirty="0"/>
          </a:p>
          <a:p>
            <a:pPr indent="0" marL="0">
              <a:spcAft>
                <a:spcPts val="400"/>
              </a:spcAft>
              <a:buNone/>
            </a:pPr>
            <a:r>
              <a:rPr lang="en-US" sz="1400" dirty="0">
                <a:solidFill>
                  <a:schemeClr val="tx1"/>
                </a:solidFill>
              </a:rPr>
              <a:t>How are costs and benefits shared, and how are breaches handled?</a:t>
            </a:r>
            <a:endParaRPr lang="en-US" sz="1500" dirty="0"/>
          </a:p>
        </p:txBody>
      </p:sp>
      <p:sp>
        <p:nvSpPr>
          <p:cNvPr id="12" name="card WHY? (scope rules)"/>
          <p:cNvSpPr/>
          <p:nvPr/>
        </p:nvSpPr>
        <p:spPr>
          <a:xfrm>
            <a:off x="548640" y="4555541"/>
            <a:ext cx="5477256" cy="799186"/>
          </a:xfrm>
          <a:prstGeom prst="roundRect">
            <a:avLst>
              <a:gd name="adj" fmla="val 9153"/>
            </a:avLst>
          </a:prstGeom>
          <a:solidFill>
            <a:schemeClr val="bg2"/>
          </a:solidFill>
          <a:ln w="12700">
            <a:solidFill>
              <a:schemeClr val="bg2"/>
            </a:solidFill>
            <a:prstDash val="solid"/>
          </a:ln>
        </p:spPr>
      </p:sp>
      <p:sp>
        <p:nvSpPr>
          <p:cNvPr id="13" name="Text 10"/>
          <p:cNvSpPr txBox="1"/>
          <p:nvPr/>
        </p:nvSpPr>
        <p:spPr>
          <a:xfrm>
            <a:off x="685800" y="4646981"/>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WHY? (scope rules)</a:t>
            </a:r>
            <a:endParaRPr lang="en-US" sz="1500" dirty="0"/>
          </a:p>
          <a:p>
            <a:pPr indent="0" marL="0">
              <a:spcAft>
                <a:spcPts val="400"/>
              </a:spcAft>
              <a:buNone/>
            </a:pPr>
            <a:r>
              <a:rPr lang="en-US" sz="1400" dirty="0">
                <a:solidFill>
                  <a:schemeClr val="tx1"/>
                </a:solidFill>
              </a:rPr>
              <a:t>What outcomes are we here to affect at all?</a:t>
            </a:r>
            <a:endParaRPr lang="en-US" sz="1500" dirty="0"/>
          </a:p>
        </p:txBody>
      </p:sp>
      <p:sp>
        <p:nvSpPr>
          <p:cNvPr id="14" name="card For whom / By whom (by roles)"/>
          <p:cNvSpPr/>
          <p:nvPr/>
        </p:nvSpPr>
        <p:spPr>
          <a:xfrm>
            <a:off x="548640" y="5464454"/>
            <a:ext cx="5477256" cy="799186"/>
          </a:xfrm>
          <a:prstGeom prst="roundRect">
            <a:avLst>
              <a:gd name="adj" fmla="val 9153"/>
            </a:avLst>
          </a:prstGeom>
          <a:solidFill>
            <a:schemeClr val="bg2"/>
          </a:solidFill>
          <a:ln w="12700">
            <a:solidFill>
              <a:schemeClr val="bg2"/>
            </a:solidFill>
            <a:prstDash val="solid"/>
          </a:ln>
        </p:spPr>
      </p:sp>
      <p:sp>
        <p:nvSpPr>
          <p:cNvPr id="15" name="Text 12"/>
          <p:cNvSpPr txBox="1"/>
          <p:nvPr/>
        </p:nvSpPr>
        <p:spPr>
          <a:xfrm>
            <a:off x="685800" y="5555894"/>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For whom / By whom (by roles)</a:t>
            </a:r>
            <a:endParaRPr lang="en-US" sz="1500" dirty="0"/>
          </a:p>
          <a:p>
            <a:pPr indent="0" marL="0">
              <a:spcAft>
                <a:spcPts val="400"/>
              </a:spcAft>
              <a:buNone/>
            </a:pPr>
            <a:r>
              <a:rPr lang="en-US" sz="1400" dirty="0">
                <a:solidFill>
                  <a:schemeClr val="tx1"/>
                </a:solidFill>
              </a:rPr>
              <a:t>Who benefits from a role, and who fills it. Asked of roles, not of particular people.</a:t>
            </a:r>
            <a:endParaRPr lang="en-US" sz="1500" dirty="0"/>
          </a:p>
        </p:txBody>
      </p:sp>
      <p:sp>
        <p:nvSpPr>
          <p:cNvPr id="16" name="card Am I allowed? (derived authority)"/>
          <p:cNvSpPr/>
          <p:nvPr/>
        </p:nvSpPr>
        <p:spPr>
          <a:xfrm>
            <a:off x="6135624" y="1828800"/>
            <a:ext cx="5477256" cy="799186"/>
          </a:xfrm>
          <a:prstGeom prst="roundRect">
            <a:avLst>
              <a:gd name="adj" fmla="val 9153"/>
            </a:avLst>
          </a:prstGeom>
          <a:solidFill>
            <a:schemeClr val="bg2"/>
          </a:solidFill>
          <a:ln w="12700">
            <a:solidFill>
              <a:schemeClr val="bg2"/>
            </a:solidFill>
            <a:prstDash val="solid"/>
          </a:ln>
        </p:spPr>
      </p:sp>
      <p:sp>
        <p:nvSpPr>
          <p:cNvPr id="17" name="Text 14"/>
          <p:cNvSpPr txBox="1"/>
          <p:nvPr/>
        </p:nvSpPr>
        <p:spPr>
          <a:xfrm>
            <a:off x="6272784" y="1920240"/>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Am I allowed? (derived authority)</a:t>
            </a:r>
            <a:endParaRPr lang="en-US" sz="1500" dirty="0"/>
          </a:p>
          <a:p>
            <a:pPr indent="0" marL="0">
              <a:spcAft>
                <a:spcPts val="400"/>
              </a:spcAft>
              <a:buNone/>
            </a:pPr>
            <a:r>
              <a:rPr lang="en-US" sz="1400" dirty="0">
                <a:solidFill>
                  <a:schemeClr val="tx1"/>
                </a:solidFill>
              </a:rPr>
              <a:t>My permission comes from a rule, not from me. "Derived" means it comes from somewhere else.</a:t>
            </a:r>
            <a:endParaRPr lang="en-US" sz="1500" dirty="0"/>
          </a:p>
        </p:txBody>
      </p:sp>
      <p:sp>
        <p:nvSpPr>
          <p:cNvPr id="18" name="card Data &amp; information / Knowledge &amp; understanding"/>
          <p:cNvSpPr/>
          <p:nvPr/>
        </p:nvSpPr>
        <p:spPr>
          <a:xfrm>
            <a:off x="6135624" y="2737714"/>
            <a:ext cx="5477256" cy="799186"/>
          </a:xfrm>
          <a:prstGeom prst="roundRect">
            <a:avLst>
              <a:gd name="adj" fmla="val 9153"/>
            </a:avLst>
          </a:prstGeom>
          <a:solidFill>
            <a:schemeClr val="bg2"/>
          </a:solidFill>
          <a:ln w="12700">
            <a:solidFill>
              <a:schemeClr val="bg2"/>
            </a:solidFill>
            <a:prstDash val="solid"/>
          </a:ln>
        </p:spPr>
      </p:sp>
      <p:sp>
        <p:nvSpPr>
          <p:cNvPr id="19" name="Text 16"/>
          <p:cNvSpPr txBox="1"/>
          <p:nvPr/>
        </p:nvSpPr>
        <p:spPr>
          <a:xfrm>
            <a:off x="6272784" y="2829154"/>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Data &amp; information / Knowledge &amp; understanding</a:t>
            </a:r>
            <a:endParaRPr lang="en-US" sz="1500" dirty="0"/>
          </a:p>
          <a:p>
            <a:pPr indent="0" marL="0">
              <a:spcAft>
                <a:spcPts val="400"/>
              </a:spcAft>
              <a:buNone/>
            </a:pPr>
            <a:r>
              <a:rPr lang="en-US" sz="1400" dirty="0">
                <a:solidFill>
                  <a:schemeClr val="tx1"/>
                </a:solidFill>
              </a:rPr>
              <a:t>Information rules move data; aggregation turns what people know into a shared decision.</a:t>
            </a:r>
            <a:endParaRPr lang="en-US" sz="1500" dirty="0"/>
          </a:p>
        </p:txBody>
      </p:sp>
      <p:sp>
        <p:nvSpPr>
          <p:cNvPr id="20" name="card parameterizes / models"/>
          <p:cNvSpPr/>
          <p:nvPr/>
        </p:nvSpPr>
        <p:spPr>
          <a:xfrm>
            <a:off x="6135624" y="3646627"/>
            <a:ext cx="5477256" cy="799186"/>
          </a:xfrm>
          <a:prstGeom prst="roundRect">
            <a:avLst>
              <a:gd name="adj" fmla="val 9153"/>
            </a:avLst>
          </a:prstGeom>
          <a:solidFill>
            <a:schemeClr val="bg2"/>
          </a:solidFill>
          <a:ln w="12700">
            <a:solidFill>
              <a:schemeClr val="bg2"/>
            </a:solidFill>
            <a:prstDash val="solid"/>
          </a:ln>
        </p:spPr>
      </p:sp>
      <p:sp>
        <p:nvSpPr>
          <p:cNvPr id="21" name="Text 18"/>
          <p:cNvSpPr txBox="1"/>
          <p:nvPr/>
        </p:nvSpPr>
        <p:spPr>
          <a:xfrm>
            <a:off x="6272784" y="3738067"/>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parameterizes / models</a:t>
            </a:r>
            <a:endParaRPr lang="en-US" sz="1500" dirty="0"/>
          </a:p>
          <a:p>
            <a:pPr indent="0" marL="0">
              <a:spcAft>
                <a:spcPts val="400"/>
              </a:spcAft>
              <a:buNone/>
            </a:pPr>
            <a:r>
              <a:rPr lang="en-US" sz="1400" dirty="0">
                <a:solidFill>
                  <a:schemeClr val="tx1"/>
                </a:solidFill>
              </a:rPr>
              <a:t>Information sets the limits a choice is made within. Control describes how choices turn into results.</a:t>
            </a:r>
            <a:endParaRPr lang="en-US" sz="1500" dirty="0"/>
          </a:p>
        </p:txBody>
      </p:sp>
      <p:sp>
        <p:nvSpPr>
          <p:cNvPr id="22" name="card Judges / Judgement: is it worth the effort and risk?"/>
          <p:cNvSpPr/>
          <p:nvPr/>
        </p:nvSpPr>
        <p:spPr>
          <a:xfrm>
            <a:off x="6135624" y="4555541"/>
            <a:ext cx="5477256" cy="799186"/>
          </a:xfrm>
          <a:prstGeom prst="roundRect">
            <a:avLst>
              <a:gd name="adj" fmla="val 9153"/>
            </a:avLst>
          </a:prstGeom>
          <a:solidFill>
            <a:schemeClr val="bg2"/>
          </a:solidFill>
          <a:ln w="12700">
            <a:solidFill>
              <a:schemeClr val="bg2"/>
            </a:solidFill>
            <a:prstDash val="solid"/>
          </a:ln>
        </p:spPr>
      </p:sp>
      <p:sp>
        <p:nvSpPr>
          <p:cNvPr id="23" name="Text 20"/>
          <p:cNvSpPr txBox="1"/>
          <p:nvPr/>
        </p:nvSpPr>
        <p:spPr>
          <a:xfrm>
            <a:off x="6272784" y="4646981"/>
            <a:ext cx="5202936" cy="616306"/>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Judges / Judgement: is it worth the effort and risk?</a:t>
            </a:r>
            <a:endParaRPr lang="en-US" sz="1500" dirty="0"/>
          </a:p>
          <a:p>
            <a:pPr indent="0" marL="0">
              <a:spcAft>
                <a:spcPts val="400"/>
              </a:spcAft>
              <a:buNone/>
            </a:pPr>
            <a:r>
              <a:rPr lang="en-US" sz="1400" dirty="0">
                <a:solidFill>
                  <a:schemeClr val="tx1"/>
                </a:solidFill>
              </a:rPr>
              <a:t>The yardsticks judge outcomes. Each person also judges: is cooperating worth it? Step 9 answers.</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6 · THE RULES THAT SHAPE IT</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The rule nobody writes down: how do we decide?</a:t>
            </a:r>
            <a:endParaRPr lang="en-US" sz="3200" dirty="0"/>
          </a:p>
        </p:txBody>
      </p:sp>
      <p:sp>
        <p:nvSpPr>
          <p:cNvPr id="5" name="Text 2"/>
          <p:cNvSpPr txBox="1"/>
          <p:nvPr/>
        </p:nvSpPr>
        <p:spPr>
          <a:xfrm>
            <a:off x="548640" y="1463040"/>
            <a:ext cx="11064240" cy="54864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The spring meeting votes on a new watering schedule. 30 members. 17 vote yes, 10 vote no, 3 are absent.</a:t>
            </a:r>
            <a:endParaRPr lang="en-US" sz="1800" dirty="0"/>
          </a:p>
        </p:txBody>
      </p:sp>
      <p:sp>
        <p:nvSpPr>
          <p:cNvPr id="6" name="Shape 3"/>
          <p:cNvSpPr/>
          <p:nvPr/>
        </p:nvSpPr>
        <p:spPr>
          <a:xfrm>
            <a:off x="548640" y="2286000"/>
            <a:ext cx="2651760" cy="2743200"/>
          </a:xfrm>
          <a:prstGeom prst="roundRect">
            <a:avLst>
              <a:gd name="adj" fmla="val 2759"/>
            </a:avLst>
          </a:prstGeom>
          <a:solidFill>
            <a:schemeClr val="bg2"/>
          </a:solidFill>
          <a:ln w="12700">
            <a:solidFill>
              <a:schemeClr val="bg2"/>
            </a:solidFill>
            <a:prstDash val="solid"/>
          </a:ln>
        </p:spPr>
      </p:sp>
      <p:sp>
        <p:nvSpPr>
          <p:cNvPr id="7" name="Text 4"/>
          <p:cNvSpPr txBox="1"/>
          <p:nvPr/>
        </p:nvSpPr>
        <p:spPr>
          <a:xfrm>
            <a:off x="685800" y="2423160"/>
            <a:ext cx="2377440" cy="2468880"/>
          </a:xfrm>
          <a:prstGeom prst="rect">
            <a:avLst/>
          </a:prstGeom>
          <a:noFill/>
          <a:ln/>
        </p:spPr>
        <p:txBody>
          <a:bodyPr wrap="square" lIns="0" tIns="0" rIns="0" bIns="0" rtlCol="0" anchor="t"/>
          <a:lstStyle/>
          <a:p>
            <a:pPr indent="0" marL="0">
              <a:buNone/>
            </a:pPr>
            <a:r>
              <a:rPr lang="en-US" sz="1600" b="1" dirty="0">
                <a:solidFill>
                  <a:schemeClr val="tx2"/>
                </a:solidFill>
              </a:rPr>
              <a:t>Simple majority of those present</a:t>
            </a:r>
            <a:endParaRPr lang="en-US" sz="1600" dirty="0"/>
          </a:p>
          <a:p>
            <a:pPr indent="0" marL="0">
              <a:buNone/>
            </a:pPr>
            <a:r>
              <a:rPr lang="en-US" sz="4000" b="1" dirty="0">
                <a:solidFill>
                  <a:srgbClr val="2E6B45"/>
                </a:solidFill>
              </a:rPr>
              <a:t>PASSES</a:t>
            </a:r>
            <a:endParaRPr lang="en-US" sz="1600" dirty="0"/>
          </a:p>
          <a:p>
            <a:pPr indent="0" marL="0">
              <a:buNone/>
            </a:pPr>
            <a:r>
              <a:rPr lang="en-US" sz="1400" dirty="0">
                <a:solidFill>
                  <a:srgbClr val="3E4A42"/>
                </a:solidFill>
              </a:rPr>
              <a:t>17 of 27</a:t>
            </a:r>
            <a:endParaRPr lang="en-US" sz="1600" dirty="0"/>
          </a:p>
        </p:txBody>
      </p:sp>
      <p:sp>
        <p:nvSpPr>
          <p:cNvPr id="8" name="Shape 5"/>
          <p:cNvSpPr/>
          <p:nvPr/>
        </p:nvSpPr>
        <p:spPr>
          <a:xfrm>
            <a:off x="3364992" y="2286000"/>
            <a:ext cx="2651760" cy="2743200"/>
          </a:xfrm>
          <a:prstGeom prst="roundRect">
            <a:avLst>
              <a:gd name="adj" fmla="val 2759"/>
            </a:avLst>
          </a:prstGeom>
          <a:solidFill>
            <a:schemeClr val="bg2"/>
          </a:solidFill>
          <a:ln w="12700">
            <a:solidFill>
              <a:schemeClr val="bg2"/>
            </a:solidFill>
            <a:prstDash val="solid"/>
          </a:ln>
        </p:spPr>
      </p:sp>
      <p:sp>
        <p:nvSpPr>
          <p:cNvPr id="9" name="Text 6"/>
          <p:cNvSpPr txBox="1"/>
          <p:nvPr/>
        </p:nvSpPr>
        <p:spPr>
          <a:xfrm>
            <a:off x="3502152" y="2423160"/>
            <a:ext cx="2377440" cy="2468880"/>
          </a:xfrm>
          <a:prstGeom prst="rect">
            <a:avLst/>
          </a:prstGeom>
          <a:noFill/>
          <a:ln/>
        </p:spPr>
        <p:txBody>
          <a:bodyPr wrap="square" lIns="0" tIns="0" rIns="0" bIns="0" rtlCol="0" anchor="t"/>
          <a:lstStyle/>
          <a:p>
            <a:pPr indent="0" marL="0">
              <a:buNone/>
            </a:pPr>
            <a:r>
              <a:rPr lang="en-US" sz="1600" b="1" dirty="0">
                <a:solidFill>
                  <a:schemeClr val="tx2"/>
                </a:solidFill>
              </a:rPr>
              <a:t>Two-thirds of those present</a:t>
            </a:r>
            <a:endParaRPr lang="en-US" sz="1600" dirty="0"/>
          </a:p>
          <a:p>
            <a:pPr indent="0" marL="0">
              <a:buNone/>
            </a:pPr>
            <a:r>
              <a:rPr lang="en-US" sz="4000" b="1" dirty="0">
                <a:solidFill>
                  <a:srgbClr val="B5532D"/>
                </a:solidFill>
              </a:rPr>
              <a:t>FAILS</a:t>
            </a:r>
            <a:endParaRPr lang="en-US" sz="1600" dirty="0"/>
          </a:p>
          <a:p>
            <a:pPr indent="0" marL="0">
              <a:buNone/>
            </a:pPr>
            <a:r>
              <a:rPr lang="en-US" sz="1400" dirty="0">
                <a:solidFill>
                  <a:srgbClr val="3E4A42"/>
                </a:solidFill>
              </a:rPr>
              <a:t>needs 18 of 27</a:t>
            </a:r>
            <a:endParaRPr lang="en-US" sz="1600" dirty="0"/>
          </a:p>
        </p:txBody>
      </p:sp>
      <p:sp>
        <p:nvSpPr>
          <p:cNvPr id="10" name="Shape 7"/>
          <p:cNvSpPr/>
          <p:nvPr/>
        </p:nvSpPr>
        <p:spPr>
          <a:xfrm>
            <a:off x="6181344" y="2286000"/>
            <a:ext cx="2651760" cy="2743200"/>
          </a:xfrm>
          <a:prstGeom prst="roundRect">
            <a:avLst>
              <a:gd name="adj" fmla="val 2759"/>
            </a:avLst>
          </a:prstGeom>
          <a:solidFill>
            <a:schemeClr val="bg2"/>
          </a:solidFill>
          <a:ln w="12700">
            <a:solidFill>
              <a:schemeClr val="bg2"/>
            </a:solidFill>
            <a:prstDash val="solid"/>
          </a:ln>
        </p:spPr>
      </p:sp>
      <p:sp>
        <p:nvSpPr>
          <p:cNvPr id="11" name="Text 8"/>
          <p:cNvSpPr txBox="1"/>
          <p:nvPr/>
        </p:nvSpPr>
        <p:spPr>
          <a:xfrm>
            <a:off x="6318504" y="2423160"/>
            <a:ext cx="2377440" cy="2468880"/>
          </a:xfrm>
          <a:prstGeom prst="rect">
            <a:avLst/>
          </a:prstGeom>
          <a:noFill/>
          <a:ln/>
        </p:spPr>
        <p:txBody>
          <a:bodyPr wrap="square" lIns="0" tIns="0" rIns="0" bIns="0" rtlCol="0" anchor="t"/>
          <a:lstStyle/>
          <a:p>
            <a:pPr indent="0" marL="0">
              <a:buNone/>
            </a:pPr>
            <a:r>
              <a:rPr lang="en-US" sz="1600" b="1" dirty="0">
                <a:solidFill>
                  <a:schemeClr val="tx2"/>
                </a:solidFill>
              </a:rPr>
              <a:t>Consensus</a:t>
            </a:r>
            <a:endParaRPr lang="en-US" sz="1600" dirty="0"/>
          </a:p>
          <a:p>
            <a:pPr indent="0" marL="0">
              <a:buNone/>
            </a:pPr>
            <a:r>
              <a:rPr lang="en-US" sz="4000" b="1" dirty="0">
                <a:solidFill>
                  <a:srgbClr val="B5532D"/>
                </a:solidFill>
              </a:rPr>
              <a:t>FAILS</a:t>
            </a:r>
            <a:endParaRPr lang="en-US" sz="1600" dirty="0"/>
          </a:p>
          <a:p>
            <a:pPr indent="0" marL="0">
              <a:buNone/>
            </a:pPr>
            <a:r>
              <a:rPr lang="en-US" sz="1400" dirty="0">
                <a:solidFill>
                  <a:srgbClr val="3E4A42"/>
                </a:solidFill>
              </a:rPr>
              <a:t>10 objections</a:t>
            </a:r>
            <a:endParaRPr lang="en-US" sz="1600" dirty="0"/>
          </a:p>
        </p:txBody>
      </p:sp>
      <p:sp>
        <p:nvSpPr>
          <p:cNvPr id="12" name="Shape 9"/>
          <p:cNvSpPr/>
          <p:nvPr/>
        </p:nvSpPr>
        <p:spPr>
          <a:xfrm>
            <a:off x="8997696" y="2286000"/>
            <a:ext cx="2651760" cy="2743200"/>
          </a:xfrm>
          <a:prstGeom prst="roundRect">
            <a:avLst>
              <a:gd name="adj" fmla="val 2759"/>
            </a:avLst>
          </a:prstGeom>
          <a:solidFill>
            <a:schemeClr val="bg2"/>
          </a:solidFill>
          <a:ln w="12700">
            <a:solidFill>
              <a:schemeClr val="bg2"/>
            </a:solidFill>
            <a:prstDash val="solid"/>
          </a:ln>
        </p:spPr>
      </p:sp>
      <p:sp>
        <p:nvSpPr>
          <p:cNvPr id="13" name="Text 10"/>
          <p:cNvSpPr txBox="1"/>
          <p:nvPr/>
        </p:nvSpPr>
        <p:spPr>
          <a:xfrm>
            <a:off x="9134856" y="2423160"/>
            <a:ext cx="2377440" cy="2468880"/>
          </a:xfrm>
          <a:prstGeom prst="rect">
            <a:avLst/>
          </a:prstGeom>
          <a:noFill/>
          <a:ln/>
        </p:spPr>
        <p:txBody>
          <a:bodyPr wrap="square" lIns="0" tIns="0" rIns="0" bIns="0" rtlCol="0" anchor="t"/>
          <a:lstStyle/>
          <a:p>
            <a:pPr indent="0" marL="0">
              <a:buNone/>
            </a:pPr>
            <a:r>
              <a:rPr lang="en-US" sz="1600" b="1" dirty="0">
                <a:solidFill>
                  <a:schemeClr val="tx2"/>
                </a:solidFill>
              </a:rPr>
              <a:t>The water keeper decides</a:t>
            </a:r>
            <a:endParaRPr lang="en-US" sz="1600" dirty="0"/>
          </a:p>
          <a:p>
            <a:pPr indent="0" marL="0">
              <a:buNone/>
            </a:pPr>
            <a:r>
              <a:rPr lang="en-US" sz="4000" b="1" dirty="0">
                <a:solidFill>
                  <a:srgbClr val="6B5B95"/>
                </a:solidFill>
              </a:rPr>
              <a:t>?</a:t>
            </a:r>
            <a:endParaRPr lang="en-US" sz="1600" dirty="0"/>
          </a:p>
          <a:p>
            <a:pPr indent="0" marL="0">
              <a:buNone/>
            </a:pPr>
            <a:r>
              <a:rPr lang="en-US" sz="1400" dirty="0">
                <a:solidFill>
                  <a:srgbClr val="3E4A42"/>
                </a:solidFill>
              </a:rPr>
              <a:t>depends on one person</a:t>
            </a:r>
            <a:endParaRPr lang="en-US" sz="1600" dirty="0"/>
          </a:p>
        </p:txBody>
      </p:sp>
      <p:sp>
        <p:nvSpPr>
          <p:cNvPr id="14" name="Text 11"/>
          <p:cNvSpPr txBox="1"/>
          <p:nvPr/>
        </p:nvSpPr>
        <p:spPr>
          <a:xfrm>
            <a:off x="548640" y="5303520"/>
            <a:ext cx="11064240" cy="822960"/>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Most conflict is two people silently assuming different aggregation rules. Ask early: who has to agree for this to count?</a:t>
            </a:r>
            <a:endParaRPr lang="en-US" sz="17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nchor="b"/>
          <a:lstStyle/>
          <a:p>
            <a:pPr indent="0" marL="0">
              <a:buNone/>
            </a:pPr>
            <a:r>
              <a:rPr lang="en-US" sz="4000" b="1" dirty="0">
                <a:solidFill>
                  <a:schemeClr val="bg1"/>
                </a:solidFill>
              </a:rPr>
              <a:t>What lasting rules share</a:t>
            </a: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nchor="t"/>
          <a:lstStyle/>
          <a:p>
            <a:pPr indent="0" marL="0">
              <a:buNone/>
            </a:pPr>
            <a:r>
              <a:rPr lang="en-US" sz="1800" dirty="0">
                <a:solidFill>
                  <a:schemeClr val="bg2"/>
                </a:solidFill>
              </a:rPr>
              <a:t>Ostrom's design principles: patterns found in commons that lasted, and missing in those that failed.</a:t>
            </a:r>
            <a:endParaRPr lang="en-US" sz="1800" dirty="0"/>
          </a:p>
        </p:txBody>
      </p:sp>
      <p:sp>
        <p:nvSpPr>
          <p:cNvPr id="4" name="Text 2"/>
          <p:cNvSpPr txBox="1"/>
          <p:nvPr/>
        </p:nvSpPr>
        <p:spPr>
          <a:xfrm>
            <a:off x="7223760" y="411480"/>
            <a:ext cx="4297680" cy="365760"/>
          </a:xfrm>
          <a:prstGeom prst="rect">
            <a:avLst/>
          </a:prstGeom>
          <a:noFill/>
          <a:ln/>
        </p:spPr>
        <p:txBody>
          <a:bodyPr wrap="square" lIns="0" tIns="0" rIns="0" bIns="0" rtlCol="0" anchor="ctr"/>
          <a:lstStyle/>
          <a:p>
            <a:pPr indent="0" marL="0">
              <a:buNone/>
            </a:pPr>
            <a:r>
              <a:rPr lang="en-US" sz="1200" b="1" spc="200" kern="0" dirty="0">
                <a:solidFill>
                  <a:schemeClr val="accent2"/>
                </a:solidFill>
              </a:rPr>
              <a:t>ZOOMING IN</a:t>
            </a:r>
            <a:endParaRPr lang="en-US" sz="1200" dirty="0"/>
          </a:p>
        </p:txBody>
      </p:sp>
      <p:sp>
        <p:nvSpPr>
          <p:cNvPr id="5" name="rung 1"/>
          <p:cNvSpPr/>
          <p:nvPr/>
        </p:nvSpPr>
        <p:spPr>
          <a:xfrm>
            <a:off x="7223760" y="914400"/>
            <a:ext cx="429768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1   The whole system</a:t>
            </a:r>
            <a:endParaRPr lang="en-US" sz="1500" dirty="0"/>
          </a:p>
        </p:txBody>
      </p:sp>
      <p:sp>
        <p:nvSpPr>
          <p:cNvPr id="6" name="rung 2"/>
          <p:cNvSpPr/>
          <p:nvPr/>
        </p:nvSpPr>
        <p:spPr>
          <a:xfrm>
            <a:off x="7333488" y="1444752"/>
            <a:ext cx="418795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2   What we share</a:t>
            </a:r>
            <a:endParaRPr lang="en-US" sz="1500" dirty="0"/>
          </a:p>
        </p:txBody>
      </p:sp>
      <p:sp>
        <p:nvSpPr>
          <p:cNvPr id="7" name="rung 3"/>
          <p:cNvSpPr/>
          <p:nvPr/>
        </p:nvSpPr>
        <p:spPr>
          <a:xfrm>
            <a:off x="7443216" y="1975104"/>
            <a:ext cx="407822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3   One situation in its setting</a:t>
            </a:r>
            <a:endParaRPr lang="en-US" sz="1500" dirty="0"/>
          </a:p>
        </p:txBody>
      </p:sp>
      <p:sp>
        <p:nvSpPr>
          <p:cNvPr id="8" name="rung 4"/>
          <p:cNvSpPr/>
          <p:nvPr/>
        </p:nvSpPr>
        <p:spPr>
          <a:xfrm>
            <a:off x="7552944" y="2505456"/>
            <a:ext cx="396849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4   Layers of decision</a:t>
            </a:r>
            <a:endParaRPr lang="en-US" sz="1500" dirty="0"/>
          </a:p>
        </p:txBody>
      </p:sp>
      <p:sp>
        <p:nvSpPr>
          <p:cNvPr id="9" name="rung 5"/>
          <p:cNvSpPr/>
          <p:nvPr/>
        </p:nvSpPr>
        <p:spPr>
          <a:xfrm>
            <a:off x="7662672" y="3035808"/>
            <a:ext cx="3858768"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5   Inside one situation</a:t>
            </a:r>
            <a:endParaRPr lang="en-US" sz="1500" dirty="0"/>
          </a:p>
        </p:txBody>
      </p:sp>
      <p:sp>
        <p:nvSpPr>
          <p:cNvPr id="10" name="rung 6"/>
          <p:cNvSpPr/>
          <p:nvPr/>
        </p:nvSpPr>
        <p:spPr>
          <a:xfrm>
            <a:off x="7772400" y="3566160"/>
            <a:ext cx="374904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6   The rules that shape it</a:t>
            </a:r>
            <a:endParaRPr lang="en-US" sz="1500" dirty="0"/>
          </a:p>
        </p:txBody>
      </p:sp>
      <p:sp>
        <p:nvSpPr>
          <p:cNvPr id="11" name="rung 7"/>
          <p:cNvSpPr/>
          <p:nvPr/>
        </p:nvSpPr>
        <p:spPr>
          <a:xfrm>
            <a:off x="7882128" y="4096512"/>
            <a:ext cx="3639312" cy="457200"/>
          </a:xfrm>
          <a:prstGeom prst="roundRect">
            <a:avLst>
              <a:gd name="adj" fmla="val 16000"/>
            </a:avLst>
          </a:prstGeom>
          <a:solidFill>
            <a:schemeClr val="accent2"/>
          </a:solidFill>
          <a:ln w="9525">
            <a:solidFill>
              <a:schemeClr val="accent2"/>
            </a:solidFill>
          </a:ln>
        </p:spPr>
        <p:txBody>
          <a:bodyPr wrap="square" lIns="0" tIns="152400" rIns="127000" bIns="0" rtlCol="0" anchor="ctr"/>
          <a:lstStyle/>
          <a:p>
            <a:pPr indent="0" marL="0">
              <a:buNone/>
            </a:pPr>
            <a:r>
              <a:rPr lang="en-US" sz="1500" b="1" dirty="0">
                <a:solidFill>
                  <a:schemeClr val="tx2"/>
                </a:solidFill>
              </a:rPr>
              <a:t>7   What lasting rules share</a:t>
            </a:r>
            <a:endParaRPr lang="en-US" sz="1500" dirty="0"/>
          </a:p>
        </p:txBody>
      </p:sp>
      <p:sp>
        <p:nvSpPr>
          <p:cNvPr id="12" name="rung 8"/>
          <p:cNvSpPr/>
          <p:nvPr/>
        </p:nvSpPr>
        <p:spPr>
          <a:xfrm>
            <a:off x="7991856" y="4626864"/>
            <a:ext cx="352958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8   One sentence of a rule</a:t>
            </a:r>
            <a:endParaRPr lang="en-US" sz="1500" dirty="0"/>
          </a:p>
        </p:txBody>
      </p:sp>
      <p:sp>
        <p:nvSpPr>
          <p:cNvPr id="13" name="rung 9"/>
          <p:cNvSpPr/>
          <p:nvPr/>
        </p:nvSpPr>
        <p:spPr>
          <a:xfrm>
            <a:off x="8101584" y="5157216"/>
            <a:ext cx="341985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9   One person deciding</a:t>
            </a:r>
            <a:endParaRPr lang="en-US" sz="1500" dirty="0"/>
          </a:p>
        </p:txBody>
      </p:sp>
      <p:sp>
        <p:nvSpPr>
          <p:cNvPr id="14" name="Text 12"/>
          <p:cNvSpPr txBox="1"/>
          <p:nvPr/>
        </p:nvSpPr>
        <p:spPr>
          <a:xfrm>
            <a:off x="9601200" y="566928"/>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largest scale</a:t>
            </a:r>
            <a:endParaRPr lang="en-US" sz="1100" dirty="0"/>
          </a:p>
        </p:txBody>
      </p:sp>
      <p:sp>
        <p:nvSpPr>
          <p:cNvPr id="15" name="Text 13"/>
          <p:cNvSpPr txBox="1"/>
          <p:nvPr/>
        </p:nvSpPr>
        <p:spPr>
          <a:xfrm>
            <a:off x="9601200" y="5669280"/>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smallest scale</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7 · WHAT LASTING RULES SHARE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Eight design principles, in plain words</a:t>
            </a:r>
            <a:endParaRPr lang="en-US" sz="3200" dirty="0"/>
          </a:p>
        </p:txBody>
      </p:sp>
      <p:sp>
        <p:nvSpPr>
          <p:cNvPr id="5" name="card 1 Clear boundaries"/>
          <p:cNvSpPr/>
          <p:nvPr/>
        </p:nvSpPr>
        <p:spPr>
          <a:xfrm>
            <a:off x="548640" y="1417320"/>
            <a:ext cx="5440680" cy="1097280"/>
          </a:xfrm>
          <a:prstGeom prst="roundRect">
            <a:avLst>
              <a:gd name="adj" fmla="val 6667"/>
            </a:avLst>
          </a:prstGeom>
          <a:solidFill>
            <a:schemeClr val="bg2"/>
          </a:solidFill>
          <a:ln w="12700">
            <a:solidFill>
              <a:schemeClr val="bg2"/>
            </a:solidFill>
            <a:prstDash val="solid"/>
          </a:ln>
        </p:spPr>
      </p:sp>
      <p:sp>
        <p:nvSpPr>
          <p:cNvPr id="6" name="Text 3"/>
          <p:cNvSpPr txBox="1"/>
          <p:nvPr/>
        </p:nvSpPr>
        <p:spPr>
          <a:xfrm>
            <a:off x="685800" y="1508760"/>
            <a:ext cx="51663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1 Clear boundaries</a:t>
            </a:r>
            <a:endParaRPr lang="en-US" sz="1600" dirty="0"/>
          </a:p>
          <a:p>
            <a:pPr indent="0" marL="0">
              <a:spcAft>
                <a:spcPts val="400"/>
              </a:spcAft>
              <a:buNone/>
            </a:pPr>
            <a:r>
              <a:rPr lang="en-US" sz="1400" dirty="0">
                <a:solidFill>
                  <a:schemeClr val="tx1"/>
                </a:solidFill>
              </a:rPr>
              <a:t>Everyone knows who is in (1A) and what the shared thing is (1B).</a:t>
            </a:r>
            <a:endParaRPr lang="en-US" sz="1600" dirty="0"/>
          </a:p>
        </p:txBody>
      </p:sp>
      <p:sp>
        <p:nvSpPr>
          <p:cNvPr id="7" name="card 2 Rules that fit"/>
          <p:cNvSpPr/>
          <p:nvPr/>
        </p:nvSpPr>
        <p:spPr>
          <a:xfrm>
            <a:off x="6172200" y="1417320"/>
            <a:ext cx="5440680" cy="1097280"/>
          </a:xfrm>
          <a:prstGeom prst="roundRect">
            <a:avLst>
              <a:gd name="adj" fmla="val 6667"/>
            </a:avLst>
          </a:prstGeom>
          <a:solidFill>
            <a:schemeClr val="bg2"/>
          </a:solidFill>
          <a:ln w="12700">
            <a:solidFill>
              <a:schemeClr val="bg2"/>
            </a:solidFill>
            <a:prstDash val="solid"/>
          </a:ln>
        </p:spPr>
      </p:sp>
      <p:sp>
        <p:nvSpPr>
          <p:cNvPr id="8" name="Text 5"/>
          <p:cNvSpPr txBox="1"/>
          <p:nvPr/>
        </p:nvSpPr>
        <p:spPr>
          <a:xfrm>
            <a:off x="6309360" y="1508760"/>
            <a:ext cx="51663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2 Rules that fit</a:t>
            </a:r>
            <a:endParaRPr lang="en-US" sz="1600" dirty="0"/>
          </a:p>
          <a:p>
            <a:pPr indent="0" marL="0">
              <a:spcAft>
                <a:spcPts val="400"/>
              </a:spcAft>
              <a:buNone/>
            </a:pPr>
            <a:r>
              <a:rPr lang="en-US" sz="1400" dirty="0">
                <a:solidFill>
                  <a:schemeClr val="tx1"/>
                </a:solidFill>
              </a:rPr>
              <a:t>Rules suit this place and these people (2A). What you put in matches what you take out (2B).</a:t>
            </a:r>
            <a:endParaRPr lang="en-US" sz="1600" dirty="0"/>
          </a:p>
        </p:txBody>
      </p:sp>
      <p:sp>
        <p:nvSpPr>
          <p:cNvPr id="9" name="card 3 Collective choice"/>
          <p:cNvSpPr/>
          <p:nvPr/>
        </p:nvSpPr>
        <p:spPr>
          <a:xfrm>
            <a:off x="548640" y="2633472"/>
            <a:ext cx="5440680" cy="1097280"/>
          </a:xfrm>
          <a:prstGeom prst="roundRect">
            <a:avLst>
              <a:gd name="adj" fmla="val 6667"/>
            </a:avLst>
          </a:prstGeom>
          <a:solidFill>
            <a:schemeClr val="bg2"/>
          </a:solidFill>
          <a:ln w="12700">
            <a:solidFill>
              <a:schemeClr val="bg2"/>
            </a:solidFill>
            <a:prstDash val="solid"/>
          </a:ln>
        </p:spPr>
      </p:sp>
      <p:sp>
        <p:nvSpPr>
          <p:cNvPr id="10" name="Text 7"/>
          <p:cNvSpPr txBox="1"/>
          <p:nvPr/>
        </p:nvSpPr>
        <p:spPr>
          <a:xfrm>
            <a:off x="685800" y="2724912"/>
            <a:ext cx="51663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3 Collective choice</a:t>
            </a:r>
            <a:endParaRPr lang="en-US" sz="1600" dirty="0"/>
          </a:p>
          <a:p>
            <a:pPr indent="0" marL="0">
              <a:spcAft>
                <a:spcPts val="400"/>
              </a:spcAft>
              <a:buNone/>
            </a:pPr>
            <a:r>
              <a:rPr lang="en-US" sz="1400" dirty="0">
                <a:solidFill>
                  <a:schemeClr val="tx1"/>
                </a:solidFill>
              </a:rPr>
              <a:t>Most people affected by the rules help make and change them.</a:t>
            </a:r>
            <a:endParaRPr lang="en-US" sz="1600" dirty="0"/>
          </a:p>
        </p:txBody>
      </p:sp>
      <p:sp>
        <p:nvSpPr>
          <p:cNvPr id="11" name="card 4 Monitoring"/>
          <p:cNvSpPr/>
          <p:nvPr/>
        </p:nvSpPr>
        <p:spPr>
          <a:xfrm>
            <a:off x="6172200" y="2633472"/>
            <a:ext cx="5440680" cy="1097280"/>
          </a:xfrm>
          <a:prstGeom prst="roundRect">
            <a:avLst>
              <a:gd name="adj" fmla="val 6667"/>
            </a:avLst>
          </a:prstGeom>
          <a:solidFill>
            <a:schemeClr val="bg2"/>
          </a:solidFill>
          <a:ln w="12700">
            <a:solidFill>
              <a:schemeClr val="bg2"/>
            </a:solidFill>
            <a:prstDash val="solid"/>
          </a:ln>
        </p:spPr>
      </p:sp>
      <p:sp>
        <p:nvSpPr>
          <p:cNvPr id="12" name="Text 9"/>
          <p:cNvSpPr txBox="1"/>
          <p:nvPr/>
        </p:nvSpPr>
        <p:spPr>
          <a:xfrm>
            <a:off x="6309360" y="2724912"/>
            <a:ext cx="51663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4 Monitoring</a:t>
            </a:r>
            <a:endParaRPr lang="en-US" sz="1600" dirty="0"/>
          </a:p>
          <a:p>
            <a:pPr indent="0" marL="0">
              <a:spcAft>
                <a:spcPts val="400"/>
              </a:spcAft>
              <a:buNone/>
            </a:pPr>
            <a:r>
              <a:rPr lang="en-US" sz="1400" dirty="0">
                <a:solidFill>
                  <a:schemeClr val="tx1"/>
                </a:solidFill>
              </a:rPr>
              <a:t>Someone watches how the rules are kept (4A) and the condition of the resource (4B), and answers to the users.</a:t>
            </a:r>
            <a:endParaRPr lang="en-US" sz="1600" dirty="0"/>
          </a:p>
        </p:txBody>
      </p:sp>
      <p:sp>
        <p:nvSpPr>
          <p:cNvPr id="13" name="card 5 Graduated sanctions"/>
          <p:cNvSpPr/>
          <p:nvPr/>
        </p:nvSpPr>
        <p:spPr>
          <a:xfrm>
            <a:off x="548640" y="3849624"/>
            <a:ext cx="5440680" cy="1097280"/>
          </a:xfrm>
          <a:prstGeom prst="roundRect">
            <a:avLst>
              <a:gd name="adj" fmla="val 6667"/>
            </a:avLst>
          </a:prstGeom>
          <a:solidFill>
            <a:schemeClr val="bg2"/>
          </a:solidFill>
          <a:ln w="12700">
            <a:solidFill>
              <a:schemeClr val="bg2"/>
            </a:solidFill>
            <a:prstDash val="solid"/>
          </a:ln>
        </p:spPr>
      </p:sp>
      <p:sp>
        <p:nvSpPr>
          <p:cNvPr id="14" name="Text 11"/>
          <p:cNvSpPr txBox="1"/>
          <p:nvPr/>
        </p:nvSpPr>
        <p:spPr>
          <a:xfrm>
            <a:off x="685800" y="3941064"/>
            <a:ext cx="51663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5 Graduated sanctions</a:t>
            </a:r>
            <a:endParaRPr lang="en-US" sz="1600" dirty="0"/>
          </a:p>
          <a:p>
            <a:pPr indent="0" marL="0">
              <a:spcAft>
                <a:spcPts val="400"/>
              </a:spcAft>
              <a:buNone/>
            </a:pPr>
            <a:r>
              <a:rPr lang="en-US" sz="1400" dirty="0">
                <a:solidFill>
                  <a:schemeClr val="tx1"/>
                </a:solidFill>
              </a:rPr>
              <a:t>Penalties start small and grow with repeated or serious breaches.</a:t>
            </a:r>
            <a:endParaRPr lang="en-US" sz="1600" dirty="0"/>
          </a:p>
        </p:txBody>
      </p:sp>
      <p:sp>
        <p:nvSpPr>
          <p:cNvPr id="15" name="card 6 Conflict resolution"/>
          <p:cNvSpPr/>
          <p:nvPr/>
        </p:nvSpPr>
        <p:spPr>
          <a:xfrm>
            <a:off x="6172200" y="3849624"/>
            <a:ext cx="5440680" cy="1097280"/>
          </a:xfrm>
          <a:prstGeom prst="roundRect">
            <a:avLst>
              <a:gd name="adj" fmla="val 6667"/>
            </a:avLst>
          </a:prstGeom>
          <a:solidFill>
            <a:schemeClr val="bg2"/>
          </a:solidFill>
          <a:ln w="12700">
            <a:solidFill>
              <a:schemeClr val="bg2"/>
            </a:solidFill>
            <a:prstDash val="solid"/>
          </a:ln>
        </p:spPr>
      </p:sp>
      <p:sp>
        <p:nvSpPr>
          <p:cNvPr id="16" name="Text 13"/>
          <p:cNvSpPr txBox="1"/>
          <p:nvPr/>
        </p:nvSpPr>
        <p:spPr>
          <a:xfrm>
            <a:off x="6309360" y="3941064"/>
            <a:ext cx="51663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6 Conflict resolution</a:t>
            </a:r>
            <a:endParaRPr lang="en-US" sz="1600" dirty="0"/>
          </a:p>
          <a:p>
            <a:pPr indent="0" marL="0">
              <a:spcAft>
                <a:spcPts val="400"/>
              </a:spcAft>
              <a:buNone/>
            </a:pPr>
            <a:r>
              <a:rPr lang="en-US" sz="1400" dirty="0">
                <a:solidFill>
                  <a:schemeClr val="tx1"/>
                </a:solidFill>
              </a:rPr>
              <a:t>Cheap, quick, local ways to settle disputes, including disputes about the rules.</a:t>
            </a:r>
            <a:endParaRPr lang="en-US" sz="1600" dirty="0"/>
          </a:p>
        </p:txBody>
      </p:sp>
      <p:sp>
        <p:nvSpPr>
          <p:cNvPr id="17" name="card 7 Recognition of rights"/>
          <p:cNvSpPr/>
          <p:nvPr/>
        </p:nvSpPr>
        <p:spPr>
          <a:xfrm>
            <a:off x="548640" y="5065776"/>
            <a:ext cx="5440680" cy="1097280"/>
          </a:xfrm>
          <a:prstGeom prst="roundRect">
            <a:avLst>
              <a:gd name="adj" fmla="val 6667"/>
            </a:avLst>
          </a:prstGeom>
          <a:solidFill>
            <a:schemeClr val="bg2"/>
          </a:solidFill>
          <a:ln w="12700">
            <a:solidFill>
              <a:schemeClr val="bg2"/>
            </a:solidFill>
            <a:prstDash val="solid"/>
          </a:ln>
        </p:spPr>
      </p:sp>
      <p:sp>
        <p:nvSpPr>
          <p:cNvPr id="18" name="Text 15"/>
          <p:cNvSpPr txBox="1"/>
          <p:nvPr/>
        </p:nvSpPr>
        <p:spPr>
          <a:xfrm>
            <a:off x="685800" y="5157216"/>
            <a:ext cx="51663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7 Recognition of rights</a:t>
            </a:r>
            <a:endParaRPr lang="en-US" sz="1600" dirty="0"/>
          </a:p>
          <a:p>
            <a:pPr indent="0" marL="0">
              <a:spcAft>
                <a:spcPts val="400"/>
              </a:spcAft>
              <a:buNone/>
            </a:pPr>
            <a:r>
              <a:rPr lang="en-US" sz="1400" dirty="0">
                <a:solidFill>
                  <a:schemeClr val="tx1"/>
                </a:solidFill>
              </a:rPr>
              <a:t>Governments and landowners outside the group respect its right to make its own rules.</a:t>
            </a:r>
            <a:endParaRPr lang="en-US" sz="1600" dirty="0"/>
          </a:p>
        </p:txBody>
      </p:sp>
      <p:sp>
        <p:nvSpPr>
          <p:cNvPr id="19" name="card 8 Nested enterprises"/>
          <p:cNvSpPr/>
          <p:nvPr/>
        </p:nvSpPr>
        <p:spPr>
          <a:xfrm>
            <a:off x="6172200" y="5065776"/>
            <a:ext cx="5440680" cy="1097280"/>
          </a:xfrm>
          <a:prstGeom prst="roundRect">
            <a:avLst>
              <a:gd name="adj" fmla="val 6667"/>
            </a:avLst>
          </a:prstGeom>
          <a:solidFill>
            <a:schemeClr val="bg2"/>
          </a:solidFill>
          <a:ln w="12700">
            <a:solidFill>
              <a:schemeClr val="bg2"/>
            </a:solidFill>
            <a:prstDash val="solid"/>
          </a:ln>
        </p:spPr>
      </p:sp>
      <p:sp>
        <p:nvSpPr>
          <p:cNvPr id="20" name="Text 17"/>
          <p:cNvSpPr txBox="1"/>
          <p:nvPr/>
        </p:nvSpPr>
        <p:spPr>
          <a:xfrm>
            <a:off x="6309360" y="5157216"/>
            <a:ext cx="5166360" cy="914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8 Nested enterprises</a:t>
            </a:r>
            <a:endParaRPr lang="en-US" sz="1600" dirty="0"/>
          </a:p>
          <a:p>
            <a:pPr indent="0" marL="0">
              <a:spcAft>
                <a:spcPts val="400"/>
              </a:spcAft>
              <a:buNone/>
            </a:pPr>
            <a:r>
              <a:rPr lang="en-US" sz="1400" dirty="0">
                <a:solidFill>
                  <a:schemeClr val="tx1"/>
                </a:solidFill>
              </a:rPr>
              <a:t>When part of something bigger, governance is layered: small self-governing groups inside larger ones.</a:t>
            </a:r>
            <a:endParaRPr lang="en-US" sz="16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7 · WHAT LASTING RULES SHARE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Words in the design principles, in plain language</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Terms used in the principles, translated.</a:t>
            </a:r>
            <a:endParaRPr lang="en-US" sz="1500" dirty="0"/>
          </a:p>
        </p:txBody>
      </p:sp>
      <p:sp>
        <p:nvSpPr>
          <p:cNvPr id="6" name="card Design principle"/>
          <p:cNvSpPr/>
          <p:nvPr/>
        </p:nvSpPr>
        <p:spPr>
          <a:xfrm>
            <a:off x="548640" y="1828800"/>
            <a:ext cx="5477256" cy="1405128"/>
          </a:xfrm>
          <a:prstGeom prst="roundRect">
            <a:avLst>
              <a:gd name="adj" fmla="val 5206"/>
            </a:avLst>
          </a:prstGeom>
          <a:solidFill>
            <a:schemeClr val="bg2"/>
          </a:solidFill>
          <a:ln w="12700">
            <a:solidFill>
              <a:schemeClr val="bg2"/>
            </a:solidFill>
            <a:prstDash val="solid"/>
          </a:ln>
        </p:spPr>
      </p:sp>
      <p:sp>
        <p:nvSpPr>
          <p:cNvPr id="7" name="Text 4"/>
          <p:cNvSpPr txBox="1"/>
          <p:nvPr/>
        </p:nvSpPr>
        <p:spPr>
          <a:xfrm>
            <a:off x="685800" y="1920240"/>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Design principle</a:t>
            </a:r>
            <a:endParaRPr lang="en-US" sz="1500" dirty="0"/>
          </a:p>
          <a:p>
            <a:pPr indent="0" marL="0">
              <a:spcAft>
                <a:spcPts val="400"/>
              </a:spcAft>
              <a:buNone/>
            </a:pPr>
            <a:r>
              <a:rPr lang="en-US" sz="1400" dirty="0">
                <a:solidFill>
                  <a:schemeClr val="tx1"/>
                </a:solidFill>
              </a:rPr>
              <a:t>A pattern found in long-lasting commons. Not a blueprint, and not something people consciously followed.</a:t>
            </a:r>
            <a:endParaRPr lang="en-US" sz="1500" dirty="0"/>
          </a:p>
        </p:txBody>
      </p:sp>
      <p:sp>
        <p:nvSpPr>
          <p:cNvPr id="8" name="card Congruence with local conditions"/>
          <p:cNvSpPr/>
          <p:nvPr/>
        </p:nvSpPr>
        <p:spPr>
          <a:xfrm>
            <a:off x="548640" y="3343656"/>
            <a:ext cx="5477256" cy="1405128"/>
          </a:xfrm>
          <a:prstGeom prst="roundRect">
            <a:avLst>
              <a:gd name="adj" fmla="val 5206"/>
            </a:avLst>
          </a:prstGeom>
          <a:solidFill>
            <a:schemeClr val="bg2"/>
          </a:solidFill>
          <a:ln w="12700">
            <a:solidFill>
              <a:schemeClr val="bg2"/>
            </a:solidFill>
            <a:prstDash val="solid"/>
          </a:ln>
        </p:spPr>
      </p:sp>
      <p:sp>
        <p:nvSpPr>
          <p:cNvPr id="9" name="Text 6"/>
          <p:cNvSpPr txBox="1"/>
          <p:nvPr/>
        </p:nvSpPr>
        <p:spPr>
          <a:xfrm>
            <a:off x="685800" y="3435096"/>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Congruence with local conditions</a:t>
            </a:r>
            <a:endParaRPr lang="en-US" sz="1500" dirty="0"/>
          </a:p>
          <a:p>
            <a:pPr indent="0" marL="0">
              <a:spcAft>
                <a:spcPts val="400"/>
              </a:spcAft>
              <a:buNone/>
            </a:pPr>
            <a:r>
              <a:rPr lang="en-US" sz="1400" dirty="0">
                <a:solidFill>
                  <a:schemeClr val="tx1"/>
                </a:solidFill>
              </a:rPr>
              <a:t>The rules fit the place: its weather, its resource, its people. "Congruent" means fitting together.</a:t>
            </a:r>
            <a:endParaRPr lang="en-US" sz="1500" dirty="0"/>
          </a:p>
        </p:txBody>
      </p:sp>
      <p:sp>
        <p:nvSpPr>
          <p:cNvPr id="10" name="card Appropriation and provision"/>
          <p:cNvSpPr/>
          <p:nvPr/>
        </p:nvSpPr>
        <p:spPr>
          <a:xfrm>
            <a:off x="548640" y="4858512"/>
            <a:ext cx="5477256" cy="1405128"/>
          </a:xfrm>
          <a:prstGeom prst="roundRect">
            <a:avLst>
              <a:gd name="adj" fmla="val 5206"/>
            </a:avLst>
          </a:prstGeom>
          <a:solidFill>
            <a:schemeClr val="bg2"/>
          </a:solidFill>
          <a:ln w="12700">
            <a:solidFill>
              <a:schemeClr val="bg2"/>
            </a:solidFill>
            <a:prstDash val="solid"/>
          </a:ln>
        </p:spPr>
      </p:sp>
      <p:sp>
        <p:nvSpPr>
          <p:cNvPr id="11" name="Text 8"/>
          <p:cNvSpPr txBox="1"/>
          <p:nvPr/>
        </p:nvSpPr>
        <p:spPr>
          <a:xfrm>
            <a:off x="685800" y="4949952"/>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Appropriation and provision</a:t>
            </a:r>
            <a:endParaRPr lang="en-US" sz="1500" dirty="0"/>
          </a:p>
          <a:p>
            <a:pPr indent="0" marL="0">
              <a:spcAft>
                <a:spcPts val="400"/>
              </a:spcAft>
              <a:buNone/>
            </a:pPr>
            <a:r>
              <a:rPr lang="en-US" sz="1400" dirty="0">
                <a:solidFill>
                  <a:schemeClr val="tx1"/>
                </a:solidFill>
              </a:rPr>
              <a:t>Taking from the resource, and putting work, money or care back into it.</a:t>
            </a:r>
            <a:endParaRPr lang="en-US" sz="1500" dirty="0"/>
          </a:p>
        </p:txBody>
      </p:sp>
      <p:sp>
        <p:nvSpPr>
          <p:cNvPr id="12" name="card Monitoring"/>
          <p:cNvSpPr/>
          <p:nvPr/>
        </p:nvSpPr>
        <p:spPr>
          <a:xfrm>
            <a:off x="6135624" y="1828800"/>
            <a:ext cx="5477256" cy="1405128"/>
          </a:xfrm>
          <a:prstGeom prst="roundRect">
            <a:avLst>
              <a:gd name="adj" fmla="val 5206"/>
            </a:avLst>
          </a:prstGeom>
          <a:solidFill>
            <a:schemeClr val="bg2"/>
          </a:solidFill>
          <a:ln w="12700">
            <a:solidFill>
              <a:schemeClr val="bg2"/>
            </a:solidFill>
            <a:prstDash val="solid"/>
          </a:ln>
        </p:spPr>
      </p:sp>
      <p:sp>
        <p:nvSpPr>
          <p:cNvPr id="13" name="Text 10"/>
          <p:cNvSpPr txBox="1"/>
          <p:nvPr/>
        </p:nvSpPr>
        <p:spPr>
          <a:xfrm>
            <a:off x="6272784" y="1920240"/>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Monitoring</a:t>
            </a:r>
            <a:endParaRPr lang="en-US" sz="1500" dirty="0"/>
          </a:p>
          <a:p>
            <a:pPr indent="0" marL="0">
              <a:spcAft>
                <a:spcPts val="400"/>
              </a:spcAft>
              <a:buNone/>
            </a:pPr>
            <a:r>
              <a:rPr lang="en-US" sz="1400" dirty="0">
                <a:solidFill>
                  <a:schemeClr val="tx1"/>
                </a:solidFill>
              </a:rPr>
              <a:t>Watching: who takes what, and how the resource is doing. Best done by users or people who answer to them.</a:t>
            </a:r>
            <a:endParaRPr lang="en-US" sz="1500" dirty="0"/>
          </a:p>
        </p:txBody>
      </p:sp>
      <p:sp>
        <p:nvSpPr>
          <p:cNvPr id="14" name="card Graduated sanctions"/>
          <p:cNvSpPr/>
          <p:nvPr/>
        </p:nvSpPr>
        <p:spPr>
          <a:xfrm>
            <a:off x="6135624" y="3343656"/>
            <a:ext cx="5477256" cy="1405128"/>
          </a:xfrm>
          <a:prstGeom prst="roundRect">
            <a:avLst>
              <a:gd name="adj" fmla="val 5206"/>
            </a:avLst>
          </a:prstGeom>
          <a:solidFill>
            <a:schemeClr val="bg2"/>
          </a:solidFill>
          <a:ln w="12700">
            <a:solidFill>
              <a:schemeClr val="bg2"/>
            </a:solidFill>
            <a:prstDash val="solid"/>
          </a:ln>
        </p:spPr>
      </p:sp>
      <p:sp>
        <p:nvSpPr>
          <p:cNvPr id="15" name="Text 12"/>
          <p:cNvSpPr txBox="1"/>
          <p:nvPr/>
        </p:nvSpPr>
        <p:spPr>
          <a:xfrm>
            <a:off x="6272784" y="3435096"/>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Graduated sanctions</a:t>
            </a:r>
            <a:endParaRPr lang="en-US" sz="1500" dirty="0"/>
          </a:p>
          <a:p>
            <a:pPr indent="0" marL="0">
              <a:spcAft>
                <a:spcPts val="400"/>
              </a:spcAft>
              <a:buNone/>
            </a:pPr>
            <a:r>
              <a:rPr lang="en-US" sz="1400" dirty="0">
                <a:solidFill>
                  <a:schemeClr val="tx1"/>
                </a:solidFill>
              </a:rPr>
              <a:t>"Graduated" means stepping up. "Sanction" means penalty. A warning first, then stronger.</a:t>
            </a:r>
            <a:endParaRPr lang="en-US" sz="1500" dirty="0"/>
          </a:p>
        </p:txBody>
      </p:sp>
      <p:sp>
        <p:nvSpPr>
          <p:cNvPr id="16" name="card Nested enterprises"/>
          <p:cNvSpPr/>
          <p:nvPr/>
        </p:nvSpPr>
        <p:spPr>
          <a:xfrm>
            <a:off x="6135624" y="4858512"/>
            <a:ext cx="5477256" cy="1405128"/>
          </a:xfrm>
          <a:prstGeom prst="roundRect">
            <a:avLst>
              <a:gd name="adj" fmla="val 5206"/>
            </a:avLst>
          </a:prstGeom>
          <a:solidFill>
            <a:schemeClr val="bg2"/>
          </a:solidFill>
          <a:ln w="12700">
            <a:solidFill>
              <a:schemeClr val="bg2"/>
            </a:solidFill>
            <a:prstDash val="solid"/>
          </a:ln>
        </p:spPr>
      </p:sp>
      <p:sp>
        <p:nvSpPr>
          <p:cNvPr id="17" name="Text 14"/>
          <p:cNvSpPr txBox="1"/>
          <p:nvPr/>
        </p:nvSpPr>
        <p:spPr>
          <a:xfrm>
            <a:off x="6272784" y="4949952"/>
            <a:ext cx="5202936" cy="1222248"/>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Nested enterprises</a:t>
            </a:r>
            <a:endParaRPr lang="en-US" sz="1500" dirty="0"/>
          </a:p>
          <a:p>
            <a:pPr indent="0" marL="0">
              <a:spcAft>
                <a:spcPts val="400"/>
              </a:spcAft>
              <a:buNone/>
            </a:pPr>
            <a:r>
              <a:rPr lang="en-US" sz="1400" dirty="0">
                <a:solidFill>
                  <a:schemeClr val="tx1"/>
                </a:solidFill>
              </a:rPr>
              <a:t>Groups inside groups, each governing itself: a garden inside a neighborhood council inside a city.</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7 · WHAT LASTING RULES SHARE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Each principle leans on particular kinds of rule</a:t>
            </a:r>
            <a:endParaRPr lang="en-US" sz="3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743200"/>
                <a:gridCol w="5943600"/>
                <a:gridCol w="2377440"/>
              </a:tblGrid>
              <a:tr h="502920">
                <a:tc>
                  <a:txBody>
                    <a:bodyPr/>
                    <a:lstStyle/>
                    <a:p>
                      <a:pPr indent="0" marL="0">
                        <a:buNone/>
                      </a:pPr>
                      <a:r>
                        <a:rPr lang="en-US" sz="1400" b="1" dirty="0">
                          <a:solidFill>
                            <a:srgbClr val="FFFFFF"/>
                          </a:solidFill>
                        </a:rPr>
                        <a:t>Principle</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accent1"/>
                    </a:solidFill>
                  </a:tcPr>
                </a:tc>
                <a:tc>
                  <a:txBody>
                    <a:bodyPr/>
                    <a:lstStyle/>
                    <a:p>
                      <a:pPr indent="0" marL="0">
                        <a:buNone/>
                      </a:pPr>
                      <a:r>
                        <a:rPr lang="en-US" sz="1400" b="1" dirty="0">
                          <a:solidFill>
                            <a:srgbClr val="FFFFFF"/>
                          </a:solidFill>
                        </a:rPr>
                        <a:t>Kinds of rule it rests on</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accent1"/>
                    </a:solidFill>
                  </a:tcPr>
                </a:tc>
                <a:tc>
                  <a:txBody>
                    <a:bodyPr/>
                    <a:lstStyle/>
                    <a:p>
                      <a:pPr indent="0" marL="0">
                        <a:buNone/>
                      </a:pPr>
                      <a:r>
                        <a:rPr lang="en-US" sz="1400" b="1" dirty="0">
                          <a:solidFill>
                            <a:srgbClr val="FFFFFF"/>
                          </a:solidFill>
                        </a:rPr>
                        <a:t>Level</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chemeClr val="accent1"/>
                    </a:solidFill>
                  </a:tcPr>
                </a:tc>
              </a:tr>
              <a:tr h="502920">
                <a:tc>
                  <a:txBody>
                    <a:bodyPr/>
                    <a:lstStyle/>
                    <a:p>
                      <a:pPr indent="0" marL="0">
                        <a:buNone/>
                      </a:pPr>
                      <a:r>
                        <a:rPr lang="en-US" sz="1400" b="1" dirty="0">
                          <a:solidFill>
                            <a:schemeClr val="tx1"/>
                          </a:solidFill>
                        </a:rPr>
                        <a:t>1 Clear boundaries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Boundary (who is in); scope (what the thing is)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Operational and constitutional</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1"/>
                          </a:solidFill>
                        </a:rPr>
                        <a:t>2 Rules that fit</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Payoff matched against choice (2B). 2A: no rule shows it</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Operational</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1"/>
                          </a:solidFill>
                        </a:rPr>
                        <a:t>3 Collective choice</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Boundary, position, information, aggregation, scope</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Collective choice</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1"/>
                          </a:solidFill>
                        </a:rPr>
                        <a:t>4 Monitoring</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Position (a monitor), choice (duty to watch), information (reports)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Operational</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1"/>
                          </a:solidFill>
                        </a:rPr>
                        <a:t>5 Graduated sanctions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Payoff: the penalty, stepping up</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Operational</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1"/>
                          </a:solidFill>
                        </a:rPr>
                        <a:t>6 Conflict resolution</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Position (a venue), boundary (who may come), aggregation (how it is settled)</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Collective choice</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1"/>
                          </a:solidFill>
                        </a:rPr>
                        <a:t>7 Recognition of rights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Scope, set by an outside body</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Constitutional</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chemeClr val="tx1"/>
                          </a:solidFill>
                        </a:rPr>
                        <a:t>8 Nested enterprises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Boundary and position, linking groups of different sizes</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Constitutional</a:t>
                      </a:r>
                      <a:endParaRPr lang="en-US" sz="1400" dirty="0"/>
                    </a:p>
                  </a:txBody>
                  <a:tcPr marL="91440" marR="91440" marT="45720" marB="45720" anchor="ctr">
                    <a:lnL w="6350" cap="flat" cmpd="sng" algn="ctr">
                      <a:solidFill>
                        <a:srgbClr val="C9D3CC"/>
                      </a:solidFill>
                      <a:prstDash val="solid"/>
                      <a:round/>
                      <a:headEnd type="none" w="med" len="med"/>
                      <a:tailEnd type="none" w="med" len="med"/>
                    </a:lnL>
                    <a:lnR w="6350" cap="flat" cmpd="sng" algn="ctr">
                      <a:solidFill>
                        <a:srgbClr val="C9D3CC"/>
                      </a:solidFill>
                      <a:prstDash val="solid"/>
                      <a:round/>
                      <a:headEnd type="none" w="med" len="med"/>
                      <a:tailEnd type="none" w="med" len="med"/>
                    </a:lnR>
                    <a:lnT w="6350" cap="flat" cmpd="sng" algn="ctr">
                      <a:solidFill>
                        <a:srgbClr val="C9D3CC"/>
                      </a:solidFill>
                      <a:prstDash val="solid"/>
                      <a:round/>
                      <a:headEnd type="none" w="med" len="med"/>
                      <a:tailEnd type="none" w="med" len="med"/>
                    </a:lnT>
                    <a:lnB w="6350" cap="flat" cmpd="sng" algn="ctr">
                      <a:solidFill>
                        <a:srgbClr val="C9D3C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7 · WHAT LASTING RULES SHARE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Principle 3 is really five questions</a:t>
            </a:r>
            <a:endParaRPr lang="en-US" sz="3200" dirty="0"/>
          </a:p>
        </p:txBody>
      </p:sp>
      <p:sp>
        <p:nvSpPr>
          <p:cNvPr id="5" name="Shape 2"/>
          <p:cNvSpPr/>
          <p:nvPr/>
        </p:nvSpPr>
        <p:spPr>
          <a:xfrm>
            <a:off x="1234440" y="1600200"/>
            <a:ext cx="731520" cy="731520"/>
          </a:xfrm>
          <a:prstGeom prst="ellipse">
            <a:avLst/>
          </a:prstGeom>
          <a:solidFill>
            <a:schemeClr val="accent2"/>
          </a:solidFill>
          <a:ln w="12700">
            <a:solidFill>
              <a:schemeClr val="accent2"/>
            </a:solidFill>
            <a:prstDash val="solid"/>
          </a:ln>
        </p:spPr>
      </p:sp>
      <p:sp>
        <p:nvSpPr>
          <p:cNvPr id="6" name="Text 3"/>
          <p:cNvSpPr txBox="1"/>
          <p:nvPr/>
        </p:nvSpPr>
        <p:spPr>
          <a:xfrm>
            <a:off x="1234440" y="16002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1</a:t>
            </a:r>
            <a:endParaRPr lang="en-US" sz="2400" dirty="0"/>
          </a:p>
        </p:txBody>
      </p:sp>
      <p:sp>
        <p:nvSpPr>
          <p:cNvPr id="7" name="card Are they seated?"/>
          <p:cNvSpPr/>
          <p:nvPr/>
        </p:nvSpPr>
        <p:spPr>
          <a:xfrm>
            <a:off x="548640" y="2560320"/>
            <a:ext cx="2103120" cy="2377440"/>
          </a:xfrm>
          <a:prstGeom prst="roundRect">
            <a:avLst>
              <a:gd name="adj" fmla="val 3478"/>
            </a:avLst>
          </a:prstGeom>
          <a:solidFill>
            <a:schemeClr val="bg2"/>
          </a:solidFill>
          <a:ln w="12700">
            <a:solidFill>
              <a:schemeClr val="bg2"/>
            </a:solidFill>
            <a:prstDash val="solid"/>
          </a:ln>
        </p:spPr>
      </p:sp>
      <p:sp>
        <p:nvSpPr>
          <p:cNvPr id="8" name="Text 5"/>
          <p:cNvSpPr txBox="1"/>
          <p:nvPr/>
        </p:nvSpPr>
        <p:spPr>
          <a:xfrm>
            <a:off x="685800" y="2651760"/>
            <a:ext cx="1828800" cy="21945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Are they seated?</a:t>
            </a:r>
            <a:endParaRPr lang="en-US" sz="1700" dirty="0"/>
          </a:p>
          <a:p>
            <a:pPr indent="0" marL="0">
              <a:spcAft>
                <a:spcPts val="400"/>
              </a:spcAft>
              <a:buNone/>
            </a:pPr>
            <a:r>
              <a:rPr lang="en-US" sz="1400" dirty="0">
                <a:solidFill>
                  <a:schemeClr val="tx1"/>
                </a:solidFill>
              </a:rPr>
              <a:t>Boundary rule</a:t>
            </a:r>
            <a:endParaRPr lang="en-US" sz="1700" dirty="0"/>
          </a:p>
        </p:txBody>
      </p:sp>
      <p:sp>
        <p:nvSpPr>
          <p:cNvPr id="9" name="Shape 6"/>
          <p:cNvSpPr/>
          <p:nvPr/>
        </p:nvSpPr>
        <p:spPr>
          <a:xfrm>
            <a:off x="3483864" y="1600200"/>
            <a:ext cx="731520" cy="731520"/>
          </a:xfrm>
          <a:prstGeom prst="ellipse">
            <a:avLst/>
          </a:prstGeom>
          <a:solidFill>
            <a:schemeClr val="accent2"/>
          </a:solidFill>
          <a:ln w="12700">
            <a:solidFill>
              <a:schemeClr val="accent2"/>
            </a:solidFill>
            <a:prstDash val="solid"/>
          </a:ln>
        </p:spPr>
      </p:sp>
      <p:sp>
        <p:nvSpPr>
          <p:cNvPr id="10" name="Text 7"/>
          <p:cNvSpPr txBox="1"/>
          <p:nvPr/>
        </p:nvSpPr>
        <p:spPr>
          <a:xfrm>
            <a:off x="3483864" y="16002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2</a:t>
            </a:r>
            <a:endParaRPr lang="en-US" sz="2400" dirty="0"/>
          </a:p>
        </p:txBody>
      </p:sp>
      <p:sp>
        <p:nvSpPr>
          <p:cNvPr id="11" name="card Is there a seat for them?"/>
          <p:cNvSpPr/>
          <p:nvPr/>
        </p:nvSpPr>
        <p:spPr>
          <a:xfrm>
            <a:off x="2798064" y="2560320"/>
            <a:ext cx="2103120" cy="2377440"/>
          </a:xfrm>
          <a:prstGeom prst="roundRect">
            <a:avLst>
              <a:gd name="adj" fmla="val 3478"/>
            </a:avLst>
          </a:prstGeom>
          <a:solidFill>
            <a:schemeClr val="bg2"/>
          </a:solidFill>
          <a:ln w="12700">
            <a:solidFill>
              <a:schemeClr val="bg2"/>
            </a:solidFill>
            <a:prstDash val="solid"/>
          </a:ln>
        </p:spPr>
      </p:sp>
      <p:sp>
        <p:nvSpPr>
          <p:cNvPr id="12" name="Text 9"/>
          <p:cNvSpPr txBox="1"/>
          <p:nvPr/>
        </p:nvSpPr>
        <p:spPr>
          <a:xfrm>
            <a:off x="2935224" y="2651760"/>
            <a:ext cx="1828800" cy="21945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Is there a seat for them?</a:t>
            </a:r>
            <a:endParaRPr lang="en-US" sz="1700" dirty="0"/>
          </a:p>
          <a:p>
            <a:pPr indent="0" marL="0">
              <a:spcAft>
                <a:spcPts val="400"/>
              </a:spcAft>
              <a:buNone/>
            </a:pPr>
            <a:r>
              <a:rPr lang="en-US" sz="1400" dirty="0">
                <a:solidFill>
                  <a:schemeClr val="tx1"/>
                </a:solidFill>
              </a:rPr>
              <a:t>Position rule, set at the constitutional level</a:t>
            </a:r>
            <a:endParaRPr lang="en-US" sz="1700" dirty="0"/>
          </a:p>
        </p:txBody>
      </p:sp>
      <p:sp>
        <p:nvSpPr>
          <p:cNvPr id="13" name="Shape 10"/>
          <p:cNvSpPr/>
          <p:nvPr/>
        </p:nvSpPr>
        <p:spPr>
          <a:xfrm>
            <a:off x="5733288" y="1600200"/>
            <a:ext cx="731520" cy="731520"/>
          </a:xfrm>
          <a:prstGeom prst="ellipse">
            <a:avLst/>
          </a:prstGeom>
          <a:solidFill>
            <a:schemeClr val="accent2"/>
          </a:solidFill>
          <a:ln w="12700">
            <a:solidFill>
              <a:schemeClr val="accent2"/>
            </a:solidFill>
            <a:prstDash val="solid"/>
          </a:ln>
        </p:spPr>
      </p:sp>
      <p:sp>
        <p:nvSpPr>
          <p:cNvPr id="14" name="Text 11"/>
          <p:cNvSpPr txBox="1"/>
          <p:nvPr/>
        </p:nvSpPr>
        <p:spPr>
          <a:xfrm>
            <a:off x="5733288" y="16002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3</a:t>
            </a:r>
            <a:endParaRPr lang="en-US" sz="2400" dirty="0"/>
          </a:p>
        </p:txBody>
      </p:sp>
      <p:sp>
        <p:nvSpPr>
          <p:cNvPr id="15" name="card Do they see proposals in time?"/>
          <p:cNvSpPr/>
          <p:nvPr/>
        </p:nvSpPr>
        <p:spPr>
          <a:xfrm>
            <a:off x="5047488" y="2560320"/>
            <a:ext cx="2103120" cy="2377440"/>
          </a:xfrm>
          <a:prstGeom prst="roundRect">
            <a:avLst>
              <a:gd name="adj" fmla="val 3478"/>
            </a:avLst>
          </a:prstGeom>
          <a:solidFill>
            <a:schemeClr val="bg2"/>
          </a:solidFill>
          <a:ln w="12700">
            <a:solidFill>
              <a:schemeClr val="bg2"/>
            </a:solidFill>
            <a:prstDash val="solid"/>
          </a:ln>
        </p:spPr>
      </p:sp>
      <p:sp>
        <p:nvSpPr>
          <p:cNvPr id="16" name="Text 13"/>
          <p:cNvSpPr txBox="1"/>
          <p:nvPr/>
        </p:nvSpPr>
        <p:spPr>
          <a:xfrm>
            <a:off x="5184648" y="2651760"/>
            <a:ext cx="1828800" cy="21945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Do they see proposals in time?</a:t>
            </a:r>
            <a:endParaRPr lang="en-US" sz="1700" dirty="0"/>
          </a:p>
          <a:p>
            <a:pPr indent="0" marL="0">
              <a:spcAft>
                <a:spcPts val="400"/>
              </a:spcAft>
              <a:buNone/>
            </a:pPr>
            <a:r>
              <a:rPr lang="en-US" sz="1400" dirty="0">
                <a:solidFill>
                  <a:schemeClr val="tx1"/>
                </a:solidFill>
              </a:rPr>
              <a:t>Information rule</a:t>
            </a:r>
            <a:endParaRPr lang="en-US" sz="1700" dirty="0"/>
          </a:p>
        </p:txBody>
      </p:sp>
      <p:sp>
        <p:nvSpPr>
          <p:cNvPr id="17" name="Shape 14"/>
          <p:cNvSpPr/>
          <p:nvPr/>
        </p:nvSpPr>
        <p:spPr>
          <a:xfrm>
            <a:off x="7982712" y="1600200"/>
            <a:ext cx="731520" cy="731520"/>
          </a:xfrm>
          <a:prstGeom prst="ellipse">
            <a:avLst/>
          </a:prstGeom>
          <a:solidFill>
            <a:schemeClr val="accent2"/>
          </a:solidFill>
          <a:ln w="12700">
            <a:solidFill>
              <a:schemeClr val="accent2"/>
            </a:solidFill>
            <a:prstDash val="solid"/>
          </a:ln>
        </p:spPr>
      </p:sp>
      <p:sp>
        <p:nvSpPr>
          <p:cNvPr id="18" name="Text 15"/>
          <p:cNvSpPr txBox="1"/>
          <p:nvPr/>
        </p:nvSpPr>
        <p:spPr>
          <a:xfrm>
            <a:off x="7982712" y="16002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4</a:t>
            </a:r>
            <a:endParaRPr lang="en-US" sz="2400" dirty="0"/>
          </a:p>
        </p:txBody>
      </p:sp>
      <p:sp>
        <p:nvSpPr>
          <p:cNvPr id="19" name="card Does their voice count?"/>
          <p:cNvSpPr/>
          <p:nvPr/>
        </p:nvSpPr>
        <p:spPr>
          <a:xfrm>
            <a:off x="7296912" y="2560320"/>
            <a:ext cx="2103120" cy="2377440"/>
          </a:xfrm>
          <a:prstGeom prst="roundRect">
            <a:avLst>
              <a:gd name="adj" fmla="val 3478"/>
            </a:avLst>
          </a:prstGeom>
          <a:solidFill>
            <a:schemeClr val="bg2"/>
          </a:solidFill>
          <a:ln w="12700">
            <a:solidFill>
              <a:schemeClr val="bg2"/>
            </a:solidFill>
            <a:prstDash val="solid"/>
          </a:ln>
        </p:spPr>
      </p:sp>
      <p:sp>
        <p:nvSpPr>
          <p:cNvPr id="20" name="Text 17"/>
          <p:cNvSpPr txBox="1"/>
          <p:nvPr/>
        </p:nvSpPr>
        <p:spPr>
          <a:xfrm>
            <a:off x="7434072" y="2651760"/>
            <a:ext cx="1828800" cy="21945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Does their voice count?</a:t>
            </a:r>
            <a:endParaRPr lang="en-US" sz="1700" dirty="0"/>
          </a:p>
          <a:p>
            <a:pPr indent="0" marL="0">
              <a:spcAft>
                <a:spcPts val="400"/>
              </a:spcAft>
              <a:buNone/>
            </a:pPr>
            <a:r>
              <a:rPr lang="en-US" sz="1400" dirty="0">
                <a:solidFill>
                  <a:schemeClr val="tx1"/>
                </a:solidFill>
              </a:rPr>
              <a:t>Aggregation rule: a vote, consent, or only being asked</a:t>
            </a:r>
            <a:endParaRPr lang="en-US" sz="1700" dirty="0"/>
          </a:p>
        </p:txBody>
      </p:sp>
      <p:sp>
        <p:nvSpPr>
          <p:cNvPr id="21" name="Shape 18"/>
          <p:cNvSpPr/>
          <p:nvPr/>
        </p:nvSpPr>
        <p:spPr>
          <a:xfrm>
            <a:off x="10232136" y="1600200"/>
            <a:ext cx="731520" cy="731520"/>
          </a:xfrm>
          <a:prstGeom prst="ellipse">
            <a:avLst/>
          </a:prstGeom>
          <a:solidFill>
            <a:schemeClr val="accent2"/>
          </a:solidFill>
          <a:ln w="12700">
            <a:solidFill>
              <a:schemeClr val="accent2"/>
            </a:solidFill>
            <a:prstDash val="solid"/>
          </a:ln>
        </p:spPr>
      </p:sp>
      <p:sp>
        <p:nvSpPr>
          <p:cNvPr id="22" name="Text 19"/>
          <p:cNvSpPr txBox="1"/>
          <p:nvPr/>
        </p:nvSpPr>
        <p:spPr>
          <a:xfrm>
            <a:off x="10232136" y="16002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5</a:t>
            </a:r>
            <a:endParaRPr lang="en-US" sz="2400" dirty="0"/>
          </a:p>
        </p:txBody>
      </p:sp>
      <p:sp>
        <p:nvSpPr>
          <p:cNvPr id="23" name="card What may they change?"/>
          <p:cNvSpPr/>
          <p:nvPr/>
        </p:nvSpPr>
        <p:spPr>
          <a:xfrm>
            <a:off x="9546336" y="2560320"/>
            <a:ext cx="2103120" cy="2377440"/>
          </a:xfrm>
          <a:prstGeom prst="roundRect">
            <a:avLst>
              <a:gd name="adj" fmla="val 3478"/>
            </a:avLst>
          </a:prstGeom>
          <a:solidFill>
            <a:schemeClr val="bg2"/>
          </a:solidFill>
          <a:ln w="12700">
            <a:solidFill>
              <a:schemeClr val="bg2"/>
            </a:solidFill>
            <a:prstDash val="solid"/>
          </a:ln>
        </p:spPr>
      </p:sp>
      <p:sp>
        <p:nvSpPr>
          <p:cNvPr id="24" name="Text 21"/>
          <p:cNvSpPr txBox="1"/>
          <p:nvPr/>
        </p:nvSpPr>
        <p:spPr>
          <a:xfrm>
            <a:off x="9683496" y="2651760"/>
            <a:ext cx="1828800" cy="21945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What may they change?</a:t>
            </a:r>
            <a:endParaRPr lang="en-US" sz="1700" dirty="0"/>
          </a:p>
          <a:p>
            <a:pPr indent="0" marL="0">
              <a:spcAft>
                <a:spcPts val="400"/>
              </a:spcAft>
              <a:buNone/>
            </a:pPr>
            <a:r>
              <a:rPr lang="en-US" sz="1400" dirty="0">
                <a:solidFill>
                  <a:schemeClr val="tx1"/>
                </a:solidFill>
              </a:rPr>
              <a:t>Scope rule</a:t>
            </a:r>
            <a:endParaRPr lang="en-US" sz="1700" dirty="0"/>
          </a:p>
        </p:txBody>
      </p:sp>
      <p:sp>
        <p:nvSpPr>
          <p:cNvPr id="25" name="Text 22"/>
          <p:cNvSpPr txBox="1"/>
          <p:nvPr/>
        </p:nvSpPr>
        <p:spPr>
          <a:xfrm>
            <a:off x="548640" y="5303520"/>
            <a:ext cx="11064240" cy="822960"/>
          </a:xfrm>
          <a:prstGeom prst="rect">
            <a:avLst/>
          </a:prstGeom>
          <a:noFill/>
          <a:ln/>
        </p:spPr>
        <p:txBody>
          <a:bodyPr wrap="square" lIns="0" tIns="0" rIns="0" bIns="0" rtlCol="0" anchor="t"/>
          <a:lstStyle/>
          <a:p>
            <a:pPr indent="0" marL="0">
              <a:spcAft>
                <a:spcPts val="600"/>
              </a:spcAft>
              <a:buNone/>
            </a:pPr>
            <a:r>
              <a:rPr lang="en-US" sz="1700" i="1" dirty="0">
                <a:solidFill>
                  <a:schemeClr val="accent1"/>
                </a:solidFill>
              </a:rPr>
              <a:t>The health worker in step 4 failed question 2. No amount of asking (question 3) or inviting (question 1) could fix it.</a:t>
            </a:r>
            <a:endParaRPr lang="en-US" sz="17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nchor="b"/>
          <a:lstStyle/>
          <a:p>
            <a:pPr indent="0" marL="0">
              <a:buNone/>
            </a:pPr>
            <a:r>
              <a:rPr lang="en-US" sz="4000" b="1" dirty="0">
                <a:solidFill>
                  <a:schemeClr val="bg1"/>
                </a:solidFill>
              </a:rPr>
              <a:t>One sentence of a rule</a:t>
            </a: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nchor="t"/>
          <a:lstStyle/>
          <a:p>
            <a:pPr indent="0" marL="0">
              <a:buNone/>
            </a:pPr>
            <a:r>
              <a:rPr lang="en-US" sz="1800" dirty="0">
                <a:solidFill>
                  <a:schemeClr val="bg2"/>
                </a:solidFill>
              </a:rPr>
              <a:t>Zoom in on a single written rule. Ostrom and Sue Crawford gave rules a grammar.</a:t>
            </a:r>
            <a:endParaRPr lang="en-US" sz="1800" dirty="0"/>
          </a:p>
        </p:txBody>
      </p:sp>
      <p:sp>
        <p:nvSpPr>
          <p:cNvPr id="4" name="Text 2"/>
          <p:cNvSpPr txBox="1"/>
          <p:nvPr/>
        </p:nvSpPr>
        <p:spPr>
          <a:xfrm>
            <a:off x="7223760" y="411480"/>
            <a:ext cx="4297680" cy="365760"/>
          </a:xfrm>
          <a:prstGeom prst="rect">
            <a:avLst/>
          </a:prstGeom>
          <a:noFill/>
          <a:ln/>
        </p:spPr>
        <p:txBody>
          <a:bodyPr wrap="square" lIns="0" tIns="0" rIns="0" bIns="0" rtlCol="0" anchor="ctr"/>
          <a:lstStyle/>
          <a:p>
            <a:pPr indent="0" marL="0">
              <a:buNone/>
            </a:pPr>
            <a:r>
              <a:rPr lang="en-US" sz="1200" b="1" spc="200" kern="0" dirty="0">
                <a:solidFill>
                  <a:schemeClr val="accent2"/>
                </a:solidFill>
              </a:rPr>
              <a:t>ZOOMING IN</a:t>
            </a:r>
            <a:endParaRPr lang="en-US" sz="1200" dirty="0"/>
          </a:p>
        </p:txBody>
      </p:sp>
      <p:sp>
        <p:nvSpPr>
          <p:cNvPr id="5" name="rung 1"/>
          <p:cNvSpPr/>
          <p:nvPr/>
        </p:nvSpPr>
        <p:spPr>
          <a:xfrm>
            <a:off x="7223760" y="914400"/>
            <a:ext cx="429768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1   The whole system</a:t>
            </a:r>
            <a:endParaRPr lang="en-US" sz="1500" dirty="0"/>
          </a:p>
        </p:txBody>
      </p:sp>
      <p:sp>
        <p:nvSpPr>
          <p:cNvPr id="6" name="rung 2"/>
          <p:cNvSpPr/>
          <p:nvPr/>
        </p:nvSpPr>
        <p:spPr>
          <a:xfrm>
            <a:off x="7333488" y="1444752"/>
            <a:ext cx="418795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2   What we share</a:t>
            </a:r>
            <a:endParaRPr lang="en-US" sz="1500" dirty="0"/>
          </a:p>
        </p:txBody>
      </p:sp>
      <p:sp>
        <p:nvSpPr>
          <p:cNvPr id="7" name="rung 3"/>
          <p:cNvSpPr/>
          <p:nvPr/>
        </p:nvSpPr>
        <p:spPr>
          <a:xfrm>
            <a:off x="7443216" y="1975104"/>
            <a:ext cx="407822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3   One situation in its setting</a:t>
            </a:r>
            <a:endParaRPr lang="en-US" sz="1500" dirty="0"/>
          </a:p>
        </p:txBody>
      </p:sp>
      <p:sp>
        <p:nvSpPr>
          <p:cNvPr id="8" name="rung 4"/>
          <p:cNvSpPr/>
          <p:nvPr/>
        </p:nvSpPr>
        <p:spPr>
          <a:xfrm>
            <a:off x="7552944" y="2505456"/>
            <a:ext cx="396849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4   Layers of decision</a:t>
            </a:r>
            <a:endParaRPr lang="en-US" sz="1500" dirty="0"/>
          </a:p>
        </p:txBody>
      </p:sp>
      <p:sp>
        <p:nvSpPr>
          <p:cNvPr id="9" name="rung 5"/>
          <p:cNvSpPr/>
          <p:nvPr/>
        </p:nvSpPr>
        <p:spPr>
          <a:xfrm>
            <a:off x="7662672" y="3035808"/>
            <a:ext cx="3858768"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5   Inside one situation</a:t>
            </a:r>
            <a:endParaRPr lang="en-US" sz="1500" dirty="0"/>
          </a:p>
        </p:txBody>
      </p:sp>
      <p:sp>
        <p:nvSpPr>
          <p:cNvPr id="10" name="rung 6"/>
          <p:cNvSpPr/>
          <p:nvPr/>
        </p:nvSpPr>
        <p:spPr>
          <a:xfrm>
            <a:off x="7772400" y="3566160"/>
            <a:ext cx="374904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6   The rules that shape it</a:t>
            </a:r>
            <a:endParaRPr lang="en-US" sz="1500" dirty="0"/>
          </a:p>
        </p:txBody>
      </p:sp>
      <p:sp>
        <p:nvSpPr>
          <p:cNvPr id="11" name="rung 7"/>
          <p:cNvSpPr/>
          <p:nvPr/>
        </p:nvSpPr>
        <p:spPr>
          <a:xfrm>
            <a:off x="7882128" y="4096512"/>
            <a:ext cx="363931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7   What lasting rules share</a:t>
            </a:r>
            <a:endParaRPr lang="en-US" sz="1500" dirty="0"/>
          </a:p>
        </p:txBody>
      </p:sp>
      <p:sp>
        <p:nvSpPr>
          <p:cNvPr id="12" name="rung 8"/>
          <p:cNvSpPr/>
          <p:nvPr/>
        </p:nvSpPr>
        <p:spPr>
          <a:xfrm>
            <a:off x="7991856" y="4626864"/>
            <a:ext cx="3529584" cy="457200"/>
          </a:xfrm>
          <a:prstGeom prst="roundRect">
            <a:avLst>
              <a:gd name="adj" fmla="val 16000"/>
            </a:avLst>
          </a:prstGeom>
          <a:solidFill>
            <a:schemeClr val="accent2"/>
          </a:solidFill>
          <a:ln w="9525">
            <a:solidFill>
              <a:schemeClr val="accent2"/>
            </a:solidFill>
          </a:ln>
        </p:spPr>
        <p:txBody>
          <a:bodyPr wrap="square" lIns="0" tIns="152400" rIns="127000" bIns="0" rtlCol="0" anchor="ctr"/>
          <a:lstStyle/>
          <a:p>
            <a:pPr indent="0" marL="0">
              <a:buNone/>
            </a:pPr>
            <a:r>
              <a:rPr lang="en-US" sz="1500" b="1" dirty="0">
                <a:solidFill>
                  <a:schemeClr val="tx2"/>
                </a:solidFill>
              </a:rPr>
              <a:t>8   One sentence of a rule</a:t>
            </a:r>
            <a:endParaRPr lang="en-US" sz="1500" dirty="0"/>
          </a:p>
        </p:txBody>
      </p:sp>
      <p:sp>
        <p:nvSpPr>
          <p:cNvPr id="13" name="rung 9"/>
          <p:cNvSpPr/>
          <p:nvPr/>
        </p:nvSpPr>
        <p:spPr>
          <a:xfrm>
            <a:off x="8101584" y="5157216"/>
            <a:ext cx="341985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9   One person deciding</a:t>
            </a:r>
            <a:endParaRPr lang="en-US" sz="1500" dirty="0"/>
          </a:p>
        </p:txBody>
      </p:sp>
      <p:sp>
        <p:nvSpPr>
          <p:cNvPr id="14" name="Text 12"/>
          <p:cNvSpPr txBox="1"/>
          <p:nvPr/>
        </p:nvSpPr>
        <p:spPr>
          <a:xfrm>
            <a:off x="9601200" y="566928"/>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largest scale</a:t>
            </a:r>
            <a:endParaRPr lang="en-US" sz="1100" dirty="0"/>
          </a:p>
        </p:txBody>
      </p:sp>
      <p:sp>
        <p:nvSpPr>
          <p:cNvPr id="15" name="Text 13"/>
          <p:cNvSpPr txBox="1"/>
          <p:nvPr/>
        </p:nvSpPr>
        <p:spPr>
          <a:xfrm>
            <a:off x="9601200" y="5669280"/>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smallest scale</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8 · ONE SENTENCE OF A RULE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The parts of one rule</a:t>
            </a:r>
            <a:endParaRPr lang="en-US" sz="3200" dirty="0"/>
          </a:p>
        </p:txBody>
      </p:sp>
      <p:sp>
        <p:nvSpPr>
          <p:cNvPr id="5" name="Text 2"/>
          <p:cNvSpPr txBox="1"/>
          <p:nvPr/>
        </p:nvSpPr>
        <p:spPr>
          <a:xfrm>
            <a:off x="548640" y="1417320"/>
            <a:ext cx="11064240" cy="822960"/>
          </a:xfrm>
          <a:prstGeom prst="rect">
            <a:avLst/>
          </a:prstGeom>
          <a:noFill/>
          <a:ln/>
        </p:spPr>
        <p:txBody>
          <a:bodyPr wrap="square" lIns="0" tIns="0" rIns="0" bIns="0" rtlCol="0" anchor="t"/>
          <a:lstStyle/>
          <a:p>
            <a:pPr indent="0" marL="0">
              <a:spcAft>
                <a:spcPts val="600"/>
              </a:spcAft>
              <a:buNone/>
            </a:pPr>
            <a:r>
              <a:rPr lang="en-US" sz="2000" i="1" dirty="0">
                <a:solidFill>
                  <a:schemeClr val="tx2"/>
                </a:solidFill>
              </a:rPr>
              <a:t>"When the tank is below half, gardeners must not water their plots with sprinklers, or else they lose watering for a week."</a:t>
            </a:r>
            <a:endParaRPr lang="en-US" sz="2000" dirty="0"/>
          </a:p>
        </p:txBody>
      </p:sp>
      <p:sp>
        <p:nvSpPr>
          <p:cNvPr id="6" name="Text 3"/>
          <p:cNvSpPr/>
          <p:nvPr/>
        </p:nvSpPr>
        <p:spPr>
          <a:xfrm>
            <a:off x="548640" y="2514600"/>
            <a:ext cx="1508760" cy="822960"/>
          </a:xfrm>
          <a:prstGeom prst="roundRect">
            <a:avLst>
              <a:gd name="adj" fmla="val 6667"/>
            </a:avLst>
          </a:prstGeom>
          <a:solidFill>
            <a:schemeClr val="accent1"/>
          </a:solidFill>
          <a:ln/>
        </p:spPr>
        <p:txBody>
          <a:bodyPr wrap="square" lIns="38100" tIns="38100" rIns="38100" bIns="38100" rtlCol="0" anchor="ctr"/>
          <a:lstStyle/>
          <a:p>
            <a:pPr algn="ctr" indent="0" marL="0">
              <a:buNone/>
            </a:pPr>
            <a:r>
              <a:rPr lang="en-US" sz="1300" b="1" dirty="0">
                <a:solidFill>
                  <a:srgbClr val="FFFFFF"/>
                </a:solidFill>
              </a:rPr>
              <a:t>WHEN?</a:t>
            </a:r>
            <a:endParaRPr lang="en-US" sz="1300" dirty="0"/>
          </a:p>
        </p:txBody>
      </p:sp>
      <p:sp>
        <p:nvSpPr>
          <p:cNvPr id="7" name="Text 4"/>
          <p:cNvSpPr txBox="1"/>
          <p:nvPr/>
        </p:nvSpPr>
        <p:spPr>
          <a:xfrm>
            <a:off x="548640" y="3429000"/>
            <a:ext cx="1508760" cy="1097280"/>
          </a:xfrm>
          <a:prstGeom prst="rect">
            <a:avLst/>
          </a:prstGeom>
          <a:noFill/>
          <a:ln/>
        </p:spPr>
        <p:txBody>
          <a:bodyPr wrap="square" lIns="25400" tIns="25400" rIns="25400" bIns="25400" rtlCol="0" anchor="t"/>
          <a:lstStyle/>
          <a:p>
            <a:pPr algn="ctr" indent="0" marL="0">
              <a:buNone/>
            </a:pPr>
            <a:r>
              <a:rPr lang="en-US" sz="1500" dirty="0">
                <a:solidFill>
                  <a:schemeClr val="tx1"/>
                </a:solidFill>
              </a:rPr>
              <a:t>when the tank is below half</a:t>
            </a:r>
            <a:endParaRPr lang="en-US" sz="1500" dirty="0"/>
          </a:p>
        </p:txBody>
      </p:sp>
      <p:sp>
        <p:nvSpPr>
          <p:cNvPr id="8" name="Text 5"/>
          <p:cNvSpPr txBox="1"/>
          <p:nvPr/>
        </p:nvSpPr>
        <p:spPr>
          <a:xfrm>
            <a:off x="548640" y="4572000"/>
            <a:ext cx="1508760" cy="365760"/>
          </a:xfrm>
          <a:prstGeom prst="rect">
            <a:avLst/>
          </a:prstGeom>
          <a:noFill/>
          <a:ln/>
        </p:spPr>
        <p:txBody>
          <a:bodyPr wrap="square" lIns="0" tIns="0" rIns="0" bIns="0" rtlCol="0" anchor="ctr"/>
          <a:lstStyle/>
          <a:p>
            <a:pPr algn="ctr" indent="0" marL="0">
              <a:buNone/>
            </a:pPr>
            <a:r>
              <a:rPr lang="en-US" sz="1300" i="1" dirty="0">
                <a:solidFill>
                  <a:srgbClr val="5B6B60"/>
                </a:solidFill>
              </a:rPr>
              <a:t>Condition</a:t>
            </a:r>
            <a:endParaRPr lang="en-US" sz="1300" dirty="0"/>
          </a:p>
        </p:txBody>
      </p:sp>
      <p:sp>
        <p:nvSpPr>
          <p:cNvPr id="9" name="Text 6"/>
          <p:cNvSpPr/>
          <p:nvPr/>
        </p:nvSpPr>
        <p:spPr>
          <a:xfrm>
            <a:off x="2148840" y="2514600"/>
            <a:ext cx="1508760" cy="822960"/>
          </a:xfrm>
          <a:prstGeom prst="roundRect">
            <a:avLst>
              <a:gd name="adj" fmla="val 6667"/>
            </a:avLst>
          </a:prstGeom>
          <a:solidFill>
            <a:schemeClr val="accent1"/>
          </a:solidFill>
          <a:ln/>
        </p:spPr>
        <p:txBody>
          <a:bodyPr wrap="square" lIns="38100" tIns="38100" rIns="38100" bIns="38100" rtlCol="0" anchor="ctr"/>
          <a:lstStyle/>
          <a:p>
            <a:pPr algn="ctr" indent="0" marL="0">
              <a:buNone/>
            </a:pPr>
            <a:r>
              <a:rPr lang="en-US" sz="1300" b="1" dirty="0">
                <a:solidFill>
                  <a:srgbClr val="FFFFFF"/>
                </a:solidFill>
              </a:rPr>
              <a:t>WHO?</a:t>
            </a:r>
            <a:endParaRPr lang="en-US" sz="1300" dirty="0"/>
          </a:p>
        </p:txBody>
      </p:sp>
      <p:sp>
        <p:nvSpPr>
          <p:cNvPr id="10" name="Text 7"/>
          <p:cNvSpPr txBox="1"/>
          <p:nvPr/>
        </p:nvSpPr>
        <p:spPr>
          <a:xfrm>
            <a:off x="2148840" y="3429000"/>
            <a:ext cx="1508760" cy="1097280"/>
          </a:xfrm>
          <a:prstGeom prst="rect">
            <a:avLst/>
          </a:prstGeom>
          <a:noFill/>
          <a:ln/>
        </p:spPr>
        <p:txBody>
          <a:bodyPr wrap="square" lIns="25400" tIns="25400" rIns="25400" bIns="25400" rtlCol="0" anchor="t"/>
          <a:lstStyle/>
          <a:p>
            <a:pPr algn="ctr" indent="0" marL="0">
              <a:buNone/>
            </a:pPr>
            <a:r>
              <a:rPr lang="en-US" sz="1500" dirty="0">
                <a:solidFill>
                  <a:schemeClr val="tx1"/>
                </a:solidFill>
              </a:rPr>
              <a:t>gardeners</a:t>
            </a:r>
            <a:endParaRPr lang="en-US" sz="1500" dirty="0"/>
          </a:p>
        </p:txBody>
      </p:sp>
      <p:sp>
        <p:nvSpPr>
          <p:cNvPr id="11" name="Text 8"/>
          <p:cNvSpPr txBox="1"/>
          <p:nvPr/>
        </p:nvSpPr>
        <p:spPr>
          <a:xfrm>
            <a:off x="2148840" y="4572000"/>
            <a:ext cx="1508760" cy="365760"/>
          </a:xfrm>
          <a:prstGeom prst="rect">
            <a:avLst/>
          </a:prstGeom>
          <a:noFill/>
          <a:ln/>
        </p:spPr>
        <p:txBody>
          <a:bodyPr wrap="square" lIns="0" tIns="0" rIns="0" bIns="0" rtlCol="0" anchor="ctr"/>
          <a:lstStyle/>
          <a:p>
            <a:pPr algn="ctr" indent="0" marL="0">
              <a:buNone/>
            </a:pPr>
            <a:r>
              <a:rPr lang="en-US" sz="1300" i="1" dirty="0">
                <a:solidFill>
                  <a:srgbClr val="5B6B60"/>
                </a:solidFill>
              </a:rPr>
              <a:t>Attribute</a:t>
            </a:r>
            <a:endParaRPr lang="en-US" sz="1300" dirty="0"/>
          </a:p>
        </p:txBody>
      </p:sp>
      <p:sp>
        <p:nvSpPr>
          <p:cNvPr id="12" name="Text 9"/>
          <p:cNvSpPr/>
          <p:nvPr/>
        </p:nvSpPr>
        <p:spPr>
          <a:xfrm>
            <a:off x="3749040" y="2514600"/>
            <a:ext cx="1508760" cy="822960"/>
          </a:xfrm>
          <a:prstGeom prst="roundRect">
            <a:avLst>
              <a:gd name="adj" fmla="val 6667"/>
            </a:avLst>
          </a:prstGeom>
          <a:solidFill>
            <a:schemeClr val="accent1"/>
          </a:solidFill>
          <a:ln/>
        </p:spPr>
        <p:txBody>
          <a:bodyPr wrap="square" lIns="38100" tIns="38100" rIns="38100" bIns="38100" rtlCol="0" anchor="ctr"/>
          <a:lstStyle/>
          <a:p>
            <a:pPr algn="ctr" indent="0" marL="0">
              <a:buNone/>
            </a:pPr>
            <a:r>
              <a:rPr lang="en-US" sz="1300" b="1" dirty="0">
                <a:solidFill>
                  <a:srgbClr val="FFFFFF"/>
                </a:solidFill>
              </a:rPr>
              <a:t>MUST, MAY, OR MUST NOT?</a:t>
            </a:r>
            <a:endParaRPr lang="en-US" sz="1300" dirty="0"/>
          </a:p>
        </p:txBody>
      </p:sp>
      <p:sp>
        <p:nvSpPr>
          <p:cNvPr id="13" name="Text 10"/>
          <p:cNvSpPr txBox="1"/>
          <p:nvPr/>
        </p:nvSpPr>
        <p:spPr>
          <a:xfrm>
            <a:off x="3749040" y="3429000"/>
            <a:ext cx="1508760" cy="1097280"/>
          </a:xfrm>
          <a:prstGeom prst="rect">
            <a:avLst/>
          </a:prstGeom>
          <a:noFill/>
          <a:ln/>
        </p:spPr>
        <p:txBody>
          <a:bodyPr wrap="square" lIns="25400" tIns="25400" rIns="25400" bIns="25400" rtlCol="0" anchor="t"/>
          <a:lstStyle/>
          <a:p>
            <a:pPr algn="ctr" indent="0" marL="0">
              <a:buNone/>
            </a:pPr>
            <a:r>
              <a:rPr lang="en-US" sz="1500" dirty="0">
                <a:solidFill>
                  <a:schemeClr val="tx1"/>
                </a:solidFill>
              </a:rPr>
              <a:t>must not</a:t>
            </a:r>
            <a:endParaRPr lang="en-US" sz="1500" dirty="0"/>
          </a:p>
        </p:txBody>
      </p:sp>
      <p:sp>
        <p:nvSpPr>
          <p:cNvPr id="14" name="Text 11"/>
          <p:cNvSpPr txBox="1"/>
          <p:nvPr/>
        </p:nvSpPr>
        <p:spPr>
          <a:xfrm>
            <a:off x="3749040" y="4572000"/>
            <a:ext cx="1508760" cy="365760"/>
          </a:xfrm>
          <a:prstGeom prst="rect">
            <a:avLst/>
          </a:prstGeom>
          <a:noFill/>
          <a:ln/>
        </p:spPr>
        <p:txBody>
          <a:bodyPr wrap="square" lIns="0" tIns="0" rIns="0" bIns="0" rtlCol="0" anchor="ctr"/>
          <a:lstStyle/>
          <a:p>
            <a:pPr algn="ctr" indent="0" marL="0">
              <a:buNone/>
            </a:pPr>
            <a:r>
              <a:rPr lang="en-US" sz="1300" i="1" dirty="0">
                <a:solidFill>
                  <a:srgbClr val="5B6B60"/>
                </a:solidFill>
              </a:rPr>
              <a:t>Deontic</a:t>
            </a:r>
            <a:endParaRPr lang="en-US" sz="1300" dirty="0"/>
          </a:p>
        </p:txBody>
      </p:sp>
      <p:sp>
        <p:nvSpPr>
          <p:cNvPr id="15" name="Text 12"/>
          <p:cNvSpPr/>
          <p:nvPr/>
        </p:nvSpPr>
        <p:spPr>
          <a:xfrm>
            <a:off x="5349240" y="2514600"/>
            <a:ext cx="1508760" cy="822960"/>
          </a:xfrm>
          <a:prstGeom prst="roundRect">
            <a:avLst>
              <a:gd name="adj" fmla="val 6667"/>
            </a:avLst>
          </a:prstGeom>
          <a:solidFill>
            <a:schemeClr val="accent1"/>
          </a:solidFill>
          <a:ln/>
        </p:spPr>
        <p:txBody>
          <a:bodyPr wrap="square" lIns="38100" tIns="38100" rIns="38100" bIns="38100" rtlCol="0" anchor="ctr"/>
          <a:lstStyle/>
          <a:p>
            <a:pPr algn="ctr" indent="0" marL="0">
              <a:buNone/>
            </a:pPr>
            <a:r>
              <a:rPr lang="en-US" sz="1300" b="1" dirty="0">
                <a:solidFill>
                  <a:srgbClr val="FFFFFF"/>
                </a:solidFill>
              </a:rPr>
              <a:t>DO WHAT?</a:t>
            </a:r>
            <a:endParaRPr lang="en-US" sz="1300" dirty="0"/>
          </a:p>
        </p:txBody>
      </p:sp>
      <p:sp>
        <p:nvSpPr>
          <p:cNvPr id="16" name="Text 13"/>
          <p:cNvSpPr txBox="1"/>
          <p:nvPr/>
        </p:nvSpPr>
        <p:spPr>
          <a:xfrm>
            <a:off x="5349240" y="3429000"/>
            <a:ext cx="1508760" cy="1097280"/>
          </a:xfrm>
          <a:prstGeom prst="rect">
            <a:avLst/>
          </a:prstGeom>
          <a:noFill/>
          <a:ln/>
        </p:spPr>
        <p:txBody>
          <a:bodyPr wrap="square" lIns="25400" tIns="25400" rIns="25400" bIns="25400" rtlCol="0" anchor="t"/>
          <a:lstStyle/>
          <a:p>
            <a:pPr algn="ctr" indent="0" marL="0">
              <a:buNone/>
            </a:pPr>
            <a:r>
              <a:rPr lang="en-US" sz="1500" dirty="0">
                <a:solidFill>
                  <a:schemeClr val="tx1"/>
                </a:solidFill>
              </a:rPr>
              <a:t>water</a:t>
            </a:r>
            <a:endParaRPr lang="en-US" sz="1500" dirty="0"/>
          </a:p>
        </p:txBody>
      </p:sp>
      <p:sp>
        <p:nvSpPr>
          <p:cNvPr id="17" name="Text 14"/>
          <p:cNvSpPr txBox="1"/>
          <p:nvPr/>
        </p:nvSpPr>
        <p:spPr>
          <a:xfrm>
            <a:off x="5349240" y="4572000"/>
            <a:ext cx="1508760" cy="365760"/>
          </a:xfrm>
          <a:prstGeom prst="rect">
            <a:avLst/>
          </a:prstGeom>
          <a:noFill/>
          <a:ln/>
        </p:spPr>
        <p:txBody>
          <a:bodyPr wrap="square" lIns="0" tIns="0" rIns="0" bIns="0" rtlCol="0" anchor="ctr"/>
          <a:lstStyle/>
          <a:p>
            <a:pPr algn="ctr" indent="0" marL="0">
              <a:buNone/>
            </a:pPr>
            <a:r>
              <a:rPr lang="en-US" sz="1300" i="1" dirty="0">
                <a:solidFill>
                  <a:srgbClr val="5B6B60"/>
                </a:solidFill>
              </a:rPr>
              <a:t>Aim</a:t>
            </a:r>
            <a:endParaRPr lang="en-US" sz="1300" dirty="0"/>
          </a:p>
        </p:txBody>
      </p:sp>
      <p:sp>
        <p:nvSpPr>
          <p:cNvPr id="18" name="Text 15"/>
          <p:cNvSpPr/>
          <p:nvPr/>
        </p:nvSpPr>
        <p:spPr>
          <a:xfrm>
            <a:off x="6949440" y="2514600"/>
            <a:ext cx="1508760" cy="822960"/>
          </a:xfrm>
          <a:prstGeom prst="roundRect">
            <a:avLst>
              <a:gd name="adj" fmla="val 6667"/>
            </a:avLst>
          </a:prstGeom>
          <a:solidFill>
            <a:schemeClr val="accent1"/>
          </a:solidFill>
          <a:ln/>
        </p:spPr>
        <p:txBody>
          <a:bodyPr wrap="square" lIns="38100" tIns="38100" rIns="38100" bIns="38100" rtlCol="0" anchor="ctr"/>
          <a:lstStyle/>
          <a:p>
            <a:pPr algn="ctr" indent="0" marL="0">
              <a:buNone/>
            </a:pPr>
            <a:r>
              <a:rPr lang="en-US" sz="1300" b="1" dirty="0">
                <a:solidFill>
                  <a:srgbClr val="FFFFFF"/>
                </a:solidFill>
              </a:rPr>
              <a:t>TO WHAT?</a:t>
            </a:r>
            <a:endParaRPr lang="en-US" sz="1300" dirty="0"/>
          </a:p>
        </p:txBody>
      </p:sp>
      <p:sp>
        <p:nvSpPr>
          <p:cNvPr id="19" name="Text 16"/>
          <p:cNvSpPr txBox="1"/>
          <p:nvPr/>
        </p:nvSpPr>
        <p:spPr>
          <a:xfrm>
            <a:off x="6949440" y="3429000"/>
            <a:ext cx="1508760" cy="1097280"/>
          </a:xfrm>
          <a:prstGeom prst="rect">
            <a:avLst/>
          </a:prstGeom>
          <a:noFill/>
          <a:ln/>
        </p:spPr>
        <p:txBody>
          <a:bodyPr wrap="square" lIns="25400" tIns="25400" rIns="25400" bIns="25400" rtlCol="0" anchor="t"/>
          <a:lstStyle/>
          <a:p>
            <a:pPr algn="ctr" indent="0" marL="0">
              <a:buNone/>
            </a:pPr>
            <a:r>
              <a:rPr lang="en-US" sz="1500" dirty="0">
                <a:solidFill>
                  <a:schemeClr val="tx1"/>
                </a:solidFill>
              </a:rPr>
              <a:t>their plots</a:t>
            </a:r>
            <a:endParaRPr lang="en-US" sz="1500" dirty="0"/>
          </a:p>
        </p:txBody>
      </p:sp>
      <p:sp>
        <p:nvSpPr>
          <p:cNvPr id="20" name="Text 17"/>
          <p:cNvSpPr txBox="1"/>
          <p:nvPr/>
        </p:nvSpPr>
        <p:spPr>
          <a:xfrm>
            <a:off x="6949440" y="4572000"/>
            <a:ext cx="1508760" cy="365760"/>
          </a:xfrm>
          <a:prstGeom prst="rect">
            <a:avLst/>
          </a:prstGeom>
          <a:noFill/>
          <a:ln/>
        </p:spPr>
        <p:txBody>
          <a:bodyPr wrap="square" lIns="0" tIns="0" rIns="0" bIns="0" rtlCol="0" anchor="ctr"/>
          <a:lstStyle/>
          <a:p>
            <a:pPr algn="ctr" indent="0" marL="0">
              <a:buNone/>
            </a:pPr>
            <a:r>
              <a:rPr lang="en-US" sz="1300" i="1" dirty="0">
                <a:solidFill>
                  <a:srgbClr val="5B6B60"/>
                </a:solidFill>
              </a:rPr>
              <a:t>Object</a:t>
            </a:r>
            <a:endParaRPr lang="en-US" sz="1300" dirty="0"/>
          </a:p>
        </p:txBody>
      </p:sp>
      <p:sp>
        <p:nvSpPr>
          <p:cNvPr id="21" name="Text 18"/>
          <p:cNvSpPr/>
          <p:nvPr/>
        </p:nvSpPr>
        <p:spPr>
          <a:xfrm>
            <a:off x="8549640" y="2514600"/>
            <a:ext cx="1508760" cy="822960"/>
          </a:xfrm>
          <a:prstGeom prst="roundRect">
            <a:avLst>
              <a:gd name="adj" fmla="val 6667"/>
            </a:avLst>
          </a:prstGeom>
          <a:solidFill>
            <a:schemeClr val="accent1"/>
          </a:solidFill>
          <a:ln/>
        </p:spPr>
        <p:txBody>
          <a:bodyPr wrap="square" lIns="38100" tIns="38100" rIns="38100" bIns="38100" rtlCol="0" anchor="ctr"/>
          <a:lstStyle/>
          <a:p>
            <a:pPr algn="ctr" indent="0" marL="0">
              <a:buNone/>
            </a:pPr>
            <a:r>
              <a:rPr lang="en-US" sz="1300" b="1" dirty="0">
                <a:solidFill>
                  <a:srgbClr val="FFFFFF"/>
                </a:solidFill>
              </a:rPr>
              <a:t>HOW?</a:t>
            </a:r>
            <a:endParaRPr lang="en-US" sz="1300" dirty="0"/>
          </a:p>
        </p:txBody>
      </p:sp>
      <p:sp>
        <p:nvSpPr>
          <p:cNvPr id="22" name="Text 19"/>
          <p:cNvSpPr txBox="1"/>
          <p:nvPr/>
        </p:nvSpPr>
        <p:spPr>
          <a:xfrm>
            <a:off x="8549640" y="3429000"/>
            <a:ext cx="1508760" cy="1097280"/>
          </a:xfrm>
          <a:prstGeom prst="rect">
            <a:avLst/>
          </a:prstGeom>
          <a:noFill/>
          <a:ln/>
        </p:spPr>
        <p:txBody>
          <a:bodyPr wrap="square" lIns="25400" tIns="25400" rIns="25400" bIns="25400" rtlCol="0" anchor="t"/>
          <a:lstStyle/>
          <a:p>
            <a:pPr algn="ctr" indent="0" marL="0">
              <a:buNone/>
            </a:pPr>
            <a:r>
              <a:rPr lang="en-US" sz="1500" dirty="0">
                <a:solidFill>
                  <a:schemeClr val="tx1"/>
                </a:solidFill>
              </a:rPr>
              <a:t>with sprinklers</a:t>
            </a:r>
            <a:endParaRPr lang="en-US" sz="1500" dirty="0"/>
          </a:p>
        </p:txBody>
      </p:sp>
      <p:sp>
        <p:nvSpPr>
          <p:cNvPr id="23" name="Text 20"/>
          <p:cNvSpPr txBox="1"/>
          <p:nvPr/>
        </p:nvSpPr>
        <p:spPr>
          <a:xfrm>
            <a:off x="8549640" y="4572000"/>
            <a:ext cx="1508760" cy="365760"/>
          </a:xfrm>
          <a:prstGeom prst="rect">
            <a:avLst/>
          </a:prstGeom>
          <a:noFill/>
          <a:ln/>
        </p:spPr>
        <p:txBody>
          <a:bodyPr wrap="square" lIns="0" tIns="0" rIns="0" bIns="0" rtlCol="0" anchor="ctr"/>
          <a:lstStyle/>
          <a:p>
            <a:pPr algn="ctr" indent="0" marL="0">
              <a:buNone/>
            </a:pPr>
            <a:r>
              <a:rPr lang="en-US" sz="1300" i="1" dirty="0">
                <a:solidFill>
                  <a:srgbClr val="5B6B60"/>
                </a:solidFill>
              </a:rPr>
              <a:t>Condition</a:t>
            </a:r>
            <a:endParaRPr lang="en-US" sz="1300" dirty="0"/>
          </a:p>
        </p:txBody>
      </p:sp>
      <p:sp>
        <p:nvSpPr>
          <p:cNvPr id="24" name="Text 21"/>
          <p:cNvSpPr/>
          <p:nvPr/>
        </p:nvSpPr>
        <p:spPr>
          <a:xfrm>
            <a:off x="10149840" y="2514600"/>
            <a:ext cx="1508760" cy="822960"/>
          </a:xfrm>
          <a:prstGeom prst="roundRect">
            <a:avLst>
              <a:gd name="adj" fmla="val 6667"/>
            </a:avLst>
          </a:prstGeom>
          <a:solidFill>
            <a:schemeClr val="accent4"/>
          </a:solidFill>
          <a:ln/>
        </p:spPr>
        <p:txBody>
          <a:bodyPr wrap="square" lIns="38100" tIns="38100" rIns="38100" bIns="38100" rtlCol="0" anchor="ctr"/>
          <a:lstStyle/>
          <a:p>
            <a:pPr algn="ctr" indent="0" marL="0">
              <a:buNone/>
            </a:pPr>
            <a:r>
              <a:rPr lang="en-US" sz="1300" b="1" dirty="0">
                <a:solidFill>
                  <a:srgbClr val="FFFFFF"/>
                </a:solidFill>
              </a:rPr>
              <a:t>OR ELSE?</a:t>
            </a:r>
            <a:endParaRPr lang="en-US" sz="1300" dirty="0"/>
          </a:p>
        </p:txBody>
      </p:sp>
      <p:sp>
        <p:nvSpPr>
          <p:cNvPr id="25" name="Text 22"/>
          <p:cNvSpPr txBox="1"/>
          <p:nvPr/>
        </p:nvSpPr>
        <p:spPr>
          <a:xfrm>
            <a:off x="10149840" y="3429000"/>
            <a:ext cx="1508760" cy="1097280"/>
          </a:xfrm>
          <a:prstGeom prst="rect">
            <a:avLst/>
          </a:prstGeom>
          <a:noFill/>
          <a:ln/>
        </p:spPr>
        <p:txBody>
          <a:bodyPr wrap="square" lIns="25400" tIns="25400" rIns="25400" bIns="25400" rtlCol="0" anchor="t"/>
          <a:lstStyle/>
          <a:p>
            <a:pPr algn="ctr" indent="0" marL="0">
              <a:buNone/>
            </a:pPr>
            <a:r>
              <a:rPr lang="en-US" sz="1500" dirty="0">
                <a:solidFill>
                  <a:schemeClr val="tx1"/>
                </a:solidFill>
              </a:rPr>
              <a:t>they lose watering for a week</a:t>
            </a:r>
            <a:endParaRPr lang="en-US" sz="1500" dirty="0"/>
          </a:p>
        </p:txBody>
      </p:sp>
      <p:sp>
        <p:nvSpPr>
          <p:cNvPr id="26" name="Text 23"/>
          <p:cNvSpPr txBox="1"/>
          <p:nvPr/>
        </p:nvSpPr>
        <p:spPr>
          <a:xfrm>
            <a:off x="10149840" y="4572000"/>
            <a:ext cx="1508760" cy="365760"/>
          </a:xfrm>
          <a:prstGeom prst="rect">
            <a:avLst/>
          </a:prstGeom>
          <a:noFill/>
          <a:ln/>
        </p:spPr>
        <p:txBody>
          <a:bodyPr wrap="square" lIns="0" tIns="0" rIns="0" bIns="0" rtlCol="0" anchor="ctr"/>
          <a:lstStyle/>
          <a:p>
            <a:pPr algn="ctr" indent="0" marL="0">
              <a:buNone/>
            </a:pPr>
            <a:r>
              <a:rPr lang="en-US" sz="1300" i="1" dirty="0">
                <a:solidFill>
                  <a:srgbClr val="5B6B60"/>
                </a:solidFill>
              </a:rPr>
              <a:t>Or else</a:t>
            </a:r>
            <a:endParaRPr lang="en-US" sz="1300" dirty="0"/>
          </a:p>
        </p:txBody>
      </p:sp>
      <p:sp>
        <p:nvSpPr>
          <p:cNvPr id="27" name="Text 24"/>
          <p:cNvSpPr txBox="1"/>
          <p:nvPr/>
        </p:nvSpPr>
        <p:spPr>
          <a:xfrm>
            <a:off x="548640" y="5120640"/>
            <a:ext cx="11064240" cy="1005840"/>
          </a:xfrm>
          <a:prstGeom prst="rect">
            <a:avLst/>
          </a:prstGeom>
          <a:noFill/>
          <a:ln/>
        </p:spPr>
        <p:txBody>
          <a:bodyPr wrap="square" lIns="0" tIns="0" rIns="0" bIns="0" rtlCol="0" anchor="t"/>
          <a:lstStyle/>
          <a:p>
            <a:pPr indent="0" marL="0">
              <a:spcAft>
                <a:spcPts val="600"/>
              </a:spcAft>
              <a:buNone/>
            </a:pPr>
            <a:r>
              <a:rPr lang="en-US" sz="1500" dirty="0">
                <a:solidFill>
                  <a:srgbClr val="3E4A42"/>
                </a:solidFill>
              </a:rPr>
              <a:t>Bottom row: the formal names in ADICO and its successor. A creating sentence ("The water keeper is chosen each spring from the members") answers different questions: WHAT ARE WE CREATING? MUST OR MAY? FORMED HOW? OUT OF WHAT?</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8 · ONE SENTENCE OF A RULE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Words of the rule grammar, in plain language</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Every term used for the parts of a rule, translated.</a:t>
            </a:r>
            <a:endParaRPr lang="en-US" sz="1500" dirty="0"/>
          </a:p>
        </p:txBody>
      </p:sp>
      <p:sp>
        <p:nvSpPr>
          <p:cNvPr id="6" name="card Institutional Grammar (IG)"/>
          <p:cNvSpPr/>
          <p:nvPr/>
        </p:nvSpPr>
        <p:spPr>
          <a:xfrm>
            <a:off x="548640" y="1828800"/>
            <a:ext cx="5477256" cy="1026414"/>
          </a:xfrm>
          <a:prstGeom prst="roundRect">
            <a:avLst>
              <a:gd name="adj" fmla="val 7127"/>
            </a:avLst>
          </a:prstGeom>
          <a:solidFill>
            <a:schemeClr val="bg2"/>
          </a:solidFill>
          <a:ln w="12700">
            <a:solidFill>
              <a:schemeClr val="bg2"/>
            </a:solidFill>
            <a:prstDash val="solid"/>
          </a:ln>
        </p:spPr>
      </p:sp>
      <p:sp>
        <p:nvSpPr>
          <p:cNvPr id="7" name="Text 4"/>
          <p:cNvSpPr txBox="1"/>
          <p:nvPr/>
        </p:nvSpPr>
        <p:spPr>
          <a:xfrm>
            <a:off x="685800"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Institutional Grammar (IG)</a:t>
            </a:r>
            <a:endParaRPr lang="en-US" sz="1500" dirty="0"/>
          </a:p>
          <a:p>
            <a:pPr indent="0" marL="0">
              <a:spcAft>
                <a:spcPts val="400"/>
              </a:spcAft>
              <a:buNone/>
            </a:pPr>
            <a:r>
              <a:rPr lang="en-US" sz="1400" dirty="0">
                <a:solidFill>
                  <a:schemeClr val="tx1"/>
                </a:solidFill>
              </a:rPr>
              <a:t>A way to break any rule-like sentence into the same few parts, so rules can be compared and checked.</a:t>
            </a:r>
            <a:endParaRPr lang="en-US" sz="1500" dirty="0"/>
          </a:p>
        </p:txBody>
      </p:sp>
      <p:sp>
        <p:nvSpPr>
          <p:cNvPr id="8" name="card ADICO"/>
          <p:cNvSpPr/>
          <p:nvPr/>
        </p:nvSpPr>
        <p:spPr>
          <a:xfrm>
            <a:off x="548640" y="2964942"/>
            <a:ext cx="5477256" cy="1026414"/>
          </a:xfrm>
          <a:prstGeom prst="roundRect">
            <a:avLst>
              <a:gd name="adj" fmla="val 7127"/>
            </a:avLst>
          </a:prstGeom>
          <a:solidFill>
            <a:schemeClr val="bg2"/>
          </a:solidFill>
          <a:ln w="12700">
            <a:solidFill>
              <a:schemeClr val="bg2"/>
            </a:solidFill>
            <a:prstDash val="solid"/>
          </a:ln>
        </p:spPr>
      </p:sp>
      <p:sp>
        <p:nvSpPr>
          <p:cNvPr id="9" name="Text 6"/>
          <p:cNvSpPr txBox="1"/>
          <p:nvPr/>
        </p:nvSpPr>
        <p:spPr>
          <a:xfrm>
            <a:off x="685800"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ADICO</a:t>
            </a:r>
            <a:endParaRPr lang="en-US" sz="1500" dirty="0"/>
          </a:p>
          <a:p>
            <a:pPr indent="0" marL="0">
              <a:spcAft>
                <a:spcPts val="400"/>
              </a:spcAft>
              <a:buNone/>
            </a:pPr>
            <a:r>
              <a:rPr lang="en-US" sz="1400" dirty="0">
                <a:solidFill>
                  <a:schemeClr val="tx1"/>
                </a:solidFill>
              </a:rPr>
              <a:t>The original five parts (Crawford and Ostrom 1995): Attribute, Deontic, aIm, Condition, Or else.</a:t>
            </a:r>
            <a:endParaRPr lang="en-US" sz="1500" dirty="0"/>
          </a:p>
        </p:txBody>
      </p:sp>
      <p:sp>
        <p:nvSpPr>
          <p:cNvPr id="10" name="card Attribute"/>
          <p:cNvSpPr/>
          <p:nvPr/>
        </p:nvSpPr>
        <p:spPr>
          <a:xfrm>
            <a:off x="548640" y="4101084"/>
            <a:ext cx="5477256" cy="1026414"/>
          </a:xfrm>
          <a:prstGeom prst="roundRect">
            <a:avLst>
              <a:gd name="adj" fmla="val 7127"/>
            </a:avLst>
          </a:prstGeom>
          <a:solidFill>
            <a:schemeClr val="bg2"/>
          </a:solidFill>
          <a:ln w="12700">
            <a:solidFill>
              <a:schemeClr val="bg2"/>
            </a:solidFill>
            <a:prstDash val="solid"/>
          </a:ln>
        </p:spPr>
      </p:sp>
      <p:sp>
        <p:nvSpPr>
          <p:cNvPr id="11" name="Text 8"/>
          <p:cNvSpPr txBox="1"/>
          <p:nvPr/>
        </p:nvSpPr>
        <p:spPr>
          <a:xfrm>
            <a:off x="685800"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Attribute</a:t>
            </a:r>
            <a:endParaRPr lang="en-US" sz="1500" dirty="0"/>
          </a:p>
          <a:p>
            <a:pPr indent="0" marL="0">
              <a:spcAft>
                <a:spcPts val="400"/>
              </a:spcAft>
              <a:buNone/>
            </a:pPr>
            <a:r>
              <a:rPr lang="en-US" sz="1400" dirty="0">
                <a:solidFill>
                  <a:schemeClr val="tx1"/>
                </a:solidFill>
              </a:rPr>
              <a:t>Who the sentence applies to. WHO?</a:t>
            </a:r>
            <a:endParaRPr lang="en-US" sz="1500" dirty="0"/>
          </a:p>
        </p:txBody>
      </p:sp>
      <p:sp>
        <p:nvSpPr>
          <p:cNvPr id="12" name="card Deontic"/>
          <p:cNvSpPr/>
          <p:nvPr/>
        </p:nvSpPr>
        <p:spPr>
          <a:xfrm>
            <a:off x="548640" y="5237226"/>
            <a:ext cx="5477256" cy="1026414"/>
          </a:xfrm>
          <a:prstGeom prst="roundRect">
            <a:avLst>
              <a:gd name="adj" fmla="val 7127"/>
            </a:avLst>
          </a:prstGeom>
          <a:solidFill>
            <a:schemeClr val="bg2"/>
          </a:solidFill>
          <a:ln w="12700">
            <a:solidFill>
              <a:schemeClr val="bg2"/>
            </a:solidFill>
            <a:prstDash val="solid"/>
          </a:ln>
        </p:spPr>
      </p:sp>
      <p:sp>
        <p:nvSpPr>
          <p:cNvPr id="13" name="Text 10"/>
          <p:cNvSpPr txBox="1"/>
          <p:nvPr/>
        </p:nvSpPr>
        <p:spPr>
          <a:xfrm>
            <a:off x="685800"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Deontic</a:t>
            </a:r>
            <a:endParaRPr lang="en-US" sz="1500" dirty="0"/>
          </a:p>
          <a:p>
            <a:pPr indent="0" marL="0">
              <a:spcAft>
                <a:spcPts val="400"/>
              </a:spcAft>
              <a:buNone/>
            </a:pPr>
            <a:r>
              <a:rPr lang="en-US" sz="1400" dirty="0">
                <a:solidFill>
                  <a:schemeClr val="tx1"/>
                </a:solidFill>
              </a:rPr>
              <a:t>The must, may, or must not. From the Greek for "what is binding".</a:t>
            </a:r>
            <a:endParaRPr lang="en-US" sz="1500" dirty="0"/>
          </a:p>
        </p:txBody>
      </p:sp>
      <p:sp>
        <p:nvSpPr>
          <p:cNvPr id="14" name="card Aim and object"/>
          <p:cNvSpPr/>
          <p:nvPr/>
        </p:nvSpPr>
        <p:spPr>
          <a:xfrm>
            <a:off x="6135624" y="1828800"/>
            <a:ext cx="5477256" cy="1026414"/>
          </a:xfrm>
          <a:prstGeom prst="roundRect">
            <a:avLst>
              <a:gd name="adj" fmla="val 7127"/>
            </a:avLst>
          </a:prstGeom>
          <a:solidFill>
            <a:schemeClr val="bg2"/>
          </a:solidFill>
          <a:ln w="12700">
            <a:solidFill>
              <a:schemeClr val="bg2"/>
            </a:solidFill>
            <a:prstDash val="solid"/>
          </a:ln>
        </p:spPr>
      </p:sp>
      <p:sp>
        <p:nvSpPr>
          <p:cNvPr id="15" name="Text 12"/>
          <p:cNvSpPr txBox="1"/>
          <p:nvPr/>
        </p:nvSpPr>
        <p:spPr>
          <a:xfrm>
            <a:off x="6272784"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Aim and object</a:t>
            </a:r>
            <a:endParaRPr lang="en-US" sz="1500" dirty="0"/>
          </a:p>
          <a:p>
            <a:pPr indent="0" marL="0">
              <a:spcAft>
                <a:spcPts val="400"/>
              </a:spcAft>
              <a:buNone/>
            </a:pPr>
            <a:r>
              <a:rPr lang="en-US" sz="1400" dirty="0">
                <a:solidFill>
                  <a:schemeClr val="tx1"/>
                </a:solidFill>
              </a:rPr>
              <a:t>The action (DO WHAT?) and what it is done to (TO WHAT?).</a:t>
            </a:r>
            <a:endParaRPr lang="en-US" sz="1500" dirty="0"/>
          </a:p>
        </p:txBody>
      </p:sp>
      <p:sp>
        <p:nvSpPr>
          <p:cNvPr id="16" name="card Condition"/>
          <p:cNvSpPr/>
          <p:nvPr/>
        </p:nvSpPr>
        <p:spPr>
          <a:xfrm>
            <a:off x="6135624" y="2964942"/>
            <a:ext cx="5477256" cy="1026414"/>
          </a:xfrm>
          <a:prstGeom prst="roundRect">
            <a:avLst>
              <a:gd name="adj" fmla="val 7127"/>
            </a:avLst>
          </a:prstGeom>
          <a:solidFill>
            <a:schemeClr val="bg2"/>
          </a:solidFill>
          <a:ln w="12700">
            <a:solidFill>
              <a:schemeClr val="bg2"/>
            </a:solidFill>
            <a:prstDash val="solid"/>
          </a:ln>
        </p:spPr>
      </p:sp>
      <p:sp>
        <p:nvSpPr>
          <p:cNvPr id="17" name="Text 14"/>
          <p:cNvSpPr txBox="1"/>
          <p:nvPr/>
        </p:nvSpPr>
        <p:spPr>
          <a:xfrm>
            <a:off x="6272784"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Condition</a:t>
            </a:r>
            <a:endParaRPr lang="en-US" sz="1500" dirty="0"/>
          </a:p>
          <a:p>
            <a:pPr indent="0" marL="0">
              <a:spcAft>
                <a:spcPts val="400"/>
              </a:spcAft>
              <a:buNone/>
            </a:pPr>
            <a:r>
              <a:rPr lang="en-US" sz="1400" dirty="0">
                <a:solidFill>
                  <a:schemeClr val="tx1"/>
                </a:solidFill>
              </a:rPr>
              <a:t>When, where and how the rule applies. IG 2.0 splits it into WHEN? and HOW?</a:t>
            </a:r>
            <a:endParaRPr lang="en-US" sz="1500" dirty="0"/>
          </a:p>
        </p:txBody>
      </p:sp>
      <p:sp>
        <p:nvSpPr>
          <p:cNvPr id="18" name="card Or else"/>
          <p:cNvSpPr/>
          <p:nvPr/>
        </p:nvSpPr>
        <p:spPr>
          <a:xfrm>
            <a:off x="6135624" y="4101084"/>
            <a:ext cx="5477256" cy="1026414"/>
          </a:xfrm>
          <a:prstGeom prst="roundRect">
            <a:avLst>
              <a:gd name="adj" fmla="val 7127"/>
            </a:avLst>
          </a:prstGeom>
          <a:solidFill>
            <a:schemeClr val="bg2"/>
          </a:solidFill>
          <a:ln w="12700">
            <a:solidFill>
              <a:schemeClr val="bg2"/>
            </a:solidFill>
            <a:prstDash val="solid"/>
          </a:ln>
        </p:spPr>
      </p:sp>
      <p:sp>
        <p:nvSpPr>
          <p:cNvPr id="19" name="Text 16"/>
          <p:cNvSpPr txBox="1"/>
          <p:nvPr/>
        </p:nvSpPr>
        <p:spPr>
          <a:xfrm>
            <a:off x="6272784"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Or else</a:t>
            </a:r>
            <a:endParaRPr lang="en-US" sz="1500" dirty="0"/>
          </a:p>
          <a:p>
            <a:pPr indent="0" marL="0">
              <a:spcAft>
                <a:spcPts val="400"/>
              </a:spcAft>
              <a:buNone/>
            </a:pPr>
            <a:r>
              <a:rPr lang="en-US" sz="1400" dirty="0">
                <a:solidFill>
                  <a:schemeClr val="tx1"/>
                </a:solidFill>
              </a:rPr>
              <a:t>The consequence for breaking it. Without one, a sentence is a norm, not a rule.</a:t>
            </a:r>
            <a:endParaRPr lang="en-US" sz="1500" dirty="0"/>
          </a:p>
        </p:txBody>
      </p:sp>
      <p:sp>
        <p:nvSpPr>
          <p:cNvPr id="20" name="card Constitutive statement (&quot;creating agreement&quot;)"/>
          <p:cNvSpPr/>
          <p:nvPr/>
        </p:nvSpPr>
        <p:spPr>
          <a:xfrm>
            <a:off x="6135624" y="5237226"/>
            <a:ext cx="5477256" cy="1026414"/>
          </a:xfrm>
          <a:prstGeom prst="roundRect">
            <a:avLst>
              <a:gd name="adj" fmla="val 7127"/>
            </a:avLst>
          </a:prstGeom>
          <a:solidFill>
            <a:schemeClr val="bg2"/>
          </a:solidFill>
          <a:ln w="12700">
            <a:solidFill>
              <a:schemeClr val="bg2"/>
            </a:solidFill>
            <a:prstDash val="solid"/>
          </a:ln>
        </p:spPr>
      </p:sp>
      <p:sp>
        <p:nvSpPr>
          <p:cNvPr id="21" name="Text 18"/>
          <p:cNvSpPr txBox="1"/>
          <p:nvPr/>
        </p:nvSpPr>
        <p:spPr>
          <a:xfrm>
            <a:off x="6272784"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Constitutive statement ("creating agreement")</a:t>
            </a:r>
            <a:endParaRPr lang="en-US" sz="1500" dirty="0"/>
          </a:p>
          <a:p>
            <a:pPr indent="0" marL="0">
              <a:spcAft>
                <a:spcPts val="400"/>
              </a:spcAft>
              <a:buNone/>
            </a:pPr>
            <a:r>
              <a:rPr lang="en-US" sz="1400" dirty="0">
                <a:solidFill>
                  <a:schemeClr val="tx1"/>
                </a:solidFill>
              </a:rPr>
              <a:t>A sentence that creates a role, group or thing, rather than telling people what to do.</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8 · ONE SENTENCE OF A RULE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No OR ELSE, no rule</a:t>
            </a:r>
            <a:endParaRPr lang="en-US" sz="3200" dirty="0"/>
          </a:p>
        </p:txBody>
      </p:sp>
      <p:sp>
        <p:nvSpPr>
          <p:cNvPr id="5" name="Text 2"/>
          <p:cNvSpPr/>
          <p:nvPr/>
        </p:nvSpPr>
        <p:spPr>
          <a:xfrm>
            <a:off x="548640" y="1508760"/>
            <a:ext cx="3291840" cy="1234440"/>
          </a:xfrm>
          <a:prstGeom prst="roundRect">
            <a:avLst>
              <a:gd name="adj" fmla="val 5926"/>
            </a:avLst>
          </a:prstGeom>
          <a:solidFill>
            <a:srgbClr val="2E6B45"/>
          </a:solidFill>
          <a:ln/>
        </p:spPr>
        <p:txBody>
          <a:bodyPr wrap="square" lIns="50800" tIns="50800" rIns="50800" bIns="50800" rtlCol="0" anchor="ctr"/>
          <a:lstStyle/>
          <a:p>
            <a:pPr algn="ctr" indent="0" marL="0">
              <a:buNone/>
            </a:pPr>
            <a:r>
              <a:rPr lang="en-US" sz="1800" b="1" dirty="0">
                <a:solidFill>
                  <a:srgbClr val="FFFFFF"/>
                </a:solidFill>
              </a:rPr>
              <a:t>Agreed rule</a:t>
            </a:r>
            <a:endParaRPr lang="en-US" sz="1800" dirty="0"/>
          </a:p>
        </p:txBody>
      </p:sp>
      <p:sp>
        <p:nvSpPr>
          <p:cNvPr id="6" name="Text 3"/>
          <p:cNvSpPr txBox="1"/>
          <p:nvPr/>
        </p:nvSpPr>
        <p:spPr>
          <a:xfrm>
            <a:off x="4069080" y="1600200"/>
            <a:ext cx="7498080" cy="1097280"/>
          </a:xfrm>
          <a:prstGeom prst="rect">
            <a:avLst/>
          </a:prstGeom>
          <a:noFill/>
          <a:ln/>
        </p:spPr>
        <p:txBody>
          <a:bodyPr wrap="square" lIns="0" tIns="0" rIns="0" bIns="0" rtlCol="0" anchor="ctr"/>
          <a:lstStyle/>
          <a:p>
            <a:pPr indent="0" marL="0">
              <a:buNone/>
            </a:pPr>
            <a:r>
              <a:rPr lang="en-US" sz="1600" dirty="0">
                <a:solidFill>
                  <a:schemeClr val="tx1"/>
                </a:solidFill>
              </a:rPr>
              <a:t>All parts, including an OR ELSE.</a:t>
            </a:r>
            <a:endParaRPr lang="en-US" sz="1600" dirty="0"/>
          </a:p>
          <a:p>
            <a:pPr indent="0" marL="0">
              <a:buNone/>
            </a:pPr>
            <a:r>
              <a:rPr lang="en-US" sz="1500" i="1" dirty="0">
                <a:solidFill>
                  <a:srgbClr val="3E4A42"/>
                </a:solidFill>
              </a:rPr>
              <a:t>"...or else they lose watering for a week."</a:t>
            </a:r>
            <a:endParaRPr lang="en-US" sz="1600" dirty="0"/>
          </a:p>
        </p:txBody>
      </p:sp>
      <p:sp>
        <p:nvSpPr>
          <p:cNvPr id="7" name="Text 4"/>
          <p:cNvSpPr/>
          <p:nvPr/>
        </p:nvSpPr>
        <p:spPr>
          <a:xfrm>
            <a:off x="548640" y="2971800"/>
            <a:ext cx="3291840" cy="1234440"/>
          </a:xfrm>
          <a:prstGeom prst="roundRect">
            <a:avLst>
              <a:gd name="adj" fmla="val 5926"/>
            </a:avLst>
          </a:prstGeom>
          <a:solidFill>
            <a:srgbClr val="C9822A"/>
          </a:solidFill>
          <a:ln/>
        </p:spPr>
        <p:txBody>
          <a:bodyPr wrap="square" lIns="50800" tIns="50800" rIns="50800" bIns="50800" rtlCol="0" anchor="ctr"/>
          <a:lstStyle/>
          <a:p>
            <a:pPr algn="ctr" indent="0" marL="0">
              <a:buNone/>
            </a:pPr>
            <a:r>
              <a:rPr lang="en-US" sz="1800" b="1" dirty="0">
                <a:solidFill>
                  <a:srgbClr val="FFFFFF"/>
                </a:solidFill>
              </a:rPr>
              <a:t>Shared expectation (a norm)</a:t>
            </a:r>
            <a:endParaRPr lang="en-US" sz="1800" dirty="0"/>
          </a:p>
        </p:txBody>
      </p:sp>
      <p:sp>
        <p:nvSpPr>
          <p:cNvPr id="8" name="Text 5"/>
          <p:cNvSpPr txBox="1"/>
          <p:nvPr/>
        </p:nvSpPr>
        <p:spPr>
          <a:xfrm>
            <a:off x="4069080" y="3063240"/>
            <a:ext cx="7498080" cy="1097280"/>
          </a:xfrm>
          <a:prstGeom prst="rect">
            <a:avLst/>
          </a:prstGeom>
          <a:noFill/>
          <a:ln/>
        </p:spPr>
        <p:txBody>
          <a:bodyPr wrap="square" lIns="0" tIns="0" rIns="0" bIns="0" rtlCol="0" anchor="ctr"/>
          <a:lstStyle/>
          <a:p>
            <a:pPr indent="0" marL="0">
              <a:buNone/>
            </a:pPr>
            <a:r>
              <a:rPr lang="en-US" sz="1600" dirty="0">
                <a:solidFill>
                  <a:schemeClr val="tx1"/>
                </a:solidFill>
              </a:rPr>
              <a:t>Has MUST or MAY, but no OR ELSE.</a:t>
            </a:r>
            <a:endParaRPr lang="en-US" sz="1600" dirty="0"/>
          </a:p>
          <a:p>
            <a:pPr indent="0" marL="0">
              <a:buNone/>
            </a:pPr>
            <a:r>
              <a:rPr lang="en-US" sz="1500" i="1" dirty="0">
                <a:solidFill>
                  <a:srgbClr val="3E4A42"/>
                </a:solidFill>
              </a:rPr>
              <a:t>"Gardeners should keep paths clear."</a:t>
            </a:r>
            <a:endParaRPr lang="en-US" sz="1600" dirty="0"/>
          </a:p>
        </p:txBody>
      </p:sp>
      <p:sp>
        <p:nvSpPr>
          <p:cNvPr id="9" name="Text 6"/>
          <p:cNvSpPr/>
          <p:nvPr/>
        </p:nvSpPr>
        <p:spPr>
          <a:xfrm>
            <a:off x="548640" y="4434840"/>
            <a:ext cx="3291840" cy="1234440"/>
          </a:xfrm>
          <a:prstGeom prst="roundRect">
            <a:avLst>
              <a:gd name="adj" fmla="val 5926"/>
            </a:avLst>
          </a:prstGeom>
          <a:solidFill>
            <a:srgbClr val="6B5B95"/>
          </a:solidFill>
          <a:ln/>
        </p:spPr>
        <p:txBody>
          <a:bodyPr wrap="square" lIns="50800" tIns="50800" rIns="50800" bIns="50800" rtlCol="0" anchor="ctr"/>
          <a:lstStyle/>
          <a:p>
            <a:pPr algn="ctr" indent="0" marL="0">
              <a:buNone/>
            </a:pPr>
            <a:r>
              <a:rPr lang="en-US" sz="1800" b="1" dirty="0">
                <a:solidFill>
                  <a:srgbClr val="FFFFFF"/>
                </a:solidFill>
              </a:rPr>
              <a:t>Shared habit (a strategy)</a:t>
            </a:r>
            <a:endParaRPr lang="en-US" sz="1800" dirty="0"/>
          </a:p>
        </p:txBody>
      </p:sp>
      <p:sp>
        <p:nvSpPr>
          <p:cNvPr id="10" name="Text 7"/>
          <p:cNvSpPr txBox="1"/>
          <p:nvPr/>
        </p:nvSpPr>
        <p:spPr>
          <a:xfrm>
            <a:off x="4069080" y="4526280"/>
            <a:ext cx="7498080" cy="1097280"/>
          </a:xfrm>
          <a:prstGeom prst="rect">
            <a:avLst/>
          </a:prstGeom>
          <a:noFill/>
          <a:ln/>
        </p:spPr>
        <p:txBody>
          <a:bodyPr wrap="square" lIns="0" tIns="0" rIns="0" bIns="0" rtlCol="0" anchor="ctr"/>
          <a:lstStyle/>
          <a:p>
            <a:pPr indent="0" marL="0">
              <a:buNone/>
            </a:pPr>
            <a:r>
              <a:rPr lang="en-US" sz="1600" dirty="0">
                <a:solidFill>
                  <a:schemeClr val="tx1"/>
                </a:solidFill>
              </a:rPr>
              <a:t>No MUST or MAY, no OR ELSE. Just what people do.</a:t>
            </a:r>
            <a:endParaRPr lang="en-US" sz="1600" dirty="0"/>
          </a:p>
          <a:p>
            <a:pPr indent="0" marL="0">
              <a:buNone/>
            </a:pPr>
            <a:r>
              <a:rPr lang="en-US" sz="1500" i="1" dirty="0">
                <a:solidFill>
                  <a:srgbClr val="3E4A42"/>
                </a:solidFill>
              </a:rPr>
              <a:t>"We water early in the morning."</a:t>
            </a:r>
            <a:endParaRPr lang="en-US" sz="1600" dirty="0"/>
          </a:p>
        </p:txBody>
      </p:sp>
      <p:sp>
        <p:nvSpPr>
          <p:cNvPr id="11" name="Text 8"/>
          <p:cNvSpPr txBox="1"/>
          <p:nvPr/>
        </p:nvSpPr>
        <p:spPr>
          <a:xfrm>
            <a:off x="548640" y="5943600"/>
            <a:ext cx="11064240" cy="365760"/>
          </a:xfrm>
          <a:prstGeom prst="rect">
            <a:avLst/>
          </a:prstGeom>
          <a:noFill/>
          <a:ln/>
        </p:spPr>
        <p:txBody>
          <a:bodyPr wrap="square" lIns="0" tIns="0" rIns="0" bIns="0" rtlCol="0" anchor="t"/>
          <a:lstStyle/>
          <a:p>
            <a:pPr indent="0" marL="0">
              <a:spcAft>
                <a:spcPts val="600"/>
              </a:spcAft>
              <a:buNone/>
            </a:pPr>
            <a:r>
              <a:rPr lang="en-US" sz="1400" i="1" dirty="0">
                <a:solidFill>
                  <a:schemeClr val="accent1"/>
                </a:solidFill>
              </a:rPr>
              <a:t>Shared habits are as close as writing gets to the unwritten metaconstitutional level from step 4.</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8 · ONE SENTENCE OF A RULE</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What reading rules this closely finds</a:t>
            </a:r>
            <a:endParaRPr lang="en-US" sz="3200" dirty="0"/>
          </a:p>
        </p:txBody>
      </p:sp>
      <p:sp>
        <p:nvSpPr>
          <p:cNvPr id="5" name="card Things nobody created"/>
          <p:cNvSpPr/>
          <p:nvPr/>
        </p:nvSpPr>
        <p:spPr>
          <a:xfrm>
            <a:off x="548640" y="1508760"/>
            <a:ext cx="3566160" cy="3566160"/>
          </a:xfrm>
          <a:prstGeom prst="roundRect">
            <a:avLst>
              <a:gd name="adj" fmla="val 2051"/>
            </a:avLst>
          </a:prstGeom>
          <a:solidFill>
            <a:schemeClr val="bg2"/>
          </a:solidFill>
          <a:ln w="12700">
            <a:solidFill>
              <a:schemeClr val="bg2"/>
            </a:solidFill>
            <a:prstDash val="solid"/>
          </a:ln>
        </p:spPr>
      </p:sp>
      <p:sp>
        <p:nvSpPr>
          <p:cNvPr id="6" name="Text 3"/>
          <p:cNvSpPr txBox="1"/>
          <p:nvPr/>
        </p:nvSpPr>
        <p:spPr>
          <a:xfrm>
            <a:off x="685800" y="1600200"/>
            <a:ext cx="3291840" cy="33832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Things nobody created</a:t>
            </a:r>
            <a:endParaRPr lang="en-US" sz="1800" dirty="0"/>
          </a:p>
          <a:p>
            <a:pPr indent="0" marL="0">
              <a:spcAft>
                <a:spcPts val="400"/>
              </a:spcAft>
              <a:buNone/>
            </a:pPr>
            <a:r>
              <a:rPr lang="en-US" sz="1500" dirty="0">
                <a:solidFill>
                  <a:schemeClr val="tx1"/>
                </a:solidFill>
              </a:rPr>
              <a:t>A rule about "gardeners", with no sentence saying who counts as a gardener. A rule about "the tank", with nothing saying which tank.</a:t>
            </a:r>
            <a:endParaRPr lang="en-US" sz="1800" dirty="0"/>
          </a:p>
        </p:txBody>
      </p:sp>
      <p:sp>
        <p:nvSpPr>
          <p:cNvPr id="7" name="Text 4"/>
          <p:cNvSpPr txBox="1"/>
          <p:nvPr/>
        </p:nvSpPr>
        <p:spPr>
          <a:xfrm>
            <a:off x="548640" y="5212080"/>
            <a:ext cx="3566160" cy="548640"/>
          </a:xfrm>
          <a:prstGeom prst="rect">
            <a:avLst/>
          </a:prstGeom>
          <a:noFill/>
          <a:ln/>
        </p:spPr>
        <p:txBody>
          <a:bodyPr wrap="square" lIns="0" tIns="0" rIns="0" bIns="0" rtlCol="0" anchor="ctr"/>
          <a:lstStyle/>
          <a:p>
            <a:pPr indent="0" marL="0">
              <a:buNone/>
            </a:pPr>
            <a:r>
              <a:rPr lang="en-US" sz="1400" b="1" dirty="0">
                <a:solidFill>
                  <a:schemeClr val="accent2"/>
                </a:solidFill>
              </a:rPr>
              <a:t>Principle 1: clear boundaries</a:t>
            </a:r>
            <a:endParaRPr lang="en-US" sz="1400" dirty="0"/>
          </a:p>
        </p:txBody>
      </p:sp>
      <p:sp>
        <p:nvSpPr>
          <p:cNvPr id="8" name="card Penalties nobody carries out"/>
          <p:cNvSpPr/>
          <p:nvPr/>
        </p:nvSpPr>
        <p:spPr>
          <a:xfrm>
            <a:off x="4297680" y="1508760"/>
            <a:ext cx="3566160" cy="3566160"/>
          </a:xfrm>
          <a:prstGeom prst="roundRect">
            <a:avLst>
              <a:gd name="adj" fmla="val 2051"/>
            </a:avLst>
          </a:prstGeom>
          <a:solidFill>
            <a:schemeClr val="bg2"/>
          </a:solidFill>
          <a:ln w="12700">
            <a:solidFill>
              <a:schemeClr val="bg2"/>
            </a:solidFill>
            <a:prstDash val="solid"/>
          </a:ln>
        </p:spPr>
      </p:sp>
      <p:sp>
        <p:nvSpPr>
          <p:cNvPr id="9" name="Text 6"/>
          <p:cNvSpPr txBox="1"/>
          <p:nvPr/>
        </p:nvSpPr>
        <p:spPr>
          <a:xfrm>
            <a:off x="4434840" y="1600200"/>
            <a:ext cx="3291840" cy="33832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Penalties nobody carries out</a:t>
            </a:r>
            <a:endParaRPr lang="en-US" sz="1800" dirty="0"/>
          </a:p>
          <a:p>
            <a:pPr indent="0" marL="0">
              <a:spcAft>
                <a:spcPts val="400"/>
              </a:spcAft>
              <a:buNone/>
            </a:pPr>
            <a:r>
              <a:rPr lang="en-US" sz="1500" dirty="0">
                <a:solidFill>
                  <a:schemeClr val="tx1"/>
                </a:solidFill>
              </a:rPr>
              <a:t>Follow the OR ELSE: who applies it? What creates that role? Whom does the role answer to?</a:t>
            </a:r>
            <a:endParaRPr lang="en-US" sz="1800" dirty="0"/>
          </a:p>
        </p:txBody>
      </p:sp>
      <p:sp>
        <p:nvSpPr>
          <p:cNvPr id="10" name="Text 7"/>
          <p:cNvSpPr txBox="1"/>
          <p:nvPr/>
        </p:nvSpPr>
        <p:spPr>
          <a:xfrm>
            <a:off x="4297680" y="5212080"/>
            <a:ext cx="3566160" cy="548640"/>
          </a:xfrm>
          <a:prstGeom prst="rect">
            <a:avLst/>
          </a:prstGeom>
          <a:noFill/>
          <a:ln/>
        </p:spPr>
        <p:txBody>
          <a:bodyPr wrap="square" lIns="0" tIns="0" rIns="0" bIns="0" rtlCol="0" anchor="ctr"/>
          <a:lstStyle/>
          <a:p>
            <a:pPr indent="0" marL="0">
              <a:buNone/>
            </a:pPr>
            <a:r>
              <a:rPr lang="en-US" sz="1400" b="1" dirty="0">
                <a:solidFill>
                  <a:schemeClr val="accent2"/>
                </a:solidFill>
              </a:rPr>
              <a:t>Principles 4 and 5: monitoring and sanctions</a:t>
            </a:r>
            <a:endParaRPr lang="en-US" sz="1400" dirty="0"/>
          </a:p>
        </p:txBody>
      </p:sp>
      <p:sp>
        <p:nvSpPr>
          <p:cNvPr id="11" name="card Triggers nobody reads"/>
          <p:cNvSpPr/>
          <p:nvPr/>
        </p:nvSpPr>
        <p:spPr>
          <a:xfrm>
            <a:off x="8046720" y="1508760"/>
            <a:ext cx="3566160" cy="3566160"/>
          </a:xfrm>
          <a:prstGeom prst="roundRect">
            <a:avLst>
              <a:gd name="adj" fmla="val 2051"/>
            </a:avLst>
          </a:prstGeom>
          <a:solidFill>
            <a:schemeClr val="bg2"/>
          </a:solidFill>
          <a:ln w="12700">
            <a:solidFill>
              <a:schemeClr val="bg2"/>
            </a:solidFill>
            <a:prstDash val="solid"/>
          </a:ln>
        </p:spPr>
      </p:sp>
      <p:sp>
        <p:nvSpPr>
          <p:cNvPr id="12" name="Text 9"/>
          <p:cNvSpPr txBox="1"/>
          <p:nvPr/>
        </p:nvSpPr>
        <p:spPr>
          <a:xfrm>
            <a:off x="8183880" y="1600200"/>
            <a:ext cx="3291840" cy="33832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Triggers nobody reads</a:t>
            </a:r>
            <a:endParaRPr lang="en-US" sz="1800" dirty="0"/>
          </a:p>
          <a:p>
            <a:pPr indent="0" marL="0">
              <a:spcAft>
                <a:spcPts val="400"/>
              </a:spcAft>
              <a:buNone/>
            </a:pPr>
            <a:r>
              <a:rPr lang="en-US" sz="1500" dirty="0">
                <a:solidFill>
                  <a:schemeClr val="tx1"/>
                </a:solidFill>
              </a:rPr>
              <a:t>"When the tank is below half" assumes someone reads the tank. If no sentence gives anyone that job, the rule never switches on.</a:t>
            </a:r>
            <a:endParaRPr lang="en-US" sz="1800" dirty="0"/>
          </a:p>
        </p:txBody>
      </p:sp>
      <p:sp>
        <p:nvSpPr>
          <p:cNvPr id="13" name="Text 10"/>
          <p:cNvSpPr txBox="1"/>
          <p:nvPr/>
        </p:nvSpPr>
        <p:spPr>
          <a:xfrm>
            <a:off x="8046720" y="5212080"/>
            <a:ext cx="3566160" cy="548640"/>
          </a:xfrm>
          <a:prstGeom prst="rect">
            <a:avLst/>
          </a:prstGeom>
          <a:noFill/>
          <a:ln/>
        </p:spPr>
        <p:txBody>
          <a:bodyPr wrap="square" lIns="0" tIns="0" rIns="0" bIns="0" rtlCol="0" anchor="ctr"/>
          <a:lstStyle/>
          <a:p>
            <a:pPr indent="0" marL="0">
              <a:buNone/>
            </a:pPr>
            <a:r>
              <a:rPr lang="en-US" sz="1400" b="1" dirty="0">
                <a:solidFill>
                  <a:schemeClr val="accent2"/>
                </a:solidFill>
              </a:rPr>
              <a:t>Principle 4B: monitoring the resource</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5852160" cy="1463040"/>
          </a:xfrm>
          <a:prstGeom prst="rect">
            <a:avLst/>
          </a:prstGeom>
          <a:noFill/>
          <a:ln/>
        </p:spPr>
        <p:txBody>
          <a:bodyPr wrap="square" rtlCol="0" anchor="b"/>
          <a:lstStyle/>
          <a:p>
            <a:pPr indent="0" marL="0">
              <a:buNone/>
            </a:pPr>
            <a:r>
              <a:rPr lang="en-US" sz="4000" b="1" dirty="0">
                <a:solidFill>
                  <a:schemeClr val="bg1"/>
                </a:solidFill>
              </a:rPr>
              <a:t>One person deciding</a:t>
            </a:r>
            <a:endParaRPr lang="en-US" sz="4000" dirty="0"/>
          </a:p>
        </p:txBody>
      </p:sp>
      <p:sp>
        <p:nvSpPr>
          <p:cNvPr id="3" name="Text 0"/>
          <p:cNvSpPr/>
          <p:nvPr>
            <p:ph idx="101" type="body" hasCustomPrompt="1"/>
          </p:nvPr>
        </p:nvSpPr>
        <p:spPr>
          <a:xfrm>
            <a:off x="731520" y="3703320"/>
            <a:ext cx="5852160" cy="2011680"/>
          </a:xfrm>
          <a:prstGeom prst="rect">
            <a:avLst/>
          </a:prstGeom>
          <a:noFill/>
          <a:ln/>
        </p:spPr>
        <p:txBody>
          <a:bodyPr wrap="square" rtlCol="0" anchor="t"/>
          <a:lstStyle/>
          <a:p>
            <a:pPr indent="0" marL="0">
              <a:buNone/>
            </a:pPr>
            <a:r>
              <a:rPr lang="en-US" sz="1800" dirty="0">
                <a:solidFill>
                  <a:schemeClr val="bg2"/>
                </a:solidFill>
              </a:rPr>
              <a:t>The smallest scale: one person, one moment. Is it worth cooperating?</a:t>
            </a:r>
            <a:endParaRPr lang="en-US" sz="1800" dirty="0"/>
          </a:p>
        </p:txBody>
      </p:sp>
      <p:sp>
        <p:nvSpPr>
          <p:cNvPr id="4" name="Text 2"/>
          <p:cNvSpPr txBox="1"/>
          <p:nvPr/>
        </p:nvSpPr>
        <p:spPr>
          <a:xfrm>
            <a:off x="7223760" y="411480"/>
            <a:ext cx="4297680" cy="365760"/>
          </a:xfrm>
          <a:prstGeom prst="rect">
            <a:avLst/>
          </a:prstGeom>
          <a:noFill/>
          <a:ln/>
        </p:spPr>
        <p:txBody>
          <a:bodyPr wrap="square" lIns="0" tIns="0" rIns="0" bIns="0" rtlCol="0" anchor="ctr"/>
          <a:lstStyle/>
          <a:p>
            <a:pPr indent="0" marL="0">
              <a:buNone/>
            </a:pPr>
            <a:r>
              <a:rPr lang="en-US" sz="1200" b="1" spc="200" kern="0" dirty="0">
                <a:solidFill>
                  <a:schemeClr val="accent2"/>
                </a:solidFill>
              </a:rPr>
              <a:t>ZOOMING IN</a:t>
            </a:r>
            <a:endParaRPr lang="en-US" sz="1200" dirty="0"/>
          </a:p>
        </p:txBody>
      </p:sp>
      <p:sp>
        <p:nvSpPr>
          <p:cNvPr id="5" name="rung 1"/>
          <p:cNvSpPr/>
          <p:nvPr/>
        </p:nvSpPr>
        <p:spPr>
          <a:xfrm>
            <a:off x="7223760" y="914400"/>
            <a:ext cx="429768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1   The whole system</a:t>
            </a:r>
            <a:endParaRPr lang="en-US" sz="1500" dirty="0"/>
          </a:p>
        </p:txBody>
      </p:sp>
      <p:sp>
        <p:nvSpPr>
          <p:cNvPr id="6" name="rung 2"/>
          <p:cNvSpPr/>
          <p:nvPr/>
        </p:nvSpPr>
        <p:spPr>
          <a:xfrm>
            <a:off x="7333488" y="1444752"/>
            <a:ext cx="418795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2   What we share</a:t>
            </a:r>
            <a:endParaRPr lang="en-US" sz="1500" dirty="0"/>
          </a:p>
        </p:txBody>
      </p:sp>
      <p:sp>
        <p:nvSpPr>
          <p:cNvPr id="7" name="rung 3"/>
          <p:cNvSpPr/>
          <p:nvPr/>
        </p:nvSpPr>
        <p:spPr>
          <a:xfrm>
            <a:off x="7443216" y="1975104"/>
            <a:ext cx="407822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3   One situation in its setting</a:t>
            </a:r>
            <a:endParaRPr lang="en-US" sz="1500" dirty="0"/>
          </a:p>
        </p:txBody>
      </p:sp>
      <p:sp>
        <p:nvSpPr>
          <p:cNvPr id="8" name="rung 4"/>
          <p:cNvSpPr/>
          <p:nvPr/>
        </p:nvSpPr>
        <p:spPr>
          <a:xfrm>
            <a:off x="7552944" y="2505456"/>
            <a:ext cx="3968496"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4   Layers of decision</a:t>
            </a:r>
            <a:endParaRPr lang="en-US" sz="1500" dirty="0"/>
          </a:p>
        </p:txBody>
      </p:sp>
      <p:sp>
        <p:nvSpPr>
          <p:cNvPr id="9" name="rung 5"/>
          <p:cNvSpPr/>
          <p:nvPr/>
        </p:nvSpPr>
        <p:spPr>
          <a:xfrm>
            <a:off x="7662672" y="3035808"/>
            <a:ext cx="3858768"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5   Inside one situation</a:t>
            </a:r>
            <a:endParaRPr lang="en-US" sz="1500" dirty="0"/>
          </a:p>
        </p:txBody>
      </p:sp>
      <p:sp>
        <p:nvSpPr>
          <p:cNvPr id="10" name="rung 6"/>
          <p:cNvSpPr/>
          <p:nvPr/>
        </p:nvSpPr>
        <p:spPr>
          <a:xfrm>
            <a:off x="7772400" y="3566160"/>
            <a:ext cx="3749040"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6   The rules that shape it</a:t>
            </a:r>
            <a:endParaRPr lang="en-US" sz="1500" dirty="0"/>
          </a:p>
        </p:txBody>
      </p:sp>
      <p:sp>
        <p:nvSpPr>
          <p:cNvPr id="11" name="rung 7"/>
          <p:cNvSpPr/>
          <p:nvPr/>
        </p:nvSpPr>
        <p:spPr>
          <a:xfrm>
            <a:off x="7882128" y="4096512"/>
            <a:ext cx="3639312"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7   What lasting rules share</a:t>
            </a:r>
            <a:endParaRPr lang="en-US" sz="1500" dirty="0"/>
          </a:p>
        </p:txBody>
      </p:sp>
      <p:sp>
        <p:nvSpPr>
          <p:cNvPr id="12" name="rung 8"/>
          <p:cNvSpPr/>
          <p:nvPr/>
        </p:nvSpPr>
        <p:spPr>
          <a:xfrm>
            <a:off x="7991856" y="4626864"/>
            <a:ext cx="3529584" cy="457200"/>
          </a:xfrm>
          <a:prstGeom prst="roundRect">
            <a:avLst>
              <a:gd name="adj" fmla="val 16000"/>
            </a:avLst>
          </a:prstGeom>
          <a:solidFill>
            <a:schemeClr val="bg1">
              <a:alpha val="12000"/>
            </a:schemeClr>
          </a:solidFill>
          <a:ln w="9525">
            <a:solidFill>
              <a:schemeClr val="bg2">
                <a:alpha val="40000"/>
              </a:schemeClr>
            </a:solidFill>
          </a:ln>
        </p:spPr>
        <p:txBody>
          <a:bodyPr wrap="square" lIns="0" tIns="152400" rIns="127000" bIns="0" rtlCol="0" anchor="ctr"/>
          <a:lstStyle/>
          <a:p>
            <a:pPr indent="0" marL="0">
              <a:buNone/>
            </a:pPr>
            <a:r>
              <a:rPr lang="en-US" sz="1500" dirty="0">
                <a:solidFill>
                  <a:schemeClr val="bg2"/>
                </a:solidFill>
              </a:rPr>
              <a:t>8   One sentence of a rule</a:t>
            </a:r>
            <a:endParaRPr lang="en-US" sz="1500" dirty="0"/>
          </a:p>
        </p:txBody>
      </p:sp>
      <p:sp>
        <p:nvSpPr>
          <p:cNvPr id="13" name="rung 9"/>
          <p:cNvSpPr/>
          <p:nvPr/>
        </p:nvSpPr>
        <p:spPr>
          <a:xfrm>
            <a:off x="8101584" y="5157216"/>
            <a:ext cx="3419856" cy="457200"/>
          </a:xfrm>
          <a:prstGeom prst="roundRect">
            <a:avLst>
              <a:gd name="adj" fmla="val 16000"/>
            </a:avLst>
          </a:prstGeom>
          <a:solidFill>
            <a:schemeClr val="accent2"/>
          </a:solidFill>
          <a:ln w="9525">
            <a:solidFill>
              <a:schemeClr val="accent2"/>
            </a:solidFill>
          </a:ln>
        </p:spPr>
        <p:txBody>
          <a:bodyPr wrap="square" lIns="0" tIns="152400" rIns="127000" bIns="0" rtlCol="0" anchor="ctr"/>
          <a:lstStyle/>
          <a:p>
            <a:pPr indent="0" marL="0">
              <a:buNone/>
            </a:pPr>
            <a:r>
              <a:rPr lang="en-US" sz="1500" b="1" dirty="0">
                <a:solidFill>
                  <a:schemeClr val="tx2"/>
                </a:solidFill>
              </a:rPr>
              <a:t>9   One person deciding</a:t>
            </a:r>
            <a:endParaRPr lang="en-US" sz="1500" dirty="0"/>
          </a:p>
        </p:txBody>
      </p:sp>
      <p:sp>
        <p:nvSpPr>
          <p:cNvPr id="14" name="Text 12"/>
          <p:cNvSpPr txBox="1"/>
          <p:nvPr/>
        </p:nvSpPr>
        <p:spPr>
          <a:xfrm>
            <a:off x="9601200" y="566928"/>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largest scale</a:t>
            </a:r>
            <a:endParaRPr lang="en-US" sz="1100" dirty="0"/>
          </a:p>
        </p:txBody>
      </p:sp>
      <p:sp>
        <p:nvSpPr>
          <p:cNvPr id="15" name="Text 13"/>
          <p:cNvSpPr txBox="1"/>
          <p:nvPr/>
        </p:nvSpPr>
        <p:spPr>
          <a:xfrm>
            <a:off x="9601200" y="5669280"/>
            <a:ext cx="1920240" cy="274320"/>
          </a:xfrm>
          <a:prstGeom prst="rect">
            <a:avLst/>
          </a:prstGeom>
          <a:noFill/>
          <a:ln/>
        </p:spPr>
        <p:txBody>
          <a:bodyPr wrap="square" lIns="0" tIns="0" rIns="0" bIns="0" rtlCol="0" anchor="ctr"/>
          <a:lstStyle/>
          <a:p>
            <a:pPr algn="r" indent="0" marL="0">
              <a:buNone/>
            </a:pPr>
            <a:r>
              <a:rPr lang="en-US" sz="1100" i="1" dirty="0">
                <a:solidFill>
                  <a:schemeClr val="bg2"/>
                </a:solidFill>
              </a:rPr>
              <a:t>smallest scale</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9 · ONE PERSON DECIDING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Cooperation runs on trust that others will do their share</a:t>
            </a:r>
            <a:endParaRPr lang="en-US" sz="3200" dirty="0"/>
          </a:p>
        </p:txBody>
      </p:sp>
      <p:pic>
        <p:nvPicPr>
          <p:cNvPr id="5" name="Image 0" descr="Cooperation runs on trust that others will do their share">    </p:cNvPr>
          <p:cNvPicPr>
            <a:picLocks noChangeAspect="1"/>
          </p:cNvPicPr>
          <p:nvPr/>
        </p:nvPicPr>
        <p:blipFill>
          <a:blip r:embed="rId1"/>
          <a:stretch>
            <a:fillRect/>
          </a:stretch>
        </p:blipFill>
        <p:spPr>
          <a:xfrm>
            <a:off x="457200" y="1925301"/>
            <a:ext cx="7589520" cy="3693197"/>
          </a:xfrm>
          <a:prstGeom prst="rect">
            <a:avLst/>
          </a:prstGeom>
        </p:spPr>
      </p:pic>
      <p:sp>
        <p:nvSpPr>
          <p:cNvPr id="6" name="Text 2"/>
          <p:cNvSpPr txBox="1"/>
          <p:nvPr/>
        </p:nvSpPr>
        <p:spPr>
          <a:xfrm>
            <a:off x="457200" y="5664219"/>
            <a:ext cx="7589520" cy="274320"/>
          </a:xfrm>
          <a:prstGeom prst="rect">
            <a:avLst/>
          </a:prstGeom>
          <a:noFill/>
          <a:ln/>
        </p:spPr>
        <p:txBody>
          <a:bodyPr wrap="square" lIns="0" tIns="0" rIns="0" bIns="0" rtlCol="0" anchor="ctr"/>
          <a:lstStyle/>
          <a:p>
            <a:pPr indent="0" marL="0">
              <a:buNone/>
            </a:pPr>
            <a:r>
              <a:rPr lang="en-US" sz="1000" i="1" dirty="0">
                <a:solidFill>
                  <a:srgbClr val="5B6B60"/>
                </a:solidFill>
              </a:rPr>
              <a:t>Ostrom 2010, Figure 5, from Poteete, Janssen and Ostrom 2010</a:t>
            </a:r>
            <a:endParaRPr lang="en-US" sz="1000" dirty="0"/>
          </a:p>
        </p:txBody>
      </p:sp>
      <p:sp>
        <p:nvSpPr>
          <p:cNvPr id="7" name="reading panel"/>
          <p:cNvSpPr/>
          <p:nvPr/>
        </p:nvSpPr>
        <p:spPr>
          <a:xfrm>
            <a:off x="8321040" y="1417320"/>
            <a:ext cx="3429000" cy="4846320"/>
          </a:xfrm>
          <a:prstGeom prst="roundRect">
            <a:avLst>
              <a:gd name="adj" fmla="val 2133"/>
            </a:avLst>
          </a:prstGeom>
          <a:solidFill>
            <a:schemeClr val="bg2"/>
          </a:solidFill>
          <a:ln w="12700">
            <a:solidFill>
              <a:schemeClr val="bg2"/>
            </a:solidFill>
            <a:prstDash val="solid"/>
          </a:ln>
        </p:spPr>
      </p:sp>
      <p:sp>
        <p:nvSpPr>
          <p:cNvPr id="8" name="Text 4"/>
          <p:cNvSpPr txBox="1"/>
          <p:nvPr/>
        </p:nvSpPr>
        <p:spPr>
          <a:xfrm>
            <a:off x="8503920" y="1554480"/>
            <a:ext cx="31089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HOW TO READ IT</a:t>
            </a:r>
            <a:endParaRPr lang="en-US" sz="1200" dirty="0"/>
          </a:p>
        </p:txBody>
      </p:sp>
      <p:sp>
        <p:nvSpPr>
          <p:cNvPr id="9" name="Text 5"/>
          <p:cNvSpPr txBox="1"/>
          <p:nvPr/>
        </p:nvSpPr>
        <p:spPr>
          <a:xfrm>
            <a:off x="8503920" y="1920240"/>
            <a:ext cx="3108960" cy="4251960"/>
          </a:xfrm>
          <a:prstGeom prst="rect">
            <a:avLst/>
          </a:prstGeom>
          <a:noFill/>
          <a:ln/>
        </p:spPr>
        <p:txBody>
          <a:bodyPr wrap="square" lIns="0" tIns="0" rIns="0" bIns="0" rtlCol="0" anchor="t"/>
          <a:lstStyle/>
          <a:p>
            <a:pPr marL="190500" indent="-190500">
              <a:spcAft>
                <a:spcPts val="800"/>
              </a:spcAft>
              <a:buSzPct val="100000"/>
              <a:buChar char="•"/>
            </a:pPr>
            <a:r>
              <a:rPr lang="en-US" sz="1400" dirty="0">
                <a:solidFill>
                  <a:schemeClr val="tx1"/>
                </a:solidFill>
              </a:rPr>
              <a:t>Read left to right: the setting shapes what people learn about each other.</a:t>
            </a:r>
            <a:endParaRPr lang="en-US" sz="1400" dirty="0"/>
          </a:p>
          <a:p>
            <a:pPr marL="190500" indent="-190500">
              <a:spcAft>
                <a:spcPts val="800"/>
              </a:spcAft>
              <a:buSzPct val="100000"/>
              <a:buChar char="•"/>
            </a:pPr>
            <a:r>
              <a:rPr lang="en-US" sz="1400" dirty="0">
                <a:solidFill>
                  <a:schemeClr val="tx1"/>
                </a:solidFill>
              </a:rPr>
              <a:t>What they learn builds (or destroys) trust that others will reciprocate.</a:t>
            </a:r>
            <a:endParaRPr lang="en-US" sz="1400" dirty="0"/>
          </a:p>
          <a:p>
            <a:pPr marL="190500" indent="-190500">
              <a:spcAft>
                <a:spcPts val="800"/>
              </a:spcAft>
              <a:buSzPct val="100000"/>
              <a:buChar char="•"/>
            </a:pPr>
            <a:r>
              <a:rPr lang="en-US" sz="1400" dirty="0">
                <a:solidFill>
                  <a:schemeClr val="tx1"/>
                </a:solidFill>
              </a:rPr>
              <a:t>Trust brings cooperation; cooperation brings benefits.</a:t>
            </a:r>
            <a:endParaRPr lang="en-US" sz="1400" dirty="0"/>
          </a:p>
          <a:p>
            <a:pPr marL="190500" indent="-190500">
              <a:spcAft>
                <a:spcPts val="800"/>
              </a:spcAft>
              <a:buSzPct val="100000"/>
              <a:buChar char="•"/>
            </a:pPr>
            <a:r>
              <a:rPr lang="en-US" sz="1400" dirty="0">
                <a:solidFill>
                  <a:schemeClr val="tx1"/>
                </a:solidFill>
              </a:rPr>
              <a:t>The dashed loop: good results teach trust, bad results teach distrust.</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9 · ONE PERSON DECIDING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Words on this diagram, in plain language</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Every term on the Figure 5 diagram, translated.</a:t>
            </a:r>
            <a:endParaRPr lang="en-US" sz="1500" dirty="0"/>
          </a:p>
        </p:txBody>
      </p:sp>
      <p:sp>
        <p:nvSpPr>
          <p:cNvPr id="6" name="card Social dilemma"/>
          <p:cNvSpPr/>
          <p:nvPr/>
        </p:nvSpPr>
        <p:spPr>
          <a:xfrm>
            <a:off x="548640" y="1828800"/>
            <a:ext cx="5477256" cy="1026414"/>
          </a:xfrm>
          <a:prstGeom prst="roundRect">
            <a:avLst>
              <a:gd name="adj" fmla="val 7127"/>
            </a:avLst>
          </a:prstGeom>
          <a:solidFill>
            <a:schemeClr val="bg2"/>
          </a:solidFill>
          <a:ln w="12700">
            <a:solidFill>
              <a:schemeClr val="bg2"/>
            </a:solidFill>
            <a:prstDash val="solid"/>
          </a:ln>
        </p:spPr>
      </p:sp>
      <p:sp>
        <p:nvSpPr>
          <p:cNvPr id="7" name="Text 4"/>
          <p:cNvSpPr txBox="1"/>
          <p:nvPr/>
        </p:nvSpPr>
        <p:spPr>
          <a:xfrm>
            <a:off x="685800"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Social dilemma</a:t>
            </a:r>
            <a:endParaRPr lang="en-US" sz="1500" dirty="0"/>
          </a:p>
          <a:p>
            <a:pPr indent="0" marL="0">
              <a:spcAft>
                <a:spcPts val="400"/>
              </a:spcAft>
              <a:buNone/>
            </a:pPr>
            <a:r>
              <a:rPr lang="en-US" sz="1400" dirty="0">
                <a:solidFill>
                  <a:schemeClr val="tx1"/>
                </a:solidFill>
              </a:rPr>
              <a:t>A situation where what is best for each person alone is bad for everyone together. Overwatering in a drought.</a:t>
            </a:r>
            <a:endParaRPr lang="en-US" sz="1500" dirty="0"/>
          </a:p>
        </p:txBody>
      </p:sp>
      <p:sp>
        <p:nvSpPr>
          <p:cNvPr id="8" name="card Broader contextual variables"/>
          <p:cNvSpPr/>
          <p:nvPr/>
        </p:nvSpPr>
        <p:spPr>
          <a:xfrm>
            <a:off x="548640" y="2964942"/>
            <a:ext cx="5477256" cy="1026414"/>
          </a:xfrm>
          <a:prstGeom prst="roundRect">
            <a:avLst>
              <a:gd name="adj" fmla="val 7127"/>
            </a:avLst>
          </a:prstGeom>
          <a:solidFill>
            <a:schemeClr val="bg2"/>
          </a:solidFill>
          <a:ln w="12700">
            <a:solidFill>
              <a:schemeClr val="bg2"/>
            </a:solidFill>
            <a:prstDash val="solid"/>
          </a:ln>
        </p:spPr>
      </p:sp>
      <p:sp>
        <p:nvSpPr>
          <p:cNvPr id="9" name="Text 6"/>
          <p:cNvSpPr txBox="1"/>
          <p:nvPr/>
        </p:nvSpPr>
        <p:spPr>
          <a:xfrm>
            <a:off x="685800"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Broader contextual variables</a:t>
            </a:r>
            <a:endParaRPr lang="en-US" sz="1500" dirty="0"/>
          </a:p>
          <a:p>
            <a:pPr indent="0" marL="0">
              <a:spcAft>
                <a:spcPts val="400"/>
              </a:spcAft>
              <a:buNone/>
            </a:pPr>
            <a:r>
              <a:rPr lang="en-US" sz="1400" dirty="0">
                <a:solidFill>
                  <a:schemeClr val="tx1"/>
                </a:solidFill>
              </a:rPr>
              <a:t>The big setting from step 1: the resource, the rules, the wider world.</a:t>
            </a:r>
            <a:endParaRPr lang="en-US" sz="1500" dirty="0"/>
          </a:p>
        </p:txBody>
      </p:sp>
      <p:sp>
        <p:nvSpPr>
          <p:cNvPr id="10" name="card Microsituational variables"/>
          <p:cNvSpPr/>
          <p:nvPr/>
        </p:nvSpPr>
        <p:spPr>
          <a:xfrm>
            <a:off x="548640" y="4101084"/>
            <a:ext cx="5477256" cy="1026414"/>
          </a:xfrm>
          <a:prstGeom prst="roundRect">
            <a:avLst>
              <a:gd name="adj" fmla="val 7127"/>
            </a:avLst>
          </a:prstGeom>
          <a:solidFill>
            <a:schemeClr val="bg2"/>
          </a:solidFill>
          <a:ln w="12700">
            <a:solidFill>
              <a:schemeClr val="bg2"/>
            </a:solidFill>
            <a:prstDash val="solid"/>
          </a:ln>
        </p:spPr>
      </p:sp>
      <p:sp>
        <p:nvSpPr>
          <p:cNvPr id="11" name="Text 8"/>
          <p:cNvSpPr txBox="1"/>
          <p:nvPr/>
        </p:nvSpPr>
        <p:spPr>
          <a:xfrm>
            <a:off x="685800"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Microsituational variables</a:t>
            </a:r>
            <a:endParaRPr lang="en-US" sz="1500" dirty="0"/>
          </a:p>
          <a:p>
            <a:pPr indent="0" marL="0">
              <a:spcAft>
                <a:spcPts val="400"/>
              </a:spcAft>
              <a:buNone/>
            </a:pPr>
            <a:r>
              <a:rPr lang="en-US" sz="1400" dirty="0">
                <a:solidFill>
                  <a:schemeClr val="tx1"/>
                </a:solidFill>
              </a:rPr>
              <a:t>Small features of the immediate situation: can people talk, do they know each other's record. Next slide.</a:t>
            </a:r>
            <a:endParaRPr lang="en-US" sz="1500" dirty="0"/>
          </a:p>
        </p:txBody>
      </p:sp>
      <p:sp>
        <p:nvSpPr>
          <p:cNvPr id="12" name="card Learning and norm-adopting individuals"/>
          <p:cNvSpPr/>
          <p:nvPr/>
        </p:nvSpPr>
        <p:spPr>
          <a:xfrm>
            <a:off x="548640" y="5237226"/>
            <a:ext cx="5477256" cy="1026414"/>
          </a:xfrm>
          <a:prstGeom prst="roundRect">
            <a:avLst>
              <a:gd name="adj" fmla="val 7127"/>
            </a:avLst>
          </a:prstGeom>
          <a:solidFill>
            <a:schemeClr val="bg2"/>
          </a:solidFill>
          <a:ln w="12700">
            <a:solidFill>
              <a:schemeClr val="bg2"/>
            </a:solidFill>
            <a:prstDash val="solid"/>
          </a:ln>
        </p:spPr>
      </p:sp>
      <p:sp>
        <p:nvSpPr>
          <p:cNvPr id="13" name="Text 10"/>
          <p:cNvSpPr txBox="1"/>
          <p:nvPr/>
        </p:nvSpPr>
        <p:spPr>
          <a:xfrm>
            <a:off x="685800"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Learning and norm-adopting individuals</a:t>
            </a:r>
            <a:endParaRPr lang="en-US" sz="1500" dirty="0"/>
          </a:p>
          <a:p>
            <a:pPr indent="0" marL="0">
              <a:spcAft>
                <a:spcPts val="400"/>
              </a:spcAft>
              <a:buNone/>
            </a:pPr>
            <a:r>
              <a:rPr lang="en-US" sz="1400" dirty="0">
                <a:solidFill>
                  <a:schemeClr val="tx1"/>
                </a:solidFill>
              </a:rPr>
              <a:t>People who learn from experience and take on shared expectations, rather than purely selfish calculators.</a:t>
            </a:r>
            <a:endParaRPr lang="en-US" sz="1500" dirty="0"/>
          </a:p>
        </p:txBody>
      </p:sp>
      <p:sp>
        <p:nvSpPr>
          <p:cNvPr id="14" name="card Norm"/>
          <p:cNvSpPr/>
          <p:nvPr/>
        </p:nvSpPr>
        <p:spPr>
          <a:xfrm>
            <a:off x="6135624" y="1828800"/>
            <a:ext cx="5477256" cy="1026414"/>
          </a:xfrm>
          <a:prstGeom prst="roundRect">
            <a:avLst>
              <a:gd name="adj" fmla="val 7127"/>
            </a:avLst>
          </a:prstGeom>
          <a:solidFill>
            <a:schemeClr val="bg2"/>
          </a:solidFill>
          <a:ln w="12700">
            <a:solidFill>
              <a:schemeClr val="bg2"/>
            </a:solidFill>
            <a:prstDash val="solid"/>
          </a:ln>
        </p:spPr>
      </p:sp>
      <p:sp>
        <p:nvSpPr>
          <p:cNvPr id="15" name="Text 12"/>
          <p:cNvSpPr txBox="1"/>
          <p:nvPr/>
        </p:nvSpPr>
        <p:spPr>
          <a:xfrm>
            <a:off x="6272784" y="1920240"/>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Norm</a:t>
            </a:r>
            <a:endParaRPr lang="en-US" sz="1500" dirty="0"/>
          </a:p>
          <a:p>
            <a:pPr indent="0" marL="0">
              <a:spcAft>
                <a:spcPts val="400"/>
              </a:spcAft>
              <a:buNone/>
            </a:pPr>
            <a:r>
              <a:rPr lang="en-US" sz="1400" dirty="0">
                <a:solidFill>
                  <a:schemeClr val="tx1"/>
                </a:solidFill>
              </a:rPr>
              <a:t>A shared expectation about how people should act, usually unwritten.</a:t>
            </a:r>
            <a:endParaRPr lang="en-US" sz="1500" dirty="0"/>
          </a:p>
        </p:txBody>
      </p:sp>
      <p:sp>
        <p:nvSpPr>
          <p:cNvPr id="16" name="card Reciprocators"/>
          <p:cNvSpPr/>
          <p:nvPr/>
        </p:nvSpPr>
        <p:spPr>
          <a:xfrm>
            <a:off x="6135624" y="2964942"/>
            <a:ext cx="5477256" cy="1026414"/>
          </a:xfrm>
          <a:prstGeom prst="roundRect">
            <a:avLst>
              <a:gd name="adj" fmla="val 7127"/>
            </a:avLst>
          </a:prstGeom>
          <a:solidFill>
            <a:schemeClr val="bg2"/>
          </a:solidFill>
          <a:ln w="12700">
            <a:solidFill>
              <a:schemeClr val="bg2"/>
            </a:solidFill>
            <a:prstDash val="solid"/>
          </a:ln>
        </p:spPr>
      </p:sp>
      <p:sp>
        <p:nvSpPr>
          <p:cNvPr id="17" name="Text 14"/>
          <p:cNvSpPr txBox="1"/>
          <p:nvPr/>
        </p:nvSpPr>
        <p:spPr>
          <a:xfrm>
            <a:off x="6272784" y="3056382"/>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Reciprocators</a:t>
            </a:r>
            <a:endParaRPr lang="en-US" sz="1500" dirty="0"/>
          </a:p>
          <a:p>
            <a:pPr indent="0" marL="0">
              <a:spcAft>
                <a:spcPts val="400"/>
              </a:spcAft>
              <a:buNone/>
            </a:pPr>
            <a:r>
              <a:rPr lang="en-US" sz="1400" dirty="0">
                <a:solidFill>
                  <a:schemeClr val="tx1"/>
                </a:solidFill>
              </a:rPr>
              <a:t>People who return cooperation with cooperation: I do my share if you do yours.</a:t>
            </a:r>
            <a:endParaRPr lang="en-US" sz="1500" dirty="0"/>
          </a:p>
        </p:txBody>
      </p:sp>
      <p:sp>
        <p:nvSpPr>
          <p:cNvPr id="18" name="card Levels of trust that other participants are reciprocators"/>
          <p:cNvSpPr/>
          <p:nvPr/>
        </p:nvSpPr>
        <p:spPr>
          <a:xfrm>
            <a:off x="6135624" y="4101084"/>
            <a:ext cx="5477256" cy="1026414"/>
          </a:xfrm>
          <a:prstGeom prst="roundRect">
            <a:avLst>
              <a:gd name="adj" fmla="val 7127"/>
            </a:avLst>
          </a:prstGeom>
          <a:solidFill>
            <a:schemeClr val="bg2"/>
          </a:solidFill>
          <a:ln w="12700">
            <a:solidFill>
              <a:schemeClr val="bg2"/>
            </a:solidFill>
            <a:prstDash val="solid"/>
          </a:ln>
        </p:spPr>
      </p:sp>
      <p:sp>
        <p:nvSpPr>
          <p:cNvPr id="19" name="Text 16"/>
          <p:cNvSpPr txBox="1"/>
          <p:nvPr/>
        </p:nvSpPr>
        <p:spPr>
          <a:xfrm>
            <a:off x="6272784" y="4192524"/>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Levels of trust that other participants are reciprocators</a:t>
            </a:r>
            <a:endParaRPr lang="en-US" sz="1500" dirty="0"/>
          </a:p>
          <a:p>
            <a:pPr indent="0" marL="0">
              <a:spcAft>
                <a:spcPts val="400"/>
              </a:spcAft>
              <a:buNone/>
            </a:pPr>
            <a:r>
              <a:rPr lang="en-US" sz="1400" dirty="0">
                <a:solidFill>
                  <a:schemeClr val="tx1"/>
                </a:solidFill>
              </a:rPr>
              <a:t>How confident I am that the others will do their share if I do mine.</a:t>
            </a:r>
            <a:endParaRPr lang="en-US" sz="1500" dirty="0"/>
          </a:p>
        </p:txBody>
      </p:sp>
      <p:sp>
        <p:nvSpPr>
          <p:cNvPr id="20" name="card Levels of cooperation / net benefits"/>
          <p:cNvSpPr/>
          <p:nvPr/>
        </p:nvSpPr>
        <p:spPr>
          <a:xfrm>
            <a:off x="6135624" y="5237226"/>
            <a:ext cx="5477256" cy="1026414"/>
          </a:xfrm>
          <a:prstGeom prst="roundRect">
            <a:avLst>
              <a:gd name="adj" fmla="val 7127"/>
            </a:avLst>
          </a:prstGeom>
          <a:solidFill>
            <a:schemeClr val="bg2"/>
          </a:solidFill>
          <a:ln w="12700">
            <a:solidFill>
              <a:schemeClr val="bg2"/>
            </a:solidFill>
            <a:prstDash val="solid"/>
          </a:ln>
        </p:spPr>
      </p:sp>
      <p:sp>
        <p:nvSpPr>
          <p:cNvPr id="21" name="Text 18"/>
          <p:cNvSpPr txBox="1"/>
          <p:nvPr/>
        </p:nvSpPr>
        <p:spPr>
          <a:xfrm>
            <a:off x="6272784" y="5328666"/>
            <a:ext cx="5202936" cy="843534"/>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Levels of cooperation / net benefits</a:t>
            </a:r>
            <a:endParaRPr lang="en-US" sz="1500" dirty="0"/>
          </a:p>
          <a:p>
            <a:pPr indent="0" marL="0">
              <a:spcAft>
                <a:spcPts val="400"/>
              </a:spcAft>
              <a:buNone/>
            </a:pPr>
            <a:r>
              <a:rPr lang="en-US" sz="1400" dirty="0">
                <a:solidFill>
                  <a:schemeClr val="tx1"/>
                </a:solidFill>
              </a:rPr>
              <a:t>How much people actually work together, and what everyone gains minus what it costs.</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9 · ONE PERSON DECIDING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Six conditions that make trust possible</a:t>
            </a:r>
            <a:endParaRPr lang="en-US" sz="3200" dirty="0"/>
          </a:p>
        </p:txBody>
      </p:sp>
      <p:sp>
        <p:nvSpPr>
          <p:cNvPr id="5" name="card People can talk, ideally face to face"/>
          <p:cNvSpPr/>
          <p:nvPr/>
        </p:nvSpPr>
        <p:spPr>
          <a:xfrm>
            <a:off x="548640" y="1463040"/>
            <a:ext cx="3566160" cy="2240280"/>
          </a:xfrm>
          <a:prstGeom prst="roundRect">
            <a:avLst>
              <a:gd name="adj" fmla="val 3265"/>
            </a:avLst>
          </a:prstGeom>
          <a:solidFill>
            <a:schemeClr val="bg2"/>
          </a:solidFill>
          <a:ln w="12700">
            <a:solidFill>
              <a:schemeClr val="bg2"/>
            </a:solidFill>
            <a:prstDash val="solid"/>
          </a:ln>
        </p:spPr>
      </p:sp>
      <p:sp>
        <p:nvSpPr>
          <p:cNvPr id="6" name="Text 3"/>
          <p:cNvSpPr txBox="1"/>
          <p:nvPr/>
        </p:nvSpPr>
        <p:spPr>
          <a:xfrm>
            <a:off x="685800" y="1554480"/>
            <a:ext cx="3291840" cy="2057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People can talk, ideally face to face</a:t>
            </a:r>
            <a:endParaRPr lang="en-US" sz="1600" dirty="0"/>
          </a:p>
          <a:p>
            <a:pPr indent="0" marL="0">
              <a:spcAft>
                <a:spcPts val="400"/>
              </a:spcAft>
              <a:buNone/>
            </a:pPr>
            <a:r>
              <a:rPr lang="en-US" sz="1400" dirty="0">
                <a:solidFill>
                  <a:schemeClr val="tx1"/>
                </a:solidFill>
              </a:rPr>
              <a:t>Faces and tone tell people who is trustworthy.</a:t>
            </a:r>
            <a:endParaRPr lang="en-US" sz="1600" dirty="0"/>
          </a:p>
        </p:txBody>
      </p:sp>
      <p:sp>
        <p:nvSpPr>
          <p:cNvPr id="7" name="Text 4"/>
          <p:cNvSpPr txBox="1"/>
          <p:nvPr/>
        </p:nvSpPr>
        <p:spPr>
          <a:xfrm>
            <a:off x="685800" y="3246120"/>
            <a:ext cx="3291840" cy="320040"/>
          </a:xfrm>
          <a:prstGeom prst="rect">
            <a:avLst/>
          </a:prstGeom>
          <a:noFill/>
          <a:ln/>
        </p:spPr>
        <p:txBody>
          <a:bodyPr wrap="square" lIns="0" tIns="0" rIns="0" bIns="0" rtlCol="0" anchor="ctr"/>
          <a:lstStyle/>
          <a:p>
            <a:pPr indent="0" marL="0">
              <a:buNone/>
            </a:pPr>
            <a:r>
              <a:rPr lang="en-US" sz="1300" b="1" dirty="0">
                <a:solidFill>
                  <a:schemeClr val="accent2"/>
                </a:solidFill>
              </a:rPr>
              <a:t>Principles 3, 6</a:t>
            </a:r>
            <a:endParaRPr lang="en-US" sz="1300" dirty="0"/>
          </a:p>
        </p:txBody>
      </p:sp>
      <p:sp>
        <p:nvSpPr>
          <p:cNvPr id="8" name="card People's past behavior is known"/>
          <p:cNvSpPr/>
          <p:nvPr/>
        </p:nvSpPr>
        <p:spPr>
          <a:xfrm>
            <a:off x="4297680" y="1463040"/>
            <a:ext cx="3566160" cy="2240280"/>
          </a:xfrm>
          <a:prstGeom prst="roundRect">
            <a:avLst>
              <a:gd name="adj" fmla="val 3265"/>
            </a:avLst>
          </a:prstGeom>
          <a:solidFill>
            <a:schemeClr val="bg2"/>
          </a:solidFill>
          <a:ln w="12700">
            <a:solidFill>
              <a:schemeClr val="bg2"/>
            </a:solidFill>
            <a:prstDash val="solid"/>
          </a:ln>
        </p:spPr>
      </p:sp>
      <p:sp>
        <p:nvSpPr>
          <p:cNvPr id="9" name="Text 6"/>
          <p:cNvSpPr txBox="1"/>
          <p:nvPr/>
        </p:nvSpPr>
        <p:spPr>
          <a:xfrm>
            <a:off x="4434840" y="1554480"/>
            <a:ext cx="3291840" cy="2057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People's past behavior is known</a:t>
            </a:r>
            <a:endParaRPr lang="en-US" sz="1600" dirty="0"/>
          </a:p>
          <a:p>
            <a:pPr indent="0" marL="0">
              <a:spcAft>
                <a:spcPts val="400"/>
              </a:spcAft>
              <a:buNone/>
            </a:pPr>
            <a:r>
              <a:rPr lang="en-US" sz="1400" dirty="0">
                <a:solidFill>
                  <a:schemeClr val="tx1"/>
                </a:solidFill>
              </a:rPr>
              <a:t>A track record makes cooperation safer.</a:t>
            </a:r>
            <a:endParaRPr lang="en-US" sz="1600" dirty="0"/>
          </a:p>
        </p:txBody>
      </p:sp>
      <p:sp>
        <p:nvSpPr>
          <p:cNvPr id="10" name="Text 7"/>
          <p:cNvSpPr txBox="1"/>
          <p:nvPr/>
        </p:nvSpPr>
        <p:spPr>
          <a:xfrm>
            <a:off x="4434840" y="3246120"/>
            <a:ext cx="3291840" cy="320040"/>
          </a:xfrm>
          <a:prstGeom prst="rect">
            <a:avLst/>
          </a:prstGeom>
          <a:noFill/>
          <a:ln/>
        </p:spPr>
        <p:txBody>
          <a:bodyPr wrap="square" lIns="0" tIns="0" rIns="0" bIns="0" rtlCol="0" anchor="ctr"/>
          <a:lstStyle/>
          <a:p>
            <a:pPr indent="0" marL="0">
              <a:buNone/>
            </a:pPr>
            <a:r>
              <a:rPr lang="en-US" sz="1300" b="1" dirty="0">
                <a:solidFill>
                  <a:schemeClr val="accent2"/>
                </a:solidFill>
              </a:rPr>
              <a:t>Principle 4A</a:t>
            </a:r>
            <a:endParaRPr lang="en-US" sz="1300" dirty="0"/>
          </a:p>
        </p:txBody>
      </p:sp>
      <p:sp>
        <p:nvSpPr>
          <p:cNvPr id="11" name="card Each contribution clearly makes a difference"/>
          <p:cNvSpPr/>
          <p:nvPr/>
        </p:nvSpPr>
        <p:spPr>
          <a:xfrm>
            <a:off x="8046720" y="1463040"/>
            <a:ext cx="3566160" cy="2240280"/>
          </a:xfrm>
          <a:prstGeom prst="roundRect">
            <a:avLst>
              <a:gd name="adj" fmla="val 3265"/>
            </a:avLst>
          </a:prstGeom>
          <a:solidFill>
            <a:schemeClr val="bg2"/>
          </a:solidFill>
          <a:ln w="12700">
            <a:solidFill>
              <a:schemeClr val="bg2"/>
            </a:solidFill>
            <a:prstDash val="solid"/>
          </a:ln>
        </p:spPr>
      </p:sp>
      <p:sp>
        <p:nvSpPr>
          <p:cNvPr id="12" name="Text 9"/>
          <p:cNvSpPr txBox="1"/>
          <p:nvPr/>
        </p:nvSpPr>
        <p:spPr>
          <a:xfrm>
            <a:off x="8183880" y="1554480"/>
            <a:ext cx="3291840" cy="2057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Each contribution clearly makes a difference</a:t>
            </a:r>
            <a:endParaRPr lang="en-US" sz="1600" dirty="0"/>
          </a:p>
          <a:p>
            <a:pPr indent="0" marL="0">
              <a:spcAft>
                <a:spcPts val="400"/>
              </a:spcAft>
              <a:buNone/>
            </a:pPr>
            <a:r>
              <a:rPr lang="en-US" sz="1400" dirty="0">
                <a:solidFill>
                  <a:schemeClr val="tx1"/>
                </a:solidFill>
              </a:rPr>
              <a:t>"Marginal per capita return": my share visibly matters.</a:t>
            </a:r>
            <a:endParaRPr lang="en-US" sz="1600" dirty="0"/>
          </a:p>
        </p:txBody>
      </p:sp>
      <p:sp>
        <p:nvSpPr>
          <p:cNvPr id="13" name="Text 10"/>
          <p:cNvSpPr txBox="1"/>
          <p:nvPr/>
        </p:nvSpPr>
        <p:spPr>
          <a:xfrm>
            <a:off x="8183880" y="3246120"/>
            <a:ext cx="3291840" cy="320040"/>
          </a:xfrm>
          <a:prstGeom prst="rect">
            <a:avLst/>
          </a:prstGeom>
          <a:noFill/>
          <a:ln/>
        </p:spPr>
        <p:txBody>
          <a:bodyPr wrap="square" lIns="0" tIns="0" rIns="0" bIns="0" rtlCol="0" anchor="ctr"/>
          <a:lstStyle/>
          <a:p>
            <a:pPr indent="0" marL="0">
              <a:buNone/>
            </a:pPr>
            <a:r>
              <a:rPr lang="en-US" sz="1300" b="1" dirty="0">
                <a:solidFill>
                  <a:schemeClr val="accent2"/>
                </a:solidFill>
              </a:rPr>
              <a:t>Principle 2B</a:t>
            </a:r>
            <a:endParaRPr lang="en-US" sz="1300" dirty="0"/>
          </a:p>
        </p:txBody>
      </p:sp>
      <p:sp>
        <p:nvSpPr>
          <p:cNvPr id="14" name="card People can enter or leave at low cost"/>
          <p:cNvSpPr/>
          <p:nvPr/>
        </p:nvSpPr>
        <p:spPr>
          <a:xfrm>
            <a:off x="548640" y="3886200"/>
            <a:ext cx="3566160" cy="2240280"/>
          </a:xfrm>
          <a:prstGeom prst="roundRect">
            <a:avLst>
              <a:gd name="adj" fmla="val 3265"/>
            </a:avLst>
          </a:prstGeom>
          <a:solidFill>
            <a:schemeClr val="bg2"/>
          </a:solidFill>
          <a:ln w="12700">
            <a:solidFill>
              <a:schemeClr val="bg2"/>
            </a:solidFill>
            <a:prstDash val="solid"/>
          </a:ln>
        </p:spPr>
      </p:sp>
      <p:sp>
        <p:nvSpPr>
          <p:cNvPr id="15" name="Text 12"/>
          <p:cNvSpPr txBox="1"/>
          <p:nvPr/>
        </p:nvSpPr>
        <p:spPr>
          <a:xfrm>
            <a:off x="685800" y="3977640"/>
            <a:ext cx="3291840" cy="2057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People can enter or leave at low cost</a:t>
            </a:r>
            <a:endParaRPr lang="en-US" sz="1600" dirty="0"/>
          </a:p>
          <a:p>
            <a:pPr indent="0" marL="0">
              <a:spcAft>
                <a:spcPts val="400"/>
              </a:spcAft>
              <a:buNone/>
            </a:pPr>
            <a:r>
              <a:rPr lang="en-US" sz="1400" dirty="0">
                <a:solidFill>
                  <a:schemeClr val="tx1"/>
                </a:solidFill>
              </a:rPr>
              <a:t>No one is trapped as the only one still trying.</a:t>
            </a:r>
            <a:endParaRPr lang="en-US" sz="1600" dirty="0"/>
          </a:p>
        </p:txBody>
      </p:sp>
      <p:sp>
        <p:nvSpPr>
          <p:cNvPr id="16" name="Text 13"/>
          <p:cNvSpPr txBox="1"/>
          <p:nvPr/>
        </p:nvSpPr>
        <p:spPr>
          <a:xfrm>
            <a:off x="685800" y="5669280"/>
            <a:ext cx="3291840" cy="320040"/>
          </a:xfrm>
          <a:prstGeom prst="rect">
            <a:avLst/>
          </a:prstGeom>
          <a:noFill/>
          <a:ln/>
        </p:spPr>
        <p:txBody>
          <a:bodyPr wrap="square" lIns="0" tIns="0" rIns="0" bIns="0" rtlCol="0" anchor="ctr"/>
          <a:lstStyle/>
          <a:p>
            <a:pPr indent="0" marL="0">
              <a:buNone/>
            </a:pPr>
            <a:r>
              <a:rPr lang="en-US" sz="1300" b="1" dirty="0">
                <a:solidFill>
                  <a:schemeClr val="accent2"/>
                </a:solidFill>
              </a:rPr>
              <a:t>Principle 1A</a:t>
            </a:r>
            <a:endParaRPr lang="en-US" sz="1300" dirty="0"/>
          </a:p>
        </p:txBody>
      </p:sp>
      <p:sp>
        <p:nvSpPr>
          <p:cNvPr id="17" name="card A long time horizon"/>
          <p:cNvSpPr/>
          <p:nvPr/>
        </p:nvSpPr>
        <p:spPr>
          <a:xfrm>
            <a:off x="4297680" y="3886200"/>
            <a:ext cx="3566160" cy="2240280"/>
          </a:xfrm>
          <a:prstGeom prst="roundRect">
            <a:avLst>
              <a:gd name="adj" fmla="val 3265"/>
            </a:avLst>
          </a:prstGeom>
          <a:solidFill>
            <a:schemeClr val="bg2"/>
          </a:solidFill>
          <a:ln w="12700">
            <a:solidFill>
              <a:schemeClr val="bg2"/>
            </a:solidFill>
            <a:prstDash val="solid"/>
          </a:ln>
        </p:spPr>
      </p:sp>
      <p:sp>
        <p:nvSpPr>
          <p:cNvPr id="18" name="Text 15"/>
          <p:cNvSpPr txBox="1"/>
          <p:nvPr/>
        </p:nvSpPr>
        <p:spPr>
          <a:xfrm>
            <a:off x="4434840" y="3977640"/>
            <a:ext cx="3291840" cy="2057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A long time horizon</a:t>
            </a:r>
            <a:endParaRPr lang="en-US" sz="1600" dirty="0"/>
          </a:p>
          <a:p>
            <a:pPr indent="0" marL="0">
              <a:spcAft>
                <a:spcPts val="400"/>
              </a:spcAft>
              <a:buNone/>
            </a:pPr>
            <a:r>
              <a:rPr lang="en-US" sz="1400" dirty="0">
                <a:solidFill>
                  <a:schemeClr val="tx1"/>
                </a:solidFill>
              </a:rPr>
              <a:t>Cooperation pays more over years than over weeks.</a:t>
            </a:r>
            <a:endParaRPr lang="en-US" sz="1600" dirty="0"/>
          </a:p>
        </p:txBody>
      </p:sp>
      <p:sp>
        <p:nvSpPr>
          <p:cNvPr id="19" name="Text 16"/>
          <p:cNvSpPr txBox="1"/>
          <p:nvPr/>
        </p:nvSpPr>
        <p:spPr>
          <a:xfrm>
            <a:off x="4434840" y="5669280"/>
            <a:ext cx="3291840" cy="320040"/>
          </a:xfrm>
          <a:prstGeom prst="rect">
            <a:avLst/>
          </a:prstGeom>
          <a:noFill/>
          <a:ln/>
        </p:spPr>
        <p:txBody>
          <a:bodyPr wrap="square" lIns="0" tIns="0" rIns="0" bIns="0" rtlCol="0" anchor="ctr"/>
          <a:lstStyle/>
          <a:p>
            <a:pPr indent="0" marL="0">
              <a:buNone/>
            </a:pPr>
            <a:r>
              <a:rPr lang="en-US" sz="1300" b="1" dirty="0">
                <a:solidFill>
                  <a:schemeClr val="accent2"/>
                </a:solidFill>
              </a:rPr>
              <a:t>Principle 7</a:t>
            </a:r>
            <a:endParaRPr lang="en-US" sz="1300" dirty="0"/>
          </a:p>
        </p:txBody>
      </p:sp>
      <p:sp>
        <p:nvSpPr>
          <p:cNvPr id="20" name="card Sanctions the group agreed to itself"/>
          <p:cNvSpPr/>
          <p:nvPr/>
        </p:nvSpPr>
        <p:spPr>
          <a:xfrm>
            <a:off x="8046720" y="3886200"/>
            <a:ext cx="3566160" cy="2240280"/>
          </a:xfrm>
          <a:prstGeom prst="roundRect">
            <a:avLst>
              <a:gd name="adj" fmla="val 3265"/>
            </a:avLst>
          </a:prstGeom>
          <a:solidFill>
            <a:schemeClr val="bg2"/>
          </a:solidFill>
          <a:ln w="12700">
            <a:solidFill>
              <a:schemeClr val="bg2"/>
            </a:solidFill>
            <a:prstDash val="solid"/>
          </a:ln>
        </p:spPr>
      </p:sp>
      <p:sp>
        <p:nvSpPr>
          <p:cNvPr id="21" name="Text 18"/>
          <p:cNvSpPr txBox="1"/>
          <p:nvPr/>
        </p:nvSpPr>
        <p:spPr>
          <a:xfrm>
            <a:off x="8183880" y="3977640"/>
            <a:ext cx="3291840" cy="20574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Sanctions the group agreed to itself</a:t>
            </a:r>
            <a:endParaRPr lang="en-US" sz="1600" dirty="0"/>
          </a:p>
          <a:p>
            <a:pPr indent="0" marL="0">
              <a:spcAft>
                <a:spcPts val="400"/>
              </a:spcAft>
              <a:buNone/>
            </a:pPr>
            <a:r>
              <a:rPr lang="en-US" sz="1400" dirty="0">
                <a:solidFill>
                  <a:schemeClr val="tx1"/>
                </a:solidFill>
              </a:rPr>
              <a:t>Self-made penalties are rarely needed; imposed ones can backfire.</a:t>
            </a:r>
            <a:endParaRPr lang="en-US" sz="1600" dirty="0"/>
          </a:p>
        </p:txBody>
      </p:sp>
      <p:sp>
        <p:nvSpPr>
          <p:cNvPr id="22" name="Text 19"/>
          <p:cNvSpPr txBox="1"/>
          <p:nvPr/>
        </p:nvSpPr>
        <p:spPr>
          <a:xfrm>
            <a:off x="8183880" y="5669280"/>
            <a:ext cx="3291840" cy="320040"/>
          </a:xfrm>
          <a:prstGeom prst="rect">
            <a:avLst/>
          </a:prstGeom>
          <a:noFill/>
          <a:ln/>
        </p:spPr>
        <p:txBody>
          <a:bodyPr wrap="square" lIns="0" tIns="0" rIns="0" bIns="0" rtlCol="0" anchor="ctr"/>
          <a:lstStyle/>
          <a:p>
            <a:pPr indent="0" marL="0">
              <a:buNone/>
            </a:pPr>
            <a:r>
              <a:rPr lang="en-US" sz="1300" b="1" dirty="0">
                <a:solidFill>
                  <a:schemeClr val="accent2"/>
                </a:solidFill>
              </a:rPr>
              <a:t>Principles 5, 3</a:t>
            </a:r>
            <a:endParaRPr lang="en-US" sz="13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SCALE 9 · ONE PERSON DECIDING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What a neighborhood can change this month</a:t>
            </a:r>
            <a:endParaRPr lang="en-US" sz="3200" dirty="0"/>
          </a:p>
        </p:txBody>
      </p:sp>
      <p:sp>
        <p:nvSpPr>
          <p:cNvPr id="5" name="Text 2"/>
          <p:cNvSpPr/>
          <p:nvPr/>
        </p:nvSpPr>
        <p:spPr>
          <a:xfrm>
            <a:off x="548640" y="146304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3"/>
          <p:cNvSpPr txBox="1"/>
          <p:nvPr/>
        </p:nvSpPr>
        <p:spPr>
          <a:xfrm>
            <a:off x="1325880" y="1463040"/>
            <a:ext cx="10241280" cy="548640"/>
          </a:xfrm>
          <a:prstGeom prst="rect">
            <a:avLst/>
          </a:prstGeom>
          <a:noFill/>
          <a:ln/>
        </p:spPr>
        <p:txBody>
          <a:bodyPr wrap="square" lIns="0" tIns="0" rIns="0" bIns="0" rtlCol="0" anchor="ctr"/>
          <a:lstStyle/>
          <a:p>
            <a:pPr indent="0" marL="0">
              <a:buNone/>
            </a:pPr>
            <a:r>
              <a:rPr lang="en-US" sz="1800" b="1" dirty="0">
                <a:solidFill>
                  <a:schemeClr val="tx2"/>
                </a:solidFill>
              </a:rPr>
              <a:t>Meet in person, </a:t>
            </a:r>
            <a:pPr indent="0" marL="0">
              <a:buNone/>
            </a:pPr>
            <a:r>
              <a:rPr lang="en-US" sz="1800" dirty="0">
                <a:solidFill>
                  <a:schemeClr val="tx1"/>
                </a:solidFill>
              </a:rPr>
              <a:t>regularly, with everyone who shares the thing. Not only the organizers.</a:t>
            </a:r>
            <a:endParaRPr lang="en-US" sz="1800" dirty="0"/>
          </a:p>
        </p:txBody>
      </p:sp>
      <p:sp>
        <p:nvSpPr>
          <p:cNvPr id="7" name="Text 4"/>
          <p:cNvSpPr/>
          <p:nvPr/>
        </p:nvSpPr>
        <p:spPr>
          <a:xfrm>
            <a:off x="548640" y="2267712"/>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8" name="Text 5"/>
          <p:cNvSpPr txBox="1"/>
          <p:nvPr/>
        </p:nvSpPr>
        <p:spPr>
          <a:xfrm>
            <a:off x="1325880" y="2267712"/>
            <a:ext cx="10241280" cy="548640"/>
          </a:xfrm>
          <a:prstGeom prst="rect">
            <a:avLst/>
          </a:prstGeom>
          <a:noFill/>
          <a:ln/>
        </p:spPr>
        <p:txBody>
          <a:bodyPr wrap="square" lIns="0" tIns="0" rIns="0" bIns="0" rtlCol="0" anchor="ctr"/>
          <a:lstStyle/>
          <a:p>
            <a:pPr indent="0" marL="0">
              <a:buNone/>
            </a:pPr>
            <a:r>
              <a:rPr lang="en-US" sz="1800" b="1" dirty="0">
                <a:solidFill>
                  <a:schemeClr val="tx2"/>
                </a:solidFill>
              </a:rPr>
              <a:t>Keep a record people agree to, </a:t>
            </a:r>
            <a:pPr indent="0" marL="0">
              <a:buNone/>
            </a:pPr>
            <a:r>
              <a:rPr lang="en-US" sz="1800" dirty="0">
                <a:solidFill>
                  <a:schemeClr val="tx1"/>
                </a:solidFill>
              </a:rPr>
              <a:t>of who did what. Kept with them, never about them behind their backs.</a:t>
            </a:r>
            <a:endParaRPr lang="en-US" sz="1800" dirty="0"/>
          </a:p>
        </p:txBody>
      </p:sp>
      <p:sp>
        <p:nvSpPr>
          <p:cNvPr id="9" name="Text 6"/>
          <p:cNvSpPr/>
          <p:nvPr/>
        </p:nvSpPr>
        <p:spPr>
          <a:xfrm>
            <a:off x="548640" y="3072384"/>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0" name="Text 7"/>
          <p:cNvSpPr txBox="1"/>
          <p:nvPr/>
        </p:nvSpPr>
        <p:spPr>
          <a:xfrm>
            <a:off x="1325880" y="3072384"/>
            <a:ext cx="10241280" cy="548640"/>
          </a:xfrm>
          <a:prstGeom prst="rect">
            <a:avLst/>
          </a:prstGeom>
          <a:noFill/>
          <a:ln/>
        </p:spPr>
        <p:txBody>
          <a:bodyPr wrap="square" lIns="0" tIns="0" rIns="0" bIns="0" rtlCol="0" anchor="ctr"/>
          <a:lstStyle/>
          <a:p>
            <a:pPr indent="0" marL="0">
              <a:buNone/>
            </a:pPr>
            <a:r>
              <a:rPr lang="en-US" sz="1800" b="1" dirty="0">
                <a:solidFill>
                  <a:schemeClr val="tx2"/>
                </a:solidFill>
              </a:rPr>
              <a:t>Make contributions visible: </a:t>
            </a:r>
            <a:pPr indent="0" marL="0">
              <a:buNone/>
            </a:pPr>
            <a:r>
              <a:rPr lang="en-US" sz="1800" dirty="0">
                <a:solidFill>
                  <a:schemeClr val="tx1"/>
                </a:solidFill>
              </a:rPr>
              <a:t>a simple chart of tank levels or work hours shows each person their share mattered.</a:t>
            </a:r>
            <a:endParaRPr lang="en-US" sz="1800" dirty="0"/>
          </a:p>
        </p:txBody>
      </p:sp>
      <p:sp>
        <p:nvSpPr>
          <p:cNvPr id="11" name="Text 8"/>
          <p:cNvSpPr/>
          <p:nvPr/>
        </p:nvSpPr>
        <p:spPr>
          <a:xfrm>
            <a:off x="548640" y="3877056"/>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2" name="Text 9"/>
          <p:cNvSpPr txBox="1"/>
          <p:nvPr/>
        </p:nvSpPr>
        <p:spPr>
          <a:xfrm>
            <a:off x="1325880" y="3877056"/>
            <a:ext cx="10241280" cy="548640"/>
          </a:xfrm>
          <a:prstGeom prst="rect">
            <a:avLst/>
          </a:prstGeom>
          <a:noFill/>
          <a:ln/>
        </p:spPr>
        <p:txBody>
          <a:bodyPr wrap="square" lIns="0" tIns="0" rIns="0" bIns="0" rtlCol="0" anchor="ctr"/>
          <a:lstStyle/>
          <a:p>
            <a:pPr indent="0" marL="0">
              <a:buNone/>
            </a:pPr>
            <a:r>
              <a:rPr lang="en-US" sz="1800" b="1" dirty="0">
                <a:solidFill>
                  <a:schemeClr val="tx2"/>
                </a:solidFill>
              </a:rPr>
              <a:t>Let people leave cheaply, </a:t>
            </a:r>
            <a:pPr indent="0" marL="0">
              <a:buNone/>
            </a:pPr>
            <a:r>
              <a:rPr lang="en-US" sz="1800" dirty="0">
                <a:solidFill>
                  <a:schemeClr val="tx1"/>
                </a:solidFill>
              </a:rPr>
              <a:t>and take their own records with them. Free to leave makes staying a choice.</a:t>
            </a:r>
            <a:endParaRPr lang="en-US" sz="1800" dirty="0"/>
          </a:p>
        </p:txBody>
      </p:sp>
      <p:sp>
        <p:nvSpPr>
          <p:cNvPr id="13" name="Text 10"/>
          <p:cNvSpPr/>
          <p:nvPr/>
        </p:nvSpPr>
        <p:spPr>
          <a:xfrm>
            <a:off x="548640" y="4681728"/>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14" name="Text 11"/>
          <p:cNvSpPr txBox="1"/>
          <p:nvPr/>
        </p:nvSpPr>
        <p:spPr>
          <a:xfrm>
            <a:off x="1325880" y="4681728"/>
            <a:ext cx="10241280" cy="548640"/>
          </a:xfrm>
          <a:prstGeom prst="rect">
            <a:avLst/>
          </a:prstGeom>
          <a:noFill/>
          <a:ln/>
        </p:spPr>
        <p:txBody>
          <a:bodyPr wrap="square" lIns="0" tIns="0" rIns="0" bIns="0" rtlCol="0" anchor="ctr"/>
          <a:lstStyle/>
          <a:p>
            <a:pPr indent="0" marL="0">
              <a:buNone/>
            </a:pPr>
            <a:r>
              <a:rPr lang="en-US" sz="1800" b="1" dirty="0">
                <a:solidFill>
                  <a:schemeClr val="tx2"/>
                </a:solidFill>
              </a:rPr>
              <a:t>Plan for years, not weeks: </a:t>
            </a:r>
            <a:pPr indent="0" marL="0">
              <a:buNone/>
            </a:pPr>
            <a:r>
              <a:rPr lang="en-US" sz="1800" dirty="0">
                <a:solidFill>
                  <a:schemeClr val="tx1"/>
                </a:solidFill>
              </a:rPr>
              <a:t>secure the lease; write down how the rules can change.</a:t>
            </a:r>
            <a:endParaRPr lang="en-US" sz="1800" dirty="0"/>
          </a:p>
        </p:txBody>
      </p:sp>
      <p:sp>
        <p:nvSpPr>
          <p:cNvPr id="15" name="Text 12"/>
          <p:cNvSpPr/>
          <p:nvPr/>
        </p:nvSpPr>
        <p:spPr>
          <a:xfrm>
            <a:off x="548640" y="548640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16" name="Text 13"/>
          <p:cNvSpPr txBox="1"/>
          <p:nvPr/>
        </p:nvSpPr>
        <p:spPr>
          <a:xfrm>
            <a:off x="1325880" y="5486400"/>
            <a:ext cx="10241280" cy="548640"/>
          </a:xfrm>
          <a:prstGeom prst="rect">
            <a:avLst/>
          </a:prstGeom>
          <a:noFill/>
          <a:ln/>
        </p:spPr>
        <p:txBody>
          <a:bodyPr wrap="square" lIns="0" tIns="0" rIns="0" bIns="0" rtlCol="0" anchor="ctr"/>
          <a:lstStyle/>
          <a:p>
            <a:pPr indent="0" marL="0">
              <a:buNone/>
            </a:pPr>
            <a:r>
              <a:rPr lang="en-US" sz="1800" b="1" dirty="0">
                <a:solidFill>
                  <a:schemeClr val="tx2"/>
                </a:solidFill>
              </a:rPr>
              <a:t>Write your own penalties, </a:t>
            </a:r>
            <a:pPr indent="0" marL="0">
              <a:buNone/>
            </a:pPr>
            <a:r>
              <a:rPr lang="en-US" sz="1800" dirty="0">
                <a:solidFill>
                  <a:schemeClr val="tx1"/>
                </a:solidFill>
              </a:rPr>
              <a:t>together, starting small. Agreed sanctions are the ones that rarely need using.</a:t>
            </a:r>
            <a:endParaRPr lang="en-US" sz="18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CLOSING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Zooming back out</a:t>
            </a:r>
            <a:endParaRPr lang="en-US" sz="3200" dirty="0"/>
          </a:p>
        </p:txBody>
      </p:sp>
      <p:sp>
        <p:nvSpPr>
          <p:cNvPr id="5" name="Text 2"/>
          <p:cNvSpPr/>
          <p:nvPr/>
        </p:nvSpPr>
        <p:spPr>
          <a:xfrm>
            <a:off x="548640" y="141732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3"/>
          <p:cNvSpPr txBox="1"/>
          <p:nvPr/>
        </p:nvSpPr>
        <p:spPr>
          <a:xfrm>
            <a:off x="1143000" y="1417320"/>
            <a:ext cx="10424160" cy="411480"/>
          </a:xfrm>
          <a:prstGeom prst="rect">
            <a:avLst/>
          </a:prstGeom>
          <a:noFill/>
          <a:ln/>
        </p:spPr>
        <p:txBody>
          <a:bodyPr wrap="square" lIns="0" tIns="0" rIns="0" bIns="0" rtlCol="0" anchor="ctr"/>
          <a:lstStyle/>
          <a:p>
            <a:pPr indent="0" marL="0">
              <a:buNone/>
            </a:pPr>
            <a:r>
              <a:rPr lang="en-US" sz="1700" b="1" dirty="0">
                <a:solidFill>
                  <a:schemeClr val="tx2"/>
                </a:solidFill>
              </a:rPr>
              <a:t>The whole system:  </a:t>
            </a:r>
            <a:pPr indent="0" marL="0">
              <a:buNone/>
            </a:pPr>
            <a:r>
              <a:rPr lang="en-US" sz="1700" dirty="0">
                <a:solidFill>
                  <a:schemeClr val="tx1"/>
                </a:solidFill>
              </a:rPr>
              <a:t>The system sets what is possible.</a:t>
            </a:r>
            <a:endParaRPr lang="en-US" sz="1700" dirty="0"/>
          </a:p>
        </p:txBody>
      </p:sp>
      <p:sp>
        <p:nvSpPr>
          <p:cNvPr id="7" name="Text 4"/>
          <p:cNvSpPr/>
          <p:nvPr/>
        </p:nvSpPr>
        <p:spPr>
          <a:xfrm>
            <a:off x="548640" y="1947672"/>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5"/>
          <p:cNvSpPr txBox="1"/>
          <p:nvPr/>
        </p:nvSpPr>
        <p:spPr>
          <a:xfrm>
            <a:off x="1143000" y="1947672"/>
            <a:ext cx="10424160" cy="411480"/>
          </a:xfrm>
          <a:prstGeom prst="rect">
            <a:avLst/>
          </a:prstGeom>
          <a:noFill/>
          <a:ln/>
        </p:spPr>
        <p:txBody>
          <a:bodyPr wrap="square" lIns="0" tIns="0" rIns="0" bIns="0" rtlCol="0" anchor="ctr"/>
          <a:lstStyle/>
          <a:p>
            <a:pPr indent="0" marL="0">
              <a:buNone/>
            </a:pPr>
            <a:r>
              <a:rPr lang="en-US" sz="1700" b="1" dirty="0">
                <a:solidFill>
                  <a:schemeClr val="tx2"/>
                </a:solidFill>
              </a:rPr>
              <a:t>What we share:  </a:t>
            </a:r>
            <a:pPr indent="0" marL="0">
              <a:buNone/>
            </a:pPr>
            <a:r>
              <a:rPr lang="en-US" sz="1700" dirty="0">
                <a:solidFill>
                  <a:schemeClr val="tx1"/>
                </a:solidFill>
              </a:rPr>
              <a:t>The kind of good sets the problem.</a:t>
            </a:r>
            <a:endParaRPr lang="en-US" sz="1700" dirty="0"/>
          </a:p>
        </p:txBody>
      </p:sp>
      <p:sp>
        <p:nvSpPr>
          <p:cNvPr id="9" name="Text 6"/>
          <p:cNvSpPr/>
          <p:nvPr/>
        </p:nvSpPr>
        <p:spPr>
          <a:xfrm>
            <a:off x="548640" y="2478024"/>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0" name="Text 7"/>
          <p:cNvSpPr txBox="1"/>
          <p:nvPr/>
        </p:nvSpPr>
        <p:spPr>
          <a:xfrm>
            <a:off x="1143000" y="2478024"/>
            <a:ext cx="10424160" cy="411480"/>
          </a:xfrm>
          <a:prstGeom prst="rect">
            <a:avLst/>
          </a:prstGeom>
          <a:noFill/>
          <a:ln/>
        </p:spPr>
        <p:txBody>
          <a:bodyPr wrap="square" lIns="0" tIns="0" rIns="0" bIns="0" rtlCol="0" anchor="ctr"/>
          <a:lstStyle/>
          <a:p>
            <a:pPr indent="0" marL="0">
              <a:buNone/>
            </a:pPr>
            <a:r>
              <a:rPr lang="en-US" sz="1700" b="1" dirty="0">
                <a:solidFill>
                  <a:schemeClr val="tx2"/>
                </a:solidFill>
              </a:rPr>
              <a:t>One situation in its setting:  </a:t>
            </a:r>
            <a:pPr indent="0" marL="0">
              <a:buNone/>
            </a:pPr>
            <a:r>
              <a:rPr lang="en-US" sz="1700" dirty="0">
                <a:solidFill>
                  <a:schemeClr val="tx1"/>
                </a:solidFill>
              </a:rPr>
              <a:t>The situation is where people meet.</a:t>
            </a:r>
            <a:endParaRPr lang="en-US" sz="1700" dirty="0"/>
          </a:p>
        </p:txBody>
      </p:sp>
      <p:sp>
        <p:nvSpPr>
          <p:cNvPr id="11" name="Text 8"/>
          <p:cNvSpPr/>
          <p:nvPr/>
        </p:nvSpPr>
        <p:spPr>
          <a:xfrm>
            <a:off x="548640" y="3008376"/>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2" name="Text 9"/>
          <p:cNvSpPr txBox="1"/>
          <p:nvPr/>
        </p:nvSpPr>
        <p:spPr>
          <a:xfrm>
            <a:off x="1143000" y="3008376"/>
            <a:ext cx="10424160" cy="411480"/>
          </a:xfrm>
          <a:prstGeom prst="rect">
            <a:avLst/>
          </a:prstGeom>
          <a:noFill/>
          <a:ln/>
        </p:spPr>
        <p:txBody>
          <a:bodyPr wrap="square" lIns="0" tIns="0" rIns="0" bIns="0" rtlCol="0" anchor="ctr"/>
          <a:lstStyle/>
          <a:p>
            <a:pPr indent="0" marL="0">
              <a:buNone/>
            </a:pPr>
            <a:r>
              <a:rPr lang="en-US" sz="1700" b="1" dirty="0">
                <a:solidFill>
                  <a:schemeClr val="tx2"/>
                </a:solidFill>
              </a:rPr>
              <a:t>Layers of decision:  </a:t>
            </a:r>
            <a:pPr indent="0" marL="0">
              <a:buNone/>
            </a:pPr>
            <a:r>
              <a:rPr lang="en-US" sz="1700" dirty="0">
                <a:solidFill>
                  <a:schemeClr val="tx1"/>
                </a:solidFill>
              </a:rPr>
              <a:t>The levels say who can change what.</a:t>
            </a:r>
            <a:endParaRPr lang="en-US" sz="1700" dirty="0"/>
          </a:p>
        </p:txBody>
      </p:sp>
      <p:sp>
        <p:nvSpPr>
          <p:cNvPr id="13" name="Text 10"/>
          <p:cNvSpPr/>
          <p:nvPr/>
        </p:nvSpPr>
        <p:spPr>
          <a:xfrm>
            <a:off x="548640" y="3538728"/>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4" name="Text 11"/>
          <p:cNvSpPr txBox="1"/>
          <p:nvPr/>
        </p:nvSpPr>
        <p:spPr>
          <a:xfrm>
            <a:off x="1143000" y="3538728"/>
            <a:ext cx="10424160" cy="411480"/>
          </a:xfrm>
          <a:prstGeom prst="rect">
            <a:avLst/>
          </a:prstGeom>
          <a:noFill/>
          <a:ln/>
        </p:spPr>
        <p:txBody>
          <a:bodyPr wrap="square" lIns="0" tIns="0" rIns="0" bIns="0" rtlCol="0" anchor="ctr"/>
          <a:lstStyle/>
          <a:p>
            <a:pPr indent="0" marL="0">
              <a:buNone/>
            </a:pPr>
            <a:r>
              <a:rPr lang="en-US" sz="1700" b="1" dirty="0">
                <a:solidFill>
                  <a:schemeClr val="tx2"/>
                </a:solidFill>
              </a:rPr>
              <a:t>Inside one situation:  </a:t>
            </a:r>
            <a:pPr indent="0" marL="0">
              <a:buNone/>
            </a:pPr>
            <a:r>
              <a:rPr lang="en-US" sz="1700" dirty="0">
                <a:solidFill>
                  <a:schemeClr val="tx1"/>
                </a:solidFill>
              </a:rPr>
              <a:t>Seven parts make every situation.</a:t>
            </a:r>
            <a:endParaRPr lang="en-US" sz="1700" dirty="0"/>
          </a:p>
        </p:txBody>
      </p:sp>
      <p:sp>
        <p:nvSpPr>
          <p:cNvPr id="15" name="Text 12"/>
          <p:cNvSpPr/>
          <p:nvPr/>
        </p:nvSpPr>
        <p:spPr>
          <a:xfrm>
            <a:off x="548640" y="40690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16" name="Text 13"/>
          <p:cNvSpPr txBox="1"/>
          <p:nvPr/>
        </p:nvSpPr>
        <p:spPr>
          <a:xfrm>
            <a:off x="1143000" y="4069080"/>
            <a:ext cx="10424160" cy="411480"/>
          </a:xfrm>
          <a:prstGeom prst="rect">
            <a:avLst/>
          </a:prstGeom>
          <a:noFill/>
          <a:ln/>
        </p:spPr>
        <p:txBody>
          <a:bodyPr wrap="square" lIns="0" tIns="0" rIns="0" bIns="0" rtlCol="0" anchor="ctr"/>
          <a:lstStyle/>
          <a:p>
            <a:pPr indent="0" marL="0">
              <a:buNone/>
            </a:pPr>
            <a:r>
              <a:rPr lang="en-US" sz="1700" b="1" dirty="0">
                <a:solidFill>
                  <a:schemeClr val="tx2"/>
                </a:solidFill>
              </a:rPr>
              <a:t>The rules that shape it:  </a:t>
            </a:r>
            <a:pPr indent="0" marL="0">
              <a:buNone/>
            </a:pPr>
            <a:r>
              <a:rPr lang="en-US" sz="1700" dirty="0">
                <a:solidFill>
                  <a:schemeClr val="tx1"/>
                </a:solidFill>
              </a:rPr>
              <a:t>Seven kinds of rule shape the parts.</a:t>
            </a:r>
            <a:endParaRPr lang="en-US" sz="1700" dirty="0"/>
          </a:p>
        </p:txBody>
      </p:sp>
      <p:sp>
        <p:nvSpPr>
          <p:cNvPr id="17" name="Text 14"/>
          <p:cNvSpPr/>
          <p:nvPr/>
        </p:nvSpPr>
        <p:spPr>
          <a:xfrm>
            <a:off x="548640" y="4599432"/>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18" name="Text 15"/>
          <p:cNvSpPr txBox="1"/>
          <p:nvPr/>
        </p:nvSpPr>
        <p:spPr>
          <a:xfrm>
            <a:off x="1143000" y="4599432"/>
            <a:ext cx="10424160" cy="411480"/>
          </a:xfrm>
          <a:prstGeom prst="rect">
            <a:avLst/>
          </a:prstGeom>
          <a:noFill/>
          <a:ln/>
        </p:spPr>
        <p:txBody>
          <a:bodyPr wrap="square" lIns="0" tIns="0" rIns="0" bIns="0" rtlCol="0" anchor="ctr"/>
          <a:lstStyle/>
          <a:p>
            <a:pPr indent="0" marL="0">
              <a:buNone/>
            </a:pPr>
            <a:r>
              <a:rPr lang="en-US" sz="1700" b="1" dirty="0">
                <a:solidFill>
                  <a:schemeClr val="tx2"/>
                </a:solidFill>
              </a:rPr>
              <a:t>What lasting rules share:  </a:t>
            </a:r>
            <a:pPr indent="0" marL="0">
              <a:buNone/>
            </a:pPr>
            <a:r>
              <a:rPr lang="en-US" sz="1700" dirty="0">
                <a:solidFill>
                  <a:schemeClr val="tx1"/>
                </a:solidFill>
              </a:rPr>
              <a:t>The principles describe rules that last.</a:t>
            </a:r>
            <a:endParaRPr lang="en-US" sz="1700" dirty="0"/>
          </a:p>
        </p:txBody>
      </p:sp>
      <p:sp>
        <p:nvSpPr>
          <p:cNvPr id="19" name="Text 16"/>
          <p:cNvSpPr/>
          <p:nvPr/>
        </p:nvSpPr>
        <p:spPr>
          <a:xfrm>
            <a:off x="548640" y="5129784"/>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20" name="Text 17"/>
          <p:cNvSpPr txBox="1"/>
          <p:nvPr/>
        </p:nvSpPr>
        <p:spPr>
          <a:xfrm>
            <a:off x="1143000" y="5129784"/>
            <a:ext cx="10424160" cy="411480"/>
          </a:xfrm>
          <a:prstGeom prst="rect">
            <a:avLst/>
          </a:prstGeom>
          <a:noFill/>
          <a:ln/>
        </p:spPr>
        <p:txBody>
          <a:bodyPr wrap="square" lIns="0" tIns="0" rIns="0" bIns="0" rtlCol="0" anchor="ctr"/>
          <a:lstStyle/>
          <a:p>
            <a:pPr indent="0" marL="0">
              <a:buNone/>
            </a:pPr>
            <a:r>
              <a:rPr lang="en-US" sz="1700" b="1" dirty="0">
                <a:solidFill>
                  <a:schemeClr val="tx2"/>
                </a:solidFill>
              </a:rPr>
              <a:t>One sentence of a rule:  </a:t>
            </a:r>
            <a:pPr indent="0" marL="0">
              <a:buNone/>
            </a:pPr>
            <a:r>
              <a:rPr lang="en-US" sz="1700" dirty="0">
                <a:solidFill>
                  <a:schemeClr val="tx1"/>
                </a:solidFill>
              </a:rPr>
              <a:t>One sentence holds one rule.</a:t>
            </a:r>
            <a:endParaRPr lang="en-US" sz="1700" dirty="0"/>
          </a:p>
        </p:txBody>
      </p:sp>
      <p:sp>
        <p:nvSpPr>
          <p:cNvPr id="21" name="Text 18"/>
          <p:cNvSpPr/>
          <p:nvPr/>
        </p:nvSpPr>
        <p:spPr>
          <a:xfrm>
            <a:off x="548640" y="5660136"/>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rgbClr val="FFFFFF"/>
                </a:solidFill>
              </a:rPr>
              <a:t>9</a:t>
            </a:r>
            <a:endParaRPr lang="en-US" sz="1400" dirty="0"/>
          </a:p>
        </p:txBody>
      </p:sp>
      <p:sp>
        <p:nvSpPr>
          <p:cNvPr id="22" name="Text 19"/>
          <p:cNvSpPr txBox="1"/>
          <p:nvPr/>
        </p:nvSpPr>
        <p:spPr>
          <a:xfrm>
            <a:off x="1143000" y="5660136"/>
            <a:ext cx="10424160" cy="411480"/>
          </a:xfrm>
          <a:prstGeom prst="rect">
            <a:avLst/>
          </a:prstGeom>
          <a:noFill/>
          <a:ln/>
        </p:spPr>
        <p:txBody>
          <a:bodyPr wrap="square" lIns="0" tIns="0" rIns="0" bIns="0" rtlCol="0" anchor="ctr"/>
          <a:lstStyle/>
          <a:p>
            <a:pPr indent="0" marL="0">
              <a:buNone/>
            </a:pPr>
            <a:r>
              <a:rPr lang="en-US" sz="1700" b="1" dirty="0">
                <a:solidFill>
                  <a:schemeClr val="tx2"/>
                </a:solidFill>
              </a:rPr>
              <a:t>One person deciding:  </a:t>
            </a:r>
            <a:pPr indent="0" marL="0">
              <a:buNone/>
            </a:pPr>
            <a:r>
              <a:rPr lang="en-US" sz="1700" dirty="0">
                <a:solidFill>
                  <a:schemeClr val="tx1"/>
                </a:solidFill>
              </a:rPr>
              <a:t>One person decides whether to trust.</a:t>
            </a:r>
            <a:endParaRPr lang="en-US" sz="17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CLOSING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Questions to take to your group</a:t>
            </a:r>
            <a:endParaRPr lang="en-US" sz="3200" dirty="0"/>
          </a:p>
        </p:txBody>
      </p:sp>
      <p:sp>
        <p:nvSpPr>
          <p:cNvPr id="5" name="card 1"/>
          <p:cNvSpPr/>
          <p:nvPr/>
        </p:nvSpPr>
        <p:spPr>
          <a:xfrm>
            <a:off x="548640" y="1417320"/>
            <a:ext cx="3566160" cy="1463040"/>
          </a:xfrm>
          <a:prstGeom prst="roundRect">
            <a:avLst>
              <a:gd name="adj" fmla="val 5000"/>
            </a:avLst>
          </a:prstGeom>
          <a:solidFill>
            <a:schemeClr val="bg2"/>
          </a:solidFill>
          <a:ln w="12700">
            <a:solidFill>
              <a:schemeClr val="bg2"/>
            </a:solidFill>
            <a:prstDash val="solid"/>
          </a:ln>
        </p:spPr>
      </p:sp>
      <p:sp>
        <p:nvSpPr>
          <p:cNvPr id="6" name="Text 3"/>
          <p:cNvSpPr txBox="1"/>
          <p:nvPr/>
        </p:nvSpPr>
        <p:spPr>
          <a:xfrm>
            <a:off x="685800" y="1508760"/>
            <a:ext cx="329184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1</a:t>
            </a:r>
            <a:endParaRPr lang="en-US" sz="1600" dirty="0"/>
          </a:p>
          <a:p>
            <a:pPr indent="0" marL="0">
              <a:spcAft>
                <a:spcPts val="400"/>
              </a:spcAft>
              <a:buNone/>
            </a:pPr>
            <a:r>
              <a:rPr lang="en-US" sz="1500" dirty="0">
                <a:solidFill>
                  <a:schemeClr val="tx1"/>
                </a:solidFill>
              </a:rPr>
              <a:t>What is the whole system around what we share?</a:t>
            </a:r>
            <a:endParaRPr lang="en-US" sz="1600" dirty="0"/>
          </a:p>
        </p:txBody>
      </p:sp>
      <p:sp>
        <p:nvSpPr>
          <p:cNvPr id="7" name="card 2"/>
          <p:cNvSpPr/>
          <p:nvPr/>
        </p:nvSpPr>
        <p:spPr>
          <a:xfrm>
            <a:off x="4297680" y="1417320"/>
            <a:ext cx="3566160" cy="1463040"/>
          </a:xfrm>
          <a:prstGeom prst="roundRect">
            <a:avLst>
              <a:gd name="adj" fmla="val 5000"/>
            </a:avLst>
          </a:prstGeom>
          <a:solidFill>
            <a:schemeClr val="bg2"/>
          </a:solidFill>
          <a:ln w="12700">
            <a:solidFill>
              <a:schemeClr val="bg2"/>
            </a:solidFill>
            <a:prstDash val="solid"/>
          </a:ln>
        </p:spPr>
      </p:sp>
      <p:sp>
        <p:nvSpPr>
          <p:cNvPr id="8" name="Text 5"/>
          <p:cNvSpPr txBox="1"/>
          <p:nvPr/>
        </p:nvSpPr>
        <p:spPr>
          <a:xfrm>
            <a:off x="4434840" y="1508760"/>
            <a:ext cx="329184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2</a:t>
            </a:r>
            <a:endParaRPr lang="en-US" sz="1600" dirty="0"/>
          </a:p>
          <a:p>
            <a:pPr indent="0" marL="0">
              <a:spcAft>
                <a:spcPts val="400"/>
              </a:spcAft>
              <a:buNone/>
            </a:pPr>
            <a:r>
              <a:rPr lang="en-US" sz="1500" dirty="0">
                <a:solidFill>
                  <a:schemeClr val="tx1"/>
                </a:solidFill>
              </a:rPr>
              <a:t>What kind of thing is it, and what problem does that bring?</a:t>
            </a:r>
            <a:endParaRPr lang="en-US" sz="1600" dirty="0"/>
          </a:p>
        </p:txBody>
      </p:sp>
      <p:sp>
        <p:nvSpPr>
          <p:cNvPr id="9" name="card 3"/>
          <p:cNvSpPr/>
          <p:nvPr/>
        </p:nvSpPr>
        <p:spPr>
          <a:xfrm>
            <a:off x="8046720" y="1417320"/>
            <a:ext cx="3566160" cy="1463040"/>
          </a:xfrm>
          <a:prstGeom prst="roundRect">
            <a:avLst>
              <a:gd name="adj" fmla="val 5000"/>
            </a:avLst>
          </a:prstGeom>
          <a:solidFill>
            <a:schemeClr val="bg2"/>
          </a:solidFill>
          <a:ln w="12700">
            <a:solidFill>
              <a:schemeClr val="bg2"/>
            </a:solidFill>
            <a:prstDash val="solid"/>
          </a:ln>
        </p:spPr>
      </p:sp>
      <p:sp>
        <p:nvSpPr>
          <p:cNvPr id="10" name="Text 7"/>
          <p:cNvSpPr txBox="1"/>
          <p:nvPr/>
        </p:nvSpPr>
        <p:spPr>
          <a:xfrm>
            <a:off x="8183880" y="1508760"/>
            <a:ext cx="329184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3</a:t>
            </a:r>
            <a:endParaRPr lang="en-US" sz="1600" dirty="0"/>
          </a:p>
          <a:p>
            <a:pPr indent="0" marL="0">
              <a:spcAft>
                <a:spcPts val="400"/>
              </a:spcAft>
              <a:buNone/>
            </a:pPr>
            <a:r>
              <a:rPr lang="en-US" sz="1500" dirty="0">
                <a:solidFill>
                  <a:schemeClr val="tx1"/>
                </a:solidFill>
              </a:rPr>
              <a:t>Where do we actually meet and decide?</a:t>
            </a:r>
            <a:endParaRPr lang="en-US" sz="1600" dirty="0"/>
          </a:p>
        </p:txBody>
      </p:sp>
      <p:sp>
        <p:nvSpPr>
          <p:cNvPr id="11" name="card 4"/>
          <p:cNvSpPr/>
          <p:nvPr/>
        </p:nvSpPr>
        <p:spPr>
          <a:xfrm>
            <a:off x="548640" y="3017520"/>
            <a:ext cx="3566160" cy="1463040"/>
          </a:xfrm>
          <a:prstGeom prst="roundRect">
            <a:avLst>
              <a:gd name="adj" fmla="val 5000"/>
            </a:avLst>
          </a:prstGeom>
          <a:solidFill>
            <a:schemeClr val="bg2"/>
          </a:solidFill>
          <a:ln w="12700">
            <a:solidFill>
              <a:schemeClr val="bg2"/>
            </a:solidFill>
            <a:prstDash val="solid"/>
          </a:ln>
        </p:spPr>
      </p:sp>
      <p:sp>
        <p:nvSpPr>
          <p:cNvPr id="12" name="Text 9"/>
          <p:cNvSpPr txBox="1"/>
          <p:nvPr/>
        </p:nvSpPr>
        <p:spPr>
          <a:xfrm>
            <a:off x="685800" y="3108960"/>
            <a:ext cx="329184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4</a:t>
            </a:r>
            <a:endParaRPr lang="en-US" sz="1600" dirty="0"/>
          </a:p>
          <a:p>
            <a:pPr indent="0" marL="0">
              <a:spcAft>
                <a:spcPts val="400"/>
              </a:spcAft>
              <a:buNone/>
            </a:pPr>
            <a:r>
              <a:rPr lang="en-US" sz="1500" dirty="0">
                <a:solidFill>
                  <a:schemeClr val="tx1"/>
                </a:solidFill>
              </a:rPr>
              <a:t>Who decides who decides? Is anyone missing a seat?</a:t>
            </a:r>
            <a:endParaRPr lang="en-US" sz="1600" dirty="0"/>
          </a:p>
        </p:txBody>
      </p:sp>
      <p:sp>
        <p:nvSpPr>
          <p:cNvPr id="13" name="card 5"/>
          <p:cNvSpPr/>
          <p:nvPr/>
        </p:nvSpPr>
        <p:spPr>
          <a:xfrm>
            <a:off x="4297680" y="3017520"/>
            <a:ext cx="3566160" cy="1463040"/>
          </a:xfrm>
          <a:prstGeom prst="roundRect">
            <a:avLst>
              <a:gd name="adj" fmla="val 5000"/>
            </a:avLst>
          </a:prstGeom>
          <a:solidFill>
            <a:schemeClr val="bg2"/>
          </a:solidFill>
          <a:ln w="12700">
            <a:solidFill>
              <a:schemeClr val="bg2"/>
            </a:solidFill>
            <a:prstDash val="solid"/>
          </a:ln>
        </p:spPr>
      </p:sp>
      <p:sp>
        <p:nvSpPr>
          <p:cNvPr id="14" name="Text 11"/>
          <p:cNvSpPr txBox="1"/>
          <p:nvPr/>
        </p:nvSpPr>
        <p:spPr>
          <a:xfrm>
            <a:off x="4434840" y="3108960"/>
            <a:ext cx="329184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5</a:t>
            </a:r>
            <a:endParaRPr lang="en-US" sz="1600" dirty="0"/>
          </a:p>
          <a:p>
            <a:pPr indent="0" marL="0">
              <a:spcAft>
                <a:spcPts val="400"/>
              </a:spcAft>
              <a:buNone/>
            </a:pPr>
            <a:r>
              <a:rPr lang="en-US" sz="1500" dirty="0">
                <a:solidFill>
                  <a:schemeClr val="tx1"/>
                </a:solidFill>
              </a:rPr>
              <a:t>What roles exist, and what does each know and control?</a:t>
            </a:r>
            <a:endParaRPr lang="en-US" sz="1600" dirty="0"/>
          </a:p>
        </p:txBody>
      </p:sp>
      <p:sp>
        <p:nvSpPr>
          <p:cNvPr id="15" name="card 6"/>
          <p:cNvSpPr/>
          <p:nvPr/>
        </p:nvSpPr>
        <p:spPr>
          <a:xfrm>
            <a:off x="8046720" y="3017520"/>
            <a:ext cx="3566160" cy="1463040"/>
          </a:xfrm>
          <a:prstGeom prst="roundRect">
            <a:avLst>
              <a:gd name="adj" fmla="val 5000"/>
            </a:avLst>
          </a:prstGeom>
          <a:solidFill>
            <a:schemeClr val="bg2"/>
          </a:solidFill>
          <a:ln w="12700">
            <a:solidFill>
              <a:schemeClr val="bg2"/>
            </a:solidFill>
            <a:prstDash val="solid"/>
          </a:ln>
        </p:spPr>
      </p:sp>
      <p:sp>
        <p:nvSpPr>
          <p:cNvPr id="16" name="Text 13"/>
          <p:cNvSpPr txBox="1"/>
          <p:nvPr/>
        </p:nvSpPr>
        <p:spPr>
          <a:xfrm>
            <a:off x="8183880" y="3108960"/>
            <a:ext cx="329184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6</a:t>
            </a:r>
            <a:endParaRPr lang="en-US" sz="1600" dirty="0"/>
          </a:p>
          <a:p>
            <a:pPr indent="0" marL="0">
              <a:spcAft>
                <a:spcPts val="400"/>
              </a:spcAft>
              <a:buNone/>
            </a:pPr>
            <a:r>
              <a:rPr lang="en-US" sz="1500" dirty="0">
                <a:solidFill>
                  <a:schemeClr val="tx1"/>
                </a:solidFill>
              </a:rPr>
              <a:t>Which of our rules are written, and which are only habits?</a:t>
            </a:r>
            <a:endParaRPr lang="en-US" sz="1600" dirty="0"/>
          </a:p>
        </p:txBody>
      </p:sp>
      <p:sp>
        <p:nvSpPr>
          <p:cNvPr id="17" name="card 7"/>
          <p:cNvSpPr/>
          <p:nvPr/>
        </p:nvSpPr>
        <p:spPr>
          <a:xfrm>
            <a:off x="548640" y="4617720"/>
            <a:ext cx="3566160" cy="1463040"/>
          </a:xfrm>
          <a:prstGeom prst="roundRect">
            <a:avLst>
              <a:gd name="adj" fmla="val 5000"/>
            </a:avLst>
          </a:prstGeom>
          <a:solidFill>
            <a:schemeClr val="bg2"/>
          </a:solidFill>
          <a:ln w="12700">
            <a:solidFill>
              <a:schemeClr val="bg2"/>
            </a:solidFill>
            <a:prstDash val="solid"/>
          </a:ln>
        </p:spPr>
      </p:sp>
      <p:sp>
        <p:nvSpPr>
          <p:cNvPr id="18" name="Text 15"/>
          <p:cNvSpPr txBox="1"/>
          <p:nvPr/>
        </p:nvSpPr>
        <p:spPr>
          <a:xfrm>
            <a:off x="685800" y="4709160"/>
            <a:ext cx="329184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7</a:t>
            </a:r>
            <a:endParaRPr lang="en-US" sz="1600" dirty="0"/>
          </a:p>
          <a:p>
            <a:pPr indent="0" marL="0">
              <a:spcAft>
                <a:spcPts val="400"/>
              </a:spcAft>
              <a:buNone/>
            </a:pPr>
            <a:r>
              <a:rPr lang="en-US" sz="1500" dirty="0">
                <a:solidFill>
                  <a:schemeClr val="tx1"/>
                </a:solidFill>
              </a:rPr>
              <a:t>Which design principles are we missing?</a:t>
            </a:r>
            <a:endParaRPr lang="en-US" sz="1600" dirty="0"/>
          </a:p>
        </p:txBody>
      </p:sp>
      <p:sp>
        <p:nvSpPr>
          <p:cNvPr id="19" name="card 8"/>
          <p:cNvSpPr/>
          <p:nvPr/>
        </p:nvSpPr>
        <p:spPr>
          <a:xfrm>
            <a:off x="4297680" y="4617720"/>
            <a:ext cx="3566160" cy="1463040"/>
          </a:xfrm>
          <a:prstGeom prst="roundRect">
            <a:avLst>
              <a:gd name="adj" fmla="val 5000"/>
            </a:avLst>
          </a:prstGeom>
          <a:solidFill>
            <a:schemeClr val="bg2"/>
          </a:solidFill>
          <a:ln w="12700">
            <a:solidFill>
              <a:schemeClr val="bg2"/>
            </a:solidFill>
            <a:prstDash val="solid"/>
          </a:ln>
        </p:spPr>
      </p:sp>
      <p:sp>
        <p:nvSpPr>
          <p:cNvPr id="20" name="Text 17"/>
          <p:cNvSpPr txBox="1"/>
          <p:nvPr/>
        </p:nvSpPr>
        <p:spPr>
          <a:xfrm>
            <a:off x="4434840" y="4709160"/>
            <a:ext cx="329184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8</a:t>
            </a:r>
            <a:endParaRPr lang="en-US" sz="1600" dirty="0"/>
          </a:p>
          <a:p>
            <a:pPr indent="0" marL="0">
              <a:spcAft>
                <a:spcPts val="400"/>
              </a:spcAft>
              <a:buNone/>
            </a:pPr>
            <a:r>
              <a:rPr lang="en-US" sz="1500" dirty="0">
                <a:solidFill>
                  <a:schemeClr val="tx1"/>
                </a:solidFill>
              </a:rPr>
              <a:t>Which of our rules has no OR ELSE?</a:t>
            </a:r>
            <a:endParaRPr lang="en-US" sz="1600" dirty="0"/>
          </a:p>
        </p:txBody>
      </p:sp>
      <p:sp>
        <p:nvSpPr>
          <p:cNvPr id="21" name="card 9"/>
          <p:cNvSpPr/>
          <p:nvPr/>
        </p:nvSpPr>
        <p:spPr>
          <a:xfrm>
            <a:off x="8046720" y="4617720"/>
            <a:ext cx="3566160" cy="1463040"/>
          </a:xfrm>
          <a:prstGeom prst="roundRect">
            <a:avLst>
              <a:gd name="adj" fmla="val 5000"/>
            </a:avLst>
          </a:prstGeom>
          <a:solidFill>
            <a:schemeClr val="bg2"/>
          </a:solidFill>
          <a:ln w="12700">
            <a:solidFill>
              <a:schemeClr val="bg2"/>
            </a:solidFill>
            <a:prstDash val="solid"/>
          </a:ln>
        </p:spPr>
      </p:sp>
      <p:sp>
        <p:nvSpPr>
          <p:cNvPr id="22" name="Text 19"/>
          <p:cNvSpPr txBox="1"/>
          <p:nvPr/>
        </p:nvSpPr>
        <p:spPr>
          <a:xfrm>
            <a:off x="8183880" y="4709160"/>
            <a:ext cx="3291840" cy="128016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9</a:t>
            </a:r>
            <a:endParaRPr lang="en-US" sz="1600" dirty="0"/>
          </a:p>
          <a:p>
            <a:pPr indent="0" marL="0">
              <a:spcAft>
                <a:spcPts val="400"/>
              </a:spcAft>
              <a:buNone/>
            </a:pPr>
            <a:r>
              <a:rPr lang="en-US" sz="1500" dirty="0">
                <a:solidFill>
                  <a:schemeClr val="tx1"/>
                </a:solidFill>
              </a:rPr>
              <a:t>What would make each of us more confident the others will do their share?</a:t>
            </a:r>
            <a:endParaRPr lang="en-US" sz="16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CLOSING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Glossary (1 of 2)</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Every specialist word in this deck, A to G.</a:t>
            </a:r>
            <a:endParaRPr lang="en-US" sz="1500" dirty="0"/>
          </a:p>
        </p:txBody>
      </p:sp>
      <p:sp>
        <p:nvSpPr>
          <p:cNvPr id="6" name="card Action situation"/>
          <p:cNvSpPr/>
          <p:nvPr/>
        </p:nvSpPr>
        <p:spPr>
          <a:xfrm>
            <a:off x="548640" y="1828800"/>
            <a:ext cx="5477256" cy="647700"/>
          </a:xfrm>
          <a:prstGeom prst="roundRect">
            <a:avLst>
              <a:gd name="adj" fmla="val 11294"/>
            </a:avLst>
          </a:prstGeom>
          <a:solidFill>
            <a:schemeClr val="bg2"/>
          </a:solidFill>
          <a:ln w="12700">
            <a:solidFill>
              <a:schemeClr val="bg2"/>
            </a:solidFill>
            <a:prstDash val="solid"/>
          </a:ln>
        </p:spPr>
      </p:sp>
      <p:sp>
        <p:nvSpPr>
          <p:cNvPr id="7" name="Text 4"/>
          <p:cNvSpPr txBox="1"/>
          <p:nvPr/>
        </p:nvSpPr>
        <p:spPr>
          <a:xfrm>
            <a:off x="685800" y="1920240"/>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Action situation</a:t>
            </a:r>
            <a:endParaRPr lang="en-US" sz="1500" dirty="0"/>
          </a:p>
          <a:p>
            <a:pPr indent="0" marL="0">
              <a:spcAft>
                <a:spcPts val="400"/>
              </a:spcAft>
              <a:buNone/>
            </a:pPr>
            <a:r>
              <a:rPr lang="en-US" sz="1400" dirty="0">
                <a:solidFill>
                  <a:schemeClr val="tx1"/>
                </a:solidFill>
              </a:rPr>
              <a:t>Where people meet and choose things that affect each other.</a:t>
            </a:r>
            <a:endParaRPr lang="en-US" sz="1500" dirty="0"/>
          </a:p>
        </p:txBody>
      </p:sp>
      <p:sp>
        <p:nvSpPr>
          <p:cNvPr id="8" name="card Actors / participants"/>
          <p:cNvSpPr/>
          <p:nvPr/>
        </p:nvSpPr>
        <p:spPr>
          <a:xfrm>
            <a:off x="548640" y="2586228"/>
            <a:ext cx="5477256" cy="647700"/>
          </a:xfrm>
          <a:prstGeom prst="roundRect">
            <a:avLst>
              <a:gd name="adj" fmla="val 11294"/>
            </a:avLst>
          </a:prstGeom>
          <a:solidFill>
            <a:schemeClr val="bg2"/>
          </a:solidFill>
          <a:ln w="12700">
            <a:solidFill>
              <a:schemeClr val="bg2"/>
            </a:solidFill>
            <a:prstDash val="solid"/>
          </a:ln>
        </p:spPr>
      </p:sp>
      <p:sp>
        <p:nvSpPr>
          <p:cNvPr id="9" name="Text 6"/>
          <p:cNvSpPr txBox="1"/>
          <p:nvPr/>
        </p:nvSpPr>
        <p:spPr>
          <a:xfrm>
            <a:off x="685800" y="2677668"/>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Actors / participants</a:t>
            </a:r>
            <a:endParaRPr lang="en-US" sz="1500" dirty="0"/>
          </a:p>
          <a:p>
            <a:pPr indent="0" marL="0">
              <a:spcAft>
                <a:spcPts val="400"/>
              </a:spcAft>
              <a:buNone/>
            </a:pPr>
            <a:r>
              <a:rPr lang="en-US" sz="1400" dirty="0">
                <a:solidFill>
                  <a:schemeClr val="tx1"/>
                </a:solidFill>
              </a:rPr>
              <a:t>The people or organizations taking part.</a:t>
            </a:r>
            <a:endParaRPr lang="en-US" sz="1500" dirty="0"/>
          </a:p>
        </p:txBody>
      </p:sp>
      <p:sp>
        <p:nvSpPr>
          <p:cNvPr id="10" name="card Aggregation"/>
          <p:cNvSpPr/>
          <p:nvPr/>
        </p:nvSpPr>
        <p:spPr>
          <a:xfrm>
            <a:off x="548640" y="3343656"/>
            <a:ext cx="5477256" cy="647700"/>
          </a:xfrm>
          <a:prstGeom prst="roundRect">
            <a:avLst>
              <a:gd name="adj" fmla="val 11294"/>
            </a:avLst>
          </a:prstGeom>
          <a:solidFill>
            <a:schemeClr val="bg2"/>
          </a:solidFill>
          <a:ln w="12700">
            <a:solidFill>
              <a:schemeClr val="bg2"/>
            </a:solidFill>
            <a:prstDash val="solid"/>
          </a:ln>
        </p:spPr>
      </p:sp>
      <p:sp>
        <p:nvSpPr>
          <p:cNvPr id="11" name="Text 8"/>
          <p:cNvSpPr txBox="1"/>
          <p:nvPr/>
        </p:nvSpPr>
        <p:spPr>
          <a:xfrm>
            <a:off x="685800" y="3435096"/>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Aggregation</a:t>
            </a:r>
            <a:endParaRPr lang="en-US" sz="1500" dirty="0"/>
          </a:p>
          <a:p>
            <a:pPr indent="0" marL="0">
              <a:spcAft>
                <a:spcPts val="400"/>
              </a:spcAft>
              <a:buNone/>
            </a:pPr>
            <a:r>
              <a:rPr lang="en-US" sz="1400" dirty="0">
                <a:solidFill>
                  <a:schemeClr val="tx1"/>
                </a:solidFill>
              </a:rPr>
              <a:t>How individual choices combine into one decision.</a:t>
            </a:r>
            <a:endParaRPr lang="en-US" sz="1500" dirty="0"/>
          </a:p>
        </p:txBody>
      </p:sp>
      <p:sp>
        <p:nvSpPr>
          <p:cNvPr id="12" name="card Appropriation / provision"/>
          <p:cNvSpPr/>
          <p:nvPr/>
        </p:nvSpPr>
        <p:spPr>
          <a:xfrm>
            <a:off x="548640" y="4101084"/>
            <a:ext cx="5477256" cy="647700"/>
          </a:xfrm>
          <a:prstGeom prst="roundRect">
            <a:avLst>
              <a:gd name="adj" fmla="val 11294"/>
            </a:avLst>
          </a:prstGeom>
          <a:solidFill>
            <a:schemeClr val="bg2"/>
          </a:solidFill>
          <a:ln w="12700">
            <a:solidFill>
              <a:schemeClr val="bg2"/>
            </a:solidFill>
            <a:prstDash val="solid"/>
          </a:ln>
        </p:spPr>
      </p:sp>
      <p:sp>
        <p:nvSpPr>
          <p:cNvPr id="13" name="Text 10"/>
          <p:cNvSpPr txBox="1"/>
          <p:nvPr/>
        </p:nvSpPr>
        <p:spPr>
          <a:xfrm>
            <a:off x="685800" y="4192524"/>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Appropriation / provision</a:t>
            </a:r>
            <a:endParaRPr lang="en-US" sz="1500" dirty="0"/>
          </a:p>
          <a:p>
            <a:pPr indent="0" marL="0">
              <a:spcAft>
                <a:spcPts val="400"/>
              </a:spcAft>
              <a:buNone/>
            </a:pPr>
            <a:r>
              <a:rPr lang="en-US" sz="1400" dirty="0">
                <a:solidFill>
                  <a:schemeClr val="tx1"/>
                </a:solidFill>
              </a:rPr>
              <a:t>Taking from a resource / putting back into it.</a:t>
            </a:r>
            <a:endParaRPr lang="en-US" sz="1500" dirty="0"/>
          </a:p>
        </p:txBody>
      </p:sp>
      <p:sp>
        <p:nvSpPr>
          <p:cNvPr id="14" name="card Biophysical conditions"/>
          <p:cNvSpPr/>
          <p:nvPr/>
        </p:nvSpPr>
        <p:spPr>
          <a:xfrm>
            <a:off x="548640" y="4858512"/>
            <a:ext cx="5477256" cy="647700"/>
          </a:xfrm>
          <a:prstGeom prst="roundRect">
            <a:avLst>
              <a:gd name="adj" fmla="val 11294"/>
            </a:avLst>
          </a:prstGeom>
          <a:solidFill>
            <a:schemeClr val="bg2"/>
          </a:solidFill>
          <a:ln w="12700">
            <a:solidFill>
              <a:schemeClr val="bg2"/>
            </a:solidFill>
            <a:prstDash val="solid"/>
          </a:ln>
        </p:spPr>
      </p:sp>
      <p:sp>
        <p:nvSpPr>
          <p:cNvPr id="15" name="Text 12"/>
          <p:cNvSpPr txBox="1"/>
          <p:nvPr/>
        </p:nvSpPr>
        <p:spPr>
          <a:xfrm>
            <a:off x="685800" y="4949952"/>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Biophysical conditions</a:t>
            </a:r>
            <a:endParaRPr lang="en-US" sz="1500" dirty="0"/>
          </a:p>
          <a:p>
            <a:pPr indent="0" marL="0">
              <a:spcAft>
                <a:spcPts val="400"/>
              </a:spcAft>
              <a:buNone/>
            </a:pPr>
            <a:r>
              <a:rPr lang="en-US" sz="1400" dirty="0">
                <a:solidFill>
                  <a:schemeClr val="tx1"/>
                </a:solidFill>
              </a:rPr>
              <a:t>The physical and natural facts of a place.</a:t>
            </a:r>
            <a:endParaRPr lang="en-US" sz="1500" dirty="0"/>
          </a:p>
        </p:txBody>
      </p:sp>
      <p:sp>
        <p:nvSpPr>
          <p:cNvPr id="16" name="card Collective choice"/>
          <p:cNvSpPr/>
          <p:nvPr/>
        </p:nvSpPr>
        <p:spPr>
          <a:xfrm>
            <a:off x="548640" y="5615940"/>
            <a:ext cx="5477256" cy="647700"/>
          </a:xfrm>
          <a:prstGeom prst="roundRect">
            <a:avLst>
              <a:gd name="adj" fmla="val 11294"/>
            </a:avLst>
          </a:prstGeom>
          <a:solidFill>
            <a:schemeClr val="bg2"/>
          </a:solidFill>
          <a:ln w="12700">
            <a:solidFill>
              <a:schemeClr val="bg2"/>
            </a:solidFill>
            <a:prstDash val="solid"/>
          </a:ln>
        </p:spPr>
      </p:sp>
      <p:sp>
        <p:nvSpPr>
          <p:cNvPr id="17" name="Text 14"/>
          <p:cNvSpPr txBox="1"/>
          <p:nvPr/>
        </p:nvSpPr>
        <p:spPr>
          <a:xfrm>
            <a:off x="685800" y="5707380"/>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Collective choice</a:t>
            </a:r>
            <a:endParaRPr lang="en-US" sz="1500" dirty="0"/>
          </a:p>
          <a:p>
            <a:pPr indent="0" marL="0">
              <a:spcAft>
                <a:spcPts val="400"/>
              </a:spcAft>
              <a:buNone/>
            </a:pPr>
            <a:r>
              <a:rPr lang="en-US" sz="1400" dirty="0">
                <a:solidFill>
                  <a:schemeClr val="tx1"/>
                </a:solidFill>
              </a:rPr>
              <a:t>The level where everyday rules are made and changed.</a:t>
            </a:r>
            <a:endParaRPr lang="en-US" sz="1500" dirty="0"/>
          </a:p>
        </p:txBody>
      </p:sp>
      <p:sp>
        <p:nvSpPr>
          <p:cNvPr id="18" name="card Common-pool resource"/>
          <p:cNvSpPr/>
          <p:nvPr/>
        </p:nvSpPr>
        <p:spPr>
          <a:xfrm>
            <a:off x="6135624" y="1828800"/>
            <a:ext cx="5477256" cy="647700"/>
          </a:xfrm>
          <a:prstGeom prst="roundRect">
            <a:avLst>
              <a:gd name="adj" fmla="val 11294"/>
            </a:avLst>
          </a:prstGeom>
          <a:solidFill>
            <a:schemeClr val="bg2"/>
          </a:solidFill>
          <a:ln w="12700">
            <a:solidFill>
              <a:schemeClr val="bg2"/>
            </a:solidFill>
            <a:prstDash val="solid"/>
          </a:ln>
        </p:spPr>
      </p:sp>
      <p:sp>
        <p:nvSpPr>
          <p:cNvPr id="19" name="Text 16"/>
          <p:cNvSpPr txBox="1"/>
          <p:nvPr/>
        </p:nvSpPr>
        <p:spPr>
          <a:xfrm>
            <a:off x="6272784" y="1920240"/>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Common-pool resource</a:t>
            </a:r>
            <a:endParaRPr lang="en-US" sz="1500" dirty="0"/>
          </a:p>
          <a:p>
            <a:pPr indent="0" marL="0">
              <a:spcAft>
                <a:spcPts val="400"/>
              </a:spcAft>
              <a:buNone/>
            </a:pPr>
            <a:r>
              <a:rPr lang="en-US" sz="1400" dirty="0">
                <a:solidFill>
                  <a:schemeClr val="tx1"/>
                </a:solidFill>
              </a:rPr>
              <a:t>Shared, hard to fence off, and used up by use.</a:t>
            </a:r>
            <a:endParaRPr lang="en-US" sz="1500" dirty="0"/>
          </a:p>
        </p:txBody>
      </p:sp>
      <p:sp>
        <p:nvSpPr>
          <p:cNvPr id="20" name="card Constitutional"/>
          <p:cNvSpPr/>
          <p:nvPr/>
        </p:nvSpPr>
        <p:spPr>
          <a:xfrm>
            <a:off x="6135624" y="2586228"/>
            <a:ext cx="5477256" cy="647700"/>
          </a:xfrm>
          <a:prstGeom prst="roundRect">
            <a:avLst>
              <a:gd name="adj" fmla="val 11294"/>
            </a:avLst>
          </a:prstGeom>
          <a:solidFill>
            <a:schemeClr val="bg2"/>
          </a:solidFill>
          <a:ln w="12700">
            <a:solidFill>
              <a:schemeClr val="bg2"/>
            </a:solidFill>
            <a:prstDash val="solid"/>
          </a:ln>
        </p:spPr>
      </p:sp>
      <p:sp>
        <p:nvSpPr>
          <p:cNvPr id="21" name="Text 18"/>
          <p:cNvSpPr txBox="1"/>
          <p:nvPr/>
        </p:nvSpPr>
        <p:spPr>
          <a:xfrm>
            <a:off x="6272784" y="2677668"/>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Constitutional</a:t>
            </a:r>
            <a:endParaRPr lang="en-US" sz="1500" dirty="0"/>
          </a:p>
          <a:p>
            <a:pPr indent="0" marL="0">
              <a:spcAft>
                <a:spcPts val="400"/>
              </a:spcAft>
              <a:buNone/>
            </a:pPr>
            <a:r>
              <a:rPr lang="en-US" sz="1400" dirty="0">
                <a:solidFill>
                  <a:schemeClr val="tx1"/>
                </a:solidFill>
              </a:rPr>
              <a:t>The level that decides who makes the rules and how.</a:t>
            </a:r>
            <a:endParaRPr lang="en-US" sz="1500" dirty="0"/>
          </a:p>
        </p:txBody>
      </p:sp>
      <p:sp>
        <p:nvSpPr>
          <p:cNvPr id="22" name="card Design principles"/>
          <p:cNvSpPr/>
          <p:nvPr/>
        </p:nvSpPr>
        <p:spPr>
          <a:xfrm>
            <a:off x="6135624" y="3343656"/>
            <a:ext cx="5477256" cy="647700"/>
          </a:xfrm>
          <a:prstGeom prst="roundRect">
            <a:avLst>
              <a:gd name="adj" fmla="val 11294"/>
            </a:avLst>
          </a:prstGeom>
          <a:solidFill>
            <a:schemeClr val="bg2"/>
          </a:solidFill>
          <a:ln w="12700">
            <a:solidFill>
              <a:schemeClr val="bg2"/>
            </a:solidFill>
            <a:prstDash val="solid"/>
          </a:ln>
        </p:spPr>
      </p:sp>
      <p:sp>
        <p:nvSpPr>
          <p:cNvPr id="23" name="Text 20"/>
          <p:cNvSpPr txBox="1"/>
          <p:nvPr/>
        </p:nvSpPr>
        <p:spPr>
          <a:xfrm>
            <a:off x="6272784" y="3435096"/>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Design principles</a:t>
            </a:r>
            <a:endParaRPr lang="en-US" sz="1500" dirty="0"/>
          </a:p>
          <a:p>
            <a:pPr indent="0" marL="0">
              <a:spcAft>
                <a:spcPts val="400"/>
              </a:spcAft>
              <a:buNone/>
            </a:pPr>
            <a:r>
              <a:rPr lang="en-US" sz="1400" dirty="0">
                <a:solidFill>
                  <a:schemeClr val="tx1"/>
                </a:solidFill>
              </a:rPr>
              <a:t>Patterns found in long-lasting commons.</a:t>
            </a:r>
            <a:endParaRPr lang="en-US" sz="1500" dirty="0"/>
          </a:p>
        </p:txBody>
      </p:sp>
      <p:sp>
        <p:nvSpPr>
          <p:cNvPr id="24" name="card Evaluative criteria"/>
          <p:cNvSpPr/>
          <p:nvPr/>
        </p:nvSpPr>
        <p:spPr>
          <a:xfrm>
            <a:off x="6135624" y="4101084"/>
            <a:ext cx="5477256" cy="647700"/>
          </a:xfrm>
          <a:prstGeom prst="roundRect">
            <a:avLst>
              <a:gd name="adj" fmla="val 11294"/>
            </a:avLst>
          </a:prstGeom>
          <a:solidFill>
            <a:schemeClr val="bg2"/>
          </a:solidFill>
          <a:ln w="12700">
            <a:solidFill>
              <a:schemeClr val="bg2"/>
            </a:solidFill>
            <a:prstDash val="solid"/>
          </a:ln>
        </p:spPr>
      </p:sp>
      <p:sp>
        <p:nvSpPr>
          <p:cNvPr id="25" name="Text 22"/>
          <p:cNvSpPr txBox="1"/>
          <p:nvPr/>
        </p:nvSpPr>
        <p:spPr>
          <a:xfrm>
            <a:off x="6272784" y="4192524"/>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Evaluative criteria</a:t>
            </a:r>
            <a:endParaRPr lang="en-US" sz="1500" dirty="0"/>
          </a:p>
          <a:p>
            <a:pPr indent="0" marL="0">
              <a:spcAft>
                <a:spcPts val="400"/>
              </a:spcAft>
              <a:buNone/>
            </a:pPr>
            <a:r>
              <a:rPr lang="en-US" sz="1400" dirty="0">
                <a:solidFill>
                  <a:schemeClr val="tx1"/>
                </a:solidFill>
              </a:rPr>
              <a:t>Yardsticks for judging results: fair, efficient, lasting.</a:t>
            </a:r>
            <a:endParaRPr lang="en-US" sz="1500" dirty="0"/>
          </a:p>
        </p:txBody>
      </p:sp>
      <p:sp>
        <p:nvSpPr>
          <p:cNvPr id="26" name="card Exogenous / external variables"/>
          <p:cNvSpPr/>
          <p:nvPr/>
        </p:nvSpPr>
        <p:spPr>
          <a:xfrm>
            <a:off x="6135624" y="4858512"/>
            <a:ext cx="5477256" cy="647700"/>
          </a:xfrm>
          <a:prstGeom prst="roundRect">
            <a:avLst>
              <a:gd name="adj" fmla="val 11294"/>
            </a:avLst>
          </a:prstGeom>
          <a:solidFill>
            <a:schemeClr val="bg2"/>
          </a:solidFill>
          <a:ln w="12700">
            <a:solidFill>
              <a:schemeClr val="bg2"/>
            </a:solidFill>
            <a:prstDash val="solid"/>
          </a:ln>
        </p:spPr>
      </p:sp>
      <p:sp>
        <p:nvSpPr>
          <p:cNvPr id="27" name="Text 24"/>
          <p:cNvSpPr txBox="1"/>
          <p:nvPr/>
        </p:nvSpPr>
        <p:spPr>
          <a:xfrm>
            <a:off x="6272784" y="4949952"/>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Exogenous / external variables</a:t>
            </a:r>
            <a:endParaRPr lang="en-US" sz="1500" dirty="0"/>
          </a:p>
          <a:p>
            <a:pPr indent="0" marL="0">
              <a:spcAft>
                <a:spcPts val="400"/>
              </a:spcAft>
              <a:buNone/>
            </a:pPr>
            <a:r>
              <a:rPr lang="en-US" sz="1400" dirty="0">
                <a:solidFill>
                  <a:schemeClr val="tx1"/>
                </a:solidFill>
              </a:rPr>
              <a:t>Things set from outside a situation.</a:t>
            </a:r>
            <a:endParaRPr lang="en-US" sz="1500" dirty="0"/>
          </a:p>
        </p:txBody>
      </p:sp>
      <p:sp>
        <p:nvSpPr>
          <p:cNvPr id="28" name="card Graduated sanctions"/>
          <p:cNvSpPr/>
          <p:nvPr/>
        </p:nvSpPr>
        <p:spPr>
          <a:xfrm>
            <a:off x="6135624" y="5615940"/>
            <a:ext cx="5477256" cy="647700"/>
          </a:xfrm>
          <a:prstGeom prst="roundRect">
            <a:avLst>
              <a:gd name="adj" fmla="val 11294"/>
            </a:avLst>
          </a:prstGeom>
          <a:solidFill>
            <a:schemeClr val="bg2"/>
          </a:solidFill>
          <a:ln w="12700">
            <a:solidFill>
              <a:schemeClr val="bg2"/>
            </a:solidFill>
            <a:prstDash val="solid"/>
          </a:ln>
        </p:spPr>
      </p:sp>
      <p:sp>
        <p:nvSpPr>
          <p:cNvPr id="29" name="Text 26"/>
          <p:cNvSpPr txBox="1"/>
          <p:nvPr/>
        </p:nvSpPr>
        <p:spPr>
          <a:xfrm>
            <a:off x="6272784" y="5707380"/>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Graduated sanctions</a:t>
            </a:r>
            <a:endParaRPr lang="en-US" sz="1500" dirty="0"/>
          </a:p>
          <a:p>
            <a:pPr indent="0" marL="0">
              <a:spcAft>
                <a:spcPts val="400"/>
              </a:spcAft>
              <a:buNone/>
            </a:pPr>
            <a:r>
              <a:rPr lang="en-US" sz="1400" dirty="0">
                <a:solidFill>
                  <a:schemeClr val="tx1"/>
                </a:solidFill>
              </a:rPr>
              <a:t>Penalties that start small and step up.</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228600"/>
            <a:ext cx="11064240" cy="320040"/>
          </a:xfrm>
          <a:prstGeom prst="rect">
            <a:avLst/>
          </a:prstGeom>
          <a:noFill/>
          <a:ln/>
        </p:spPr>
        <p:txBody>
          <a:bodyPr wrap="square" rtlCol="0"/>
          <a:lstStyle/>
          <a:p>
            <a:pPr indent="0" marL="0">
              <a:buNone/>
            </a:pPr>
            <a:r>
              <a:rPr lang="en-US" sz="1200" b="1" spc="100" kern="0" dirty="0">
                <a:solidFill>
                  <a:schemeClr val="accent2"/>
                </a:solidFill>
              </a:rPr>
              <a:t>CLOSING</a:t>
            </a:r>
            <a:endParaRPr lang="en-US" sz="1200" dirty="0"/>
          </a:p>
        </p:txBody>
      </p:sp>
      <p:sp>
        <p:nvSpPr>
          <p:cNvPr id="3" name="Text 0"/>
          <p:cNvSpPr/>
          <p:nvPr>
            <p:ph idx="101" type="title" hasCustomPrompt="1"/>
          </p:nvPr>
        </p:nvSpPr>
        <p:spPr>
          <a:xfrm>
            <a:off x="548640" y="548640"/>
            <a:ext cx="11064240" cy="731520"/>
          </a:xfrm>
          <a:prstGeom prst="rect">
            <a:avLst/>
          </a:prstGeom>
          <a:noFill/>
          <a:ln/>
        </p:spPr>
        <p:txBody>
          <a:bodyPr wrap="square" rtlCol="0" anchor="ctr"/>
          <a:lstStyle/>
          <a:p>
            <a:pPr indent="0" marL="0">
              <a:buNone/>
            </a:pPr>
            <a:r>
              <a:rPr lang="en-US" sz="3200" b="1" dirty="0">
                <a:solidFill>
                  <a:schemeClr val="tx2"/>
                </a:solidFill>
              </a:rPr>
              <a:t>Glossary (2 of 2)</a:t>
            </a:r>
            <a:endParaRPr lang="en-US" sz="3200" dirty="0"/>
          </a:p>
        </p:txBody>
      </p:sp>
      <p:sp>
        <p:nvSpPr>
          <p:cNvPr id="5" name="Text 2"/>
          <p:cNvSpPr txBox="1"/>
          <p:nvPr/>
        </p:nvSpPr>
        <p:spPr>
          <a:xfrm>
            <a:off x="548640" y="1371600"/>
            <a:ext cx="11064240" cy="411480"/>
          </a:xfrm>
          <a:prstGeom prst="rect">
            <a:avLst/>
          </a:prstGeom>
          <a:noFill/>
          <a:ln/>
        </p:spPr>
        <p:txBody>
          <a:bodyPr wrap="square" lIns="0" tIns="0" rIns="0" bIns="0" rtlCol="0" anchor="t"/>
          <a:lstStyle/>
          <a:p>
            <a:pPr indent="0" marL="0">
              <a:spcAft>
                <a:spcPts val="600"/>
              </a:spcAft>
              <a:buNone/>
            </a:pPr>
            <a:r>
              <a:rPr lang="en-US" sz="1500" i="1" dirty="0">
                <a:solidFill>
                  <a:srgbClr val="3E4A42"/>
                </a:solidFill>
              </a:rPr>
              <a:t>H to S.</a:t>
            </a:r>
            <a:endParaRPr lang="en-US" sz="1500" dirty="0"/>
          </a:p>
        </p:txBody>
      </p:sp>
      <p:sp>
        <p:nvSpPr>
          <p:cNvPr id="6" name="card IAD framework"/>
          <p:cNvSpPr/>
          <p:nvPr/>
        </p:nvSpPr>
        <p:spPr>
          <a:xfrm>
            <a:off x="548640" y="1828800"/>
            <a:ext cx="5477256" cy="647700"/>
          </a:xfrm>
          <a:prstGeom prst="roundRect">
            <a:avLst>
              <a:gd name="adj" fmla="val 11294"/>
            </a:avLst>
          </a:prstGeom>
          <a:solidFill>
            <a:schemeClr val="bg2"/>
          </a:solidFill>
          <a:ln w="12700">
            <a:solidFill>
              <a:schemeClr val="bg2"/>
            </a:solidFill>
            <a:prstDash val="solid"/>
          </a:ln>
        </p:spPr>
      </p:sp>
      <p:sp>
        <p:nvSpPr>
          <p:cNvPr id="7" name="Text 4"/>
          <p:cNvSpPr txBox="1"/>
          <p:nvPr/>
        </p:nvSpPr>
        <p:spPr>
          <a:xfrm>
            <a:off x="685800" y="1920240"/>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IAD framework</a:t>
            </a:r>
            <a:endParaRPr lang="en-US" sz="1500" dirty="0"/>
          </a:p>
          <a:p>
            <a:pPr indent="0" marL="0">
              <a:spcAft>
                <a:spcPts val="400"/>
              </a:spcAft>
              <a:buNone/>
            </a:pPr>
            <a:r>
              <a:rPr lang="en-US" sz="1400" dirty="0">
                <a:solidFill>
                  <a:schemeClr val="tx1"/>
                </a:solidFill>
              </a:rPr>
              <a:t>Ostrom's Institutional Analysis and Development framework.</a:t>
            </a:r>
            <a:endParaRPr lang="en-US" sz="1500" dirty="0"/>
          </a:p>
        </p:txBody>
      </p:sp>
      <p:sp>
        <p:nvSpPr>
          <p:cNvPr id="8" name="card Institution"/>
          <p:cNvSpPr/>
          <p:nvPr/>
        </p:nvSpPr>
        <p:spPr>
          <a:xfrm>
            <a:off x="548640" y="2586228"/>
            <a:ext cx="5477256" cy="647700"/>
          </a:xfrm>
          <a:prstGeom prst="roundRect">
            <a:avLst>
              <a:gd name="adj" fmla="val 11294"/>
            </a:avLst>
          </a:prstGeom>
          <a:solidFill>
            <a:schemeClr val="bg2"/>
          </a:solidFill>
          <a:ln w="12700">
            <a:solidFill>
              <a:schemeClr val="bg2"/>
            </a:solidFill>
            <a:prstDash val="solid"/>
          </a:ln>
        </p:spPr>
      </p:sp>
      <p:sp>
        <p:nvSpPr>
          <p:cNvPr id="9" name="Text 6"/>
          <p:cNvSpPr txBox="1"/>
          <p:nvPr/>
        </p:nvSpPr>
        <p:spPr>
          <a:xfrm>
            <a:off x="685800" y="2677668"/>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Institution</a:t>
            </a:r>
            <a:endParaRPr lang="en-US" sz="1500" dirty="0"/>
          </a:p>
          <a:p>
            <a:pPr indent="0" marL="0">
              <a:spcAft>
                <a:spcPts val="400"/>
              </a:spcAft>
              <a:buNone/>
            </a:pPr>
            <a:r>
              <a:rPr lang="en-US" sz="1400" dirty="0">
                <a:solidFill>
                  <a:schemeClr val="tx1"/>
                </a:solidFill>
              </a:rPr>
              <a:t>Rules, norms and shared habits, not a building or an agency.</a:t>
            </a:r>
            <a:endParaRPr lang="en-US" sz="1500" dirty="0"/>
          </a:p>
        </p:txBody>
      </p:sp>
      <p:sp>
        <p:nvSpPr>
          <p:cNvPr id="10" name="card Institutional Grammar / ADICO"/>
          <p:cNvSpPr/>
          <p:nvPr/>
        </p:nvSpPr>
        <p:spPr>
          <a:xfrm>
            <a:off x="548640" y="3343656"/>
            <a:ext cx="5477256" cy="647700"/>
          </a:xfrm>
          <a:prstGeom prst="roundRect">
            <a:avLst>
              <a:gd name="adj" fmla="val 11294"/>
            </a:avLst>
          </a:prstGeom>
          <a:solidFill>
            <a:schemeClr val="bg2"/>
          </a:solidFill>
          <a:ln w="12700">
            <a:solidFill>
              <a:schemeClr val="bg2"/>
            </a:solidFill>
            <a:prstDash val="solid"/>
          </a:ln>
        </p:spPr>
      </p:sp>
      <p:sp>
        <p:nvSpPr>
          <p:cNvPr id="11" name="Text 8"/>
          <p:cNvSpPr txBox="1"/>
          <p:nvPr/>
        </p:nvSpPr>
        <p:spPr>
          <a:xfrm>
            <a:off x="685800" y="3435096"/>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Institutional Grammar / ADICO</a:t>
            </a:r>
            <a:endParaRPr lang="en-US" sz="1500" dirty="0"/>
          </a:p>
          <a:p>
            <a:pPr indent="0" marL="0">
              <a:spcAft>
                <a:spcPts val="400"/>
              </a:spcAft>
              <a:buNone/>
            </a:pPr>
            <a:r>
              <a:rPr lang="en-US" sz="1400" dirty="0">
                <a:solidFill>
                  <a:schemeClr val="tx1"/>
                </a:solidFill>
              </a:rPr>
              <a:t>Breaking a rule sentence into its parts.</a:t>
            </a:r>
            <a:endParaRPr lang="en-US" sz="1500" dirty="0"/>
          </a:p>
        </p:txBody>
      </p:sp>
      <p:sp>
        <p:nvSpPr>
          <p:cNvPr id="12" name="card Metaconstitutional"/>
          <p:cNvSpPr/>
          <p:nvPr/>
        </p:nvSpPr>
        <p:spPr>
          <a:xfrm>
            <a:off x="548640" y="4101084"/>
            <a:ext cx="5477256" cy="647700"/>
          </a:xfrm>
          <a:prstGeom prst="roundRect">
            <a:avLst>
              <a:gd name="adj" fmla="val 11294"/>
            </a:avLst>
          </a:prstGeom>
          <a:solidFill>
            <a:schemeClr val="bg2"/>
          </a:solidFill>
          <a:ln w="12700">
            <a:solidFill>
              <a:schemeClr val="bg2"/>
            </a:solidFill>
            <a:prstDash val="solid"/>
          </a:ln>
        </p:spPr>
      </p:sp>
      <p:sp>
        <p:nvSpPr>
          <p:cNvPr id="13" name="Text 10"/>
          <p:cNvSpPr txBox="1"/>
          <p:nvPr/>
        </p:nvSpPr>
        <p:spPr>
          <a:xfrm>
            <a:off x="685800" y="4192524"/>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Metaconstitutional</a:t>
            </a:r>
            <a:endParaRPr lang="en-US" sz="1500" dirty="0"/>
          </a:p>
          <a:p>
            <a:pPr indent="0" marL="0">
              <a:spcAft>
                <a:spcPts val="400"/>
              </a:spcAft>
              <a:buNone/>
            </a:pPr>
            <a:r>
              <a:rPr lang="en-US" sz="1400" dirty="0">
                <a:solidFill>
                  <a:schemeClr val="tx1"/>
                </a:solidFill>
              </a:rPr>
              <a:t>The unwritten culture under all written rules.</a:t>
            </a:r>
            <a:endParaRPr lang="en-US" sz="1500" dirty="0"/>
          </a:p>
        </p:txBody>
      </p:sp>
      <p:sp>
        <p:nvSpPr>
          <p:cNvPr id="14" name="card Microsituational variables"/>
          <p:cNvSpPr/>
          <p:nvPr/>
        </p:nvSpPr>
        <p:spPr>
          <a:xfrm>
            <a:off x="548640" y="4858512"/>
            <a:ext cx="5477256" cy="647700"/>
          </a:xfrm>
          <a:prstGeom prst="roundRect">
            <a:avLst>
              <a:gd name="adj" fmla="val 11294"/>
            </a:avLst>
          </a:prstGeom>
          <a:solidFill>
            <a:schemeClr val="bg2"/>
          </a:solidFill>
          <a:ln w="12700">
            <a:solidFill>
              <a:schemeClr val="bg2"/>
            </a:solidFill>
            <a:prstDash val="solid"/>
          </a:ln>
        </p:spPr>
      </p:sp>
      <p:sp>
        <p:nvSpPr>
          <p:cNvPr id="15" name="Text 12"/>
          <p:cNvSpPr txBox="1"/>
          <p:nvPr/>
        </p:nvSpPr>
        <p:spPr>
          <a:xfrm>
            <a:off x="685800" y="4949952"/>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Microsituational variables</a:t>
            </a:r>
            <a:endParaRPr lang="en-US" sz="1500" dirty="0"/>
          </a:p>
          <a:p>
            <a:pPr indent="0" marL="0">
              <a:spcAft>
                <a:spcPts val="400"/>
              </a:spcAft>
              <a:buNone/>
            </a:pPr>
            <a:r>
              <a:rPr lang="en-US" sz="1400" dirty="0">
                <a:solidFill>
                  <a:schemeClr val="tx1"/>
                </a:solidFill>
              </a:rPr>
              <a:t>Small features of the immediate situation that build or block trust.</a:t>
            </a:r>
            <a:endParaRPr lang="en-US" sz="1500" dirty="0"/>
          </a:p>
        </p:txBody>
      </p:sp>
      <p:sp>
        <p:nvSpPr>
          <p:cNvPr id="16" name="card Nested enterprises"/>
          <p:cNvSpPr/>
          <p:nvPr/>
        </p:nvSpPr>
        <p:spPr>
          <a:xfrm>
            <a:off x="548640" y="5615940"/>
            <a:ext cx="5477256" cy="647700"/>
          </a:xfrm>
          <a:prstGeom prst="roundRect">
            <a:avLst>
              <a:gd name="adj" fmla="val 11294"/>
            </a:avLst>
          </a:prstGeom>
          <a:solidFill>
            <a:schemeClr val="bg2"/>
          </a:solidFill>
          <a:ln w="12700">
            <a:solidFill>
              <a:schemeClr val="bg2"/>
            </a:solidFill>
            <a:prstDash val="solid"/>
          </a:ln>
        </p:spPr>
      </p:sp>
      <p:sp>
        <p:nvSpPr>
          <p:cNvPr id="17" name="Text 14"/>
          <p:cNvSpPr txBox="1"/>
          <p:nvPr/>
        </p:nvSpPr>
        <p:spPr>
          <a:xfrm>
            <a:off x="685800" y="5707380"/>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Nested enterprises</a:t>
            </a:r>
            <a:endParaRPr lang="en-US" sz="1500" dirty="0"/>
          </a:p>
          <a:p>
            <a:pPr indent="0" marL="0">
              <a:spcAft>
                <a:spcPts val="400"/>
              </a:spcAft>
              <a:buNone/>
            </a:pPr>
            <a:r>
              <a:rPr lang="en-US" sz="1400" dirty="0">
                <a:solidFill>
                  <a:schemeClr val="tx1"/>
                </a:solidFill>
              </a:rPr>
              <a:t>Self-governing groups inside larger ones.</a:t>
            </a:r>
            <a:endParaRPr lang="en-US" sz="1500" dirty="0"/>
          </a:p>
        </p:txBody>
      </p:sp>
      <p:sp>
        <p:nvSpPr>
          <p:cNvPr id="18" name="card Norm"/>
          <p:cNvSpPr/>
          <p:nvPr/>
        </p:nvSpPr>
        <p:spPr>
          <a:xfrm>
            <a:off x="6135624" y="1828800"/>
            <a:ext cx="5477256" cy="647700"/>
          </a:xfrm>
          <a:prstGeom prst="roundRect">
            <a:avLst>
              <a:gd name="adj" fmla="val 11294"/>
            </a:avLst>
          </a:prstGeom>
          <a:solidFill>
            <a:schemeClr val="bg2"/>
          </a:solidFill>
          <a:ln w="12700">
            <a:solidFill>
              <a:schemeClr val="bg2"/>
            </a:solidFill>
            <a:prstDash val="solid"/>
          </a:ln>
        </p:spPr>
      </p:sp>
      <p:sp>
        <p:nvSpPr>
          <p:cNvPr id="19" name="Text 16"/>
          <p:cNvSpPr txBox="1"/>
          <p:nvPr/>
        </p:nvSpPr>
        <p:spPr>
          <a:xfrm>
            <a:off x="6272784" y="1920240"/>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Norm</a:t>
            </a:r>
            <a:endParaRPr lang="en-US" sz="1500" dirty="0"/>
          </a:p>
          <a:p>
            <a:pPr indent="0" marL="0">
              <a:spcAft>
                <a:spcPts val="400"/>
              </a:spcAft>
              <a:buNone/>
            </a:pPr>
            <a:r>
              <a:rPr lang="en-US" sz="1400" dirty="0">
                <a:solidFill>
                  <a:schemeClr val="tx1"/>
                </a:solidFill>
              </a:rPr>
              <a:t>A shared, usually unwritten, expectation of behavior.</a:t>
            </a:r>
            <a:endParaRPr lang="en-US" sz="1500" dirty="0"/>
          </a:p>
        </p:txBody>
      </p:sp>
      <p:sp>
        <p:nvSpPr>
          <p:cNvPr id="20" name="card Operational"/>
          <p:cNvSpPr/>
          <p:nvPr/>
        </p:nvSpPr>
        <p:spPr>
          <a:xfrm>
            <a:off x="6135624" y="2586228"/>
            <a:ext cx="5477256" cy="647700"/>
          </a:xfrm>
          <a:prstGeom prst="roundRect">
            <a:avLst>
              <a:gd name="adj" fmla="val 11294"/>
            </a:avLst>
          </a:prstGeom>
          <a:solidFill>
            <a:schemeClr val="bg2"/>
          </a:solidFill>
          <a:ln w="12700">
            <a:solidFill>
              <a:schemeClr val="bg2"/>
            </a:solidFill>
            <a:prstDash val="solid"/>
          </a:ln>
        </p:spPr>
      </p:sp>
      <p:sp>
        <p:nvSpPr>
          <p:cNvPr id="21" name="Text 18"/>
          <p:cNvSpPr txBox="1"/>
          <p:nvPr/>
        </p:nvSpPr>
        <p:spPr>
          <a:xfrm>
            <a:off x="6272784" y="2677668"/>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Operational</a:t>
            </a:r>
            <a:endParaRPr lang="en-US" sz="1500" dirty="0"/>
          </a:p>
          <a:p>
            <a:pPr indent="0" marL="0">
              <a:spcAft>
                <a:spcPts val="400"/>
              </a:spcAft>
              <a:buNone/>
            </a:pPr>
            <a:r>
              <a:rPr lang="en-US" sz="1400" dirty="0">
                <a:solidFill>
                  <a:schemeClr val="tx1"/>
                </a:solidFill>
              </a:rPr>
              <a:t>The level of day-to-day doing.</a:t>
            </a:r>
            <a:endParaRPr lang="en-US" sz="1500" dirty="0"/>
          </a:p>
        </p:txBody>
      </p:sp>
      <p:sp>
        <p:nvSpPr>
          <p:cNvPr id="22" name="card Positions"/>
          <p:cNvSpPr/>
          <p:nvPr/>
        </p:nvSpPr>
        <p:spPr>
          <a:xfrm>
            <a:off x="6135624" y="3343656"/>
            <a:ext cx="5477256" cy="647700"/>
          </a:xfrm>
          <a:prstGeom prst="roundRect">
            <a:avLst>
              <a:gd name="adj" fmla="val 11294"/>
            </a:avLst>
          </a:prstGeom>
          <a:solidFill>
            <a:schemeClr val="bg2"/>
          </a:solidFill>
          <a:ln w="12700">
            <a:solidFill>
              <a:schemeClr val="bg2"/>
            </a:solidFill>
            <a:prstDash val="solid"/>
          </a:ln>
        </p:spPr>
      </p:sp>
      <p:sp>
        <p:nvSpPr>
          <p:cNvPr id="23" name="Text 20"/>
          <p:cNvSpPr txBox="1"/>
          <p:nvPr/>
        </p:nvSpPr>
        <p:spPr>
          <a:xfrm>
            <a:off x="6272784" y="3435096"/>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Positions</a:t>
            </a:r>
            <a:endParaRPr lang="en-US" sz="1500" dirty="0"/>
          </a:p>
          <a:p>
            <a:pPr indent="0" marL="0">
              <a:spcAft>
                <a:spcPts val="400"/>
              </a:spcAft>
              <a:buNone/>
            </a:pPr>
            <a:r>
              <a:rPr lang="en-US" sz="1400" dirty="0">
                <a:solidFill>
                  <a:schemeClr val="tx1"/>
                </a:solidFill>
              </a:rPr>
              <a:t>Roles or seats, which outlast the people in them.</a:t>
            </a:r>
            <a:endParaRPr lang="en-US" sz="1500" dirty="0"/>
          </a:p>
        </p:txBody>
      </p:sp>
      <p:sp>
        <p:nvSpPr>
          <p:cNvPr id="24" name="card Reciprocator"/>
          <p:cNvSpPr/>
          <p:nvPr/>
        </p:nvSpPr>
        <p:spPr>
          <a:xfrm>
            <a:off x="6135624" y="4101084"/>
            <a:ext cx="5477256" cy="647700"/>
          </a:xfrm>
          <a:prstGeom prst="roundRect">
            <a:avLst>
              <a:gd name="adj" fmla="val 11294"/>
            </a:avLst>
          </a:prstGeom>
          <a:solidFill>
            <a:schemeClr val="bg2"/>
          </a:solidFill>
          <a:ln w="12700">
            <a:solidFill>
              <a:schemeClr val="bg2"/>
            </a:solidFill>
            <a:prstDash val="solid"/>
          </a:ln>
        </p:spPr>
      </p:sp>
      <p:sp>
        <p:nvSpPr>
          <p:cNvPr id="25" name="Text 22"/>
          <p:cNvSpPr txBox="1"/>
          <p:nvPr/>
        </p:nvSpPr>
        <p:spPr>
          <a:xfrm>
            <a:off x="6272784" y="4192524"/>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Reciprocator</a:t>
            </a:r>
            <a:endParaRPr lang="en-US" sz="1500" dirty="0"/>
          </a:p>
          <a:p>
            <a:pPr indent="0" marL="0">
              <a:spcAft>
                <a:spcPts val="400"/>
              </a:spcAft>
              <a:buNone/>
            </a:pPr>
            <a:r>
              <a:rPr lang="en-US" sz="1400" dirty="0">
                <a:solidFill>
                  <a:schemeClr val="tx1"/>
                </a:solidFill>
              </a:rPr>
              <a:t>Someone who returns cooperation with cooperation.</a:t>
            </a:r>
            <a:endParaRPr lang="en-US" sz="1500" dirty="0"/>
          </a:p>
        </p:txBody>
      </p:sp>
      <p:sp>
        <p:nvSpPr>
          <p:cNvPr id="26" name="card Rules-in-use"/>
          <p:cNvSpPr/>
          <p:nvPr/>
        </p:nvSpPr>
        <p:spPr>
          <a:xfrm>
            <a:off x="6135624" y="4858512"/>
            <a:ext cx="5477256" cy="647700"/>
          </a:xfrm>
          <a:prstGeom prst="roundRect">
            <a:avLst>
              <a:gd name="adj" fmla="val 11294"/>
            </a:avLst>
          </a:prstGeom>
          <a:solidFill>
            <a:schemeClr val="bg2"/>
          </a:solidFill>
          <a:ln w="12700">
            <a:solidFill>
              <a:schemeClr val="bg2"/>
            </a:solidFill>
            <a:prstDash val="solid"/>
          </a:ln>
        </p:spPr>
      </p:sp>
      <p:sp>
        <p:nvSpPr>
          <p:cNvPr id="27" name="Text 24"/>
          <p:cNvSpPr txBox="1"/>
          <p:nvPr/>
        </p:nvSpPr>
        <p:spPr>
          <a:xfrm>
            <a:off x="6272784" y="4949952"/>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Rules-in-use</a:t>
            </a:r>
            <a:endParaRPr lang="en-US" sz="1500" dirty="0"/>
          </a:p>
          <a:p>
            <a:pPr indent="0" marL="0">
              <a:spcAft>
                <a:spcPts val="400"/>
              </a:spcAft>
              <a:buNone/>
            </a:pPr>
            <a:r>
              <a:rPr lang="en-US" sz="1400" dirty="0">
                <a:solidFill>
                  <a:schemeClr val="tx1"/>
                </a:solidFill>
              </a:rPr>
              <a:t>The rules people actually follow.</a:t>
            </a:r>
            <a:endParaRPr lang="en-US" sz="1500" dirty="0"/>
          </a:p>
        </p:txBody>
      </p:sp>
      <p:sp>
        <p:nvSpPr>
          <p:cNvPr id="28" name="card Social-ecological system (SES)"/>
          <p:cNvSpPr/>
          <p:nvPr/>
        </p:nvSpPr>
        <p:spPr>
          <a:xfrm>
            <a:off x="6135624" y="5615940"/>
            <a:ext cx="5477256" cy="647700"/>
          </a:xfrm>
          <a:prstGeom prst="roundRect">
            <a:avLst>
              <a:gd name="adj" fmla="val 11294"/>
            </a:avLst>
          </a:prstGeom>
          <a:solidFill>
            <a:schemeClr val="bg2"/>
          </a:solidFill>
          <a:ln w="12700">
            <a:solidFill>
              <a:schemeClr val="bg2"/>
            </a:solidFill>
            <a:prstDash val="solid"/>
          </a:ln>
        </p:spPr>
      </p:sp>
      <p:sp>
        <p:nvSpPr>
          <p:cNvPr id="29" name="Text 26"/>
          <p:cNvSpPr txBox="1"/>
          <p:nvPr/>
        </p:nvSpPr>
        <p:spPr>
          <a:xfrm>
            <a:off x="6272784" y="5707380"/>
            <a:ext cx="5202936" cy="46482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Social-ecological system (SES)</a:t>
            </a:r>
            <a:endParaRPr lang="en-US" sz="1500" dirty="0"/>
          </a:p>
          <a:p>
            <a:pPr indent="0" marL="0">
              <a:spcAft>
                <a:spcPts val="400"/>
              </a:spcAft>
              <a:buNone/>
            </a:pPr>
            <a:r>
              <a:rPr lang="en-US" sz="1400" dirty="0">
                <a:solidFill>
                  <a:schemeClr val="tx1"/>
                </a:solidFill>
              </a:rPr>
              <a:t>People and nature studied as one system.</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371600"/>
          </a:xfrm>
          <a:prstGeom prst="rect">
            <a:avLst/>
          </a:prstGeom>
          <a:noFill/>
          <a:ln/>
        </p:spPr>
        <p:txBody>
          <a:bodyPr wrap="square" rtlCol="0" anchor="b"/>
          <a:lstStyle/>
          <a:p>
            <a:pPr indent="0" marL="0">
              <a:buNone/>
            </a:pPr>
            <a:r>
              <a:rPr lang="en-US" sz="4800" b="1" dirty="0">
                <a:solidFill>
                  <a:schemeClr val="bg1"/>
                </a:solidFill>
              </a:rPr>
              <a:t>Sources</a:t>
            </a:r>
            <a:endParaRPr lang="en-US" sz="4800" dirty="0"/>
          </a:p>
        </p:txBody>
      </p:sp>
      <p:sp>
        <p:nvSpPr>
          <p:cNvPr id="3" name="Text 1"/>
          <p:cNvSpPr txBox="1"/>
          <p:nvPr/>
        </p:nvSpPr>
        <p:spPr>
          <a:xfrm>
            <a:off x="731520" y="3200400"/>
            <a:ext cx="10698480" cy="2377440"/>
          </a:xfrm>
          <a:prstGeom prst="rect">
            <a:avLst/>
          </a:prstGeom>
          <a:noFill/>
          <a:ln/>
        </p:spPr>
        <p:txBody>
          <a:bodyPr wrap="square" lIns="0" tIns="0" rIns="0" bIns="0" rtlCol="0" anchor="t"/>
          <a:lstStyle/>
          <a:p>
            <a:pPr indent="0" marL="0">
              <a:spcAft>
                <a:spcPts val="800"/>
              </a:spcAft>
              <a:buNone/>
            </a:pPr>
            <a:r>
              <a:rPr lang="en-US" sz="1600" dirty="0">
                <a:solidFill>
                  <a:srgbClr val="EEF3EA"/>
                </a:solidFill>
              </a:rPr>
              <a:t>Ostrom, E. (2010). Beyond Markets and States: Polycentric Governance of Complex Economic Systems. American Economic Review 100(3). The 2009 Nobel lecture; Figures 1 to 6.</a:t>
            </a:r>
            <a:endParaRPr lang="en-US" sz="1600" dirty="0"/>
          </a:p>
          <a:p>
            <a:pPr indent="0" marL="0">
              <a:spcAft>
                <a:spcPts val="800"/>
              </a:spcAft>
              <a:buNone/>
            </a:pPr>
            <a:r>
              <a:rPr lang="en-US" sz="1600" dirty="0">
                <a:solidFill>
                  <a:srgbClr val="EEF3EA"/>
                </a:solidFill>
              </a:rPr>
              <a:t>Ostrom, E. (1990). Governing the Commons. Ostrom, E. (2005). Understanding Institutional Diversity.</a:t>
            </a:r>
            <a:endParaRPr lang="en-US" sz="1600" dirty="0"/>
          </a:p>
          <a:p>
            <a:pPr indent="0" marL="0">
              <a:spcAft>
                <a:spcPts val="800"/>
              </a:spcAft>
              <a:buNone/>
            </a:pPr>
            <a:r>
              <a:rPr lang="en-US" sz="1600" dirty="0">
                <a:solidFill>
                  <a:srgbClr val="EEF3EA"/>
                </a:solidFill>
              </a:rPr>
              <a:t>Ostrom, E. (2009). A General Framework for Analyzing Sustainability of Social-Ecological Systems. Science 325.</a:t>
            </a:r>
            <a:endParaRPr lang="en-US" sz="1600" dirty="0"/>
          </a:p>
          <a:p>
            <a:pPr indent="0" marL="0">
              <a:spcAft>
                <a:spcPts val="800"/>
              </a:spcAft>
              <a:buNone/>
            </a:pPr>
            <a:r>
              <a:rPr lang="en-US" sz="1600" dirty="0">
                <a:solidFill>
                  <a:srgbClr val="EEF3EA"/>
                </a:solidFill>
              </a:rPr>
              <a:t>Cox, Arnold and Villamayor Tomas (2010), design principles. Crawford and Ostrom (1995), ADICO. Frantz and Siddiki (2021), IG 2.0. Poteete, Janssen and Ostrom (2010), Working Together.</a:t>
            </a:r>
            <a:endParaRPr lang="en-US" sz="1600" dirty="0"/>
          </a:p>
        </p:txBody>
      </p:sp>
      <p:sp>
        <p:nvSpPr>
          <p:cNvPr id="4" name="Text 0"/>
          <p:cNvSpPr/>
          <p:nvPr>
            <p:ph idx="102" type="body" hasCustomPrompt="1"/>
          </p:nvPr>
        </p:nvSpPr>
        <p:spPr>
          <a:xfrm>
            <a:off x="731520" y="5760720"/>
            <a:ext cx="10058400" cy="457200"/>
          </a:xfrm>
          <a:prstGeom prst="rect">
            <a:avLst/>
          </a:prstGeom>
          <a:noFill/>
          <a:ln/>
        </p:spPr>
        <p:txBody>
          <a:bodyPr wrap="square" rtlCol="0"/>
          <a:lstStyle/>
          <a:p>
            <a:pPr indent="0" marL="0">
              <a:buNone/>
            </a:pPr>
            <a:r>
              <a:rPr lang="en-US" sz="1400" dirty="0">
                <a:solidFill>
                  <a:schemeClr val="accent2"/>
                </a:solidFill>
              </a:rPr>
              <a:t>Marc Pierson and Claude Opus 5.5 · October 2026</a:t>
            </a:r>
            <a:endParaRPr lang="en-US" sz="1400" dirty="0"/>
          </a:p>
        </p:txBody>
      </p:sp>
      <p:sp>
        <p:nvSpPr>
          <p:cNvPr id="6" name="Text 0"/>
          <p:cNvSpPr/>
          <p:nvPr>
            <p:ph idx="101" type="body" hasCustomPrompt="1"/>
          </p:nvPr>
        </p:nvSpPr>
        <p:spPr>
          <a:xfrm>
            <a:off x="731520" y="3291840"/>
            <a:ext cx="10058400" cy="1188720"/>
          </a:xfrm>
          <a:prstGeom prst="rect">
            <a:avLst/>
          </a:prstGeom>
          <a:noFill/>
          <a:ln/>
        </p:spPr>
        <p:txBody>
          <a:bodyPr wrap="square" rtlCol="0" anchor="t"/>
          <a:lstStyle/>
          <a:p>
            <a:pPr indent="0" marL="0">
              <a:buNone/>
            </a:pPr>
            <a:endParaRPr lang="en-US" sz="2200" dirty="0"/>
          </a:p>
        </p:txBody>
      </p:sp>
    </p:spTree>
  </p:cSld>
  <p:clrMapOvr>
    <a:masterClrMapping/>
  </p:clrMapOvr>
</p:sld>
</file>

<file path=ppt/theme/theme1.xml><?xml version="1.0" encoding="utf-8"?>
<a:theme xmlns:a="http://schemas.openxmlformats.org/drawingml/2006/main" name="Commons">
  <a:themeElements>
    <a:clrScheme name="Commons">
      <a:dk1>
        <a:srgbClr val="1E2A22"/>
      </a:dk1>
      <a:lt1>
        <a:srgbClr val="FFFFFF"/>
      </a:lt1>
      <a:dk2>
        <a:srgbClr val="1F3D2B"/>
      </a:dk2>
      <a:lt2>
        <a:srgbClr val="EEF3EA"/>
      </a:lt2>
      <a:accent1>
        <a:srgbClr val="2E6B45"/>
      </a:accent1>
      <a:accent2>
        <a:srgbClr val="C9822A"/>
      </a:accent2>
      <a:accent3>
        <a:srgbClr val="3E7CB1"/>
      </a:accent3>
      <a:accent4>
        <a:srgbClr val="B5532D"/>
      </a:accent4>
      <a:accent5>
        <a:srgbClr val="7FA35B"/>
      </a:accent5>
      <a:accent6>
        <a:srgbClr val="6B5B95"/>
      </a:accent6>
      <a:hlink>
        <a:srgbClr val="3E7CB1"/>
      </a:hlink>
      <a:folHlink>
        <a:srgbClr val="6B5B95"/>
      </a:folHlink>
    </a:clrScheme>
    <a:fontScheme name="Commo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Governing What We Share</dc:title>
  <dc:subject>PptxGenJS Presentation</dc:subject>
  <dc:creator>Marc Pierson</dc:creator>
  <cp:lastModifiedBy>Marc Pierson</cp:lastModifiedBy>
  <cp:revision>1</cp:revision>
  <dcterms:created xsi:type="dcterms:W3CDTF">2026-10-04T16:24:57Z</dcterms:created>
  <dcterms:modified xsi:type="dcterms:W3CDTF">2026-10-04T16:24:57Z</dcterms:modified>
</cp:coreProperties>
</file>