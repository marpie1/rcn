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See One,  Do One,  Teach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2834640"/>
            <a:ext cx="5760720" cy="4572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1FAE5"/>
                </a:solidFill>
                <a:latin typeface="Calibri"/>
              </a:rPr>
              <a:t>Practitioner Credentialing for Neighborhood Development Cooperatives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7AB89A"/>
                </a:solidFill>
                <a:latin typeface="Calibri"/>
              </a:rPr>
              <a:t>ReLocalize Creativity Network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THE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Skills and knowledge leave communities.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64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    Informal apprenticeship happens everywhere — but leaves no verifiable record.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    Credentials come from distant institutions, not from the cooperatives doing the work.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    Community economics don't fit conventional payment systems.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    When experienced practitioners move on, what they knew goes with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2D6A4F"/>
                </a:solidFill>
                <a:latin typeface="Calibri"/>
              </a:rPr>
              <a:t>SODOTO addresses all three.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THE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What SODOTO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alibri"/>
              </a:rPr>
              <a:t>SODOTO is a credentialing system that documents how a practitioner learned a skill — who taught them, who witnessed their practice, and who they have since taught.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475569"/>
                </a:solidFill>
                <a:latin typeface="Calibri"/>
              </a:rPr>
              <a:t>The credential is issued by your NDC — not a university, not a corporation.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4297680"/>
            <a:ext cx="2377440" cy="1005840"/>
          </a:xfrm>
          <a:prstGeom prst="rect">
            <a:avLst/>
          </a:prstGeom>
          <a:solidFill>
            <a:srgbClr val="F0F9F4"/>
          </a:solidFill>
          <a:ln w="254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900" b="1">
                <a:solidFill>
                  <a:srgbClr val="2D6A4F"/>
                </a:solidFill>
                <a:latin typeface="Calibri"/>
              </a:rPr>
              <a:t>WITNESSED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4297680"/>
            <a:ext cx="2377440" cy="1005840"/>
          </a:xfrm>
          <a:prstGeom prst="rect">
            <a:avLst/>
          </a:prstGeom>
          <a:solidFill>
            <a:srgbClr val="EFF6FF"/>
          </a:solidFill>
          <a:ln w="25400">
            <a:solidFill>
              <a:srgbClr val="1A56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900" b="1">
                <a:solidFill>
                  <a:srgbClr val="1A56A4"/>
                </a:solidFill>
                <a:latin typeface="Calibri"/>
              </a:rPr>
              <a:t>PRACTICED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4297680"/>
            <a:ext cx="2377440" cy="1005840"/>
          </a:xfrm>
          <a:prstGeom prst="rect">
            <a:avLst/>
          </a:prstGeom>
          <a:solidFill>
            <a:srgbClr val="FFF3CD"/>
          </a:solidFill>
          <a:ln w="2540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900" b="1">
                <a:solidFill>
                  <a:srgbClr val="92400E"/>
                </a:solidFill>
                <a:latin typeface="Calibri"/>
              </a:rPr>
              <a:t>TAUGHT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Three Gates — All Must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6A4F"/>
                </a:solidFill>
                <a:latin typeface="Calibri"/>
              </a:rPr>
              <a:t>Gate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3474720" cy="4023360"/>
          </a:xfrm>
          <a:prstGeom prst="rect">
            <a:avLst/>
          </a:prstGeom>
          <a:solidFill>
            <a:srgbClr val="F0F9F4"/>
          </a:solidFill>
          <a:ln w="254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/>
            <a:r>
              <a:rPr sz="1600" b="1">
                <a:solidFill>
                  <a:srgbClr val="2D6A4F"/>
                </a:solidFill>
                <a:latin typeface="Calibri"/>
              </a:rPr>
              <a:t>Watch an expert do the skill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in a real working context.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Your mentor demonstrates.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You observe and attest.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35661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91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56A4"/>
                </a:solidFill>
                <a:latin typeface="Calibri"/>
              </a:rPr>
              <a:t>Gate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011680"/>
            <a:ext cx="3474720" cy="4023360"/>
          </a:xfrm>
          <a:prstGeom prst="rect">
            <a:avLst/>
          </a:prstGeom>
          <a:solidFill>
            <a:srgbClr val="EFF6FF"/>
          </a:solidFill>
          <a:ln w="25400">
            <a:solidFill>
              <a:srgbClr val="1A56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/>
            <a:r>
              <a:rPr sz="1600" b="1">
                <a:solidFill>
                  <a:srgbClr val="1A56A4"/>
                </a:solidFill>
                <a:latin typeface="Calibri"/>
              </a:rPr>
              <a:t>Do the skill yourself,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with your mentor watching.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Both of you attest.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You may try again if needed.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35661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691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2400E"/>
                </a:solidFill>
                <a:latin typeface="Calibri"/>
              </a:rPr>
              <a:t>Gate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011680"/>
            <a:ext cx="3474720" cy="4023360"/>
          </a:xfrm>
          <a:prstGeom prst="rect">
            <a:avLst/>
          </a:prstGeom>
          <a:solidFill>
            <a:srgbClr val="FFF3CD"/>
          </a:solidFill>
          <a:ln w="2540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/>
            <a:r>
              <a:rPr sz="1600" b="1">
                <a:solidFill>
                  <a:srgbClr val="92400E"/>
                </a:solidFill>
                <a:latin typeface="Calibri"/>
              </a:rPr>
              <a:t>Teach someone new.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Your mentor watches the teaching.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Your student's practice session</a:t>
            </a:r>
          </a:p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is your evidence.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WHAT YOU 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A Verifiable Digital Badge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Each credential shows: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·  The skill name and issuing NDC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·  When each gate was completed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·  Your mentor's name (clickable)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·  The full attempt history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·  A Verify button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Anyone can click Verify.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Confirmed instantly. No login required.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554480"/>
            <a:ext cx="5303520" cy="4663440"/>
          </a:xfrm>
          <a:prstGeom prst="rect">
            <a:avLst/>
          </a:prstGeom>
          <a:solidFill>
            <a:srgbClr val="F0F9F4"/>
          </a:solidFill>
          <a:ln w="254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1554480"/>
            <a:ext cx="5303520" cy="6858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2763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ReLocalize Creativity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1FAE5"/>
                </a:solidFill>
                <a:latin typeface="Calibri"/>
              </a:rPr>
              <a:t>Bellingham 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D6A4F"/>
                </a:solidFill>
                <a:latin typeface="Calibri"/>
              </a:rPr>
              <a:t>Causal Loop Diagramming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718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✓  SEE ONE      Oct 15, 2025   Kerry Turner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✓  DO ONE       Nov 20, 2025   Kerry Turner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✓  TEACH ONE    Dec 10, 2025   Kerry Turner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343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Issued by RCN · Dec 10, 2025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4846320"/>
            <a:ext cx="1828800" cy="5029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0608" y="491947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 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49194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6A4F"/>
                </a:solidFill>
                <a:latin typeface="Calibri"/>
              </a:rPr>
              <a:t>Verified  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HOW SKILLS SPREAD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Every Credential Records the Chain of Transmission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1828800"/>
            <a:ext cx="1463040" cy="146304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Kerry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Turner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832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475569"/>
                </a:solidFill>
                <a:latin typeface="Calibri"/>
              </a:rPr>
              <a:t>Founding mentor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22860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3108960" y="1828800"/>
            <a:ext cx="1463040" cy="146304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20116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Marc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4231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Pierson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3832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475569"/>
                </a:solidFill>
                <a:latin typeface="Calibri"/>
              </a:rPr>
              <a:t>Credentialed · now teaches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2860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0" y="1463040"/>
            <a:ext cx="1097280" cy="1097280"/>
          </a:xfrm>
          <a:prstGeom prst="ellipse">
            <a:avLst/>
          </a:prstGeom>
          <a:solidFill>
            <a:srgbClr val="1A5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173736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Noah</a:t>
            </a:r>
          </a:p>
        </p:txBody>
      </p:sp>
      <p:sp>
        <p:nvSpPr>
          <p:cNvPr id="17" name="Oval 16"/>
          <p:cNvSpPr/>
          <p:nvPr/>
        </p:nvSpPr>
        <p:spPr>
          <a:xfrm>
            <a:off x="6629400" y="1463040"/>
            <a:ext cx="1097280" cy="1097280"/>
          </a:xfrm>
          <a:prstGeom prst="ellipse">
            <a:avLst/>
          </a:prstGeom>
          <a:solidFill>
            <a:srgbClr val="1A5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173736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Aisha</a:t>
            </a:r>
          </a:p>
        </p:txBody>
      </p:sp>
      <p:sp>
        <p:nvSpPr>
          <p:cNvPr id="19" name="Oval 18"/>
          <p:cNvSpPr/>
          <p:nvPr/>
        </p:nvSpPr>
        <p:spPr>
          <a:xfrm>
            <a:off x="7955279" y="1463040"/>
            <a:ext cx="1097280" cy="1097280"/>
          </a:xfrm>
          <a:prstGeom prst="ellipse">
            <a:avLst/>
          </a:prstGeom>
          <a:solidFill>
            <a:srgbClr val="1A5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82711" y="173736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Carlos</a:t>
            </a:r>
          </a:p>
        </p:txBody>
      </p:sp>
      <p:sp>
        <p:nvSpPr>
          <p:cNvPr id="21" name="Oval 20"/>
          <p:cNvSpPr/>
          <p:nvPr/>
        </p:nvSpPr>
        <p:spPr>
          <a:xfrm>
            <a:off x="9281159" y="1463040"/>
            <a:ext cx="1097280" cy="1097280"/>
          </a:xfrm>
          <a:prstGeom prst="ellipse">
            <a:avLst/>
          </a:prstGeom>
          <a:solidFill>
            <a:srgbClr val="1A5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08591" y="173736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Deb</a:t>
            </a:r>
          </a:p>
        </p:txBody>
      </p:sp>
      <p:sp>
        <p:nvSpPr>
          <p:cNvPr id="23" name="Oval 22"/>
          <p:cNvSpPr/>
          <p:nvPr/>
        </p:nvSpPr>
        <p:spPr>
          <a:xfrm>
            <a:off x="10607040" y="1463040"/>
            <a:ext cx="1097280" cy="1097280"/>
          </a:xfrm>
          <a:prstGeom prst="ellipse">
            <a:avLst/>
          </a:prstGeom>
          <a:solidFill>
            <a:srgbClr val="1A5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34472" y="173736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Jerome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28346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475569"/>
                </a:solidFill>
                <a:latin typeface="Calibri"/>
              </a:rPr>
              <a:t>Five students — each now on their own credentialing path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749039"/>
            <a:ext cx="11247120" cy="914400"/>
          </a:xfrm>
          <a:prstGeom prst="rect">
            <a:avLst/>
          </a:prstGeom>
          <a:solidFill>
            <a:srgbClr val="F0F9F4"/>
          </a:solidFill>
          <a:ln w="1905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88620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D6A4F"/>
                </a:solidFill>
                <a:latin typeface="Calibri"/>
              </a:rPr>
              <a:t>The skill doesn't just spread — the record of how it spread is permanently preserved in every credential.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9377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Real example: Causal Loop Diagramming · RCN · Bellingham WA ·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Your credential belongs to you.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1737360"/>
            <a:ext cx="6675120" cy="36576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D1FAE5"/>
                </a:solidFill>
                <a:latin typeface="Calibri"/>
              </a:rPr>
              <a:t>The key is yours, made on your own device —
no one else ever holds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D1FAE5"/>
                </a:solidFill>
                <a:latin typeface="Calibri"/>
              </a:rPr>
              <a:t>Your portfolio is your own site —
nobody can edit your account of the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D1FAE5"/>
                </a:solidFill>
                <a:latin typeface="Calibri"/>
              </a:rPr>
              <a:t>Anyone can verify it —
no login, no server, no third party.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7AB89A"/>
                </a:solidFill>
                <a:latin typeface="Calibri"/>
              </a:rPr>
              <a:t>No institution can revoke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SKILLS REGISTRY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8 Active Credentials · 23+ Skills Planned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164592" cy="16459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6420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6A4F"/>
                </a:solidFill>
                <a:latin typeface="Calibri"/>
              </a:rPr>
              <a:t>Issued and verified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574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✓  Causal Loop Diagramming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3288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✓  e-VSM Basic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008376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✓  e-VSM Intermediate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483864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✓  e-VSM Site Manager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9593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✓  EIP Basic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4348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✓  EIP Intermediate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910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✓  EIP Expert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85816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✓  Stock and Flow Diagramming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691640"/>
            <a:ext cx="164592" cy="16459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166420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75569"/>
                </a:solidFill>
                <a:latin typeface="Calibri"/>
              </a:rPr>
              <a:t>Planned for the registry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0574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○  System Dynamics 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3288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○  Viable Systems Model (VSM)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008376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○  Object Process Methodology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483864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○  Six Context Questions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95935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○  Vester Sensitivity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4348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○  A3 Problem Solving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1032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○  FedWiki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85816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○  Ganz Organizing Story 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861304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Calibri"/>
              </a:rPr>
              <a:t>○  Cynefin  · DSRP  · 15 Ps  · and more…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1645920"/>
            <a:ext cx="27432" cy="4754880"/>
          </a:xfrm>
          <a:prstGeom prst="rect">
            <a:avLst/>
          </a:prstGeom>
          <a:solidFill>
            <a:srgbClr val="E0E0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6A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"A credential without an economy
is just a piece of paper."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3108960"/>
            <a:ext cx="5760720" cy="457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BEAFE"/>
                </a:solidFill>
                <a:latin typeface="Calibri"/>
              </a:rPr>
              <a:t>SODOTO connects to a contract system designed for community economics — one that works in dollars, time, and gift.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9EBBE8"/>
                </a:solidFill>
                <a:latin typeface="Calibri"/>
              </a:rPr>
              <a:t>Conversations for Action · Dyadic Smart Contract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6A4"/>
                </a:solidFill>
                <a:latin typeface="Calibri"/>
              </a:rPr>
              <a:t>CfA-dSC  ·  FAIR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1A5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Calibri"/>
              </a:rPr>
              <a:t>Contracts Settled in Three Currencies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828800"/>
            <a:ext cx="3657600" cy="5943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700" b="1">
                <a:solidFill>
                  <a:srgbClr val="2D6A4F"/>
                </a:solidFill>
                <a:latin typeface="Calibri"/>
              </a:rPr>
              <a:t>DOLLARS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423160"/>
            <a:ext cx="3657600" cy="2834640"/>
          </a:xfrm>
          <a:prstGeom prst="rect">
            <a:avLst/>
          </a:prstGeom>
          <a:solidFill>
            <a:srgbClr val="F0F9F4"/>
          </a:solidFill>
          <a:ln w="1905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56032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1A"/>
                </a:solidFill>
                <a:latin typeface="Calibri"/>
              </a:rPr>
              <a:t>A minimum floor — always paid in cash. The fiat amount is agreed upfront and guaranteed regardless of how the rest settles.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2D6A4F"/>
                </a:solidFill>
                <a:latin typeface="Calibri"/>
              </a:rPr>
              <a:t>CHW example:
$50 floor on a $100 visit.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9392" y="1828800"/>
            <a:ext cx="3657600" cy="594360"/>
          </a:xfrm>
          <a:prstGeom prst="rect">
            <a:avLst/>
          </a:prstGeom>
          <a:solidFill>
            <a:srgbClr val="1A5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700" b="1">
                <a:solidFill>
                  <a:srgbClr val="1A56A4"/>
                </a:solidFill>
                <a:latin typeface="Calibri"/>
              </a:rPr>
              <a:t>TIME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2423160"/>
            <a:ext cx="3657600" cy="2834640"/>
          </a:xfrm>
          <a:prstGeom prst="rect">
            <a:avLst/>
          </a:prstGeom>
          <a:solidFill>
            <a:srgbClr val="EFF6FF"/>
          </a:solidFill>
          <a:ln w="19050">
            <a:solidFill>
              <a:srgbClr val="1A56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6552" y="256032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1A"/>
                </a:solidFill>
                <a:latin typeface="Calibri"/>
              </a:rPr>
              <a:t>Hours exchanged within the NDC time-dollar network at an agreed rate. Parties decide their own comfort level with time-dollar liquidity.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1A56A4"/>
                </a:solidFill>
                <a:latin typeface="Calibri"/>
              </a:rPr>
              <a:t>CHW example:
Up to 1 hr @ $25/hr 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3024" y="1828800"/>
            <a:ext cx="3657600" cy="59436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700" b="1">
                <a:solidFill>
                  <a:srgbClr val="92400E"/>
                </a:solidFill>
                <a:latin typeface="Calibri"/>
              </a:rPr>
              <a:t>GIFT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93024" y="2423160"/>
            <a:ext cx="3657600" cy="2834640"/>
          </a:xfrm>
          <a:prstGeom prst="rect">
            <a:avLst/>
          </a:prstGeom>
          <a:solidFill>
            <a:srgbClr val="FFF3CD"/>
          </a:solidFill>
          <a:ln w="1905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0184" y="256032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1A1A"/>
                </a:solidFill>
                <a:latin typeface="Calibri"/>
              </a:rPr>
              <a:t>A voluntary contribution — unconditional or tied to an outcome. Can flow either direction: provider to client, or client to provider.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92400E"/>
                </a:solidFill>
                <a:latin typeface="Calibri"/>
              </a:rPr>
              <a:t>CHW example:
$25 fee reduction, CHW → patient.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Calibri"/>
              </a:rPr>
              <a:t>IN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Calibri"/>
              </a:rPr>
              <a:t>A Day in the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75569"/>
                </a:solidFill>
                <a:latin typeface="Calibri"/>
              </a:rPr>
              <a:t>Maria is a Community Health Worker in Superior AZ.</a:t>
            </a:r>
          </a:p>
        </p:txBody>
      </p:sp>
      <p:sp>
        <p:nvSpPr>
          <p:cNvPr id="6" name="Oval 5"/>
          <p:cNvSpPr/>
          <p:nvPr/>
        </p:nvSpPr>
        <p:spPr>
          <a:xfrm>
            <a:off x="365760" y="2377439"/>
            <a:ext cx="502920" cy="50292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2423160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3172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6A4F"/>
                </a:solidFill>
                <a:latin typeface="Calibri"/>
              </a:rPr>
              <a:t>Maria earns her eVSM Site Manager credential.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1576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Three gates, witnessed by her mentor, signed by the Superior AZ NDC. The credential is on her FedWiki page.</a:t>
            </a:r>
          </a:p>
        </p:txBody>
      </p:sp>
      <p:sp>
        <p:nvSpPr>
          <p:cNvPr id="10" name="Oval 9"/>
          <p:cNvSpPr/>
          <p:nvPr/>
        </p:nvSpPr>
        <p:spPr>
          <a:xfrm>
            <a:off x="365760" y="3428999"/>
            <a:ext cx="502920" cy="502920"/>
          </a:xfrm>
          <a:prstGeom prst="ellipse">
            <a:avLst/>
          </a:prstGeom>
          <a:solidFill>
            <a:srgbClr val="1A5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3474720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83279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56A4"/>
                </a:solidFill>
                <a:latin typeface="Calibri"/>
              </a:rPr>
              <a:t>The NDC contracts for Maria to run a neighborhood assessment.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A fair contract — $400 total. $200 cash floor. Up to $100 in time-dollars. $100 gift to the community from the NDC.</a:t>
            </a:r>
          </a:p>
        </p:txBody>
      </p:sp>
      <p:sp>
        <p:nvSpPr>
          <p:cNvPr id="14" name="Oval 13"/>
          <p:cNvSpPr/>
          <p:nvPr/>
        </p:nvSpPr>
        <p:spPr>
          <a:xfrm>
            <a:off x="365760" y="4480559"/>
            <a:ext cx="502920" cy="502920"/>
          </a:xfrm>
          <a:prstGeom prst="ellipse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4526279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43484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2400E"/>
                </a:solidFill>
                <a:latin typeface="Calibri"/>
              </a:rPr>
              <a:t>Maria teaches her colleague Rosa.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1888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Rosa practices the skill. Rosa's practice session is the evidence. Maria's TeachOne credential is issued.</a:t>
            </a:r>
          </a:p>
        </p:txBody>
      </p:sp>
      <p:sp>
        <p:nvSpPr>
          <p:cNvPr id="18" name="Oval 17"/>
          <p:cNvSpPr/>
          <p:nvPr/>
        </p:nvSpPr>
        <p:spPr>
          <a:xfrm>
            <a:off x="365760" y="5532120"/>
            <a:ext cx="502920" cy="50292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5577840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48640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6A4F"/>
                </a:solidFill>
                <a:latin typeface="Calibri"/>
              </a:rPr>
              <a:t>Rosa joins the network.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8704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Her credential path begins. The skill chain grows. The teaching relationship is recorded permanently.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CURRENT STATE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What Exists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91640"/>
            <a:ext cx="7132320" cy="4389120"/>
          </a:xfrm>
          <a:prstGeom prst="rect">
            <a:avLst/>
          </a:prstGeom>
          <a:solidFill>
            <a:srgbClr val="F0F9F4"/>
          </a:solidFill>
          <a:ln w="127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6A4F"/>
                </a:solidFill>
                <a:latin typeface="Calibri"/>
              </a:rPr>
              <a:t>Working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40280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✓  Live on the public web over HTTPS — nothing runs on a personal machine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61488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✓  Everyone holds their own key, made on their own 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82696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✓  Everyone owns their own site — signed in by key, no password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803904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✓  Browser-based issuance tool — gate recording, signing, FedWiki writes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325112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✓  Verification works entirely in the browser — no server, no blockchain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✓  8 credentials issued and verified; 5 NDCs with signing identities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1691640"/>
            <a:ext cx="4023360" cy="4389120"/>
          </a:xfrm>
          <a:prstGeom prst="rect">
            <a:avLst/>
          </a:prstGeom>
          <a:solidFill>
            <a:srgbClr val="FFF3CD"/>
          </a:solidFill>
          <a:ln w="1270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1783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2400E"/>
                </a:solidFill>
                <a:latin typeface="Calibri"/>
              </a:rPr>
              <a:t>In progress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24028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→  Onboarding made simple enough to do unaided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324612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→  Coordinatorless issuance — designed and tested, not yet switched 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2519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→  CfA-dSC contracts being connected to the credential system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FOR YOUR NDC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What Joining Gives Your Community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828800"/>
            <a:ext cx="365760" cy="36576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856231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D6A4F"/>
                </a:solidFill>
                <a:latin typeface="Calibri"/>
              </a:rPr>
              <a:t>A skills registry  </a:t>
            </a:r>
            <a:r>
              <a:rPr sz="1600">
                <a:solidFill>
                  <a:srgbClr val="1A1A1A"/>
                </a:solidFill>
                <a:latin typeface="Calibri"/>
              </a:rPr>
              <a:t>specific to your NDC — built from the shared RCN registry and extended with your community's skills.</a:t>
            </a:r>
          </a:p>
        </p:txBody>
      </p:sp>
      <p:sp>
        <p:nvSpPr>
          <p:cNvPr id="8" name="Oval 7"/>
          <p:cNvSpPr/>
          <p:nvPr/>
        </p:nvSpPr>
        <p:spPr>
          <a:xfrm>
            <a:off x="411480" y="2761488"/>
            <a:ext cx="365760" cy="36576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2788920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70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D6A4F"/>
                </a:solidFill>
                <a:latin typeface="Calibri"/>
              </a:rPr>
              <a:t>Portable credentials  </a:t>
            </a:r>
            <a:r>
              <a:rPr sz="1600">
                <a:solidFill>
                  <a:srgbClr val="1A1A1A"/>
                </a:solidFill>
                <a:latin typeface="Calibri"/>
              </a:rPr>
              <a:t>for your practitioners that travel with them and mean something beyond your own organization.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694176"/>
            <a:ext cx="365760" cy="36576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3721608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02736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D6A4F"/>
                </a:solidFill>
                <a:latin typeface="Calibri"/>
              </a:rPr>
              <a:t>A fair contract system  </a:t>
            </a:r>
            <a:r>
              <a:rPr sz="1600">
                <a:solidFill>
                  <a:srgbClr val="1A1A1A"/>
                </a:solidFill>
                <a:latin typeface="Calibri"/>
              </a:rPr>
              <a:t>that recognizes dollars, time-dollars, and gift — not just cash.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" y="4626864"/>
            <a:ext cx="365760" cy="36576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4654296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3542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D6A4F"/>
                </a:solidFill>
                <a:latin typeface="Calibri"/>
              </a:rPr>
              <a:t>A teaching chain  </a:t>
            </a:r>
            <a:r>
              <a:rPr sz="1600">
                <a:solidFill>
                  <a:srgbClr val="1A1A1A"/>
                </a:solidFill>
                <a:latin typeface="Calibri"/>
              </a:rPr>
              <a:t>that grows with every credential issued. Knowledge doesn't leave when people do.</a:t>
            </a:r>
          </a:p>
        </p:txBody>
      </p:sp>
      <p:sp>
        <p:nvSpPr>
          <p:cNvPr id="17" name="Oval 16"/>
          <p:cNvSpPr/>
          <p:nvPr/>
        </p:nvSpPr>
        <p:spPr>
          <a:xfrm>
            <a:off x="411480" y="5559552"/>
            <a:ext cx="365760" cy="36576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5586984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68112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D6A4F"/>
                </a:solidFill>
                <a:latin typeface="Calibri"/>
              </a:rPr>
              <a:t>Connection to the RCN network  </a:t>
            </a:r>
            <a:r>
              <a:rPr sz="1600">
                <a:solidFill>
                  <a:srgbClr val="1A1A1A"/>
                </a:solidFill>
                <a:latin typeface="Calibri"/>
              </a:rPr>
              <a:t>of NDCs — credential holders recognized across the network, skills shared between communities.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JOINING THE PILOT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200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alibri"/>
              </a:rPr>
              <a:t>Three Steps to Your First Credential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828800"/>
            <a:ext cx="11430000" cy="1280160"/>
          </a:xfrm>
          <a:prstGeom prst="rect">
            <a:avLst/>
          </a:prstGeom>
          <a:solidFill>
            <a:srgbClr val="F0F9F4"/>
          </a:solidFill>
          <a:ln w="254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D6A4F"/>
                </a:solidFill>
                <a:latin typeface="Calibri"/>
              </a:rPr>
              <a:t>One coordinator.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Your NDC designates one coordinator — the person who will learn the issuance process. We set up your NDC's signing identity together. One session, one hour.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291840"/>
            <a:ext cx="11430000" cy="1280160"/>
          </a:xfrm>
          <a:prstGeom prst="rect">
            <a:avLst/>
          </a:prstGeom>
          <a:solidFill>
            <a:srgbClr val="EFF6FF"/>
          </a:solidFill>
          <a:ln w="25400">
            <a:solidFill>
              <a:srgbClr val="1A56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56A4"/>
                </a:solidFill>
                <a:latin typeface="Calibri"/>
              </a:rPr>
              <a:t>Two willing practitioners.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Identify two practitioners to go through the gates for one skill. We guide you through the first three credentials. The process itself is the work — no extra paperwork.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0"/>
            <a:ext cx="11430000" cy="1280160"/>
          </a:xfrm>
          <a:prstGeom prst="rect">
            <a:avLst/>
          </a:prstGeom>
          <a:solidFill>
            <a:srgbClr val="FFF3CD"/>
          </a:solidFill>
          <a:ln w="2540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89204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92400E"/>
                </a:solidFill>
                <a:latin typeface="Calibri"/>
              </a:rPr>
              <a:t>One skill to start with.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Choose one skill from the shared registry or propose one specific to your NDC. We issue your first credential together, live.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972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Join the pilot.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2560320"/>
            <a:ext cx="5760720" cy="4572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8346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1FAE5"/>
                </a:solidFill>
                <a:latin typeface="Calibri"/>
              </a:rPr>
              <a:t>One coordinator.  Two practitioners.  One skill.
Your NDC in the registry. Your first credential issued.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1FAE5"/>
                </a:solidFill>
                <a:latin typeface="Calibri"/>
              </a:rPr>
              <a:t>Marc Pierson  ·  ReLocalize Creativity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AB89A"/>
                </a:solidFill>
                <a:latin typeface="Calibri"/>
              </a:rPr>
              <a:t>relocalizecreativity.net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8A6A"/>
                </a:solidFill>
                <a:latin typeface="Calibri"/>
              </a:rPr>
              <a:t>ReLocalize Creativity Network · Bellingham WA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