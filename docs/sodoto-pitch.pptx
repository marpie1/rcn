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06"/>
  </p:normalViewPr>
  <p:slideViewPr>
    <p:cSldViewPr snapToGrid="0" snapToObjects="1">
      <p:cViewPr varScale="1">
        <p:scale>
          <a:sx n="119" d="100"/>
          <a:sy n="119" d="100"/>
        </p:scale>
        <p:origin x="856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D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28016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See One,  Do One,  Teach 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2834640"/>
            <a:ext cx="5760720" cy="4572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01752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D1FAE5"/>
                </a:solidFill>
                <a:latin typeface="Calibri"/>
              </a:rPr>
              <a:t>Practitioner Credentialing for Neighborhood Development Cooperatives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7AB89A"/>
                </a:solidFill>
                <a:latin typeface="Calibri"/>
              </a:rPr>
              <a:t>ReLocalize Creativity Network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6A4F"/>
                </a:solidFill>
                <a:latin typeface="Calibri"/>
              </a:rPr>
              <a:t>THE CHALLENGE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88952" cy="32004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38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alibri"/>
              </a:rPr>
              <a:t>Skills and knowledge leave communities.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64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    Informal apprenticeship happens everywhere — but leaves no verifiable record.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    Credentials come from distant institutions, not from the cooperatives doing the work.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    Community economics don't fit conventional payment systems.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    When experienced practitioners move on, what they knew goes with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1">
                <a:solidFill>
                  <a:srgbClr val="2D6A4F"/>
                </a:solidFill>
                <a:latin typeface="Calibri"/>
              </a:rPr>
              <a:t>SODOTO addresses all three.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6A4F"/>
                </a:solidFill>
                <a:latin typeface="Calibri"/>
              </a:rPr>
              <a:t>THE SOLUTION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88952" cy="32004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38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alibri"/>
              </a:rPr>
              <a:t>What SODOTO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alibri"/>
              </a:rPr>
              <a:t>SODOTO is a credentialing system that documents how a practitioner learned a skill — who taught them, who witnessed their practice, and who they have since taught.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004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475569"/>
                </a:solidFill>
                <a:latin typeface="Calibri"/>
              </a:rPr>
              <a:t>The credential is issued by your NDC — not a university, not a corporation.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1188720" y="4297680"/>
            <a:ext cx="2377440" cy="1005840"/>
          </a:xfrm>
          <a:prstGeom prst="rect">
            <a:avLst/>
          </a:prstGeom>
          <a:solidFill>
            <a:srgbClr val="F0F9F4"/>
          </a:solidFill>
          <a:ln w="25400">
            <a:solidFill>
              <a:srgbClr val="2D6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ctr"/>
          <a:lstStyle/>
          <a:p>
            <a:pPr algn="ctr"/>
            <a:r>
              <a:rPr sz="1900" b="1">
                <a:solidFill>
                  <a:srgbClr val="2D6A4F"/>
                </a:solidFill>
                <a:latin typeface="Calibri"/>
              </a:rPr>
              <a:t>WITNESSED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0" y="4297680"/>
            <a:ext cx="2377440" cy="1005840"/>
          </a:xfrm>
          <a:prstGeom prst="rect">
            <a:avLst/>
          </a:prstGeom>
          <a:solidFill>
            <a:srgbClr val="EFF6FF"/>
          </a:solidFill>
          <a:ln w="25400">
            <a:solidFill>
              <a:srgbClr val="1A56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ctr"/>
          <a:lstStyle/>
          <a:p>
            <a:pPr algn="ctr"/>
            <a:r>
              <a:rPr sz="1900" b="1">
                <a:solidFill>
                  <a:srgbClr val="1A56A4"/>
                </a:solidFill>
                <a:latin typeface="Calibri"/>
              </a:rPr>
              <a:t>PRACTICED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4297680"/>
            <a:ext cx="2377440" cy="1005840"/>
          </a:xfrm>
          <a:prstGeom prst="rect">
            <a:avLst/>
          </a:prstGeom>
          <a:solidFill>
            <a:srgbClr val="FFF3CD"/>
          </a:solidFill>
          <a:ln w="25400">
            <a:solidFill>
              <a:srgbClr val="9240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ctr"/>
          <a:lstStyle/>
          <a:p>
            <a:pPr algn="ctr"/>
            <a:r>
              <a:rPr sz="1900" b="1">
                <a:solidFill>
                  <a:srgbClr val="92400E"/>
                </a:solidFill>
                <a:latin typeface="Calibri"/>
              </a:rPr>
              <a:t>TAUGHT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6A4F"/>
                </a:solidFill>
                <a:latin typeface="Calibri"/>
              </a:rPr>
              <a:t>HOW IT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88952" cy="32004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38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alibri"/>
              </a:rPr>
              <a:t>Three Gates — All Must 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6A4F"/>
                </a:solidFill>
                <a:latin typeface="Calibri"/>
              </a:rPr>
              <a:t>Gate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3474720" cy="4023360"/>
          </a:xfrm>
          <a:prstGeom prst="rect">
            <a:avLst/>
          </a:prstGeom>
          <a:solidFill>
            <a:srgbClr val="F0F9F4"/>
          </a:solidFill>
          <a:ln w="25400">
            <a:solidFill>
              <a:srgbClr val="2D6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37160" rtlCol="0" anchor="ctr"/>
          <a:lstStyle/>
          <a:p>
            <a:pPr algn="ctr"/>
            <a:r>
              <a:rPr sz="1600" b="1" dirty="0">
                <a:solidFill>
                  <a:srgbClr val="2D6A4F"/>
                </a:solidFill>
                <a:latin typeface="Calibri"/>
              </a:rPr>
              <a:t>Watch an expert do the skill</a:t>
            </a:r>
          </a:p>
          <a:p>
            <a:pPr algn="ctr"/>
            <a:r>
              <a:rPr sz="1400" b="0" dirty="0">
                <a:solidFill>
                  <a:srgbClr val="1A1A1A"/>
                </a:solidFill>
                <a:latin typeface="Calibri"/>
              </a:rPr>
              <a:t>in a real working context.</a:t>
            </a:r>
          </a:p>
          <a:p>
            <a:pPr algn="ctr"/>
            <a:endParaRPr sz="1400" b="0" dirty="0">
              <a:solidFill>
                <a:srgbClr val="1A1A1A"/>
              </a:solidFill>
              <a:latin typeface="Calibri"/>
            </a:endParaRPr>
          </a:p>
          <a:p>
            <a:pPr algn="ctr"/>
            <a:r>
              <a:rPr sz="1400" b="0" dirty="0">
                <a:solidFill>
                  <a:srgbClr val="1A1A1A"/>
                </a:solidFill>
                <a:latin typeface="Calibri"/>
              </a:rPr>
              <a:t>Your mentor demonstrates.</a:t>
            </a:r>
            <a:endParaRPr lang="en-US" sz="1400" b="0" dirty="0">
              <a:solidFill>
                <a:srgbClr val="1A1A1A"/>
              </a:solidFill>
              <a:latin typeface="Calibri"/>
            </a:endParaRPr>
          </a:p>
          <a:p>
            <a:pPr algn="ctr"/>
            <a:r>
              <a:rPr lang="en-US" sz="1400" dirty="0">
                <a:solidFill>
                  <a:srgbClr val="1A1A1A"/>
                </a:solidFill>
                <a:latin typeface="Calibri"/>
              </a:rPr>
              <a:t>You may request to be shown repeatedly.</a:t>
            </a:r>
            <a:endParaRPr sz="1400" b="0" dirty="0">
              <a:solidFill>
                <a:srgbClr val="1A1A1A"/>
              </a:solidFill>
              <a:latin typeface="Calibri"/>
            </a:endParaRPr>
          </a:p>
          <a:p>
            <a:pPr algn="ctr"/>
            <a:r>
              <a:rPr sz="1400" b="0" dirty="0">
                <a:solidFill>
                  <a:srgbClr val="1A1A1A"/>
                </a:solidFill>
                <a:latin typeface="Calibri"/>
              </a:rPr>
              <a:t>You observe and attest</a:t>
            </a:r>
            <a:r>
              <a:rPr lang="en-US" sz="1400" b="0" dirty="0">
                <a:solidFill>
                  <a:srgbClr val="1A1A1A"/>
                </a:solidFill>
                <a:latin typeface="Calibri"/>
              </a:rPr>
              <a:t> that you understand how to perform the skill.</a:t>
            </a:r>
            <a:endParaRPr sz="1400" b="0" dirty="0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023360" y="356616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16916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56A4"/>
                </a:solidFill>
                <a:latin typeface="Calibri"/>
              </a:rPr>
              <a:t>Gate 2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2011680"/>
            <a:ext cx="3474720" cy="4023360"/>
          </a:xfrm>
          <a:prstGeom prst="rect">
            <a:avLst/>
          </a:prstGeom>
          <a:solidFill>
            <a:srgbClr val="EFF6FF"/>
          </a:solidFill>
          <a:ln w="25400">
            <a:solidFill>
              <a:srgbClr val="1A56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37160" rtlCol="0" anchor="ctr"/>
          <a:lstStyle/>
          <a:p>
            <a:pPr algn="ctr"/>
            <a:r>
              <a:rPr sz="1600" b="1" dirty="0">
                <a:solidFill>
                  <a:srgbClr val="1A56A4"/>
                </a:solidFill>
                <a:latin typeface="Calibri"/>
              </a:rPr>
              <a:t>Do the skill yourself,</a:t>
            </a:r>
          </a:p>
          <a:p>
            <a:pPr algn="ctr"/>
            <a:r>
              <a:rPr sz="1400" b="0" dirty="0">
                <a:solidFill>
                  <a:srgbClr val="1A1A1A"/>
                </a:solidFill>
                <a:latin typeface="Calibri"/>
              </a:rPr>
              <a:t>with your mentor watching.</a:t>
            </a:r>
          </a:p>
          <a:p>
            <a:pPr algn="ctr"/>
            <a:endParaRPr sz="1400" b="0" dirty="0">
              <a:solidFill>
                <a:srgbClr val="1A1A1A"/>
              </a:solidFill>
              <a:latin typeface="Calibri"/>
            </a:endParaRPr>
          </a:p>
          <a:p>
            <a:pPr algn="ctr"/>
            <a:r>
              <a:rPr sz="1400" b="0" dirty="0">
                <a:solidFill>
                  <a:srgbClr val="1A1A1A"/>
                </a:solidFill>
                <a:latin typeface="Calibri"/>
              </a:rPr>
              <a:t>Both of you attest.</a:t>
            </a:r>
          </a:p>
          <a:p>
            <a:pPr algn="ctr"/>
            <a:r>
              <a:rPr sz="1400" b="0" dirty="0">
                <a:solidFill>
                  <a:srgbClr val="1A1A1A"/>
                </a:solidFill>
                <a:latin typeface="Calibri"/>
              </a:rPr>
              <a:t>You may try again </a:t>
            </a:r>
            <a:r>
              <a:rPr lang="en-US" sz="1400" dirty="0">
                <a:solidFill>
                  <a:srgbClr val="1A1A1A"/>
                </a:solidFill>
                <a:latin typeface="Calibri"/>
              </a:rPr>
              <a:t>as </a:t>
            </a:r>
            <a:r>
              <a:rPr sz="1400" b="0" dirty="0">
                <a:solidFill>
                  <a:srgbClr val="1A1A1A"/>
                </a:solidFill>
                <a:latin typeface="Calibri"/>
              </a:rPr>
              <a:t>needed.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20" y="356616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16916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2400E"/>
                </a:solidFill>
                <a:latin typeface="Calibri"/>
              </a:rPr>
              <a:t>Gate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2011680"/>
            <a:ext cx="3474720" cy="4023360"/>
          </a:xfrm>
          <a:prstGeom prst="rect">
            <a:avLst/>
          </a:prstGeom>
          <a:solidFill>
            <a:srgbClr val="FFF3CD"/>
          </a:solidFill>
          <a:ln w="25400">
            <a:solidFill>
              <a:srgbClr val="9240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37160" rtlCol="0" anchor="ctr"/>
          <a:lstStyle/>
          <a:p>
            <a:pPr algn="ctr"/>
            <a:r>
              <a:rPr sz="1600" b="1" dirty="0">
                <a:solidFill>
                  <a:srgbClr val="92400E"/>
                </a:solidFill>
                <a:latin typeface="Calibri"/>
              </a:rPr>
              <a:t>Teach someone new.</a:t>
            </a:r>
          </a:p>
          <a:p>
            <a:pPr algn="ctr"/>
            <a:r>
              <a:rPr sz="1400" b="0" dirty="0">
                <a:solidFill>
                  <a:srgbClr val="1A1A1A"/>
                </a:solidFill>
                <a:latin typeface="Calibri"/>
              </a:rPr>
              <a:t>Your mentor watches the teaching.</a:t>
            </a:r>
          </a:p>
          <a:p>
            <a:pPr algn="ctr"/>
            <a:endParaRPr sz="1400" b="0" dirty="0">
              <a:solidFill>
                <a:srgbClr val="1A1A1A"/>
              </a:solidFill>
              <a:latin typeface="Calibri"/>
            </a:endParaRPr>
          </a:p>
          <a:p>
            <a:pPr algn="ctr"/>
            <a:r>
              <a:rPr sz="1400" b="0" dirty="0">
                <a:solidFill>
                  <a:srgbClr val="1A1A1A"/>
                </a:solidFill>
                <a:latin typeface="Calibri"/>
              </a:rPr>
              <a:t>Your student's practice session</a:t>
            </a:r>
          </a:p>
          <a:p>
            <a:pPr algn="ctr"/>
            <a:r>
              <a:rPr sz="1400" b="0" dirty="0">
                <a:solidFill>
                  <a:srgbClr val="1A1A1A"/>
                </a:solidFill>
                <a:latin typeface="Calibri"/>
              </a:rPr>
              <a:t>is your evidence.</a:t>
            </a:r>
            <a:endParaRPr lang="en-US" sz="1400" b="0" dirty="0">
              <a:solidFill>
                <a:srgbClr val="1A1A1A"/>
              </a:solidFill>
              <a:latin typeface="Calibri"/>
            </a:endParaRPr>
          </a:p>
          <a:p>
            <a:pPr algn="ctr"/>
            <a:endParaRPr lang="en-US" sz="1400" dirty="0">
              <a:solidFill>
                <a:srgbClr val="1A1A1A"/>
              </a:solidFill>
              <a:latin typeface="Calibri"/>
            </a:endParaRPr>
          </a:p>
          <a:p>
            <a:pPr algn="ctr"/>
            <a:r>
              <a:rPr lang="en-US" sz="1400" dirty="0">
                <a:solidFill>
                  <a:srgbClr val="1A1A1A"/>
                </a:solidFill>
                <a:latin typeface="Calibri"/>
              </a:rPr>
              <a:t>For you to</a:t>
            </a:r>
            <a:r>
              <a:rPr lang="en-US" sz="1400" b="0" dirty="0">
                <a:solidFill>
                  <a:srgbClr val="1A1A1A"/>
                </a:solidFill>
                <a:latin typeface="Calibri"/>
              </a:rPr>
              <a:t> be certified by your teacher for successfully teaching anther person, your teacher must agree that your student has met your teacher’s standard.</a:t>
            </a:r>
            <a:endParaRPr sz="1400" b="0" dirty="0">
              <a:solidFill>
                <a:srgbClr val="1A1A1A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6A4F"/>
                </a:solidFill>
                <a:latin typeface="Calibri"/>
              </a:rPr>
              <a:t>WHAT YOU GET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88952" cy="32004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38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alibri"/>
              </a:rPr>
              <a:t>A Verifiable Digital Badge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Calibri"/>
              </a:rPr>
              <a:t>Each credential shows:</a:t>
            </a:r>
          </a:p>
          <a:p>
            <a:pPr algn="l"/>
            <a:endParaRPr sz="1800" b="1">
              <a:solidFill>
                <a:srgbClr val="1A1A1A"/>
              </a:solidFill>
              <a:latin typeface="Calibri"/>
            </a:endParaRP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  ·  The skill name and issuing NDC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  ·  When each gate was completed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  ·  Your mentor's name (clickable)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  ·  The full attempt history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  ·  A Verify button</a:t>
            </a:r>
          </a:p>
          <a:p>
            <a:pPr algn="l"/>
            <a:endParaRPr sz="1600" b="0">
              <a:solidFill>
                <a:srgbClr val="1A1A1A"/>
              </a:solidFill>
              <a:latin typeface="Calibri"/>
            </a:endParaRPr>
          </a:p>
          <a:p>
            <a:pPr algn="l"/>
            <a:r>
              <a:rPr sz="1800" b="0">
                <a:solidFill>
                  <a:srgbClr val="1A1A1A"/>
                </a:solidFill>
                <a:latin typeface="Calibri"/>
              </a:rPr>
              <a:t>Anyone can click Verify.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Confirmed instantly. No login required.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554480"/>
            <a:ext cx="5303520" cy="4663440"/>
          </a:xfrm>
          <a:prstGeom prst="rect">
            <a:avLst/>
          </a:prstGeom>
          <a:solidFill>
            <a:srgbClr val="F0F9F4"/>
          </a:solidFill>
          <a:ln w="25400">
            <a:solidFill>
              <a:srgbClr val="2D6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0" y="1554480"/>
            <a:ext cx="5303520" cy="6858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92240" y="1627632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ReLocalize Creativity Network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202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1FAE5"/>
                </a:solidFill>
                <a:latin typeface="Calibri"/>
              </a:rPr>
              <a:t>Bellingham WA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42316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D6A4F"/>
                </a:solidFill>
                <a:latin typeface="Calibri"/>
              </a:rPr>
              <a:t>Causal Loop Diagramming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97180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✓  SEE ONE      Oct 15, 2025   Kerry Turner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✓  DO ONE       Nov 20, 2025   Kerry Turner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✓  TEACH ONE    Dec 10, 2025   Kerry Turner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43434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Calibri"/>
              </a:rPr>
              <a:t>Issued by RCN · Dec 10, 2025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0" y="4846320"/>
            <a:ext cx="1828800" cy="50292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50608" y="4919472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  Verify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491947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D6A4F"/>
                </a:solidFill>
                <a:latin typeface="Calibri"/>
              </a:rPr>
              <a:t>Verified  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6A4F"/>
                </a:solidFill>
                <a:latin typeface="Calibri"/>
              </a:rPr>
              <a:t>HOW SKILLS SPREAD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88952" cy="32004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38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alibri"/>
              </a:rPr>
              <a:t>Every Credential Records the Chain of Transmission</a:t>
            </a:r>
          </a:p>
        </p:txBody>
      </p:sp>
      <p:sp>
        <p:nvSpPr>
          <p:cNvPr id="5" name="Oval 4"/>
          <p:cNvSpPr/>
          <p:nvPr/>
        </p:nvSpPr>
        <p:spPr>
          <a:xfrm>
            <a:off x="914400" y="1828800"/>
            <a:ext cx="1463040" cy="1463040"/>
          </a:xfrm>
          <a:prstGeom prst="ellipse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01168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Kerry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4231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Turner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8328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475569"/>
                </a:solidFill>
                <a:latin typeface="Calibri"/>
              </a:rPr>
              <a:t>Founding mentor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228600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3108960" y="1828800"/>
            <a:ext cx="1463040" cy="1463040"/>
          </a:xfrm>
          <a:prstGeom prst="ellipse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154680" y="201168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Marc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24231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Pierson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3832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475569"/>
                </a:solidFill>
                <a:latin typeface="Calibri"/>
              </a:rPr>
              <a:t>Credentialed · now teaches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28600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0" y="1463040"/>
            <a:ext cx="1097280" cy="1097280"/>
          </a:xfrm>
          <a:prstGeom prst="ellipse">
            <a:avLst/>
          </a:prstGeom>
          <a:solidFill>
            <a:srgbClr val="1A5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30952" y="1737360"/>
            <a:ext cx="1051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Noah</a:t>
            </a:r>
          </a:p>
        </p:txBody>
      </p:sp>
      <p:sp>
        <p:nvSpPr>
          <p:cNvPr id="17" name="Oval 16"/>
          <p:cNvSpPr/>
          <p:nvPr/>
        </p:nvSpPr>
        <p:spPr>
          <a:xfrm>
            <a:off x="6629400" y="1463040"/>
            <a:ext cx="1097280" cy="1097280"/>
          </a:xfrm>
          <a:prstGeom prst="ellipse">
            <a:avLst/>
          </a:prstGeom>
          <a:solidFill>
            <a:srgbClr val="1A5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56832" y="1737360"/>
            <a:ext cx="1051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Aisha</a:t>
            </a:r>
          </a:p>
        </p:txBody>
      </p:sp>
      <p:sp>
        <p:nvSpPr>
          <p:cNvPr id="19" name="Oval 18"/>
          <p:cNvSpPr/>
          <p:nvPr/>
        </p:nvSpPr>
        <p:spPr>
          <a:xfrm>
            <a:off x="7955279" y="1463040"/>
            <a:ext cx="1097280" cy="1097280"/>
          </a:xfrm>
          <a:prstGeom prst="ellipse">
            <a:avLst/>
          </a:prstGeom>
          <a:solidFill>
            <a:srgbClr val="1A5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982711" y="1737360"/>
            <a:ext cx="1051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Carlos</a:t>
            </a:r>
          </a:p>
        </p:txBody>
      </p:sp>
      <p:sp>
        <p:nvSpPr>
          <p:cNvPr id="21" name="Oval 20"/>
          <p:cNvSpPr/>
          <p:nvPr/>
        </p:nvSpPr>
        <p:spPr>
          <a:xfrm>
            <a:off x="9281159" y="1463040"/>
            <a:ext cx="1097280" cy="1097280"/>
          </a:xfrm>
          <a:prstGeom prst="ellipse">
            <a:avLst/>
          </a:prstGeom>
          <a:solidFill>
            <a:srgbClr val="1A5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308591" y="1737360"/>
            <a:ext cx="1051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Deb</a:t>
            </a:r>
          </a:p>
        </p:txBody>
      </p:sp>
      <p:sp>
        <p:nvSpPr>
          <p:cNvPr id="23" name="Oval 22"/>
          <p:cNvSpPr/>
          <p:nvPr/>
        </p:nvSpPr>
        <p:spPr>
          <a:xfrm>
            <a:off x="10607040" y="1463040"/>
            <a:ext cx="1097280" cy="1097280"/>
          </a:xfrm>
          <a:prstGeom prst="ellipse">
            <a:avLst/>
          </a:prstGeom>
          <a:solidFill>
            <a:srgbClr val="1A5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634472" y="1737360"/>
            <a:ext cx="1051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Jerome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283464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475569"/>
                </a:solidFill>
                <a:latin typeface="Calibri"/>
              </a:rPr>
              <a:t>Five students — each now on their own credentialing path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749039"/>
            <a:ext cx="11247120" cy="914400"/>
          </a:xfrm>
          <a:prstGeom prst="rect">
            <a:avLst/>
          </a:prstGeom>
          <a:solidFill>
            <a:srgbClr val="F0F9F4"/>
          </a:solidFill>
          <a:ln w="19050">
            <a:solidFill>
              <a:srgbClr val="2D6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" y="388620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2D6A4F"/>
                </a:solidFill>
                <a:latin typeface="Calibri"/>
              </a:rPr>
              <a:t>The skill doesn't just spread — the record of how it spread is permanently preserved in every credential.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9377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94A3B8"/>
                </a:solidFill>
                <a:latin typeface="Calibri"/>
              </a:rPr>
              <a:t>Real example: Causal Loop Diagramming · RCN · Bellingham WA · 2025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D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Your credential belongs to you.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0" y="1737360"/>
            <a:ext cx="6675120" cy="36576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D1FAE5"/>
                </a:solidFill>
                <a:latin typeface="Calibri"/>
              </a:rPr>
              <a:t>The key is yours, made on your own device —
no one else ever holds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D1FAE5"/>
                </a:solidFill>
                <a:latin typeface="Calibri"/>
              </a:rPr>
              <a:t>Your portfolio is your own site —
nobody can edit your account of the 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D1FAE5"/>
                </a:solidFill>
                <a:latin typeface="Calibri"/>
              </a:rPr>
              <a:t>Anyone can verify it —
no login, no server, no third party.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5216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7AB89A"/>
                </a:solidFill>
                <a:latin typeface="Calibri"/>
              </a:rPr>
              <a:t>No institution can revoke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6A4F"/>
                </a:solidFill>
                <a:latin typeface="Calibri"/>
              </a:rPr>
              <a:t>SKILLS REGISTRY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88952" cy="32004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38560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 dirty="0">
                <a:solidFill>
                  <a:srgbClr val="1A1A1A"/>
                </a:solidFill>
                <a:latin typeface="Calibri"/>
              </a:rPr>
              <a:t>8 Active Credentials · 23+ Skills Planned</a:t>
            </a:r>
            <a:r>
              <a:rPr lang="en-US" sz="3400" b="1" i="0" dirty="0">
                <a:solidFill>
                  <a:srgbClr val="1A1A1A"/>
                </a:solidFill>
                <a:latin typeface="Calibri"/>
              </a:rPr>
              <a:t> </a:t>
            </a:r>
          </a:p>
          <a:p>
            <a:pPr algn="l"/>
            <a:r>
              <a:rPr lang="en-US" sz="3400" b="1" i="0" dirty="0">
                <a:solidFill>
                  <a:srgbClr val="1A1A1A"/>
                </a:solidFill>
                <a:latin typeface="Calibri"/>
              </a:rPr>
              <a:t>(THIS PAGE IS NOT ACCURATE—DEMO ONLY)</a:t>
            </a:r>
            <a:endParaRPr sz="3400" b="1" i="0" dirty="0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164592" cy="16459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66420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6A4F"/>
                </a:solidFill>
                <a:latin typeface="Calibri"/>
              </a:rPr>
              <a:t>Issued and verified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0574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✓  Causal Loop Diagramming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3288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✓  e-VSM Basic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008376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 dirty="0">
                <a:solidFill>
                  <a:srgbClr val="1A1A1A"/>
                </a:solidFill>
                <a:latin typeface="Calibri"/>
              </a:rPr>
              <a:t>✓  e-VSM Intermediate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483864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✓  e-VSM Site Manager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959352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✓  EIP Basic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4348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✓  EIP Intermediate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91032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✓  EIP Expert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385816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✓  Stock and Flow Diagramming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1691640"/>
            <a:ext cx="164592" cy="16459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29400" y="166420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75569"/>
                </a:solidFill>
                <a:latin typeface="Calibri"/>
              </a:rPr>
              <a:t>Planned for the registry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05740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75569"/>
                </a:solidFill>
                <a:latin typeface="Calibri"/>
              </a:rPr>
              <a:t>○  System Dynamics Modeling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532888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75569"/>
                </a:solidFill>
                <a:latin typeface="Calibri"/>
              </a:rPr>
              <a:t>○  Viable Systems Model (VSM)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008376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475569"/>
                </a:solidFill>
                <a:latin typeface="Calibri"/>
              </a:rPr>
              <a:t>○  Object Process Methodology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483864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75569"/>
                </a:solidFill>
                <a:latin typeface="Calibri"/>
              </a:rPr>
              <a:t>○  Six Context Questions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959352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75569"/>
                </a:solidFill>
                <a:latin typeface="Calibri"/>
              </a:rPr>
              <a:t>○  Vester Sensitivity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43484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75569"/>
                </a:solidFill>
                <a:latin typeface="Calibri"/>
              </a:rPr>
              <a:t>○  A3 Problem Solving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910328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75569"/>
                </a:solidFill>
                <a:latin typeface="Calibri"/>
              </a:rPr>
              <a:t>○  FedWiki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5385816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75569"/>
                </a:solidFill>
                <a:latin typeface="Calibri"/>
              </a:rPr>
              <a:t>○  Ganz Organizing Story Sequence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5861304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75569"/>
                </a:solidFill>
                <a:latin typeface="Calibri"/>
              </a:rPr>
              <a:t>○  Cynefin  · DSRP  · 15 Ps  · and more…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89320" y="1645920"/>
            <a:ext cx="27432" cy="4754880"/>
          </a:xfrm>
          <a:prstGeom prst="rect">
            <a:avLst/>
          </a:prstGeom>
          <a:solidFill>
            <a:srgbClr val="E0E0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56A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914400"/>
            <a:ext cx="1069848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400" b="1" i="0" dirty="0">
                <a:solidFill>
                  <a:srgbClr val="FFFFFF"/>
                </a:solidFill>
                <a:latin typeface="Calibri"/>
              </a:rPr>
              <a:t>Thes</a:t>
            </a:r>
            <a:r>
              <a:rPr lang="en-US" sz="3400" b="1" dirty="0">
                <a:solidFill>
                  <a:srgbClr val="FFFFFF"/>
                </a:solidFill>
                <a:latin typeface="Calibri"/>
              </a:rPr>
              <a:t>e c</a:t>
            </a:r>
            <a:r>
              <a:rPr sz="3400" b="1" i="0" dirty="0">
                <a:solidFill>
                  <a:srgbClr val="FFFFFF"/>
                </a:solidFill>
                <a:latin typeface="Calibri"/>
              </a:rPr>
              <a:t>redential</a:t>
            </a:r>
            <a:r>
              <a:rPr lang="en-US" sz="3400" b="1" i="0" dirty="0">
                <a:solidFill>
                  <a:srgbClr val="FFFFFF"/>
                </a:solidFill>
                <a:latin typeface="Calibri"/>
              </a:rPr>
              <a:t>s</a:t>
            </a:r>
            <a:r>
              <a:rPr sz="34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US" sz="3400" b="1" i="0" dirty="0">
                <a:solidFill>
                  <a:srgbClr val="FFFFFF"/>
                </a:solidFill>
                <a:latin typeface="Calibri"/>
              </a:rPr>
              <a:t>encourage</a:t>
            </a:r>
            <a:r>
              <a:rPr sz="3400" b="1" i="0" dirty="0">
                <a:solidFill>
                  <a:srgbClr val="FFFFFF"/>
                </a:solidFill>
                <a:latin typeface="Calibri"/>
              </a:rPr>
              <a:t>  </a:t>
            </a:r>
            <a:r>
              <a:rPr lang="en-US" sz="3400" b="1" i="0" dirty="0">
                <a:solidFill>
                  <a:srgbClr val="FFFFFF"/>
                </a:solidFill>
                <a:latin typeface="Calibri"/>
              </a:rPr>
              <a:t>local trading </a:t>
            </a:r>
            <a:r>
              <a:rPr sz="3400" b="1" i="0" dirty="0">
                <a:solidFill>
                  <a:srgbClr val="FFFFFF"/>
                </a:solidFill>
                <a:latin typeface="Calibri"/>
              </a:rPr>
              <a:t>econom</a:t>
            </a:r>
            <a:r>
              <a:rPr lang="en-US" sz="3400" b="1" i="0" dirty="0">
                <a:solidFill>
                  <a:srgbClr val="FFFFFF"/>
                </a:solidFill>
                <a:latin typeface="Calibri"/>
              </a:rPr>
              <a:t>ies.</a:t>
            </a:r>
            <a:endParaRPr sz="34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200400" y="3108960"/>
            <a:ext cx="5760720" cy="4572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DBEAFE"/>
                </a:solidFill>
                <a:latin typeface="Calibri"/>
              </a:rPr>
              <a:t>SODOTO connects to a contract system designed for community economics — one that works in dollars, time, and gift.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9EBBE8"/>
                </a:solidFill>
                <a:latin typeface="Calibri"/>
              </a:rPr>
              <a:t>Conversations for Action · Dyadic Smart Contract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56A4"/>
                </a:solidFill>
                <a:latin typeface="Calibri"/>
              </a:rPr>
              <a:t>CfA-dSC  ·  FAIR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88952" cy="32004"/>
          </a:xfrm>
          <a:prstGeom prst="rect">
            <a:avLst/>
          </a:prstGeom>
          <a:solidFill>
            <a:srgbClr val="1A5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3856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dirty="0">
                <a:solidFill>
                  <a:srgbClr val="1A1A1A"/>
                </a:solidFill>
                <a:latin typeface="Calibri"/>
              </a:rPr>
              <a:t>Contracts Settled in Three Currencies</a:t>
            </a:r>
            <a:endParaRPr lang="en-US" sz="3000" b="1" i="0" dirty="0">
              <a:solidFill>
                <a:srgbClr val="1A1A1A"/>
              </a:solidFill>
              <a:latin typeface="Calibri"/>
            </a:endParaRPr>
          </a:p>
          <a:p>
            <a:pPr algn="l"/>
            <a:r>
              <a:rPr lang="en-US" sz="3000" b="1" dirty="0">
                <a:solidFill>
                  <a:srgbClr val="1A1A1A"/>
                </a:solidFill>
                <a:latin typeface="Calibri"/>
              </a:rPr>
              <a:t>(Not deployed)</a:t>
            </a:r>
            <a:endParaRPr sz="3000" b="1" i="0" dirty="0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365760" y="1828800"/>
            <a:ext cx="3657600" cy="59436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ctr"/>
          <a:lstStyle/>
          <a:p>
            <a:pPr algn="ctr"/>
            <a:r>
              <a:rPr sz="1700" b="1">
                <a:solidFill>
                  <a:srgbClr val="2D6A4F"/>
                </a:solidFill>
                <a:latin typeface="Calibri"/>
              </a:rPr>
              <a:t>DOLLARS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423160"/>
            <a:ext cx="3657600" cy="2834640"/>
          </a:xfrm>
          <a:prstGeom prst="rect">
            <a:avLst/>
          </a:prstGeom>
          <a:solidFill>
            <a:srgbClr val="F0F9F4"/>
          </a:solidFill>
          <a:ln w="19050">
            <a:solidFill>
              <a:srgbClr val="2D6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2560320"/>
            <a:ext cx="3383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A1A1A"/>
                </a:solidFill>
                <a:latin typeface="Calibri"/>
              </a:rPr>
              <a:t>A minimum floor — always paid in cash. The fiat amount is agreed upfront and guaranteed regardless of how the rest settles.</a:t>
            </a:r>
          </a:p>
          <a:p>
            <a:pPr>
              <a:spcBef>
                <a:spcPts val="1000"/>
              </a:spcBef>
            </a:pPr>
            <a:r>
              <a:rPr sz="1300" i="1">
                <a:solidFill>
                  <a:srgbClr val="2D6A4F"/>
                </a:solidFill>
                <a:latin typeface="Calibri"/>
              </a:rPr>
              <a:t>CHW example:
$50 floor on a $100 visit.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79392" y="1828800"/>
            <a:ext cx="3657600" cy="594360"/>
          </a:xfrm>
          <a:prstGeom prst="rect">
            <a:avLst/>
          </a:prstGeom>
          <a:solidFill>
            <a:srgbClr val="1A5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ctr"/>
          <a:lstStyle/>
          <a:p>
            <a:pPr algn="ctr"/>
            <a:r>
              <a:rPr sz="1700" b="1">
                <a:solidFill>
                  <a:srgbClr val="1A56A4"/>
                </a:solidFill>
                <a:latin typeface="Calibri"/>
              </a:rPr>
              <a:t>TIME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2423160"/>
            <a:ext cx="3657600" cy="2834640"/>
          </a:xfrm>
          <a:prstGeom prst="rect">
            <a:avLst/>
          </a:prstGeom>
          <a:solidFill>
            <a:srgbClr val="EFF6FF"/>
          </a:solidFill>
          <a:ln w="19050">
            <a:solidFill>
              <a:srgbClr val="1A56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16552" y="2560320"/>
            <a:ext cx="3383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A1A1A"/>
                </a:solidFill>
                <a:latin typeface="Calibri"/>
              </a:rPr>
              <a:t>Hours exchanged within the NDC time-dollar network at an agreed rate. Parties decide their own comfort level with time-dollar liquidity.</a:t>
            </a:r>
          </a:p>
          <a:p>
            <a:pPr>
              <a:spcBef>
                <a:spcPts val="1000"/>
              </a:spcBef>
            </a:pPr>
            <a:r>
              <a:rPr sz="1300" i="1">
                <a:solidFill>
                  <a:srgbClr val="1A56A4"/>
                </a:solidFill>
                <a:latin typeface="Calibri"/>
              </a:rPr>
              <a:t>CHW example:
Up to 1 hr @ $25/hr rate.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93024" y="1828800"/>
            <a:ext cx="3657600" cy="594360"/>
          </a:xfrm>
          <a:prstGeom prst="rect">
            <a:avLst/>
          </a:prstGeom>
          <a:solidFill>
            <a:srgbClr val="924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ctr"/>
          <a:lstStyle/>
          <a:p>
            <a:pPr algn="ctr"/>
            <a:r>
              <a:rPr sz="1700" b="1">
                <a:solidFill>
                  <a:srgbClr val="92400E"/>
                </a:solidFill>
                <a:latin typeface="Calibri"/>
              </a:rPr>
              <a:t>GIFT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93024" y="2423160"/>
            <a:ext cx="3657600" cy="2834640"/>
          </a:xfrm>
          <a:prstGeom prst="rect">
            <a:avLst/>
          </a:prstGeom>
          <a:solidFill>
            <a:srgbClr val="FFF3CD"/>
          </a:solidFill>
          <a:ln w="19050">
            <a:solidFill>
              <a:srgbClr val="9240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30184" y="2560320"/>
            <a:ext cx="3383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A1A1A"/>
                </a:solidFill>
                <a:latin typeface="Calibri"/>
              </a:rPr>
              <a:t>A voluntary contribution — unconditional or tied to an outcome. Can flow either direction: provider to client, or client to provider.</a:t>
            </a:r>
          </a:p>
          <a:p>
            <a:pPr>
              <a:spcBef>
                <a:spcPts val="1000"/>
              </a:spcBef>
            </a:pPr>
            <a:r>
              <a:rPr sz="1300" i="1">
                <a:solidFill>
                  <a:srgbClr val="92400E"/>
                </a:solidFill>
                <a:latin typeface="Calibri"/>
              </a:rPr>
              <a:t>CHW example:
$25 fee reduction, CHW → patient.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Calibri"/>
              </a:rPr>
              <a:t>IN PRACTICE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88952" cy="32004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3856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dirty="0">
                <a:solidFill>
                  <a:srgbClr val="1A1A1A"/>
                </a:solidFill>
                <a:latin typeface="Calibri"/>
              </a:rPr>
              <a:t>A Day in the Life</a:t>
            </a:r>
            <a:endParaRPr lang="en-US" sz="3000" b="1" i="0" dirty="0">
              <a:solidFill>
                <a:srgbClr val="1A1A1A"/>
              </a:solidFill>
              <a:latin typeface="Calibri"/>
            </a:endParaRPr>
          </a:p>
          <a:p>
            <a:pPr algn="l"/>
            <a:r>
              <a:rPr lang="en-US" sz="3000" b="1" dirty="0">
                <a:solidFill>
                  <a:srgbClr val="1A1A1A"/>
                </a:solidFill>
                <a:latin typeface="Calibri"/>
              </a:rPr>
              <a:t>(Use case)</a:t>
            </a:r>
            <a:endParaRPr sz="3000" b="1" i="0" dirty="0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475569"/>
                </a:solidFill>
                <a:latin typeface="Calibri"/>
              </a:rPr>
              <a:t>Maria is a Community Health Worker in Superior AZ.</a:t>
            </a:r>
          </a:p>
        </p:txBody>
      </p:sp>
      <p:sp>
        <p:nvSpPr>
          <p:cNvPr id="6" name="Oval 5"/>
          <p:cNvSpPr/>
          <p:nvPr/>
        </p:nvSpPr>
        <p:spPr>
          <a:xfrm>
            <a:off x="365760" y="2377439"/>
            <a:ext cx="502920" cy="502920"/>
          </a:xfrm>
          <a:prstGeom prst="ellipse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84048" y="2423160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3172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D6A4F"/>
                </a:solidFill>
                <a:latin typeface="Calibri"/>
              </a:rPr>
              <a:t>Maria earns her eVSM Site Manager credential.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15768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Calibri"/>
              </a:rPr>
              <a:t>Three gates, witnessed by her mentor, signed by the Superior AZ NDC. The credential is on her FedWiki page.</a:t>
            </a:r>
          </a:p>
        </p:txBody>
      </p:sp>
      <p:sp>
        <p:nvSpPr>
          <p:cNvPr id="10" name="Oval 9"/>
          <p:cNvSpPr/>
          <p:nvPr/>
        </p:nvSpPr>
        <p:spPr>
          <a:xfrm>
            <a:off x="365760" y="3428999"/>
            <a:ext cx="502920" cy="502920"/>
          </a:xfrm>
          <a:prstGeom prst="ellipse">
            <a:avLst/>
          </a:prstGeom>
          <a:solidFill>
            <a:srgbClr val="1A5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84048" y="3474720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383279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56A4"/>
                </a:solidFill>
                <a:latin typeface="Calibri"/>
              </a:rPr>
              <a:t>The NDC contracts for Maria to run a neighborhood assessment.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767328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Calibri"/>
              </a:rPr>
              <a:t>A fair contract — $400 total. $200 cash floor. Up to $100 in time-dollars. $100 gift to the community from the NDC.</a:t>
            </a:r>
          </a:p>
        </p:txBody>
      </p:sp>
      <p:sp>
        <p:nvSpPr>
          <p:cNvPr id="14" name="Oval 13"/>
          <p:cNvSpPr/>
          <p:nvPr/>
        </p:nvSpPr>
        <p:spPr>
          <a:xfrm>
            <a:off x="365760" y="4480559"/>
            <a:ext cx="502920" cy="502920"/>
          </a:xfrm>
          <a:prstGeom prst="ellipse">
            <a:avLst/>
          </a:prstGeom>
          <a:solidFill>
            <a:srgbClr val="924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84048" y="4526279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43484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2400E"/>
                </a:solidFill>
                <a:latin typeface="Calibri"/>
              </a:rPr>
              <a:t>Maria teaches her colleague Rosa.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818888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Calibri"/>
              </a:rPr>
              <a:t>Rosa practices the skill. Rosa's practice session is the evidence. Maria's TeachOne credential is issued.</a:t>
            </a:r>
          </a:p>
        </p:txBody>
      </p:sp>
      <p:sp>
        <p:nvSpPr>
          <p:cNvPr id="18" name="Oval 17"/>
          <p:cNvSpPr/>
          <p:nvPr/>
        </p:nvSpPr>
        <p:spPr>
          <a:xfrm>
            <a:off x="365760" y="5532120"/>
            <a:ext cx="502920" cy="502920"/>
          </a:xfrm>
          <a:prstGeom prst="ellipse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84048" y="5577840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48640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D6A4F"/>
                </a:solidFill>
                <a:latin typeface="Calibri"/>
              </a:rPr>
              <a:t>Rosa joins the network.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870448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Calibri"/>
              </a:rPr>
              <a:t>Her credential path begins. The skill chain grows. The teaching relationship is recorded permanently.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6A4F"/>
                </a:solidFill>
                <a:latin typeface="Calibri"/>
              </a:rPr>
              <a:t>CURRENT STATE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88952" cy="32004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38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alibri"/>
              </a:rPr>
              <a:t>What Exists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691640"/>
            <a:ext cx="7132320" cy="4389120"/>
          </a:xfrm>
          <a:prstGeom prst="rect">
            <a:avLst/>
          </a:prstGeom>
          <a:solidFill>
            <a:srgbClr val="F0F9F4"/>
          </a:solidFill>
          <a:ln w="12700">
            <a:solidFill>
              <a:srgbClr val="2D6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783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6A4F"/>
                </a:solidFill>
                <a:latin typeface="Calibri"/>
              </a:rPr>
              <a:t>Working 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240280"/>
            <a:ext cx="6858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✓  Live on the public web over HTTPS — nothing runs on a personal machine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761488"/>
            <a:ext cx="6858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✓  Everyone holds their own key, made on their own device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282696"/>
            <a:ext cx="6858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✓  Everyone owns their own site — signed in by key, no password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803904"/>
            <a:ext cx="6858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✓  Browser-based issuance tool — gate recording, signing, FedWiki writes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325112"/>
            <a:ext cx="6858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✓  Verification works entirely in the browser — no server, no blockchain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846320"/>
            <a:ext cx="6858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1A1A1A"/>
                </a:solidFill>
                <a:latin typeface="Calibri"/>
              </a:rPr>
              <a:t>✓  </a:t>
            </a:r>
            <a:r>
              <a:rPr lang="en-US" sz="1300" dirty="0">
                <a:solidFill>
                  <a:srgbClr val="1A1A1A"/>
                </a:solidFill>
                <a:latin typeface="Calibri"/>
              </a:rPr>
              <a:t>C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redentials issued and verified; 5 NDCs with signing identities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0" y="1691640"/>
            <a:ext cx="4023360" cy="4389120"/>
          </a:xfrm>
          <a:prstGeom prst="rect">
            <a:avLst/>
          </a:prstGeom>
          <a:solidFill>
            <a:srgbClr val="FFF3CD"/>
          </a:solidFill>
          <a:ln w="12700">
            <a:solidFill>
              <a:srgbClr val="9240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09560" y="17830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2400E"/>
                </a:solidFill>
                <a:latin typeface="Calibri"/>
              </a:rPr>
              <a:t>In progress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2240280"/>
            <a:ext cx="37490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→  Onboarding made simple enough to do unaided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3246120"/>
            <a:ext cx="37490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→  Coordinatorless issuance — designed and tested, not yet switched 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4251960"/>
            <a:ext cx="37490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→  CfA-dSC contracts being connected to the credential system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9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6A4F"/>
                </a:solidFill>
                <a:latin typeface="Calibri"/>
              </a:rPr>
              <a:t>FOR YOUR NDC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88952" cy="32004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38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alibri"/>
              </a:rPr>
              <a:t>What Joining Gives Your Community</a:t>
            </a:r>
          </a:p>
        </p:txBody>
      </p:sp>
      <p:sp>
        <p:nvSpPr>
          <p:cNvPr id="5" name="Oval 4"/>
          <p:cNvSpPr/>
          <p:nvPr/>
        </p:nvSpPr>
        <p:spPr>
          <a:xfrm>
            <a:off x="411480" y="1828800"/>
            <a:ext cx="365760" cy="365760"/>
          </a:xfrm>
          <a:prstGeom prst="ellipse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29768" y="1856231"/>
            <a:ext cx="3474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73736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D6A4F"/>
                </a:solidFill>
                <a:latin typeface="Calibri"/>
              </a:rPr>
              <a:t>A skills registry  </a:t>
            </a:r>
            <a:r>
              <a:rPr sz="1600">
                <a:solidFill>
                  <a:srgbClr val="1A1A1A"/>
                </a:solidFill>
                <a:latin typeface="Calibri"/>
              </a:rPr>
              <a:t>specific to your NDC — built from the shared RCN registry and extended with your community's skills.</a:t>
            </a:r>
          </a:p>
        </p:txBody>
      </p:sp>
      <p:sp>
        <p:nvSpPr>
          <p:cNvPr id="8" name="Oval 7"/>
          <p:cNvSpPr/>
          <p:nvPr/>
        </p:nvSpPr>
        <p:spPr>
          <a:xfrm>
            <a:off x="411480" y="2761488"/>
            <a:ext cx="365760" cy="365760"/>
          </a:xfrm>
          <a:prstGeom prst="ellipse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29768" y="2788920"/>
            <a:ext cx="3474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70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D6A4F"/>
                </a:solidFill>
                <a:latin typeface="Calibri"/>
              </a:rPr>
              <a:t>Portable credentials  </a:t>
            </a:r>
            <a:r>
              <a:rPr sz="1600">
                <a:solidFill>
                  <a:srgbClr val="1A1A1A"/>
                </a:solidFill>
                <a:latin typeface="Calibri"/>
              </a:rPr>
              <a:t>for your practitioners that travel with them and mean something beyond your own organization.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5350741"/>
            <a:ext cx="1078992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b="1" dirty="0">
                <a:solidFill>
                  <a:srgbClr val="2D6A4F"/>
                </a:solidFill>
                <a:latin typeface="Calibri"/>
              </a:rPr>
              <a:t>Future--</a:t>
            </a:r>
            <a:r>
              <a:rPr sz="1700" b="1" dirty="0">
                <a:solidFill>
                  <a:srgbClr val="2D6A4F"/>
                </a:solidFill>
                <a:latin typeface="Calibri"/>
              </a:rPr>
              <a:t>A fair contract system  </a:t>
            </a:r>
            <a:r>
              <a:rPr sz="1600" dirty="0">
                <a:solidFill>
                  <a:srgbClr val="1A1A1A"/>
                </a:solidFill>
                <a:latin typeface="Calibri"/>
              </a:rPr>
              <a:t>that recognizes dollars, time-dollars, and gift — not just cash.</a:t>
            </a:r>
          </a:p>
        </p:txBody>
      </p:sp>
      <p:sp>
        <p:nvSpPr>
          <p:cNvPr id="14" name="Oval 13"/>
          <p:cNvSpPr/>
          <p:nvPr/>
        </p:nvSpPr>
        <p:spPr>
          <a:xfrm>
            <a:off x="411480" y="3584448"/>
            <a:ext cx="365760" cy="365760"/>
          </a:xfrm>
          <a:prstGeom prst="ellipse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9768" y="3611880"/>
            <a:ext cx="34747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1" i="0" dirty="0">
                <a:solidFill>
                  <a:srgbClr val="FFFFFF"/>
                </a:solidFill>
                <a:latin typeface="Calibri"/>
              </a:rPr>
              <a:t>3</a:t>
            </a:r>
            <a:endParaRPr sz="12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60120" y="349300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D6A4F"/>
                </a:solidFill>
                <a:latin typeface="Calibri"/>
              </a:rPr>
              <a:t>A teaching chain  </a:t>
            </a:r>
            <a:r>
              <a:rPr sz="1600">
                <a:solidFill>
                  <a:srgbClr val="1A1A1A"/>
                </a:solidFill>
                <a:latin typeface="Calibri"/>
              </a:rPr>
              <a:t>that grows with every credential issued. Knowledge doesn't leave when people do.</a:t>
            </a:r>
          </a:p>
        </p:txBody>
      </p:sp>
      <p:sp>
        <p:nvSpPr>
          <p:cNvPr id="17" name="Oval 16"/>
          <p:cNvSpPr/>
          <p:nvPr/>
        </p:nvSpPr>
        <p:spPr>
          <a:xfrm>
            <a:off x="411480" y="4517136"/>
            <a:ext cx="365760" cy="365760"/>
          </a:xfrm>
          <a:prstGeom prst="ellipse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9768" y="4544568"/>
            <a:ext cx="34747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1" i="0" dirty="0">
                <a:solidFill>
                  <a:srgbClr val="FFFFFF"/>
                </a:solidFill>
                <a:latin typeface="Calibri"/>
              </a:rPr>
              <a:t>4</a:t>
            </a:r>
            <a:endParaRPr sz="12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60120" y="4425696"/>
            <a:ext cx="10789920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dirty="0">
                <a:solidFill>
                  <a:srgbClr val="2D6A4F"/>
                </a:solidFill>
                <a:latin typeface="Calibri"/>
              </a:rPr>
              <a:t>Connection to the RCN network  </a:t>
            </a:r>
            <a:r>
              <a:rPr sz="1600" dirty="0">
                <a:solidFill>
                  <a:srgbClr val="1A1A1A"/>
                </a:solidFill>
                <a:latin typeface="Calibri"/>
              </a:rPr>
              <a:t>of NDCs — credential holders recognized across the network, skills shared between communities.</a:t>
            </a:r>
            <a:endParaRPr lang="en-US" sz="1600" dirty="0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D664B7BF-CF37-CA77-C4E8-29A1243AFD52}"/>
              </a:ext>
            </a:extLst>
          </p:cNvPr>
          <p:cNvSpPr/>
          <p:nvPr/>
        </p:nvSpPr>
        <p:spPr>
          <a:xfrm>
            <a:off x="411480" y="5396461"/>
            <a:ext cx="365760" cy="365760"/>
          </a:xfrm>
          <a:prstGeom prst="ellipse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84C8DD2-3FD3-3D32-77BC-5428CAD1589C}"/>
              </a:ext>
            </a:extLst>
          </p:cNvPr>
          <p:cNvSpPr txBox="1"/>
          <p:nvPr/>
        </p:nvSpPr>
        <p:spPr>
          <a:xfrm>
            <a:off x="438785" y="5449824"/>
            <a:ext cx="34747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libri"/>
              </a:rPr>
              <a:t>5</a:t>
            </a:r>
            <a:endParaRPr sz="1200" b="1" i="0" dirty="0">
              <a:solidFill>
                <a:srgbClr val="FFFFF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6A4F"/>
                </a:solidFill>
                <a:latin typeface="Calibri"/>
              </a:rPr>
              <a:t>JOINING THE PILOT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88952" cy="32004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38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alibri"/>
              </a:rPr>
              <a:t>Three Steps to Your First Credential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828800"/>
            <a:ext cx="11430000" cy="1280160"/>
          </a:xfrm>
          <a:prstGeom prst="rect">
            <a:avLst/>
          </a:prstGeom>
          <a:solidFill>
            <a:srgbClr val="F0F9F4"/>
          </a:solidFill>
          <a:ln w="25400">
            <a:solidFill>
              <a:srgbClr val="2D6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D6A4F"/>
                </a:solidFill>
                <a:latin typeface="Calibri"/>
              </a:rPr>
              <a:t>One coordinator.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23160"/>
            <a:ext cx="10881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Your NDC designates one coordinator — the person who will learn the issuance process. We set up your NDC's signing identity together. One session, one hour.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291840"/>
            <a:ext cx="11430000" cy="1280160"/>
          </a:xfrm>
          <a:prstGeom prst="rect">
            <a:avLst/>
          </a:prstGeom>
          <a:solidFill>
            <a:srgbClr val="EFF6FF"/>
          </a:solidFill>
          <a:ln w="25400">
            <a:solidFill>
              <a:srgbClr val="1A56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56A4"/>
                </a:solidFill>
                <a:latin typeface="Calibri"/>
              </a:rPr>
              <a:t>Two willing practitioners.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86200"/>
            <a:ext cx="10881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Identify two practitioners to go through the gates for one skill. We guide you through the first three credentials. The process itself is the work — no extra paperwork.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754880"/>
            <a:ext cx="11430000" cy="1280160"/>
          </a:xfrm>
          <a:prstGeom prst="rect">
            <a:avLst/>
          </a:prstGeom>
          <a:solidFill>
            <a:srgbClr val="FFF3CD"/>
          </a:solidFill>
          <a:ln w="25400">
            <a:solidFill>
              <a:srgbClr val="9240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489204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92400E"/>
                </a:solidFill>
                <a:latin typeface="Calibri"/>
              </a:rPr>
              <a:t>One skill to start with.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349240"/>
            <a:ext cx="10881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Choose one skill from the shared registry or propose one specific to your NDC. We issue your first credential together, live.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D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09728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Join the pilot.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2560320"/>
            <a:ext cx="5760720" cy="4572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83464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D1FAE5"/>
                </a:solidFill>
                <a:latin typeface="Calibri"/>
              </a:rPr>
              <a:t>One coordinator.  Two practitioners.  One skill.
Your NDC in the registry. Your first credential issued.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75488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D1FAE5"/>
                </a:solidFill>
                <a:latin typeface="Calibri"/>
              </a:rPr>
              <a:t>Marc Pierson  ·  ReLocalize Creativity Network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2578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7AB89A"/>
                </a:solidFill>
                <a:latin typeface="Calibri"/>
              </a:rPr>
              <a:t>relocalizecreativity.net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179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A8A6A"/>
                </a:solidFill>
                <a:latin typeface="Calibri"/>
              </a:rPr>
              <a:t>ReLocalize Creativity Network · Bellingham WA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1695</TotalTime>
  <Words>1277</Words>
  <Application>Microsoft Macintosh PowerPoint</Application>
  <PresentationFormat>Custom</PresentationFormat>
  <Paragraphs>177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Marc Pierson</cp:lastModifiedBy>
  <cp:revision>2</cp:revision>
  <dcterms:created xsi:type="dcterms:W3CDTF">2013-01-27T09:14:16Z</dcterms:created>
  <dcterms:modified xsi:type="dcterms:W3CDTF">2026-09-26T22:37:41Z</dcterms:modified>
  <cp:category/>
</cp:coreProperties>
</file>