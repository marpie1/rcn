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See One,  Do One,  Teach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5760720" cy="45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1FAE5"/>
                </a:solidFill>
                <a:latin typeface="Calibri"/>
              </a:rPr>
              <a:t>Practitioner Credentialing for Neighborhood Development Cooperatives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B89A"/>
                </a:solidFill>
                <a:latin typeface="Calibri"/>
              </a:rPr>
              <a:t>ReLocalize Creativity Network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Skills and knowledge leave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  Informal apprenticeship happens everywhere — but leaves no verifiable record.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  Credentials come from distant institutions, not from the cooperatives doing the work.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  Community economics don't fit conventional payment systems.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  When experienced practitioners move on, what they knew goes with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2D6A4F"/>
                </a:solidFill>
                <a:latin typeface="Calibri"/>
              </a:rPr>
              <a:t>SODOTO addresses all three.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What SODOTO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SODOTO is a credentialing system that documents how a practitioner learned a skill — who taught them, who witnessed their practice, and who they have since taught.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75569"/>
                </a:solidFill>
                <a:latin typeface="Calibri"/>
              </a:rPr>
              <a:t>The credential is issued by your NDC — not a university, not a corporation.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297680"/>
            <a:ext cx="2377440" cy="1005840"/>
          </a:xfrm>
          <a:prstGeom prst="rect">
            <a:avLst/>
          </a:prstGeom>
          <a:solidFill>
            <a:srgbClr val="F0F9F4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900" b="1">
                <a:solidFill>
                  <a:srgbClr val="2D6A4F"/>
                </a:solidFill>
                <a:latin typeface="Calibri"/>
              </a:rPr>
              <a:t>WITNESSED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297680"/>
            <a:ext cx="2377440" cy="1005840"/>
          </a:xfrm>
          <a:prstGeom prst="rect">
            <a:avLst/>
          </a:prstGeom>
          <a:solidFill>
            <a:srgbClr val="EFF6FF"/>
          </a:solidFill>
          <a:ln w="2540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900" b="1">
                <a:solidFill>
                  <a:srgbClr val="1A56A4"/>
                </a:solidFill>
                <a:latin typeface="Calibri"/>
              </a:rPr>
              <a:t>PRACTICED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4297680"/>
            <a:ext cx="2377440" cy="1005840"/>
          </a:xfrm>
          <a:prstGeom prst="rect">
            <a:avLst/>
          </a:prstGeom>
          <a:solidFill>
            <a:srgbClr val="FFF3CD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900" b="1">
                <a:solidFill>
                  <a:srgbClr val="92400E"/>
                </a:solidFill>
                <a:latin typeface="Calibri"/>
              </a:rPr>
              <a:t>TAUGHT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Three Gates — All Must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  <a:latin typeface="Calibri"/>
              </a:rPr>
              <a:t>Gate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474720" cy="4023360"/>
          </a:xfrm>
          <a:prstGeom prst="rect">
            <a:avLst/>
          </a:prstGeom>
          <a:solidFill>
            <a:srgbClr val="F0F9F4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/>
            <a:r>
              <a:rPr sz="1600" b="1">
                <a:solidFill>
                  <a:srgbClr val="2D6A4F"/>
                </a:solidFill>
                <a:latin typeface="Calibri"/>
              </a:rPr>
              <a:t>Watch an expert do the skill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in a real working context.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Your mentor demonstrates.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 observe and attest.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A4"/>
                </a:solidFill>
                <a:latin typeface="Calibri"/>
              </a:rPr>
              <a:t>Gate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011680"/>
            <a:ext cx="3474720" cy="40233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/>
            <a:r>
              <a:rPr sz="1600" b="1">
                <a:solidFill>
                  <a:srgbClr val="1A56A4"/>
                </a:solidFill>
                <a:latin typeface="Calibri"/>
              </a:rPr>
              <a:t>Do the skill yourself,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with your mentor watching.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Both of you attest.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 may try again if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Calibri"/>
              </a:rPr>
              <a:t>Gate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3474720" cy="4023360"/>
          </a:xfrm>
          <a:prstGeom prst="rect">
            <a:avLst/>
          </a:prstGeom>
          <a:solidFill>
            <a:srgbClr val="FFF3CD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/>
            <a:r>
              <a:rPr sz="1600" b="1">
                <a:solidFill>
                  <a:srgbClr val="92400E"/>
                </a:solidFill>
                <a:latin typeface="Calibri"/>
              </a:rPr>
              <a:t>Teach someone new.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Your mentor watches the teaching.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Your student's practice session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is your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WHAT YOU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A Verifiable Digital Badge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Each credential shows: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·  The skill name and issuing NDC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·  When each gate was completed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·  Your mentor's name (clickable)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·  The full attempt history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·  A Verify button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Anyone can click Verify.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Confirmed instantly. No login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554480"/>
            <a:ext cx="5303520" cy="4663440"/>
          </a:xfrm>
          <a:prstGeom prst="rect">
            <a:avLst/>
          </a:prstGeom>
          <a:solidFill>
            <a:srgbClr val="F0F9F4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30352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ReLocalize Creativity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  <a:latin typeface="Calibri"/>
              </a:rPr>
              <a:t>Bellingham 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D6A4F"/>
                </a:solidFill>
                <a:latin typeface="Calibri"/>
              </a:rPr>
              <a:t>Causal Loop Diagramming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718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✓  SEE ONE      Oct 15, 2025   Kerry Turner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✓  DO ONE       Nov 20, 2025   Kerry Turner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✓  TEACH ONE    Dec 10, 2025   Kerry Turner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Issued by RCN · Dec 10,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4846320"/>
            <a:ext cx="182880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4919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 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Verified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HOW SKILLS SPREAD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Every Credential Records the Chain of Transmission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1463040" cy="1463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Kerry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Turner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Founding 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1828800"/>
            <a:ext cx="1463040" cy="1463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011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Pierson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Credentialed · now teaches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0" y="1463040"/>
            <a:ext cx="1097280" cy="109728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7373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Noah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1463040"/>
            <a:ext cx="1097280" cy="109728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17373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Aisha</a:t>
            </a:r>
          </a:p>
        </p:txBody>
      </p:sp>
      <p:sp>
        <p:nvSpPr>
          <p:cNvPr id="19" name="Oval 18"/>
          <p:cNvSpPr/>
          <p:nvPr/>
        </p:nvSpPr>
        <p:spPr>
          <a:xfrm>
            <a:off x="7955279" y="1463040"/>
            <a:ext cx="1097280" cy="109728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1" y="17373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Carlos</a:t>
            </a:r>
          </a:p>
        </p:txBody>
      </p:sp>
      <p:sp>
        <p:nvSpPr>
          <p:cNvPr id="21" name="Oval 20"/>
          <p:cNvSpPr/>
          <p:nvPr/>
        </p:nvSpPr>
        <p:spPr>
          <a:xfrm>
            <a:off x="9281159" y="1463040"/>
            <a:ext cx="1097280" cy="109728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17373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Deb</a:t>
            </a:r>
          </a:p>
        </p:txBody>
      </p:sp>
      <p:sp>
        <p:nvSpPr>
          <p:cNvPr id="23" name="Oval 22"/>
          <p:cNvSpPr/>
          <p:nvPr/>
        </p:nvSpPr>
        <p:spPr>
          <a:xfrm>
            <a:off x="10607040" y="1463040"/>
            <a:ext cx="1097280" cy="109728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173736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Jerome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Five students — each now on their own credentialing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solidFill>
            <a:srgbClr val="F0F9F4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86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6A4F"/>
                </a:solidFill>
                <a:latin typeface="Calibri"/>
              </a:rPr>
              <a:t>The skill doesn't just spread — the record of how it spread is permanently preserved in every credential.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Real example: Causal Loop Diagramming · RCN · Bellingham WA ·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Your credential belongs to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737360"/>
            <a:ext cx="66751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1FAE5"/>
                </a:solidFill>
                <a:latin typeface="Calibri"/>
              </a:rPr>
              <a:t>It travels with you —
no matter which NDC you work with.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1FAE5"/>
                </a:solidFill>
                <a:latin typeface="Calibri"/>
              </a:rPr>
              <a:t>Anyone can verify it —
no login, no server, no third party.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1FAE5"/>
                </a:solidFill>
                <a:latin typeface="Calibri"/>
              </a:rPr>
              <a:t>It was issued by your community —
not a distant institution.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AB89A"/>
                </a:solidFill>
                <a:latin typeface="Calibri"/>
              </a:rPr>
              <a:t>No institution can revoke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SKILLS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8 Active Credentials · 23+ Skills 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64592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Issued and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Causal Loop Diagramming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32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e-VSM 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083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e-VSM Intermediate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838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e-VSM Site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EIP Basic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EIP Intermediate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10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EIP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858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✓  Stock and Flow Diagramming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64592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Calibri"/>
              </a:rPr>
              <a:t>Planned for the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System Dynamics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32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Viable Systems Model (VSM)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0837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Object Process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838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Six Context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Vester Sensitivity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A3 Problem Solving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103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FedWiki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8581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Ganz Organizing Story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6130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○  Cynefin  · DSRP  · 15 Ps  · and more…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645920"/>
            <a:ext cx="27432" cy="4754880"/>
          </a:xfrm>
          <a:prstGeom prst="rect">
            <a:avLst/>
          </a:prstGeom>
          <a:solidFill>
            <a:srgbClr val="E0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"A credential without an economy
is just a piece of paper."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108960"/>
            <a:ext cx="5760720" cy="45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  <a:latin typeface="Calibri"/>
              </a:rPr>
              <a:t>SODOTO connects to a contract system designed for community economics — one that works in dollars, time, and gift.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EBBE8"/>
                </a:solidFill>
                <a:latin typeface="Calibri"/>
              </a:rPr>
              <a:t>Conversations for Action · Dyadic Smart 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A4"/>
                </a:solidFill>
                <a:latin typeface="Calibri"/>
              </a:rPr>
              <a:t>CfA-dSC  ·  FAIR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Contracts Settled in Three Currencies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2D6A4F"/>
                </a:solidFill>
                <a:latin typeface="Calibri"/>
              </a:rPr>
              <a:t>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3657600" cy="2834640"/>
          </a:xfrm>
          <a:prstGeom prst="rect">
            <a:avLst/>
          </a:prstGeom>
          <a:solidFill>
            <a:srgbClr val="F0F9F4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alibri"/>
              </a:rPr>
              <a:t>A minimum floor — always paid in cash. The fiat amount is agreed upfront and guaranteed regardless of how the rest settles.</a:t>
            </a:r>
          </a:p>
          <a:p>
            <a:pPr>
              <a:spcBef>
                <a:spcPts val="1000"/>
              </a:spcBef>
            </a:pPr>
            <a:r>
              <a:rPr sz="1300" i="1">
                <a:solidFill>
                  <a:srgbClr val="2D6A4F"/>
                </a:solidFill>
                <a:latin typeface="Calibri"/>
              </a:rPr>
              <a:t>CHW example:
$50 floor on a $100 visit.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828800"/>
            <a:ext cx="3657600" cy="594360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1A56A4"/>
                </a:solidFill>
                <a:latin typeface="Calibri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2423160"/>
            <a:ext cx="3657600" cy="2834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25603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alibri"/>
              </a:rPr>
              <a:t>Hours exchanged within the NDC time-dollar network at an agreed rate. Parties decide their own comfort level with time-dollar liquidity.</a:t>
            </a:r>
          </a:p>
          <a:p>
            <a:pPr>
              <a:spcBef>
                <a:spcPts val="1000"/>
              </a:spcBef>
            </a:pPr>
            <a:r>
              <a:rPr sz="1300" i="1">
                <a:solidFill>
                  <a:srgbClr val="1A56A4"/>
                </a:solidFill>
                <a:latin typeface="Calibri"/>
              </a:rPr>
              <a:t>CHW example:
Up to 1 hr @ $25/hr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828800"/>
            <a:ext cx="3657600" cy="5943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92400E"/>
                </a:solidFill>
                <a:latin typeface="Calibri"/>
              </a:rPr>
              <a:t>GIFT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2423160"/>
            <a:ext cx="3657600" cy="2834640"/>
          </a:xfrm>
          <a:prstGeom prst="rect">
            <a:avLst/>
          </a:prstGeom>
          <a:solidFill>
            <a:srgbClr val="FFF3CD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5603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alibri"/>
              </a:rPr>
              <a:t>A voluntary contribution — unconditional or tied to an outcome. Can flow either direction: provider to client, or client to provider.</a:t>
            </a:r>
          </a:p>
          <a:p>
            <a:pPr>
              <a:spcBef>
                <a:spcPts val="1000"/>
              </a:spcBef>
            </a:pPr>
            <a:r>
              <a:rPr sz="1300" i="1">
                <a:solidFill>
                  <a:srgbClr val="92400E"/>
                </a:solidFill>
                <a:latin typeface="Calibri"/>
              </a:rPr>
              <a:t>CHW example:
$25 fee reduction, CHW → patient.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A Day in the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75569"/>
                </a:solidFill>
                <a:latin typeface="Calibri"/>
              </a:rPr>
              <a:t>Maria is a Community Health Worker in Superior AZ.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2377439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242316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Calibri"/>
              </a:rPr>
              <a:t>Maria earns her eVSM Site Manager credential.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Three gates, witnessed by her mentor, signed by the Superior AZ NDC. The credential is on her FedWiki page.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428999"/>
            <a:ext cx="502920" cy="50292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4747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6A4"/>
                </a:solidFill>
                <a:latin typeface="Calibri"/>
              </a:rPr>
              <a:t>The NDC contracts for Maria to run a neighborhood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 fair contract — $400 total. $200 cash floor. Up to $100 in time-dollars. $100 gift to the community from the NDC.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480559"/>
            <a:ext cx="502920" cy="50292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526279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2400E"/>
                </a:solidFill>
                <a:latin typeface="Calibri"/>
              </a:rPr>
              <a:t>Maria teaches her colleague Rosa.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1888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Rosa practices the skill. Rosa's practice session is the evidence. Maria's TeachOne credential is issued.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55321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55778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Calibri"/>
              </a:rPr>
              <a:t>Rosa joins the network.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704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Her credential path begins. The skill chain grows. The teaching relationship is recorded permanently.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What Exists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7132320" cy="4389120"/>
          </a:xfrm>
          <a:prstGeom prst="rect">
            <a:avLst/>
          </a:prstGeom>
          <a:solidFill>
            <a:srgbClr val="F0F9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Working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8 credentials issued — all live, all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5 NDC organizations registered with signing identities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82696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Skills registry: 8 active credentials, 23+ skills planned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0390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Portfolio pages for Marc Pierson, Kerry Turner, Noah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2511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Contract creator tool — produces fair contracts with shareable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Verification works entirely in the browser — no server, no blockchain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67528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✓  FedWiki display — badges visible to anyone with the page 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91640"/>
            <a:ext cx="4023360" cy="4389120"/>
          </a:xfrm>
          <a:prstGeom prst="rect">
            <a:avLst/>
          </a:prstGeom>
          <a:solidFill>
            <a:srgbClr val="FFF3CD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240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Credential issuance will become a simple browser form (currently technical)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461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CfA-dSC contracts being connected to the credential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5196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Skills registry expanding as new cohorts come through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FOR YOUR NDC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What Joining Gives Your Community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828800"/>
            <a:ext cx="365760" cy="3657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856231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D6A4F"/>
                </a:solidFill>
                <a:latin typeface="Calibri"/>
              </a:rPr>
              <a:t>A skills registry  </a:t>
            </a:r>
            <a:r>
              <a:rPr sz="1600">
                <a:solidFill>
                  <a:srgbClr val="1A1A1A"/>
                </a:solidFill>
                <a:latin typeface="Calibri"/>
              </a:rPr>
              <a:t>specific to your NDC — built from the shared RCN registry and extended with your community's skills.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761488"/>
            <a:ext cx="365760" cy="3657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7889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D6A4F"/>
                </a:solidFill>
                <a:latin typeface="Calibri"/>
              </a:rPr>
              <a:t>Portable credentials  </a:t>
            </a:r>
            <a:r>
              <a:rPr sz="1600">
                <a:solidFill>
                  <a:srgbClr val="1A1A1A"/>
                </a:solidFill>
                <a:latin typeface="Calibri"/>
              </a:rPr>
              <a:t>for your practitioners that travel with them and mean something beyond your own organization.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694176"/>
            <a:ext cx="365760" cy="3657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72160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02736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D6A4F"/>
                </a:solidFill>
                <a:latin typeface="Calibri"/>
              </a:rPr>
              <a:t>A fair contract system  </a:t>
            </a:r>
            <a:r>
              <a:rPr sz="1600">
                <a:solidFill>
                  <a:srgbClr val="1A1A1A"/>
                </a:solidFill>
                <a:latin typeface="Calibri"/>
              </a:rPr>
              <a:t>that recognizes dollars, time-dollars, and gift — not just cash.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626864"/>
            <a:ext cx="365760" cy="3657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465429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3542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D6A4F"/>
                </a:solidFill>
                <a:latin typeface="Calibri"/>
              </a:rPr>
              <a:t>A teaching chain  </a:t>
            </a:r>
            <a:r>
              <a:rPr sz="1600">
                <a:solidFill>
                  <a:srgbClr val="1A1A1A"/>
                </a:solidFill>
                <a:latin typeface="Calibri"/>
              </a:rPr>
              <a:t>that grows with every credential issued. Knowledge doesn't leave when people do.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559552"/>
            <a:ext cx="365760" cy="3657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558698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6811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D6A4F"/>
                </a:solidFill>
                <a:latin typeface="Calibri"/>
              </a:rPr>
              <a:t>Connection to the RCN network  </a:t>
            </a:r>
            <a:r>
              <a:rPr sz="1600">
                <a:solidFill>
                  <a:srgbClr val="1A1A1A"/>
                </a:solidFill>
                <a:latin typeface="Calibri"/>
              </a:rPr>
              <a:t>of NDCs — credential holders recognized across the network, skills shared between communities.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JOINING THE 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Three Steps to Your First Credential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1430000" cy="1280160"/>
          </a:xfrm>
          <a:prstGeom prst="rect">
            <a:avLst/>
          </a:prstGeom>
          <a:solidFill>
            <a:srgbClr val="F0F9F4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A4F"/>
                </a:solidFill>
                <a:latin typeface="Calibri"/>
              </a:rPr>
              <a:t>One coordinator.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Your NDC designates one coordinator — the person who will learn the issuance process. We set up your NDC's signing identity together. One session, one hour.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91840"/>
            <a:ext cx="1143000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A4"/>
                </a:solidFill>
                <a:latin typeface="Calibri"/>
              </a:rPr>
              <a:t>Two willing practitioners.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Identify two practitioners to go through the gates for one skill. We guide you through the first three credentials. The process itself is the work — no extra paperwork.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0"/>
            <a:ext cx="11430000" cy="1280160"/>
          </a:xfrm>
          <a:prstGeom prst="rect">
            <a:avLst/>
          </a:prstGeom>
          <a:solidFill>
            <a:srgbClr val="FFF3CD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2400E"/>
                </a:solidFill>
                <a:latin typeface="Calibri"/>
              </a:rPr>
              <a:t>One skill to start with.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Choose one skill from the shared registry or propose one specific to your NDC. We issue your first credential together, live.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Join the pilot.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560320"/>
            <a:ext cx="5760720" cy="45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1FAE5"/>
                </a:solidFill>
                <a:latin typeface="Calibri"/>
              </a:rPr>
              <a:t>One coordinator.  Two practitioners.  One skill.
Your NDC in the registry. Your first credential issued.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FAE5"/>
                </a:solidFill>
                <a:latin typeface="Calibri"/>
              </a:rPr>
              <a:t>Marc Pierson  ·  ReLocalize Creativity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B89A"/>
                </a:solidFill>
                <a:latin typeface="Calibri"/>
              </a:rPr>
              <a:t>relocalizecreativity.net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8A6A"/>
                </a:solidFill>
                <a:latin typeface="Calibri"/>
              </a:rPr>
              <a:t>ReLocalize Creativity Network · Bellingham WA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