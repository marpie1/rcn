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20240"/>
            <a:ext cx="12188952" cy="2743200"/>
          </a:xfrm>
          <a:prstGeom prst="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My Personal Health Supporter  ·  RCN  ·  Open Source CC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My Personal
Health Supporter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20440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8E8"/>
                </a:solidFill>
              </a:rPr>
              <a:t>Five open-source tools for neighborhood health — giving people and communities
</a:t>
            </a:r>
            <a:r>
              <a:rPr lang="en-US" sz="1600" b="0" i="0" dirty="0">
                <a:solidFill>
                  <a:srgbClr val="B0C8E8"/>
                </a:solidFill>
              </a:rPr>
              <a:t>much of what they </a:t>
            </a:r>
            <a:r>
              <a:rPr sz="1600" b="0" i="0" dirty="0">
                <a:solidFill>
                  <a:srgbClr val="B0C8E8"/>
                </a:solidFill>
              </a:rPr>
              <a:t>need to </a:t>
            </a:r>
            <a:r>
              <a:rPr lang="en-US" sz="1600" b="0" i="0" dirty="0">
                <a:solidFill>
                  <a:srgbClr val="B0C8E8"/>
                </a:solidFill>
              </a:rPr>
              <a:t>participate fully in their own health and wellbeing</a:t>
            </a:r>
            <a:r>
              <a:rPr sz="1600" b="0" i="0" dirty="0">
                <a:solidFill>
                  <a:srgbClr val="B0C8E8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Whatcom Wealth and Health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371600"/>
            <a:ext cx="5788152" cy="25400"/>
          </a:xfrm>
          <a:prstGeom prst="rect">
            <a:avLst/>
          </a:prstGeom>
          <a:solidFill>
            <a:srgbClr val="4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45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FFFFFF"/>
                </a:solidFill>
              </a:rPr>
              <a:t>“</a:t>
            </a:r>
            <a:r>
              <a:rPr lang="en-US" sz="2400" i="1" dirty="0">
                <a:solidFill>
                  <a:srgbClr val="FFFFFF"/>
                </a:solidFill>
              </a:rPr>
              <a:t>T</a:t>
            </a:r>
            <a:r>
              <a:rPr sz="2400" b="0" i="1" dirty="0">
                <a:solidFill>
                  <a:srgbClr val="FFFFFF"/>
                </a:solidFill>
              </a:rPr>
              <a:t>he </a:t>
            </a:r>
            <a:r>
              <a:rPr lang="en-US" sz="2400" b="0" i="1" dirty="0">
                <a:solidFill>
                  <a:srgbClr val="FFFFFF"/>
                </a:solidFill>
              </a:rPr>
              <a:t>day-to-day </a:t>
            </a:r>
            <a:r>
              <a:rPr sz="2400" b="0" i="1" dirty="0">
                <a:solidFill>
                  <a:srgbClr val="FFFFFF"/>
                </a:solidFill>
              </a:rPr>
              <a:t>choices and actions that create and preserve individual health occur in the home.”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017520"/>
            <a:ext cx="5788152" cy="25400"/>
          </a:xfrm>
          <a:prstGeom prst="rect">
            <a:avLst/>
          </a:prstGeom>
          <a:solidFill>
            <a:srgbClr val="4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8E8"/>
                </a:solidFill>
              </a:rPr>
              <a:t>This is not a new idea. It is the idea we </a:t>
            </a:r>
            <a:r>
              <a:rPr lang="en-US" sz="1600" b="0" i="0" dirty="0">
                <a:solidFill>
                  <a:srgbClr val="B0C8E8"/>
                </a:solidFill>
              </a:rPr>
              <a:t>now support and </a:t>
            </a:r>
            <a:r>
              <a:rPr sz="1600" b="0" i="0" dirty="0">
                <a:solidFill>
                  <a:srgbClr val="B0C8E8"/>
                </a:solidFill>
              </a:rPr>
              <a:t>organize </a:t>
            </a:r>
            <a:r>
              <a:rPr lang="en-US" sz="1600" b="0" i="0" dirty="0">
                <a:solidFill>
                  <a:srgbClr val="B0C8E8"/>
                </a:solidFill>
              </a:rPr>
              <a:t>for</a:t>
            </a:r>
            <a:r>
              <a:rPr sz="1600" b="0" i="0" dirty="0">
                <a:solidFill>
                  <a:srgbClr val="B0C8E8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57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93C5FD"/>
                </a:solidFill>
              </a:rPr>
              <a:t>Neighborhoods are the true health system. The medical system responds to illness.
It does not produce health. These tools </a:t>
            </a:r>
            <a:r>
              <a:rPr lang="en-US" sz="1600" b="0" i="0" dirty="0">
                <a:solidFill>
                  <a:srgbClr val="93C5FD"/>
                </a:solidFill>
              </a:rPr>
              <a:t>help neighbors take better care of themselves</a:t>
            </a:r>
            <a:r>
              <a:rPr sz="1600" b="0" i="0" dirty="0">
                <a:solidFill>
                  <a:srgbClr val="93C5FD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THE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Five tools. One complete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80160"/>
            <a:ext cx="2121408" cy="4389120"/>
          </a:xfrm>
          <a:prstGeom prst="rect">
            <a:avLst/>
          </a:prstGeom>
          <a:solidFill>
            <a:srgbClr val="FAF5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7" y="1280160"/>
            <a:ext cx="2121408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7" y="1444752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</a:rPr>
              <a:t>MY SHARED
CARE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" y="214884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Person-owned clinical record. No institution holds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98063" y="1280160"/>
            <a:ext cx="2121408" cy="43891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98063" y="1280160"/>
            <a:ext cx="212140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5223" y="1444752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MY HEALTH
PICTURE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3" y="214884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The active problem view. Every problem at its level of 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19" y="1280160"/>
            <a:ext cx="2121408" cy="438912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4919" y="1280160"/>
            <a:ext cx="2121408" cy="54864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9" y="1444752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7"/>
                </a:solidFill>
              </a:rPr>
              <a:t>PANAS
PA-10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14884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Positive affect score. Shapes which problems to surface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1775" y="1280160"/>
            <a:ext cx="2121408" cy="438912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1775" y="1280160"/>
            <a:ext cx="2121408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5" y="1444752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MY HEALTH
CHOICES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5" y="214884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AI-assisted option exploration. The evidence, in plain language.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28631" y="1280160"/>
            <a:ext cx="2121408" cy="438912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28631" y="1280160"/>
            <a:ext cx="2121408" cy="5486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65791" y="1444752"/>
            <a:ext cx="1847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MY SUPPORT
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1" y="2148840"/>
            <a:ext cx="1847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27-role completeness view. Makes absence as visible as presence.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SODOTO: skill credentialing for health partners — covered on slide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TOOL 1  ·  MY SHARED CARE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One record. Person-owned.
No institution holds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Every health record before this one was owned by a clinic or hospital. My Shared Care Plan is different at its foundation: a federated, decentralized record held by the person — readable by everyone they choose to include.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33472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12 typed record sections: diagnoses, medications, vitals, visits, care team, directives, history, lab results, reactions, next steps, access log, about 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Commit+fold pattern — every entry is dated and versioned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Runs on FedWiki — decentralized, person-controlled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Every entry searchable; item.text indexed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135624" y="438912"/>
            <a:ext cx="5742432" cy="3616452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y-shared-care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75488"/>
            <a:ext cx="566928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41102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</a:rPr>
              <a:t>My Shared Care Plan · FedWiki · Medications plugin · live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4475988"/>
            <a:ext cx="2766060" cy="1389888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4567428"/>
            <a:ext cx="25466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Interfaced — not owned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4878324"/>
            <a:ext cx="25466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Physician receives exactly what they need — and nothing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75420" y="4475988"/>
            <a:ext cx="2766060" cy="1389888"/>
          </a:xfrm>
          <a:prstGeom prst="rect">
            <a:avLst/>
          </a:prstGeom>
          <a:solidFill>
            <a:srgbClr val="FAF5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5148" y="4567428"/>
            <a:ext cx="25466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</a:rPr>
              <a:t>Person-owned — always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148" y="4878324"/>
            <a:ext cx="25466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 institution holds it. Follows the person into every relationship.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TOOL 2  ·  MY HEALTH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The active problem view.
Every problem at its level of certainty.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17320"/>
            <a:ext cx="1691640" cy="329184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7" y="1417320"/>
            <a:ext cx="1691640" cy="502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7" y="152704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</a:rPr>
              <a:t>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7" y="1837944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Confirmed · Probable · Possible
Unconfirmed · Not Pursuing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2587752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Every diagnosis is a probability, not a conclusion.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7" y="1417320"/>
            <a:ext cx="1691640" cy="329184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95727" y="1417320"/>
            <a:ext cx="1691640" cy="50292"/>
          </a:xfrm>
          <a:prstGeom prst="rect">
            <a:avLst/>
          </a:prstGeom>
          <a:solidFill>
            <a:srgbClr val="924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7167" y="152704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24007"/>
                </a:solidFill>
              </a:rPr>
              <a:t>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7" y="1837944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1 Act Now · 2 Move Fast · 3 Work On It
4 Watch It · 5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7" y="2587752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Computed from probability × danger. Not assigned by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7" y="1417320"/>
            <a:ext cx="1691640" cy="329184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7" y="1417320"/>
            <a:ext cx="1691640" cy="502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7" y="152704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66E"/>
                </a:solidFill>
              </a:rPr>
              <a:t>NEXT BEST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7" y="1837944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Most important missing evidence for this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587752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Surfaced automatically — tells the health partner what to gather next.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289304"/>
            <a:ext cx="5650992" cy="3559302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my-health-pictur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63640" y="1325880"/>
            <a:ext cx="5577840" cy="34861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21207" y="4956048"/>
            <a:ext cx="11146536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5102352"/>
            <a:ext cx="10771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3A5F"/>
                </a:solidFill>
              </a:rPr>
              <a:t>When escalating: health partner sends problem + certainty level + evidence gathered + one clear question. The physician’s response goes into the Shared Care Plan — written, dated, permanent.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BUILT INTO MY HEALTH PICTURE  ·  PANAS PA-10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Positive affect score.
Shapes which problems to focus on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At each visit the person rates 10 positive-affect words on a 1–5 scale for the past week. The total score maps to one of four activation bands — which determines how much of the problem list to surface.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33472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63347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633472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263347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alert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633472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263347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attentive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2633472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40" y="263347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determined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633472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63347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enthusiastic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excited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017520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91640" y="301752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inspired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017520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301752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interested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40" y="3017520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77640" y="301752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017520"/>
            <a:ext cx="1051560" cy="31089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301752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508760"/>
            <a:ext cx="5760720" cy="749808"/>
          </a:xfrm>
          <a:prstGeom prst="rect">
            <a:avLst/>
          </a:prstGeom>
          <a:solidFill>
            <a:srgbClr val="FFF1F2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16002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1C1C"/>
                </a:solidFill>
              </a:rPr>
              <a:t>10–24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600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1C1C"/>
                </a:solidFill>
              </a:rPr>
              <a:t>Learning the basics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293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Urgent problems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350008"/>
            <a:ext cx="5760720" cy="749808"/>
          </a:xfrm>
          <a:prstGeom prst="rect">
            <a:avLst/>
          </a:prstGeom>
          <a:solidFill>
            <a:srgbClr val="FFFBEB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2441448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24007"/>
                </a:solidFill>
              </a:rPr>
              <a:t>25–31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441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4007"/>
                </a:solidFill>
              </a:rPr>
              <a:t>Building awareness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770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Urgent + important problems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191256"/>
            <a:ext cx="5760720" cy="749808"/>
          </a:xfrm>
          <a:prstGeom prst="rect">
            <a:avLst/>
          </a:prstGeom>
          <a:solidFill>
            <a:srgbClr val="F0FDF4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3282696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</a:rPr>
              <a:t>32–38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2826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6534"/>
                </a:solidFill>
              </a:rPr>
              <a:t>Taking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Full problem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32504"/>
            <a:ext cx="5760720" cy="749808"/>
          </a:xfrm>
          <a:prstGeom prst="rect">
            <a:avLst/>
          </a:prstGeom>
          <a:solidFill>
            <a:srgbClr val="EFF6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4123944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39–50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1239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Staying the course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Full list + deeper exploration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‘Show full frame’ always overrides. The record is never withheld from the person.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TOOL 3  ·  MY HEALTH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AI-assisted exploration.
The evidence, in plain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Opens pre-loaded with the person’s full clinical record and focuses on a specific problem from My Health Picture. The health partner and person ask questions together in plain language. The AI responds from the medical literature.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7860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Opens from “Explore choices” button in My Health Picture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Full SCP context pre-loaded automatically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Suggestion chips after each AI response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“Document this choice” writes back to the Shared Care Plan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 Three built fact boxes: AF anticoagulation, statin primary prevention, hypertension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8504" y="1261872"/>
            <a:ext cx="5559552" cy="3502152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my-health-choice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5080" y="1298448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</a:rPr>
              <a:t>My Health Choices · Atrial fibrillation anticoagulation fact box with Option Box dot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TOOL 4  ·  MY SUPPORT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27-role completeness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Shows the person’s care team against a maximal list of 27 roles across 5 categories: Medical, Therapy &amp; Rehab, Community &amp; Navigation, Informal Support, Practical Support. Empty roles appear as ghost nodes — absence is as visible as presence.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12848"/>
            <a:ext cx="5577840" cy="621792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2257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6534"/>
                </a:solidFill>
              </a:rPr>
              <a:t>Many health problems are support problems, not clinical problems. My Support Network makes this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" y="2971800"/>
            <a:ext cx="5449824" cy="3426714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y-suppor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99232"/>
            <a:ext cx="5394960" cy="3371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9360" y="228600"/>
            <a:ext cx="19050" cy="640080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TOOL 5  ·  SODOTO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66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See One, Do One, Teach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1155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Portable digital skill credentials for health partners. Every skill demonstrated earns a credential. Every skill taught earns a higher credential and a higher pay tier. The network teaches itself.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084831"/>
            <a:ext cx="5394960" cy="502920"/>
          </a:xfrm>
          <a:prstGeom prst="rect">
            <a:avLst/>
          </a:prstGeom>
          <a:solidFill>
            <a:srgbClr val="EFF6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92240" y="2084831"/>
            <a:ext cx="64008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8544" y="213969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Observer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39695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Witnessed the skill. Foundation credential.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651759"/>
            <a:ext cx="5394960" cy="502920"/>
          </a:xfrm>
          <a:prstGeom prst="rect">
            <a:avLst/>
          </a:prstGeom>
          <a:solidFill>
            <a:srgbClr val="F0FDFA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2651759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27066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Practitioner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70662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Performed independently. Standard pay 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218687"/>
            <a:ext cx="5394960" cy="502920"/>
          </a:xfrm>
          <a:prstGeom prst="rect">
            <a:avLst/>
          </a:prstGeom>
          <a:solidFill>
            <a:srgbClr val="F0FDF4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3218687"/>
            <a:ext cx="64008" cy="502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38544" y="32735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Teacher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27355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Taught a peer. Highest pay tier.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4808" y="3794759"/>
            <a:ext cx="5449824" cy="3426714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odoto-issu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22191"/>
            <a:ext cx="5394960" cy="33718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Five tools. One care relationship.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1298448"/>
            <a:ext cx="1965960" cy="1298448"/>
          </a:xfrm>
          <a:prstGeom prst="rect">
            <a:avLst/>
          </a:prstGeom>
          <a:solidFill>
            <a:srgbClr val="2A4F7C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408176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 Shared
Care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1396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4B5FD"/>
                </a:solidFill>
              </a:rPr>
              <a:t>clinical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1216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9232" y="1298448"/>
            <a:ext cx="1965960" cy="1298448"/>
          </a:xfrm>
          <a:prstGeom prst="rect">
            <a:avLst/>
          </a:prstGeom>
          <a:solidFill>
            <a:srgbClr val="2A4F7C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408176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 Health
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1396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</a:rPr>
              <a:t>active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1496" y="1298448"/>
            <a:ext cx="1965960" cy="1298448"/>
          </a:xfrm>
          <a:prstGeom prst="rect">
            <a:avLst/>
          </a:prstGeom>
          <a:solidFill>
            <a:srgbClr val="2A4F7C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2936" y="1408176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PANAS
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1396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CD34D"/>
                </a:solidFill>
              </a:rPr>
              <a:t>shapes the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298448"/>
            <a:ext cx="1965960" cy="1298448"/>
          </a:xfrm>
          <a:prstGeom prst="rect">
            <a:avLst/>
          </a:prstGeom>
          <a:solidFill>
            <a:srgbClr val="2A4F7C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408176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 Health
Choices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396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F6E4"/>
                </a:solidFill>
              </a:rPr>
              <a:t>explore 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7373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36024" y="1298448"/>
            <a:ext cx="1965960" cy="1298448"/>
          </a:xfrm>
          <a:prstGeom prst="rect">
            <a:avLst/>
          </a:prstGeom>
          <a:solidFill>
            <a:srgbClr val="2A4F7C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7464" y="1408176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 Support
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13969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</a:rPr>
              <a:t>who is around them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52928"/>
            <a:ext cx="5212080" cy="164592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9443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flows in: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36976"/>
            <a:ext cx="48463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SCP → Health Picture
PANAS score stored in SCP
Support Network reads SCP care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852928"/>
            <a:ext cx="5212080" cy="164592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29443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flows out: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3236976"/>
            <a:ext cx="48463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Health Choices writes shared-decision records → SCP
Physician response → SCP Plan
SODOTO credentials: independent, portable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63440"/>
            <a:ext cx="10725912" cy="1051560"/>
          </a:xfrm>
          <a:prstGeom prst="rect">
            <a:avLst/>
          </a:prstGeom>
          <a:solidFill>
            <a:srgbClr val="16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800600"/>
            <a:ext cx="10268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8E8"/>
                </a:solidFill>
              </a:rPr>
              <a:t>The Shared Care Plan is the source of truth. Every tool draws from it. Every decision writes back to it. The record grows more complete with every visit.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THE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5943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E3A5F"/>
                </a:solidFill>
              </a:rPr>
              <a:t>A </a:t>
            </a:r>
            <a:r>
              <a:rPr lang="en-US" sz="2600" b="1" i="0" dirty="0">
                <a:solidFill>
                  <a:srgbClr val="1E3A5F"/>
                </a:solidFill>
              </a:rPr>
              <a:t>helpful </a:t>
            </a:r>
            <a:r>
              <a:rPr sz="2600" b="1" i="0" dirty="0">
                <a:solidFill>
                  <a:srgbClr val="1E3A5F"/>
                </a:solidFill>
              </a:rPr>
              <a:t>neighbor</a:t>
            </a:r>
            <a:r>
              <a:rPr lang="en-US" sz="2600" b="1" dirty="0">
                <a:solidFill>
                  <a:srgbClr val="1E3A5F"/>
                </a:solidFill>
              </a:rPr>
              <a:t> </a:t>
            </a:r>
            <a:r>
              <a:rPr sz="2600" b="1" i="0" dirty="0">
                <a:solidFill>
                  <a:srgbClr val="1E3A5F"/>
                </a:solidFill>
              </a:rPr>
              <a:t>with real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5577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</a:rPr>
              <a:t>The health partner is not a healthcare extender. </a:t>
            </a:r>
            <a:r>
              <a:rPr lang="en-US" sz="1200" b="0" i="0" dirty="0">
                <a:solidFill>
                  <a:srgbClr val="333333"/>
                </a:solidFill>
              </a:rPr>
              <a:t>It is </a:t>
            </a:r>
            <a:r>
              <a:rPr sz="1200" b="0" i="0" dirty="0">
                <a:solidFill>
                  <a:srgbClr val="333333"/>
                </a:solidFill>
              </a:rPr>
              <a:t>a neighborhood </a:t>
            </a:r>
            <a:r>
              <a:rPr lang="en-US" sz="1200" b="0" i="0" dirty="0">
                <a:solidFill>
                  <a:srgbClr val="333333"/>
                </a:solidFill>
              </a:rPr>
              <a:t>role</a:t>
            </a:r>
            <a:r>
              <a:rPr sz="1200" b="0" i="0" dirty="0">
                <a:solidFill>
                  <a:srgbClr val="333333"/>
                </a:solidFill>
              </a:rPr>
              <a:t> — someone who knows the person, knows the street, and carries the full structured record into every encounter.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78608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Southcentral Foundation proved what this looks like at scale: community health aides at the center of an Alaska Native-owned system. −36% ED visits. −40% specialist visits. Sustained over decades.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2102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Southcentral Foundation  ·  Nuka System of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57200"/>
            <a:ext cx="5486400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457200"/>
            <a:ext cx="6400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5303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Health partner uses tools at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8595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Full SCP in hand. PANAS score shapes the visit. Support Network reviewed.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2801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486400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6400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5361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Structured package sent to physician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8653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Problem + certainty level + evidence gathered + one clear question.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860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468880"/>
            <a:ext cx="5486400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468880"/>
            <a:ext cx="6400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54203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Physician responds to a precise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7121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Not an open-ended chart request. A targeted, documented response.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918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74720"/>
            <a:ext cx="5486400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474720"/>
            <a:ext cx="6400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354787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Response written into Shared Care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87705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Permanent, dated, searchable. The record is richer after every escalation.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9048" y="228600"/>
            <a:ext cx="19050" cy="6400800"/>
          </a:xfrm>
          <a:prstGeom prst="rect">
            <a:avLst/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OPEN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94360"/>
            <a:ext cx="5394960" cy="2651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53949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6534"/>
                </a:solidFill>
              </a:rPr>
              <a:t>PERMANENT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2412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6534"/>
                </a:solidFill>
              </a:rPr>
              <a:t>Every tool in My Personal Health Supporter is open source CC Attribution 4.0. None are for sale. None ever will be. Anyone can use, adapt, or deploy them — without asking anyone’s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This is the founding architecture, not a policy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53949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COOPERATIVE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9436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cooperative is the financial sustainability model. Health partner microenterprises — self-managing teams of 5–15 people — are paid for problems resolved, not visits logged.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920240"/>
            <a:ext cx="5394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Tools + incentives 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59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The same record that guides care is what generates payment.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063240"/>
            <a:ext cx="5394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Earn more as problems resolve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02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Payment tied to outcomes, not to volume.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206240"/>
            <a:ext cx="5394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Network grows stronger as it grows larger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645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More partners, more coverage, more teaching.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My Personal Health Supporter · RCN · Open Source CC 4.0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Where to begin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5394960" cy="150876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502920" cy="1508760"/>
          </a:xfrm>
          <a:prstGeom prst="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2704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20700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Learn to read a Health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18488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Start with a completed example. Understand certainty levels before doing your first live visit.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1115568"/>
            <a:ext cx="5394960" cy="150876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73368" y="1115568"/>
            <a:ext cx="502920" cy="1508760"/>
          </a:xfrm>
          <a:prstGeom prst="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2704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1207008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 your first review with someone you know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618488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In their home. Use the Health Picture to guide what to gather. Take notes in the SCP.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0360"/>
            <a:ext cx="5394960" cy="150876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502920" cy="1508760"/>
          </a:xfrm>
          <a:prstGeom prst="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291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297180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Write your first Shared Care Plan note right after the visit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38328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Date it. Use the structured sections. The habit builds the record.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368" y="2880360"/>
            <a:ext cx="5394960" cy="150876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3368" y="2880360"/>
            <a:ext cx="502920" cy="1508760"/>
          </a:xfrm>
          <a:prstGeom prst="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291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97180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Complete your first SODOTO foundation credential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383280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Get it witnessed. Add it to your record. It belongs to you.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645152"/>
            <a:ext cx="5394960" cy="150876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645152"/>
            <a:ext cx="502920" cy="1508760"/>
          </a:xfrm>
          <a:prstGeom prst="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05663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473659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Add My Health Choices when a decision is approaching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514807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Open it from the problem in the Health Picture. Let the AI carry the clinical knowledge.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3368" y="4645152"/>
            <a:ext cx="5394960" cy="1508760"/>
          </a:xfrm>
          <a:prstGeom prst="rect">
            <a:avLst/>
          </a:prstGeom>
          <a:solidFill>
            <a:srgbClr val="2A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73368" y="4645152"/>
            <a:ext cx="502920" cy="1508760"/>
          </a:xfrm>
          <a:prstGeom prst="rect">
            <a:avLst/>
          </a:prstGeom>
          <a:solidFill>
            <a:srgbClr val="1A4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505663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736592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Map their Support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514807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Surface what’s missing. A support gap is often a health gap in disguise.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Detailed guides available for each tool.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1645920"/>
            <a:ext cx="5788152" cy="25400"/>
          </a:xfrm>
          <a:prstGeom prst="rect">
            <a:avLst/>
          </a:prstGeom>
          <a:solidFill>
            <a:srgbClr val="4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74519"/>
            <a:ext cx="99943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</a:rPr>
              <a:t>“Give people and their communities everything they need and want —
the knowledge, the tools, the economic support —
and watch what human beings do with their own health.”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977639"/>
            <a:ext cx="5788152" cy="25400"/>
          </a:xfrm>
          <a:prstGeom prst="rect">
            <a:avLst/>
          </a:prstGeom>
          <a:solidFill>
            <a:srgbClr val="4A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251960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My Personal Health Supporter  ·  RCN  ·  Open Source CC 4.0  ·  Marc Pierson MD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10024</TotalTime>
  <Words>1650</Words>
  <Application>Microsoft Macintosh PowerPoint</Application>
  <PresentationFormat>Custom</PresentationFormat>
  <Paragraphs>173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 Pierson</cp:lastModifiedBy>
  <cp:revision>2</cp:revision>
  <dcterms:created xsi:type="dcterms:W3CDTF">2013-01-27T09:14:16Z</dcterms:created>
  <dcterms:modified xsi:type="dcterms:W3CDTF">2026-07-17T21:12:35Z</dcterms:modified>
  <cp:category/>
</cp:coreProperties>
</file>