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640080" y="1371600"/>
            <a:ext cx="10908792" cy="320040"/>
          </a:xfrm>
          <a:prstGeom prst="rect">
            <a:avLst/>
          </a:prstGeom>
          <a:noFill/>
        </p:spPr>
        <p:txBody>
          <a:bodyPr wrap="square">
            <a:spAutoFit/>
          </a:bodyPr>
          <a:lstStyle/>
          <a:p>
            <a:pPr algn="ctr"/>
            <a:r>
              <a:rPr sz="1100" b="1" i="0">
                <a:solidFill>
                  <a:srgbClr val="B0B8CC"/>
                </a:solidFill>
              </a:rPr>
              <a:t>FOR DON BERWICK · PERSONAL · JULY 2026</a:t>
            </a:r>
          </a:p>
        </p:txBody>
      </p:sp>
      <p:sp>
        <p:nvSpPr>
          <p:cNvPr id="3" name="TextBox 2"/>
          <p:cNvSpPr txBox="1"/>
          <p:nvPr/>
        </p:nvSpPr>
        <p:spPr>
          <a:xfrm>
            <a:off x="640080" y="1828800"/>
            <a:ext cx="10908792" cy="1645920"/>
          </a:xfrm>
          <a:prstGeom prst="rect">
            <a:avLst/>
          </a:prstGeom>
          <a:noFill/>
        </p:spPr>
        <p:txBody>
          <a:bodyPr wrap="square">
            <a:spAutoFit/>
          </a:bodyPr>
          <a:lstStyle/>
          <a:p>
            <a:pPr algn="ctr"/>
            <a:r>
              <a:rPr sz="5200" b="1" i="0">
                <a:solidFill>
                  <a:srgbClr val="FFFFFF"/>
                </a:solidFill>
              </a:rPr>
              <a:t>Where Health
Actually Lives</a:t>
            </a:r>
          </a:p>
        </p:txBody>
      </p:sp>
      <p:sp>
        <p:nvSpPr>
          <p:cNvPr id="4" name="TextBox 3"/>
          <p:cNvSpPr txBox="1"/>
          <p:nvPr/>
        </p:nvSpPr>
        <p:spPr>
          <a:xfrm>
            <a:off x="1371600" y="3566160"/>
            <a:ext cx="9445752" cy="822960"/>
          </a:xfrm>
          <a:prstGeom prst="rect">
            <a:avLst/>
          </a:prstGeom>
          <a:noFill/>
        </p:spPr>
        <p:txBody>
          <a:bodyPr wrap="square">
            <a:spAutoFit/>
          </a:bodyPr>
          <a:lstStyle/>
          <a:p>
            <a:pPr algn="ctr"/>
            <a:r>
              <a:rPr sz="1800" b="0" i="0">
                <a:solidFill>
                  <a:srgbClr val="B0C8E8"/>
                </a:solidFill>
              </a:rPr>
              <a:t>Thirty years of work, a few unexpected obstacles, and a structure
that is finally ready — a personal dispatch from Marc Pierson</a:t>
            </a:r>
          </a:p>
        </p:txBody>
      </p:sp>
      <p:sp>
        <p:nvSpPr>
          <p:cNvPr id="5" name="TextBox 4"/>
          <p:cNvSpPr txBox="1"/>
          <p:nvPr/>
        </p:nvSpPr>
        <p:spPr>
          <a:xfrm>
            <a:off x="640080" y="4663440"/>
            <a:ext cx="10908792" cy="274320"/>
          </a:xfrm>
          <a:prstGeom prst="rect">
            <a:avLst/>
          </a:prstGeom>
          <a:noFill/>
        </p:spPr>
        <p:txBody>
          <a:bodyPr wrap="square">
            <a:spAutoFit/>
          </a:bodyPr>
          <a:lstStyle/>
          <a:p>
            <a:pPr algn="ctr"/>
            <a:r>
              <a:rPr sz="1000" b="0" i="0">
                <a:solidFill>
                  <a:srgbClr val="6A8FB0"/>
                </a:solidFill>
              </a:rPr>
              <a:t>Whatcom Wealth and Health  ·  My Personal Health Supporter  ·  Open Source CC 4.0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914400" y="1737360"/>
            <a:ext cx="10360152" cy="1828800"/>
          </a:xfrm>
          <a:prstGeom prst="rect">
            <a:avLst/>
          </a:prstGeom>
          <a:noFill/>
        </p:spPr>
        <p:txBody>
          <a:bodyPr wrap="square">
            <a:spAutoFit/>
          </a:bodyPr>
          <a:lstStyle/>
          <a:p>
            <a:pPr algn="ctr"/>
            <a:r>
              <a:rPr sz="2800" b="0" i="1">
                <a:solidFill>
                  <a:srgbClr val="FFFFFF"/>
                </a:solidFill>
              </a:rPr>
              <a:t>“Most of the choices and actions that create and preserve
individual health occur in the home.”</a:t>
            </a:r>
          </a:p>
        </p:txBody>
      </p:sp>
      <p:sp>
        <p:nvSpPr>
          <p:cNvPr id="3" name="TextBox 2"/>
          <p:cNvSpPr txBox="1"/>
          <p:nvPr/>
        </p:nvSpPr>
        <p:spPr>
          <a:xfrm>
            <a:off x="914400" y="3749039"/>
            <a:ext cx="10360152" cy="548640"/>
          </a:xfrm>
          <a:prstGeom prst="rect">
            <a:avLst/>
          </a:prstGeom>
          <a:noFill/>
        </p:spPr>
        <p:txBody>
          <a:bodyPr wrap="square">
            <a:spAutoFit/>
          </a:bodyPr>
          <a:lstStyle/>
          <a:p>
            <a:pPr algn="ctr"/>
            <a:r>
              <a:rPr sz="1600" b="0" i="0">
                <a:solidFill>
                  <a:srgbClr val="B0C8E8"/>
                </a:solidFill>
              </a:rPr>
              <a:t>This is not a new idea. It is the idea we have never fully organized around.</a:t>
            </a:r>
          </a:p>
        </p:txBody>
      </p:sp>
      <p:sp>
        <p:nvSpPr>
          <p:cNvPr id="4" name="TextBox 3"/>
          <p:cNvSpPr txBox="1"/>
          <p:nvPr/>
        </p:nvSpPr>
        <p:spPr>
          <a:xfrm>
            <a:off x="548640" y="6492240"/>
            <a:ext cx="10972800" cy="274320"/>
          </a:xfrm>
          <a:prstGeom prst="rect">
            <a:avLst/>
          </a:prstGeom>
          <a:noFill/>
        </p:spPr>
        <p:txBody>
          <a:bodyPr wrap="square">
            <a:spAutoFit/>
          </a:bodyPr>
          <a:lstStyle/>
          <a:p>
            <a:pPr algn="l"/>
            <a:r>
              <a:rPr sz="900" b="0" i="0">
                <a:solidFill>
                  <a:srgbClr val="888888"/>
                </a:solidFill>
              </a:rPr>
              <a:t>Where Health Actually Lives · For Don Berwick · July 2026 · CC 4.0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109728"/>
            <a:ext cx="9144000" cy="256032"/>
          </a:xfrm>
          <a:prstGeom prst="rect">
            <a:avLst/>
          </a:prstGeom>
          <a:noFill/>
        </p:spPr>
        <p:txBody>
          <a:bodyPr wrap="square">
            <a:spAutoFit/>
          </a:bodyPr>
          <a:lstStyle/>
          <a:p>
            <a:pPr algn="l"/>
            <a:r>
              <a:rPr sz="900" b="1" i="0">
                <a:solidFill>
                  <a:srgbClr val="888888"/>
                </a:solidFill>
              </a:rPr>
              <a:t>THE ORGANIZING INSIGHT</a:t>
            </a:r>
          </a:p>
        </p:txBody>
      </p:sp>
      <p:sp>
        <p:nvSpPr>
          <p:cNvPr id="3" name="TextBox 2"/>
          <p:cNvSpPr txBox="1"/>
          <p:nvPr/>
        </p:nvSpPr>
        <p:spPr>
          <a:xfrm>
            <a:off x="640080" y="457200"/>
            <a:ext cx="10515600" cy="914400"/>
          </a:xfrm>
          <a:prstGeom prst="rect">
            <a:avLst/>
          </a:prstGeom>
          <a:noFill/>
        </p:spPr>
        <p:txBody>
          <a:bodyPr wrap="square">
            <a:spAutoFit/>
          </a:bodyPr>
          <a:lstStyle/>
          <a:p>
            <a:pPr algn="l"/>
            <a:r>
              <a:rPr sz="3000" b="1" i="0">
                <a:solidFill>
                  <a:srgbClr val="1E3A5F"/>
                </a:solidFill>
              </a:rPr>
              <a:t>Neighborhoods are the true health system.
They always have been.</a:t>
            </a:r>
          </a:p>
        </p:txBody>
      </p:sp>
      <p:sp>
        <p:nvSpPr>
          <p:cNvPr id="4" name="TextBox 3"/>
          <p:cNvSpPr txBox="1"/>
          <p:nvPr/>
        </p:nvSpPr>
        <p:spPr>
          <a:xfrm>
            <a:off x="640080" y="1508760"/>
            <a:ext cx="10515600" cy="1005840"/>
          </a:xfrm>
          <a:prstGeom prst="rect">
            <a:avLst/>
          </a:prstGeom>
          <a:noFill/>
        </p:spPr>
        <p:txBody>
          <a:bodyPr wrap="square">
            <a:spAutoFit/>
          </a:bodyPr>
          <a:lstStyle/>
          <a:p>
            <a:pPr algn="l"/>
            <a:r>
              <a:rPr sz="1500" b="0" i="0">
                <a:solidFill>
                  <a:srgbClr val="333333"/>
                </a:solidFill>
              </a:rPr>
              <a:t>The relationships, habits, knowledge, mutual support, and sense of purpose that exist at neighborhood scale — these determine the majority of health outcomes. The medical system responds to illness with skill and dedication. But it does not produce health. Neighborhoods do.</a:t>
            </a:r>
          </a:p>
        </p:txBody>
      </p:sp>
      <p:sp>
        <p:nvSpPr>
          <p:cNvPr id="5" name="TextBox 4"/>
          <p:cNvSpPr txBox="1"/>
          <p:nvPr/>
        </p:nvSpPr>
        <p:spPr>
          <a:xfrm>
            <a:off x="640080" y="2606040"/>
            <a:ext cx="10515600" cy="1005840"/>
          </a:xfrm>
          <a:prstGeom prst="rect">
            <a:avLst/>
          </a:prstGeom>
          <a:noFill/>
        </p:spPr>
        <p:txBody>
          <a:bodyPr wrap="square">
            <a:spAutoFit/>
          </a:bodyPr>
          <a:lstStyle/>
          <a:p>
            <a:pPr algn="l"/>
            <a:r>
              <a:rPr sz="1500" b="0" i="0">
                <a:solidFill>
                  <a:srgbClr val="333333"/>
                </a:solidFill>
              </a:rPr>
              <a:t>What has been missing is not the right clinic, the right technology, or the right payment model. What has been missing is giving people and their communities everything they need and want to do what they were already doing — and to do it far better.</a:t>
            </a:r>
          </a:p>
        </p:txBody>
      </p:sp>
      <p:sp>
        <p:nvSpPr>
          <p:cNvPr id="6" name="TextBox 5"/>
          <p:cNvSpPr txBox="1"/>
          <p:nvPr/>
        </p:nvSpPr>
        <p:spPr>
          <a:xfrm>
            <a:off x="640080" y="3703320"/>
            <a:ext cx="10515600" cy="365760"/>
          </a:xfrm>
          <a:prstGeom prst="rect">
            <a:avLst/>
          </a:prstGeom>
          <a:noFill/>
        </p:spPr>
        <p:txBody>
          <a:bodyPr wrap="square">
            <a:spAutoFit/>
          </a:bodyPr>
          <a:lstStyle/>
          <a:p>
            <a:pPr algn="l"/>
            <a:r>
              <a:rPr sz="1500" b="1" i="0">
                <a:solidFill>
                  <a:srgbClr val="0F766E"/>
                </a:solidFill>
              </a:rPr>
              <a:t>That is what we are building.</a:t>
            </a:r>
          </a:p>
        </p:txBody>
      </p:sp>
      <p:sp>
        <p:nvSpPr>
          <p:cNvPr id="7" name="TextBox 6"/>
          <p:cNvSpPr txBox="1"/>
          <p:nvPr/>
        </p:nvSpPr>
        <p:spPr>
          <a:xfrm>
            <a:off x="548640" y="6492240"/>
            <a:ext cx="10972800" cy="274320"/>
          </a:xfrm>
          <a:prstGeom prst="rect">
            <a:avLst/>
          </a:prstGeom>
          <a:noFill/>
        </p:spPr>
        <p:txBody>
          <a:bodyPr wrap="square">
            <a:spAutoFit/>
          </a:bodyPr>
          <a:lstStyle/>
          <a:p>
            <a:pPr algn="l"/>
            <a:r>
              <a:rPr sz="900" b="0" i="0">
                <a:solidFill>
                  <a:srgbClr val="888888"/>
                </a:solidFill>
              </a:rPr>
              <a:t>Where Health Actually Lives · For Don Berwick · July 2026 · CC 4.0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640080" y="109728"/>
            <a:ext cx="9144000" cy="256032"/>
          </a:xfrm>
          <a:prstGeom prst="rect">
            <a:avLst/>
          </a:prstGeom>
          <a:noFill/>
        </p:spPr>
        <p:txBody>
          <a:bodyPr wrap="square">
            <a:spAutoFit/>
          </a:bodyPr>
          <a:lstStyle/>
          <a:p>
            <a:pPr algn="l"/>
            <a:r>
              <a:rPr sz="900" b="1" i="0">
                <a:solidFill>
                  <a:srgbClr val="888888"/>
                </a:solidFill>
              </a:rPr>
              <a:t>MY SHARED CARE PLAN — THE FOUNDING ACT</a:t>
            </a:r>
          </a:p>
        </p:txBody>
      </p:sp>
      <p:sp>
        <p:nvSpPr>
          <p:cNvPr id="3" name="TextBox 2"/>
          <p:cNvSpPr txBox="1"/>
          <p:nvPr/>
        </p:nvSpPr>
        <p:spPr>
          <a:xfrm>
            <a:off x="640080" y="457200"/>
            <a:ext cx="10515600" cy="914400"/>
          </a:xfrm>
          <a:prstGeom prst="rect">
            <a:avLst/>
          </a:prstGeom>
          <a:noFill/>
        </p:spPr>
        <p:txBody>
          <a:bodyPr wrap="square">
            <a:spAutoFit/>
          </a:bodyPr>
          <a:lstStyle/>
          <a:p>
            <a:pPr algn="l"/>
            <a:r>
              <a:rPr sz="2800" b="1" i="0">
                <a:solidFill>
                  <a:srgbClr val="1E3A5F"/>
                </a:solidFill>
              </a:rPr>
              <a:t>The first personal health record
untethered from the medical system</a:t>
            </a:r>
          </a:p>
        </p:txBody>
      </p:sp>
      <p:sp>
        <p:nvSpPr>
          <p:cNvPr id="4" name="TextBox 3"/>
          <p:cNvSpPr txBox="1"/>
          <p:nvPr/>
        </p:nvSpPr>
        <p:spPr>
          <a:xfrm>
            <a:off x="640080" y="1508760"/>
            <a:ext cx="10515600" cy="914400"/>
          </a:xfrm>
          <a:prstGeom prst="rect">
            <a:avLst/>
          </a:prstGeom>
          <a:noFill/>
        </p:spPr>
        <p:txBody>
          <a:bodyPr wrap="square">
            <a:spAutoFit/>
          </a:bodyPr>
          <a:lstStyle/>
          <a:p>
            <a:pPr algn="l"/>
            <a:r>
              <a:rPr sz="1400" b="0" i="0">
                <a:solidFill>
                  <a:srgbClr val="555555"/>
                </a:solidFill>
              </a:rPr>
              <a:t>Every health record that existed before this one was owned by a clinic, a hospital, or a health system — and could only be read, written, or moved with that institution’s permission. My Shared Care Plan is different at its foundation: a federated, decentralized record held by the person, not by any institution.</a:t>
            </a:r>
          </a:p>
        </p:txBody>
      </p:sp>
      <p:sp>
        <p:nvSpPr>
          <p:cNvPr id="5" name="Rectangle 4"/>
          <p:cNvSpPr/>
          <p:nvPr/>
        </p:nvSpPr>
        <p:spPr>
          <a:xfrm>
            <a:off x="640080" y="2606040"/>
            <a:ext cx="5212080" cy="1920240"/>
          </a:xfrm>
          <a:prstGeom prst="rect">
            <a:avLst/>
          </a:prstGeom>
          <a:solidFill>
            <a:srgbClr val="F0FDFA"/>
          </a:solidFill>
          <a:ln w="1905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715768"/>
            <a:ext cx="4919472" cy="201168"/>
          </a:xfrm>
          <a:prstGeom prst="rect">
            <a:avLst/>
          </a:prstGeom>
          <a:noFill/>
        </p:spPr>
        <p:txBody>
          <a:bodyPr wrap="square">
            <a:spAutoFit/>
          </a:bodyPr>
          <a:lstStyle/>
          <a:p>
            <a:pPr algn="l"/>
            <a:r>
              <a:rPr sz="900" b="1" i="0">
                <a:solidFill>
                  <a:srgbClr val="0F766E"/>
                </a:solidFill>
              </a:rPr>
              <a:t>INTERFACED — NOT OWNED</a:t>
            </a:r>
          </a:p>
        </p:txBody>
      </p:sp>
      <p:sp>
        <p:nvSpPr>
          <p:cNvPr id="7" name="TextBox 6"/>
          <p:cNvSpPr txBox="1"/>
          <p:nvPr/>
        </p:nvSpPr>
        <p:spPr>
          <a:xfrm>
            <a:off x="786384" y="2953512"/>
            <a:ext cx="4919472" cy="347472"/>
          </a:xfrm>
          <a:prstGeom prst="rect">
            <a:avLst/>
          </a:prstGeom>
          <a:noFill/>
        </p:spPr>
        <p:txBody>
          <a:bodyPr wrap="square">
            <a:spAutoFit/>
          </a:bodyPr>
          <a:lstStyle/>
          <a:p>
            <a:pPr algn="l"/>
            <a:r>
              <a:rPr sz="1300" b="1" i="0">
                <a:solidFill>
                  <a:srgbClr val="1E3A5F"/>
                </a:solidFill>
              </a:rPr>
              <a:t>Connects to the medical system when needed</a:t>
            </a:r>
          </a:p>
        </p:txBody>
      </p:sp>
      <p:sp>
        <p:nvSpPr>
          <p:cNvPr id="8" name="TextBox 7"/>
          <p:cNvSpPr txBox="1"/>
          <p:nvPr/>
        </p:nvSpPr>
        <p:spPr>
          <a:xfrm>
            <a:off x="786384" y="3355848"/>
            <a:ext cx="4919472" cy="1005840"/>
          </a:xfrm>
          <a:prstGeom prst="rect">
            <a:avLst/>
          </a:prstGeom>
          <a:noFill/>
        </p:spPr>
        <p:txBody>
          <a:bodyPr wrap="square">
            <a:spAutoFit/>
          </a:bodyPr>
          <a:lstStyle/>
          <a:p>
            <a:pPr algn="l"/>
            <a:r>
              <a:rPr sz="1100" b="0" i="0">
                <a:solidFill>
                  <a:srgbClr val="333333"/>
                </a:solidFill>
              </a:rPr>
              <a:t>When a problem requires physician attention, the record speaks clearly to that. Every piece of evidence, every gap, the specific question being asked. The medical system receives exactly what it needs — and nothing more.</a:t>
            </a:r>
          </a:p>
        </p:txBody>
      </p:sp>
      <p:sp>
        <p:nvSpPr>
          <p:cNvPr id="9" name="Rectangle 8"/>
          <p:cNvSpPr/>
          <p:nvPr/>
        </p:nvSpPr>
        <p:spPr>
          <a:xfrm>
            <a:off x="6336792" y="2606040"/>
            <a:ext cx="5212080" cy="1920240"/>
          </a:xfrm>
          <a:prstGeom prst="rect">
            <a:avLst/>
          </a:prstGeom>
          <a:solidFill>
            <a:srgbClr val="EFF6FF"/>
          </a:solidFill>
          <a:ln w="1905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83096" y="2715768"/>
            <a:ext cx="4919472" cy="201168"/>
          </a:xfrm>
          <a:prstGeom prst="rect">
            <a:avLst/>
          </a:prstGeom>
          <a:noFill/>
        </p:spPr>
        <p:txBody>
          <a:bodyPr wrap="square">
            <a:spAutoFit/>
          </a:bodyPr>
          <a:lstStyle/>
          <a:p>
            <a:pPr algn="l"/>
            <a:r>
              <a:rPr sz="900" b="1" i="0">
                <a:solidFill>
                  <a:srgbClr val="0F766E"/>
                </a:solidFill>
              </a:rPr>
              <a:t>PERSON-OWNED — ALWAYS</a:t>
            </a:r>
          </a:p>
        </p:txBody>
      </p:sp>
      <p:sp>
        <p:nvSpPr>
          <p:cNvPr id="11" name="TextBox 10"/>
          <p:cNvSpPr txBox="1"/>
          <p:nvPr/>
        </p:nvSpPr>
        <p:spPr>
          <a:xfrm>
            <a:off x="6483096" y="2953512"/>
            <a:ext cx="4919472" cy="347472"/>
          </a:xfrm>
          <a:prstGeom prst="rect">
            <a:avLst/>
          </a:prstGeom>
          <a:noFill/>
        </p:spPr>
        <p:txBody>
          <a:bodyPr wrap="square">
            <a:spAutoFit/>
          </a:bodyPr>
          <a:lstStyle/>
          <a:p>
            <a:pPr algn="l"/>
            <a:r>
              <a:rPr sz="1300" b="1" i="0">
                <a:solidFill>
                  <a:srgbClr val="1E3A5F"/>
                </a:solidFill>
              </a:rPr>
              <a:t>Belongs to the person, period</a:t>
            </a:r>
          </a:p>
        </p:txBody>
      </p:sp>
      <p:sp>
        <p:nvSpPr>
          <p:cNvPr id="12" name="TextBox 11"/>
          <p:cNvSpPr txBox="1"/>
          <p:nvPr/>
        </p:nvSpPr>
        <p:spPr>
          <a:xfrm>
            <a:off x="6483096" y="3355848"/>
            <a:ext cx="4919472" cy="1005840"/>
          </a:xfrm>
          <a:prstGeom prst="rect">
            <a:avLst/>
          </a:prstGeom>
          <a:noFill/>
        </p:spPr>
        <p:txBody>
          <a:bodyPr wrap="square">
            <a:spAutoFit/>
          </a:bodyPr>
          <a:lstStyle/>
          <a:p>
            <a:pPr algn="l"/>
            <a:r>
              <a:rPr sz="1100" b="0" i="0">
                <a:solidFill>
                  <a:srgbClr val="333333"/>
                </a:solidFill>
              </a:rPr>
              <a:t>No institution holds it. No clinic owns it. The person carries it into every relationship — with their health partner, their physician, their care team, their family. It follows them, not the other way around.</a:t>
            </a:r>
          </a:p>
        </p:txBody>
      </p:sp>
      <p:sp>
        <p:nvSpPr>
          <p:cNvPr id="13" name="TextBox 12"/>
          <p:cNvSpPr txBox="1"/>
          <p:nvPr/>
        </p:nvSpPr>
        <p:spPr>
          <a:xfrm>
            <a:off x="548640" y="6492240"/>
            <a:ext cx="10972800" cy="274320"/>
          </a:xfrm>
          <a:prstGeom prst="rect">
            <a:avLst/>
          </a:prstGeom>
          <a:noFill/>
        </p:spPr>
        <p:txBody>
          <a:bodyPr wrap="square">
            <a:spAutoFit/>
          </a:bodyPr>
          <a:lstStyle/>
          <a:p>
            <a:pPr algn="l"/>
            <a:r>
              <a:rPr sz="900" b="0" i="0">
                <a:solidFill>
                  <a:srgbClr val="888888"/>
                </a:solidFill>
              </a:rPr>
              <a:t>Where Health Actually Lives · For Don Berwick · July 2026 · CC 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109728"/>
            <a:ext cx="9144000" cy="256032"/>
          </a:xfrm>
          <a:prstGeom prst="rect">
            <a:avLst/>
          </a:prstGeom>
          <a:noFill/>
        </p:spPr>
        <p:txBody>
          <a:bodyPr wrap="square">
            <a:spAutoFit/>
          </a:bodyPr>
          <a:lstStyle/>
          <a:p>
            <a:pPr algn="l"/>
            <a:r>
              <a:rPr sz="900" b="1" i="0">
                <a:solidFill>
                  <a:srgbClr val="888888"/>
                </a:solidFill>
              </a:rPr>
              <a:t>WEED’S PROBLEM KNOWLEDGE COUPLER — REALIZED</a:t>
            </a:r>
          </a:p>
        </p:txBody>
      </p:sp>
      <p:sp>
        <p:nvSpPr>
          <p:cNvPr id="3" name="TextBox 2"/>
          <p:cNvSpPr txBox="1"/>
          <p:nvPr/>
        </p:nvSpPr>
        <p:spPr>
          <a:xfrm>
            <a:off x="640080" y="457200"/>
            <a:ext cx="10515600" cy="914400"/>
          </a:xfrm>
          <a:prstGeom prst="rect">
            <a:avLst/>
          </a:prstGeom>
          <a:noFill/>
        </p:spPr>
        <p:txBody>
          <a:bodyPr wrap="square">
            <a:spAutoFit/>
          </a:bodyPr>
          <a:lstStyle/>
          <a:p>
            <a:pPr algn="l"/>
            <a:r>
              <a:rPr sz="2800" b="1" i="0">
                <a:solidFill>
                  <a:srgbClr val="1E3A5F"/>
                </a:solidFill>
              </a:rPr>
              <a:t>Larry was pointing here.
We found the path he couldn’t.</a:t>
            </a:r>
          </a:p>
        </p:txBody>
      </p:sp>
      <p:sp>
        <p:nvSpPr>
          <p:cNvPr id="4" name="TextBox 3"/>
          <p:cNvSpPr txBox="1"/>
          <p:nvPr/>
        </p:nvSpPr>
        <p:spPr>
          <a:xfrm>
            <a:off x="640080" y="1508760"/>
            <a:ext cx="10515600" cy="1097280"/>
          </a:xfrm>
          <a:prstGeom prst="rect">
            <a:avLst/>
          </a:prstGeom>
          <a:noFill/>
        </p:spPr>
        <p:txBody>
          <a:bodyPr wrap="square">
            <a:spAutoFit/>
          </a:bodyPr>
          <a:lstStyle/>
          <a:p>
            <a:pPr algn="l"/>
            <a:r>
              <a:rPr sz="1300" b="0" i="0">
                <a:solidFill>
                  <a:srgbClr val="333333"/>
                </a:solidFill>
              </a:rPr>
              <a:t>Larry’s vision was always that the person should own their health knowledge — structured, evidence-linked, actionable, accessible to anyone who was trusted to help. My Health Picture realizes his structured problem list. My Health Choices is similar in intent to the coupler — connecting each active problem to the relevant medical knowledge, options, and evidence. Together they are the direct realization of what Larry pointed toward, with everything that blocked the original designed out.</a:t>
            </a:r>
          </a:p>
        </p:txBody>
      </p:sp>
      <p:sp>
        <p:nvSpPr>
          <p:cNvPr id="5" name="Rectangle 4"/>
          <p:cNvSpPr/>
          <p:nvPr/>
        </p:nvSpPr>
        <p:spPr>
          <a:xfrm>
            <a:off x="640080" y="2788920"/>
            <a:ext cx="3630168" cy="2011680"/>
          </a:xfrm>
          <a:prstGeom prst="rect">
            <a:avLst/>
          </a:prstGeom>
          <a:solidFill>
            <a:srgbClr val="FFFFFF"/>
          </a:solidFill>
          <a:ln w="19050">
            <a:solidFill>
              <a:srgbClr val="DD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898648"/>
            <a:ext cx="3337560" cy="201168"/>
          </a:xfrm>
          <a:prstGeom prst="rect">
            <a:avLst/>
          </a:prstGeom>
          <a:noFill/>
        </p:spPr>
        <p:txBody>
          <a:bodyPr wrap="square">
            <a:spAutoFit/>
          </a:bodyPr>
          <a:lstStyle/>
          <a:p>
            <a:pPr algn="l"/>
            <a:r>
              <a:rPr sz="900" b="1" i="0">
                <a:solidFill>
                  <a:srgbClr val="0F766E"/>
                </a:solidFill>
              </a:rPr>
              <a:t>WHAT LARRY HAD RIGHT</a:t>
            </a:r>
          </a:p>
        </p:txBody>
      </p:sp>
      <p:sp>
        <p:nvSpPr>
          <p:cNvPr id="7" name="TextBox 6"/>
          <p:cNvSpPr txBox="1"/>
          <p:nvPr/>
        </p:nvSpPr>
        <p:spPr>
          <a:xfrm>
            <a:off x="786384" y="3136392"/>
            <a:ext cx="3337560" cy="384048"/>
          </a:xfrm>
          <a:prstGeom prst="rect">
            <a:avLst/>
          </a:prstGeom>
          <a:noFill/>
        </p:spPr>
        <p:txBody>
          <a:bodyPr wrap="square">
            <a:spAutoFit/>
          </a:bodyPr>
          <a:lstStyle/>
          <a:p>
            <a:pPr algn="l"/>
            <a:r>
              <a:rPr sz="1200" b="1" i="0">
                <a:solidFill>
                  <a:srgbClr val="1E3A5F"/>
                </a:solidFill>
              </a:rPr>
              <a:t>The knowledge belongs at the point of care</a:t>
            </a:r>
          </a:p>
        </p:txBody>
      </p:sp>
      <p:sp>
        <p:nvSpPr>
          <p:cNvPr id="8" name="TextBox 7"/>
          <p:cNvSpPr txBox="1"/>
          <p:nvPr/>
        </p:nvSpPr>
        <p:spPr>
          <a:xfrm>
            <a:off x="786384" y="3575304"/>
            <a:ext cx="3337560" cy="1097280"/>
          </a:xfrm>
          <a:prstGeom prst="rect">
            <a:avLst/>
          </a:prstGeom>
          <a:noFill/>
        </p:spPr>
        <p:txBody>
          <a:bodyPr wrap="square">
            <a:spAutoFit/>
          </a:bodyPr>
          <a:lstStyle/>
          <a:p>
            <a:pPr algn="l"/>
            <a:r>
              <a:rPr sz="1000" b="0" i="0">
                <a:solidFill>
                  <a:srgbClr val="333333"/>
                </a:solidFill>
              </a:rPr>
              <a:t>Problems stated at their level of certainty. Evidence linked to each diagnosis. Gaps made explicit. The person and their helper as the center of the record.</a:t>
            </a:r>
          </a:p>
        </p:txBody>
      </p:sp>
      <p:sp>
        <p:nvSpPr>
          <p:cNvPr id="9" name="Rectangle 8"/>
          <p:cNvSpPr/>
          <p:nvPr/>
        </p:nvSpPr>
        <p:spPr>
          <a:xfrm>
            <a:off x="4279392" y="2788920"/>
            <a:ext cx="3630168" cy="2011680"/>
          </a:xfrm>
          <a:prstGeom prst="rect">
            <a:avLst/>
          </a:prstGeom>
          <a:solidFill>
            <a:srgbClr val="F0FDFA"/>
          </a:solidFill>
          <a:ln w="1905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25696" y="2898648"/>
            <a:ext cx="3337560" cy="201168"/>
          </a:xfrm>
          <a:prstGeom prst="rect">
            <a:avLst/>
          </a:prstGeom>
          <a:noFill/>
        </p:spPr>
        <p:txBody>
          <a:bodyPr wrap="square">
            <a:spAutoFit/>
          </a:bodyPr>
          <a:lstStyle/>
          <a:p>
            <a:pPr algn="l"/>
            <a:r>
              <a:rPr sz="900" b="1" i="0">
                <a:solidFill>
                  <a:srgbClr val="0F766E"/>
                </a:solidFill>
              </a:rPr>
              <a:t>WHAT WE ADDED</a:t>
            </a:r>
          </a:p>
        </p:txBody>
      </p:sp>
      <p:sp>
        <p:nvSpPr>
          <p:cNvPr id="11" name="TextBox 10"/>
          <p:cNvSpPr txBox="1"/>
          <p:nvPr/>
        </p:nvSpPr>
        <p:spPr>
          <a:xfrm>
            <a:off x="4425696" y="3136392"/>
            <a:ext cx="3337560" cy="384048"/>
          </a:xfrm>
          <a:prstGeom prst="rect">
            <a:avLst/>
          </a:prstGeom>
          <a:noFill/>
        </p:spPr>
        <p:txBody>
          <a:bodyPr wrap="square">
            <a:spAutoFit/>
          </a:bodyPr>
          <a:lstStyle/>
          <a:p>
            <a:pPr algn="l"/>
            <a:r>
              <a:rPr sz="1200" b="1" i="0">
                <a:solidFill>
                  <a:srgbClr val="1E3A5F"/>
                </a:solidFill>
              </a:rPr>
              <a:t>Open source · person-owned · CHW-operable</a:t>
            </a:r>
          </a:p>
        </p:txBody>
      </p:sp>
      <p:sp>
        <p:nvSpPr>
          <p:cNvPr id="12" name="TextBox 11"/>
          <p:cNvSpPr txBox="1"/>
          <p:nvPr/>
        </p:nvSpPr>
        <p:spPr>
          <a:xfrm>
            <a:off x="4425696" y="3575304"/>
            <a:ext cx="3337560" cy="1097280"/>
          </a:xfrm>
          <a:prstGeom prst="rect">
            <a:avLst/>
          </a:prstGeom>
          <a:noFill/>
        </p:spPr>
        <p:txBody>
          <a:bodyPr wrap="square">
            <a:spAutoFit/>
          </a:bodyPr>
          <a:lstStyle/>
          <a:p>
            <a:pPr algn="l"/>
            <a:r>
              <a:rPr sz="1000" b="0" i="0">
                <a:solidFill>
                  <a:srgbClr val="333333"/>
                </a:solidFill>
              </a:rPr>
              <a:t>No IP. No license. No institutional owner. A community health worker can operate these tools in a person’s home today — no physician required to run them.</a:t>
            </a:r>
          </a:p>
        </p:txBody>
      </p:sp>
      <p:sp>
        <p:nvSpPr>
          <p:cNvPr id="13" name="Rectangle 12"/>
          <p:cNvSpPr/>
          <p:nvPr/>
        </p:nvSpPr>
        <p:spPr>
          <a:xfrm>
            <a:off x="7918704" y="2788920"/>
            <a:ext cx="3630168" cy="2011680"/>
          </a:xfrm>
          <a:prstGeom prst="rect">
            <a:avLst/>
          </a:prstGeom>
          <a:solidFill>
            <a:srgbClr val="F0FDF4"/>
          </a:solidFill>
          <a:ln w="1905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65008" y="2898648"/>
            <a:ext cx="3337560" cy="201168"/>
          </a:xfrm>
          <a:prstGeom prst="rect">
            <a:avLst/>
          </a:prstGeom>
          <a:noFill/>
        </p:spPr>
        <p:txBody>
          <a:bodyPr wrap="square">
            <a:spAutoFit/>
          </a:bodyPr>
          <a:lstStyle/>
          <a:p>
            <a:pPr algn="l"/>
            <a:r>
              <a:rPr sz="900" b="1" i="0">
                <a:solidFill>
                  <a:srgbClr val="0F766E"/>
                </a:solidFill>
              </a:rPr>
              <a:t>THE MISSING PIECE LARRY NEVER HAD</a:t>
            </a:r>
          </a:p>
        </p:txBody>
      </p:sp>
      <p:sp>
        <p:nvSpPr>
          <p:cNvPr id="15" name="TextBox 14"/>
          <p:cNvSpPr txBox="1"/>
          <p:nvPr/>
        </p:nvSpPr>
        <p:spPr>
          <a:xfrm>
            <a:off x="8065008" y="3136392"/>
            <a:ext cx="3337560" cy="384048"/>
          </a:xfrm>
          <a:prstGeom prst="rect">
            <a:avLst/>
          </a:prstGeom>
          <a:noFill/>
        </p:spPr>
        <p:txBody>
          <a:bodyPr wrap="square">
            <a:spAutoFit/>
          </a:bodyPr>
          <a:lstStyle/>
          <a:p>
            <a:pPr algn="l"/>
            <a:r>
              <a:rPr sz="1200" b="1" i="0">
                <a:solidFill>
                  <a:srgbClr val="1E3A5F"/>
                </a:solidFill>
              </a:rPr>
              <a:t>A cooperative that pays for health</a:t>
            </a:r>
          </a:p>
        </p:txBody>
      </p:sp>
      <p:sp>
        <p:nvSpPr>
          <p:cNvPr id="16" name="TextBox 15"/>
          <p:cNvSpPr txBox="1"/>
          <p:nvPr/>
        </p:nvSpPr>
        <p:spPr>
          <a:xfrm>
            <a:off x="8065008" y="3575304"/>
            <a:ext cx="3337560" cy="1097280"/>
          </a:xfrm>
          <a:prstGeom prst="rect">
            <a:avLst/>
          </a:prstGeom>
          <a:noFill/>
        </p:spPr>
        <p:txBody>
          <a:bodyPr wrap="square">
            <a:spAutoFit/>
          </a:bodyPr>
          <a:lstStyle/>
          <a:p>
            <a:pPr algn="l"/>
            <a:r>
              <a:rPr sz="1000" b="0" i="0">
                <a:solidFill>
                  <a:srgbClr val="333333"/>
                </a:solidFill>
              </a:rPr>
              <a:t>When the tools live inside a system that earns more as problems are resolved, using them is how you get paid better. The incentive and the tools finally point the same direction.</a:t>
            </a:r>
          </a:p>
        </p:txBody>
      </p:sp>
      <p:sp>
        <p:nvSpPr>
          <p:cNvPr id="17" name="TextBox 16"/>
          <p:cNvSpPr txBox="1"/>
          <p:nvPr/>
        </p:nvSpPr>
        <p:spPr>
          <a:xfrm>
            <a:off x="548640" y="6492240"/>
            <a:ext cx="10972800" cy="274320"/>
          </a:xfrm>
          <a:prstGeom prst="rect">
            <a:avLst/>
          </a:prstGeom>
          <a:noFill/>
        </p:spPr>
        <p:txBody>
          <a:bodyPr wrap="square">
            <a:spAutoFit/>
          </a:bodyPr>
          <a:lstStyle/>
          <a:p>
            <a:pPr algn="l"/>
            <a:r>
              <a:rPr sz="900" b="0" i="0">
                <a:solidFill>
                  <a:srgbClr val="888888"/>
                </a:solidFill>
              </a:rPr>
              <a:t>Where Health Actually Lives · For Don Berwick · July 2026 · CC 4.0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extBox 1"/>
          <p:cNvSpPr txBox="1"/>
          <p:nvPr/>
        </p:nvSpPr>
        <p:spPr>
          <a:xfrm>
            <a:off x="640080" y="2286000"/>
            <a:ext cx="10908792" cy="365760"/>
          </a:xfrm>
          <a:prstGeom prst="rect">
            <a:avLst/>
          </a:prstGeom>
          <a:noFill/>
        </p:spPr>
        <p:txBody>
          <a:bodyPr wrap="square">
            <a:spAutoFit/>
          </a:bodyPr>
          <a:lstStyle/>
          <a:p>
            <a:pPr algn="ctr"/>
            <a:r>
              <a:rPr sz="1200" b="1" i="0">
                <a:solidFill>
                  <a:srgbClr val="80B8C8"/>
                </a:solidFill>
              </a:rPr>
              <a:t>THE TOOLS</a:t>
            </a:r>
          </a:p>
        </p:txBody>
      </p:sp>
      <p:sp>
        <p:nvSpPr>
          <p:cNvPr id="3" name="TextBox 2"/>
          <p:cNvSpPr txBox="1"/>
          <p:nvPr/>
        </p:nvSpPr>
        <p:spPr>
          <a:xfrm>
            <a:off x="640080" y="2743200"/>
            <a:ext cx="10908792" cy="914400"/>
          </a:xfrm>
          <a:prstGeom prst="rect">
            <a:avLst/>
          </a:prstGeom>
          <a:noFill/>
        </p:spPr>
        <p:txBody>
          <a:bodyPr wrap="square">
            <a:spAutoFit/>
          </a:bodyPr>
          <a:lstStyle/>
          <a:p>
            <a:pPr algn="ctr"/>
            <a:r>
              <a:rPr sz="4200" b="1" i="0">
                <a:solidFill>
                  <a:srgbClr val="FFFFFF"/>
                </a:solidFill>
              </a:rPr>
              <a:t>My Personal Health Supporter</a:t>
            </a:r>
          </a:p>
        </p:txBody>
      </p:sp>
      <p:sp>
        <p:nvSpPr>
          <p:cNvPr id="4" name="TextBox 3"/>
          <p:cNvSpPr txBox="1"/>
          <p:nvPr/>
        </p:nvSpPr>
        <p:spPr>
          <a:xfrm>
            <a:off x="640080" y="3749039"/>
            <a:ext cx="10908792" cy="365760"/>
          </a:xfrm>
          <a:prstGeom prst="rect">
            <a:avLst/>
          </a:prstGeom>
          <a:noFill/>
        </p:spPr>
        <p:txBody>
          <a:bodyPr wrap="square">
            <a:spAutoFit/>
          </a:bodyPr>
          <a:lstStyle/>
          <a:p>
            <a:pPr algn="ctr"/>
            <a:r>
              <a:rPr sz="1700" b="0" i="0">
                <a:solidFill>
                  <a:srgbClr val="80B8C8"/>
                </a:solidFill>
              </a:rPr>
              <a:t>Everything a person needs  ·  In their hands  ·  At home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109728"/>
            <a:ext cx="9144000" cy="256032"/>
          </a:xfrm>
          <a:prstGeom prst="rect">
            <a:avLst/>
          </a:prstGeom>
          <a:noFill/>
        </p:spPr>
        <p:txBody>
          <a:bodyPr wrap="square">
            <a:spAutoFit/>
          </a:bodyPr>
          <a:lstStyle/>
          <a:p>
            <a:pPr algn="l"/>
            <a:r>
              <a:rPr sz="900" b="1" i="0">
                <a:solidFill>
                  <a:srgbClr val="888888"/>
                </a:solidFill>
              </a:rPr>
              <a:t>MY PERSONAL HEALTH SUPPORTER</a:t>
            </a:r>
          </a:p>
        </p:txBody>
      </p:sp>
      <p:sp>
        <p:nvSpPr>
          <p:cNvPr id="3" name="TextBox 2"/>
          <p:cNvSpPr txBox="1"/>
          <p:nvPr/>
        </p:nvSpPr>
        <p:spPr>
          <a:xfrm>
            <a:off x="640080" y="438912"/>
            <a:ext cx="10515600" cy="914400"/>
          </a:xfrm>
          <a:prstGeom prst="rect">
            <a:avLst/>
          </a:prstGeom>
          <a:noFill/>
        </p:spPr>
        <p:txBody>
          <a:bodyPr wrap="square">
            <a:spAutoFit/>
          </a:bodyPr>
          <a:lstStyle/>
          <a:p>
            <a:pPr algn="l"/>
            <a:r>
              <a:rPr sz="2800" b="1" i="0">
                <a:solidFill>
                  <a:srgbClr val="1E3A5F"/>
                </a:solidFill>
              </a:rPr>
              <a:t>Three tools. One complete
person-centered picture.</a:t>
            </a:r>
          </a:p>
        </p:txBody>
      </p:sp>
      <p:sp>
        <p:nvSpPr>
          <p:cNvPr id="4" name="Rectangle 3"/>
          <p:cNvSpPr/>
          <p:nvPr/>
        </p:nvSpPr>
        <p:spPr>
          <a:xfrm>
            <a:off x="640080" y="1508760"/>
            <a:ext cx="3630168" cy="4114800"/>
          </a:xfrm>
          <a:prstGeom prst="rect">
            <a:avLst/>
          </a:prstGeom>
          <a:solidFill>
            <a:srgbClr val="FAF5FF"/>
          </a:solidFill>
          <a:ln w="1905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1645920"/>
            <a:ext cx="3337560" cy="201168"/>
          </a:xfrm>
          <a:prstGeom prst="rect">
            <a:avLst/>
          </a:prstGeom>
          <a:noFill/>
        </p:spPr>
        <p:txBody>
          <a:bodyPr wrap="square">
            <a:spAutoFit/>
          </a:bodyPr>
          <a:lstStyle/>
          <a:p>
            <a:pPr algn="l"/>
            <a:r>
              <a:rPr sz="900" b="1" i="0">
                <a:solidFill>
                  <a:srgbClr val="0F766E"/>
                </a:solidFill>
              </a:rPr>
              <a:t>MY SHARED CARE PLAN</a:t>
            </a:r>
          </a:p>
        </p:txBody>
      </p:sp>
      <p:sp>
        <p:nvSpPr>
          <p:cNvPr id="6" name="TextBox 5"/>
          <p:cNvSpPr txBox="1"/>
          <p:nvPr/>
        </p:nvSpPr>
        <p:spPr>
          <a:xfrm>
            <a:off x="786384" y="1892808"/>
            <a:ext cx="3337560" cy="320040"/>
          </a:xfrm>
          <a:prstGeom prst="rect">
            <a:avLst/>
          </a:prstGeom>
          <a:noFill/>
        </p:spPr>
        <p:txBody>
          <a:bodyPr wrap="square">
            <a:spAutoFit/>
          </a:bodyPr>
          <a:lstStyle/>
          <a:p>
            <a:pPr algn="l"/>
            <a:r>
              <a:rPr sz="1400" b="1" i="0">
                <a:solidFill>
                  <a:srgbClr val="1E3A5F"/>
                </a:solidFill>
              </a:rPr>
              <a:t>The medical record</a:t>
            </a:r>
          </a:p>
        </p:txBody>
      </p:sp>
      <p:sp>
        <p:nvSpPr>
          <p:cNvPr id="7" name="TextBox 6"/>
          <p:cNvSpPr txBox="1"/>
          <p:nvPr/>
        </p:nvSpPr>
        <p:spPr>
          <a:xfrm>
            <a:off x="786384" y="2286000"/>
            <a:ext cx="3337560" cy="3200400"/>
          </a:xfrm>
          <a:prstGeom prst="rect">
            <a:avLst/>
          </a:prstGeom>
          <a:noFill/>
        </p:spPr>
        <p:txBody>
          <a:bodyPr wrap="square">
            <a:spAutoFit/>
          </a:bodyPr>
          <a:lstStyle/>
          <a:p>
            <a:pPr algn="l"/>
            <a:r>
              <a:rPr sz="1200" b="0" i="0">
                <a:solidFill>
                  <a:srgbClr val="333333"/>
                </a:solidFill>
              </a:rPr>
              <a:t>The actual clinical record — diagnoses, medications, vitals, care team, visits, directives, history, lab results. Clinical ground truth. Person-owned, decentralized, no institutional owner. Every other tool draws from this.</a:t>
            </a:r>
          </a:p>
        </p:txBody>
      </p:sp>
      <p:sp>
        <p:nvSpPr>
          <p:cNvPr id="8" name="Rectangle 7"/>
          <p:cNvSpPr/>
          <p:nvPr/>
        </p:nvSpPr>
        <p:spPr>
          <a:xfrm>
            <a:off x="4279392" y="1508760"/>
            <a:ext cx="3630168" cy="4114800"/>
          </a:xfrm>
          <a:prstGeom prst="rect">
            <a:avLst/>
          </a:prstGeom>
          <a:solidFill>
            <a:srgbClr val="EFF6FF"/>
          </a:solidFill>
          <a:ln w="1905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25696" y="1645920"/>
            <a:ext cx="3337560" cy="201168"/>
          </a:xfrm>
          <a:prstGeom prst="rect">
            <a:avLst/>
          </a:prstGeom>
          <a:noFill/>
        </p:spPr>
        <p:txBody>
          <a:bodyPr wrap="square">
            <a:spAutoFit/>
          </a:bodyPr>
          <a:lstStyle/>
          <a:p>
            <a:pPr algn="l"/>
            <a:r>
              <a:rPr sz="900" b="1" i="0">
                <a:solidFill>
                  <a:srgbClr val="0F766E"/>
                </a:solidFill>
              </a:rPr>
              <a:t>MY HEALTH PICTURE</a:t>
            </a:r>
          </a:p>
        </p:txBody>
      </p:sp>
      <p:sp>
        <p:nvSpPr>
          <p:cNvPr id="10" name="TextBox 9"/>
          <p:cNvSpPr txBox="1"/>
          <p:nvPr/>
        </p:nvSpPr>
        <p:spPr>
          <a:xfrm>
            <a:off x="4425696" y="1892808"/>
            <a:ext cx="3337560" cy="320040"/>
          </a:xfrm>
          <a:prstGeom prst="rect">
            <a:avLst/>
          </a:prstGeom>
          <a:noFill/>
        </p:spPr>
        <p:txBody>
          <a:bodyPr wrap="square">
            <a:spAutoFit/>
          </a:bodyPr>
          <a:lstStyle/>
          <a:p>
            <a:pPr algn="l"/>
            <a:r>
              <a:rPr sz="1400" b="1" i="0">
                <a:solidFill>
                  <a:srgbClr val="1E3A5F"/>
                </a:solidFill>
              </a:rPr>
              <a:t>The active problem view</a:t>
            </a:r>
          </a:p>
        </p:txBody>
      </p:sp>
      <p:sp>
        <p:nvSpPr>
          <p:cNvPr id="11" name="TextBox 10"/>
          <p:cNvSpPr txBox="1"/>
          <p:nvPr/>
        </p:nvSpPr>
        <p:spPr>
          <a:xfrm>
            <a:off x="4425696" y="2286000"/>
            <a:ext cx="3337560" cy="3200400"/>
          </a:xfrm>
          <a:prstGeom prst="rect">
            <a:avLst/>
          </a:prstGeom>
          <a:noFill/>
        </p:spPr>
        <p:txBody>
          <a:bodyPr wrap="square">
            <a:spAutoFit/>
          </a:bodyPr>
          <a:lstStyle/>
          <a:p>
            <a:pPr algn="l"/>
            <a:r>
              <a:rPr sz="1200" b="0" i="0">
                <a:solidFill>
                  <a:srgbClr val="333333"/>
                </a:solidFill>
              </a:rPr>
              <a:t>Organized by Subjective, Objective, Assessment, and Plan. Draws from the SCP to show the active problem list with three flags per problem: degree of certainty, urgency, and missing data. What the health partner and person review together before every encounter.</a:t>
            </a:r>
          </a:p>
        </p:txBody>
      </p:sp>
      <p:sp>
        <p:nvSpPr>
          <p:cNvPr id="12" name="Rectangle 11"/>
          <p:cNvSpPr/>
          <p:nvPr/>
        </p:nvSpPr>
        <p:spPr>
          <a:xfrm>
            <a:off x="7918704" y="1508760"/>
            <a:ext cx="3630168" cy="4114800"/>
          </a:xfrm>
          <a:prstGeom prst="rect">
            <a:avLst/>
          </a:prstGeom>
          <a:solidFill>
            <a:srgbClr val="F0FDFA"/>
          </a:solidFill>
          <a:ln w="1905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65008" y="1645920"/>
            <a:ext cx="3337560" cy="201168"/>
          </a:xfrm>
          <a:prstGeom prst="rect">
            <a:avLst/>
          </a:prstGeom>
          <a:noFill/>
        </p:spPr>
        <p:txBody>
          <a:bodyPr wrap="square">
            <a:spAutoFit/>
          </a:bodyPr>
          <a:lstStyle/>
          <a:p>
            <a:pPr algn="l"/>
            <a:r>
              <a:rPr sz="900" b="1" i="0">
                <a:solidFill>
                  <a:srgbClr val="0F766E"/>
                </a:solidFill>
              </a:rPr>
              <a:t>MY HEALTH CHOICES</a:t>
            </a:r>
          </a:p>
        </p:txBody>
      </p:sp>
      <p:sp>
        <p:nvSpPr>
          <p:cNvPr id="14" name="TextBox 13"/>
          <p:cNvSpPr txBox="1"/>
          <p:nvPr/>
        </p:nvSpPr>
        <p:spPr>
          <a:xfrm>
            <a:off x="8065008" y="1892808"/>
            <a:ext cx="3337560" cy="320040"/>
          </a:xfrm>
          <a:prstGeom prst="rect">
            <a:avLst/>
          </a:prstGeom>
          <a:noFill/>
        </p:spPr>
        <p:txBody>
          <a:bodyPr wrap="square">
            <a:spAutoFit/>
          </a:bodyPr>
          <a:lstStyle/>
          <a:p>
            <a:pPr algn="l"/>
            <a:r>
              <a:rPr sz="1400" b="1" i="0">
                <a:solidFill>
                  <a:srgbClr val="1E3A5F"/>
                </a:solidFill>
              </a:rPr>
              <a:t>The option explorer</a:t>
            </a:r>
          </a:p>
        </p:txBody>
      </p:sp>
      <p:sp>
        <p:nvSpPr>
          <p:cNvPr id="15" name="TextBox 14"/>
          <p:cNvSpPr txBox="1"/>
          <p:nvPr/>
        </p:nvSpPr>
        <p:spPr>
          <a:xfrm>
            <a:off x="8065008" y="2286000"/>
            <a:ext cx="3337560" cy="3200400"/>
          </a:xfrm>
          <a:prstGeom prst="rect">
            <a:avLst/>
          </a:prstGeom>
          <a:noFill/>
        </p:spPr>
        <p:txBody>
          <a:bodyPr wrap="square">
            <a:spAutoFit/>
          </a:bodyPr>
          <a:lstStyle/>
          <a:p>
            <a:pPr algn="l"/>
            <a:r>
              <a:rPr sz="1200" b="0" i="0">
                <a:solidFill>
                  <a:srgbClr val="333333"/>
                </a:solidFill>
              </a:rPr>
              <a:t>AI-assisted exploration of a specific problem against the medical literature. What are the options? What does the evidence say? What are the tradeoffs? Informed decision-making at home, before the appointment — not a signature after the fact.</a:t>
            </a:r>
          </a:p>
        </p:txBody>
      </p:sp>
      <p:sp>
        <p:nvSpPr>
          <p:cNvPr id="16" name="TextBox 15"/>
          <p:cNvSpPr txBox="1"/>
          <p:nvPr/>
        </p:nvSpPr>
        <p:spPr>
          <a:xfrm>
            <a:off x="548640" y="6492240"/>
            <a:ext cx="10972800" cy="274320"/>
          </a:xfrm>
          <a:prstGeom prst="rect">
            <a:avLst/>
          </a:prstGeom>
          <a:noFill/>
        </p:spPr>
        <p:txBody>
          <a:bodyPr wrap="square">
            <a:spAutoFit/>
          </a:bodyPr>
          <a:lstStyle/>
          <a:p>
            <a:pPr algn="l"/>
            <a:r>
              <a:rPr sz="900" b="0" i="0">
                <a:solidFill>
                  <a:srgbClr val="888888"/>
                </a:solidFill>
              </a:rPr>
              <a:t>Where Health Actually Lives · For Don Berwick · July 2026 · CC 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640080" y="109728"/>
            <a:ext cx="9144000" cy="256032"/>
          </a:xfrm>
          <a:prstGeom prst="rect">
            <a:avLst/>
          </a:prstGeom>
          <a:noFill/>
        </p:spPr>
        <p:txBody>
          <a:bodyPr wrap="square">
            <a:spAutoFit/>
          </a:bodyPr>
          <a:lstStyle/>
          <a:p>
            <a:pPr algn="l"/>
            <a:r>
              <a:rPr sz="900" b="1" i="0">
                <a:solidFill>
                  <a:srgbClr val="888888"/>
                </a:solidFill>
              </a:rPr>
              <a:t>THE NEIGHBORHOOD FIGURE</a:t>
            </a:r>
          </a:p>
        </p:txBody>
      </p:sp>
      <p:sp>
        <p:nvSpPr>
          <p:cNvPr id="3" name="TextBox 2"/>
          <p:cNvSpPr txBox="1"/>
          <p:nvPr/>
        </p:nvSpPr>
        <p:spPr>
          <a:xfrm>
            <a:off x="640080" y="438912"/>
            <a:ext cx="10515600" cy="914400"/>
          </a:xfrm>
          <a:prstGeom prst="rect">
            <a:avLst/>
          </a:prstGeom>
          <a:noFill/>
        </p:spPr>
        <p:txBody>
          <a:bodyPr wrap="square">
            <a:spAutoFit/>
          </a:bodyPr>
          <a:lstStyle/>
          <a:p>
            <a:pPr algn="l"/>
            <a:r>
              <a:rPr sz="2800" b="1" i="0">
                <a:solidFill>
                  <a:srgbClr val="1E3A5F"/>
                </a:solidFill>
              </a:rPr>
              <a:t>A health partner —
from the community, in the home</a:t>
            </a:r>
          </a:p>
        </p:txBody>
      </p:sp>
      <p:sp>
        <p:nvSpPr>
          <p:cNvPr id="4" name="TextBox 3"/>
          <p:cNvSpPr txBox="1"/>
          <p:nvPr/>
        </p:nvSpPr>
        <p:spPr>
          <a:xfrm>
            <a:off x="640080" y="1508760"/>
            <a:ext cx="10515600" cy="1005840"/>
          </a:xfrm>
          <a:prstGeom prst="rect">
            <a:avLst/>
          </a:prstGeom>
          <a:noFill/>
        </p:spPr>
        <p:txBody>
          <a:bodyPr wrap="square">
            <a:spAutoFit/>
          </a:bodyPr>
          <a:lstStyle/>
          <a:p>
            <a:pPr algn="l"/>
            <a:r>
              <a:rPr sz="1400" b="0" i="0">
                <a:solidFill>
                  <a:srgbClr val="555555"/>
                </a:solidFill>
              </a:rPr>
              <a:t>The health partner is not a healthcare extender. They are a neighborhood figure with real tools — someone who knows the person, knows the street, and carries the full structured record into every encounter. The Southcentral Foundation proved what this looks like at scale: community health aides at the center of an Alaska Native-owned system, achieving results no clinic-centered model has matched.</a:t>
            </a:r>
          </a:p>
        </p:txBody>
      </p:sp>
      <p:sp>
        <p:nvSpPr>
          <p:cNvPr id="5" name="Rectangle 4"/>
          <p:cNvSpPr/>
          <p:nvPr/>
        </p:nvSpPr>
        <p:spPr>
          <a:xfrm>
            <a:off x="640080" y="2743200"/>
            <a:ext cx="2286000" cy="777240"/>
          </a:xfrm>
          <a:prstGeom prst="rect">
            <a:avLst/>
          </a:prstGeom>
          <a:solidFill>
            <a:srgbClr val="F0FDFA"/>
          </a:solidFill>
          <a:ln w="1905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816352"/>
            <a:ext cx="2103120" cy="292608"/>
          </a:xfrm>
          <a:prstGeom prst="rect">
            <a:avLst/>
          </a:prstGeom>
          <a:noFill/>
        </p:spPr>
        <p:txBody>
          <a:bodyPr wrap="square">
            <a:spAutoFit/>
          </a:bodyPr>
          <a:lstStyle/>
          <a:p>
            <a:pPr algn="l"/>
            <a:r>
              <a:rPr sz="1100" b="1" i="0">
                <a:solidFill>
                  <a:srgbClr val="1E3A5F"/>
                </a:solidFill>
              </a:rPr>
              <a:t>Health partner</a:t>
            </a:r>
          </a:p>
        </p:txBody>
      </p:sp>
      <p:sp>
        <p:nvSpPr>
          <p:cNvPr id="7" name="TextBox 6"/>
          <p:cNvSpPr txBox="1"/>
          <p:nvPr/>
        </p:nvSpPr>
        <p:spPr>
          <a:xfrm>
            <a:off x="731520" y="3108960"/>
            <a:ext cx="2103120" cy="274320"/>
          </a:xfrm>
          <a:prstGeom prst="rect">
            <a:avLst/>
          </a:prstGeom>
          <a:noFill/>
        </p:spPr>
        <p:txBody>
          <a:bodyPr wrap="square">
            <a:spAutoFit/>
          </a:bodyPr>
          <a:lstStyle/>
          <a:p>
            <a:pPr algn="l"/>
            <a:r>
              <a:rPr sz="900" b="0" i="0">
                <a:solidFill>
                  <a:srgbClr val="555555"/>
                </a:solidFill>
              </a:rPr>
              <a:t>uses the tools at home</a:t>
            </a:r>
          </a:p>
        </p:txBody>
      </p:sp>
      <p:sp>
        <p:nvSpPr>
          <p:cNvPr id="8" name="TextBox 7"/>
          <p:cNvSpPr txBox="1"/>
          <p:nvPr/>
        </p:nvSpPr>
        <p:spPr>
          <a:xfrm>
            <a:off x="2980944" y="2980944"/>
            <a:ext cx="256032" cy="292608"/>
          </a:xfrm>
          <a:prstGeom prst="rect">
            <a:avLst/>
          </a:prstGeom>
          <a:noFill/>
        </p:spPr>
        <p:txBody>
          <a:bodyPr wrap="square">
            <a:spAutoFit/>
          </a:bodyPr>
          <a:lstStyle/>
          <a:p>
            <a:pPr algn="l"/>
            <a:r>
              <a:rPr sz="1600" b="1" i="0">
                <a:solidFill>
                  <a:srgbClr val="0F766E"/>
                </a:solidFill>
              </a:rPr>
              <a:t>→</a:t>
            </a:r>
          </a:p>
        </p:txBody>
      </p:sp>
      <p:sp>
        <p:nvSpPr>
          <p:cNvPr id="9" name="Rectangle 8"/>
          <p:cNvSpPr/>
          <p:nvPr/>
        </p:nvSpPr>
        <p:spPr>
          <a:xfrm>
            <a:off x="3090672" y="2743200"/>
            <a:ext cx="2286000" cy="777240"/>
          </a:xfrm>
          <a:prstGeom prst="rect">
            <a:avLst/>
          </a:prstGeom>
          <a:solidFill>
            <a:srgbClr val="F0FDFA"/>
          </a:solidFill>
          <a:ln w="1905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82112" y="2816352"/>
            <a:ext cx="2103120" cy="292608"/>
          </a:xfrm>
          <a:prstGeom prst="rect">
            <a:avLst/>
          </a:prstGeom>
          <a:noFill/>
        </p:spPr>
        <p:txBody>
          <a:bodyPr wrap="square">
            <a:spAutoFit/>
          </a:bodyPr>
          <a:lstStyle/>
          <a:p>
            <a:pPr algn="l"/>
            <a:r>
              <a:rPr sz="1100" b="1" i="0">
                <a:solidFill>
                  <a:srgbClr val="1E3A5F"/>
                </a:solidFill>
              </a:rPr>
              <a:t>Structured package</a:t>
            </a:r>
          </a:p>
        </p:txBody>
      </p:sp>
      <p:sp>
        <p:nvSpPr>
          <p:cNvPr id="11" name="TextBox 10"/>
          <p:cNvSpPr txBox="1"/>
          <p:nvPr/>
        </p:nvSpPr>
        <p:spPr>
          <a:xfrm>
            <a:off x="3182112" y="3108960"/>
            <a:ext cx="2103120" cy="274320"/>
          </a:xfrm>
          <a:prstGeom prst="rect">
            <a:avLst/>
          </a:prstGeom>
          <a:noFill/>
        </p:spPr>
        <p:txBody>
          <a:bodyPr wrap="square">
            <a:spAutoFit/>
          </a:bodyPr>
          <a:lstStyle/>
          <a:p>
            <a:pPr algn="l"/>
            <a:r>
              <a:rPr sz="900" b="0" i="0">
                <a:solidFill>
                  <a:srgbClr val="555555"/>
                </a:solidFill>
              </a:rPr>
              <a:t>problem + evidence + question</a:t>
            </a:r>
          </a:p>
        </p:txBody>
      </p:sp>
      <p:sp>
        <p:nvSpPr>
          <p:cNvPr id="12" name="TextBox 11"/>
          <p:cNvSpPr txBox="1"/>
          <p:nvPr/>
        </p:nvSpPr>
        <p:spPr>
          <a:xfrm>
            <a:off x="5431536" y="2980944"/>
            <a:ext cx="256032" cy="292608"/>
          </a:xfrm>
          <a:prstGeom prst="rect">
            <a:avLst/>
          </a:prstGeom>
          <a:noFill/>
        </p:spPr>
        <p:txBody>
          <a:bodyPr wrap="square">
            <a:spAutoFit/>
          </a:bodyPr>
          <a:lstStyle/>
          <a:p>
            <a:pPr algn="l"/>
            <a:r>
              <a:rPr sz="1600" b="1" i="0">
                <a:solidFill>
                  <a:srgbClr val="0F766E"/>
                </a:solidFill>
              </a:rPr>
              <a:t>→</a:t>
            </a:r>
          </a:p>
        </p:txBody>
      </p:sp>
      <p:sp>
        <p:nvSpPr>
          <p:cNvPr id="13" name="Rectangle 12"/>
          <p:cNvSpPr/>
          <p:nvPr/>
        </p:nvSpPr>
        <p:spPr>
          <a:xfrm>
            <a:off x="5541264" y="2743200"/>
            <a:ext cx="2286000" cy="777240"/>
          </a:xfrm>
          <a:prstGeom prst="rect">
            <a:avLst/>
          </a:prstGeom>
          <a:solidFill>
            <a:srgbClr val="F0FDF4"/>
          </a:solidFill>
          <a:ln w="1905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32704" y="2816352"/>
            <a:ext cx="2103120" cy="292608"/>
          </a:xfrm>
          <a:prstGeom prst="rect">
            <a:avLst/>
          </a:prstGeom>
          <a:noFill/>
        </p:spPr>
        <p:txBody>
          <a:bodyPr wrap="square">
            <a:spAutoFit/>
          </a:bodyPr>
          <a:lstStyle/>
          <a:p>
            <a:pPr algn="l"/>
            <a:r>
              <a:rPr sz="1100" b="1" i="0">
                <a:solidFill>
                  <a:srgbClr val="1E3A5F"/>
                </a:solidFill>
              </a:rPr>
              <a:t>Physician response</a:t>
            </a:r>
          </a:p>
        </p:txBody>
      </p:sp>
      <p:sp>
        <p:nvSpPr>
          <p:cNvPr id="15" name="TextBox 14"/>
          <p:cNvSpPr txBox="1"/>
          <p:nvPr/>
        </p:nvSpPr>
        <p:spPr>
          <a:xfrm>
            <a:off x="5632704" y="3108960"/>
            <a:ext cx="2103120" cy="274320"/>
          </a:xfrm>
          <a:prstGeom prst="rect">
            <a:avLst/>
          </a:prstGeom>
          <a:noFill/>
        </p:spPr>
        <p:txBody>
          <a:bodyPr wrap="square">
            <a:spAutoFit/>
          </a:bodyPr>
          <a:lstStyle/>
          <a:p>
            <a:pPr algn="l"/>
            <a:r>
              <a:rPr sz="900" b="0" i="0">
                <a:solidFill>
                  <a:srgbClr val="555555"/>
                </a:solidFill>
              </a:rPr>
              <a:t>to a precise question</a:t>
            </a:r>
          </a:p>
        </p:txBody>
      </p:sp>
      <p:sp>
        <p:nvSpPr>
          <p:cNvPr id="16" name="TextBox 15"/>
          <p:cNvSpPr txBox="1"/>
          <p:nvPr/>
        </p:nvSpPr>
        <p:spPr>
          <a:xfrm>
            <a:off x="7882128" y="2980944"/>
            <a:ext cx="256032" cy="292608"/>
          </a:xfrm>
          <a:prstGeom prst="rect">
            <a:avLst/>
          </a:prstGeom>
          <a:noFill/>
        </p:spPr>
        <p:txBody>
          <a:bodyPr wrap="square">
            <a:spAutoFit/>
          </a:bodyPr>
          <a:lstStyle/>
          <a:p>
            <a:pPr algn="l"/>
            <a:r>
              <a:rPr sz="1600" b="1" i="0">
                <a:solidFill>
                  <a:srgbClr val="0F766E"/>
                </a:solidFill>
              </a:rPr>
              <a:t>→</a:t>
            </a:r>
          </a:p>
        </p:txBody>
      </p:sp>
      <p:sp>
        <p:nvSpPr>
          <p:cNvPr id="17" name="Rectangle 16"/>
          <p:cNvSpPr/>
          <p:nvPr/>
        </p:nvSpPr>
        <p:spPr>
          <a:xfrm>
            <a:off x="7991856" y="2743200"/>
            <a:ext cx="2286000" cy="777240"/>
          </a:xfrm>
          <a:prstGeom prst="rect">
            <a:avLst/>
          </a:prstGeom>
          <a:solidFill>
            <a:srgbClr val="F0FDF4"/>
          </a:solidFill>
          <a:ln w="1905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6" y="2816352"/>
            <a:ext cx="2103120" cy="292608"/>
          </a:xfrm>
          <a:prstGeom prst="rect">
            <a:avLst/>
          </a:prstGeom>
          <a:noFill/>
        </p:spPr>
        <p:txBody>
          <a:bodyPr wrap="square">
            <a:spAutoFit/>
          </a:bodyPr>
          <a:lstStyle/>
          <a:p>
            <a:pPr algn="l"/>
            <a:r>
              <a:rPr sz="1100" b="1" i="0">
                <a:solidFill>
                  <a:srgbClr val="1E3A5F"/>
                </a:solidFill>
              </a:rPr>
              <a:t>Shared Care Plan</a:t>
            </a:r>
          </a:p>
        </p:txBody>
      </p:sp>
      <p:sp>
        <p:nvSpPr>
          <p:cNvPr id="19" name="TextBox 18"/>
          <p:cNvSpPr txBox="1"/>
          <p:nvPr/>
        </p:nvSpPr>
        <p:spPr>
          <a:xfrm>
            <a:off x="8083296" y="3108960"/>
            <a:ext cx="2103120" cy="274320"/>
          </a:xfrm>
          <a:prstGeom prst="rect">
            <a:avLst/>
          </a:prstGeom>
          <a:noFill/>
        </p:spPr>
        <p:txBody>
          <a:bodyPr wrap="square">
            <a:spAutoFit/>
          </a:bodyPr>
          <a:lstStyle/>
          <a:p>
            <a:pPr algn="l"/>
            <a:r>
              <a:rPr sz="900" b="0" i="0">
                <a:solidFill>
                  <a:srgbClr val="555555"/>
                </a:solidFill>
              </a:rPr>
              <a:t>written, visible to all</a:t>
            </a:r>
          </a:p>
        </p:txBody>
      </p:sp>
      <p:sp>
        <p:nvSpPr>
          <p:cNvPr id="20" name="TextBox 19"/>
          <p:cNvSpPr txBox="1"/>
          <p:nvPr/>
        </p:nvSpPr>
        <p:spPr>
          <a:xfrm>
            <a:off x="640080" y="3749039"/>
            <a:ext cx="10908792" cy="320040"/>
          </a:xfrm>
          <a:prstGeom prst="rect">
            <a:avLst/>
          </a:prstGeom>
          <a:noFill/>
        </p:spPr>
        <p:txBody>
          <a:bodyPr wrap="square">
            <a:spAutoFit/>
          </a:bodyPr>
          <a:lstStyle/>
          <a:p>
            <a:pPr algn="ctr"/>
            <a:r>
              <a:rPr sz="1100" b="0" i="0">
                <a:solidFill>
                  <a:srgbClr val="888888"/>
                </a:solidFill>
              </a:rPr>
              <a:t>Southcentral Foundation  ·  Nuka System of Care  ·  −36% ED visits  ·  −40% specialist visits  ·  sustained over decades</a:t>
            </a:r>
          </a:p>
        </p:txBody>
      </p:sp>
      <p:sp>
        <p:nvSpPr>
          <p:cNvPr id="21" name="TextBox 20"/>
          <p:cNvSpPr txBox="1"/>
          <p:nvPr/>
        </p:nvSpPr>
        <p:spPr>
          <a:xfrm>
            <a:off x="548640" y="6492240"/>
            <a:ext cx="10972800" cy="274320"/>
          </a:xfrm>
          <a:prstGeom prst="rect">
            <a:avLst/>
          </a:prstGeom>
          <a:noFill/>
        </p:spPr>
        <p:txBody>
          <a:bodyPr wrap="square">
            <a:spAutoFit/>
          </a:bodyPr>
          <a:lstStyle/>
          <a:p>
            <a:pPr algn="l"/>
            <a:r>
              <a:rPr sz="900" b="0" i="0">
                <a:solidFill>
                  <a:srgbClr val="888888"/>
                </a:solidFill>
              </a:rPr>
              <a:t>Where Health Actually Lives · For Don Berwick · July 2026 · CC 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640080" y="411480"/>
            <a:ext cx="10908792" cy="411480"/>
          </a:xfrm>
          <a:prstGeom prst="rect">
            <a:avLst/>
          </a:prstGeom>
          <a:noFill/>
        </p:spPr>
        <p:txBody>
          <a:bodyPr wrap="square">
            <a:spAutoFit/>
          </a:bodyPr>
          <a:lstStyle/>
          <a:p>
            <a:pPr algn="ctr"/>
            <a:r>
              <a:rPr sz="1800" b="1" i="0">
                <a:solidFill>
                  <a:srgbClr val="8899AA"/>
                </a:solidFill>
              </a:rPr>
              <a:t>The organizing philosophy  ·  人单合一</a:t>
            </a:r>
          </a:p>
        </p:txBody>
      </p:sp>
      <p:sp>
        <p:nvSpPr>
          <p:cNvPr id="3" name="Rectangle 2"/>
          <p:cNvSpPr/>
          <p:nvPr/>
        </p:nvSpPr>
        <p:spPr>
          <a:xfrm>
            <a:off x="640080" y="1005840"/>
            <a:ext cx="2706624" cy="3291840"/>
          </a:xfrm>
          <a:prstGeom prst="rect">
            <a:avLst/>
          </a:prstGeom>
          <a:solidFill>
            <a:srgbClr val="284262"/>
          </a:solidFill>
          <a:ln w="12700">
            <a:solidFill>
              <a:srgbClr val="445A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2706624" cy="822960"/>
          </a:xfrm>
          <a:prstGeom prst="rect">
            <a:avLst/>
          </a:prstGeom>
          <a:noFill/>
        </p:spPr>
        <p:txBody>
          <a:bodyPr wrap="square">
            <a:spAutoFit/>
          </a:bodyPr>
          <a:lstStyle/>
          <a:p>
            <a:pPr algn="ctr"/>
            <a:r>
              <a:rPr sz="4400" b="0" i="0">
                <a:solidFill>
                  <a:srgbClr val="FFFFFF"/>
                </a:solidFill>
              </a:rPr>
              <a:t>人</a:t>
            </a:r>
          </a:p>
        </p:txBody>
      </p:sp>
      <p:sp>
        <p:nvSpPr>
          <p:cNvPr id="5" name="TextBox 4"/>
          <p:cNvSpPr txBox="1"/>
          <p:nvPr/>
        </p:nvSpPr>
        <p:spPr>
          <a:xfrm>
            <a:off x="640080" y="1965960"/>
            <a:ext cx="2706624" cy="274320"/>
          </a:xfrm>
          <a:prstGeom prst="rect">
            <a:avLst/>
          </a:prstGeom>
          <a:noFill/>
        </p:spPr>
        <p:txBody>
          <a:bodyPr wrap="square">
            <a:spAutoFit/>
          </a:bodyPr>
          <a:lstStyle/>
          <a:p>
            <a:pPr algn="ctr"/>
            <a:r>
              <a:rPr sz="1100" b="0" i="0">
                <a:solidFill>
                  <a:srgbClr val="8899CC"/>
                </a:solidFill>
              </a:rPr>
              <a:t>Rén</a:t>
            </a:r>
          </a:p>
        </p:txBody>
      </p:sp>
      <p:sp>
        <p:nvSpPr>
          <p:cNvPr id="6" name="TextBox 5"/>
          <p:cNvSpPr txBox="1"/>
          <p:nvPr/>
        </p:nvSpPr>
        <p:spPr>
          <a:xfrm>
            <a:off x="777240" y="2286000"/>
            <a:ext cx="2432304" cy="1828800"/>
          </a:xfrm>
          <a:prstGeom prst="rect">
            <a:avLst/>
          </a:prstGeom>
          <a:noFill/>
        </p:spPr>
        <p:txBody>
          <a:bodyPr wrap="square">
            <a:spAutoFit/>
          </a:bodyPr>
          <a:lstStyle/>
          <a:p>
            <a:pPr algn="l"/>
            <a:r>
              <a:rPr sz="1100" b="0" i="0">
                <a:solidFill>
                  <a:srgbClr val="CCD5E0"/>
                </a:solidFill>
              </a:rPr>
              <a:t>Person. Not a role, not a unit of capacity — a moral agent with dignity and initiative. The patient, the health partner, the physician: each a full person.</a:t>
            </a:r>
          </a:p>
        </p:txBody>
      </p:sp>
      <p:sp>
        <p:nvSpPr>
          <p:cNvPr id="7" name="Rectangle 6"/>
          <p:cNvSpPr/>
          <p:nvPr/>
        </p:nvSpPr>
        <p:spPr>
          <a:xfrm>
            <a:off x="3529584" y="1005840"/>
            <a:ext cx="2706624" cy="3291840"/>
          </a:xfrm>
          <a:prstGeom prst="rect">
            <a:avLst/>
          </a:prstGeom>
          <a:solidFill>
            <a:srgbClr val="284262"/>
          </a:solidFill>
          <a:ln w="12700">
            <a:solidFill>
              <a:srgbClr val="445A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9584" y="1143000"/>
            <a:ext cx="2706624" cy="822960"/>
          </a:xfrm>
          <a:prstGeom prst="rect">
            <a:avLst/>
          </a:prstGeom>
          <a:noFill/>
        </p:spPr>
        <p:txBody>
          <a:bodyPr wrap="square">
            <a:spAutoFit/>
          </a:bodyPr>
          <a:lstStyle/>
          <a:p>
            <a:pPr algn="ctr"/>
            <a:r>
              <a:rPr sz="4400" b="0" i="0">
                <a:solidFill>
                  <a:srgbClr val="FFFFFF"/>
                </a:solidFill>
              </a:rPr>
              <a:t>单</a:t>
            </a:r>
          </a:p>
        </p:txBody>
      </p:sp>
      <p:sp>
        <p:nvSpPr>
          <p:cNvPr id="9" name="TextBox 8"/>
          <p:cNvSpPr txBox="1"/>
          <p:nvPr/>
        </p:nvSpPr>
        <p:spPr>
          <a:xfrm>
            <a:off x="3529584" y="1965960"/>
            <a:ext cx="2706624" cy="274320"/>
          </a:xfrm>
          <a:prstGeom prst="rect">
            <a:avLst/>
          </a:prstGeom>
          <a:noFill/>
        </p:spPr>
        <p:txBody>
          <a:bodyPr wrap="square">
            <a:spAutoFit/>
          </a:bodyPr>
          <a:lstStyle/>
          <a:p>
            <a:pPr algn="ctr"/>
            <a:r>
              <a:rPr sz="1100" b="0" i="0">
                <a:solidFill>
                  <a:srgbClr val="8899CC"/>
                </a:solidFill>
              </a:rPr>
              <a:t>Dān</a:t>
            </a:r>
          </a:p>
        </p:txBody>
      </p:sp>
      <p:sp>
        <p:nvSpPr>
          <p:cNvPr id="10" name="TextBox 9"/>
          <p:cNvSpPr txBox="1"/>
          <p:nvPr/>
        </p:nvSpPr>
        <p:spPr>
          <a:xfrm>
            <a:off x="3666744" y="2286000"/>
            <a:ext cx="2432304" cy="1828800"/>
          </a:xfrm>
          <a:prstGeom prst="rect">
            <a:avLst/>
          </a:prstGeom>
          <a:noFill/>
        </p:spPr>
        <p:txBody>
          <a:bodyPr wrap="square">
            <a:spAutoFit/>
          </a:bodyPr>
          <a:lstStyle/>
          <a:p>
            <a:pPr algn="l"/>
            <a:r>
              <a:rPr sz="1100" b="0" i="0">
                <a:solidFill>
                  <a:srgbClr val="CCD5E0"/>
                </a:solidFill>
              </a:rPr>
              <a:t>Order. A specific, concrete need — not “chronic disease management” but this person’s open problem, today, in their home.</a:t>
            </a:r>
          </a:p>
        </p:txBody>
      </p:sp>
      <p:sp>
        <p:nvSpPr>
          <p:cNvPr id="11" name="Rectangle 10"/>
          <p:cNvSpPr/>
          <p:nvPr/>
        </p:nvSpPr>
        <p:spPr>
          <a:xfrm>
            <a:off x="6419088" y="1005840"/>
            <a:ext cx="2706624" cy="3291840"/>
          </a:xfrm>
          <a:prstGeom prst="rect">
            <a:avLst/>
          </a:prstGeom>
          <a:solidFill>
            <a:srgbClr val="284262"/>
          </a:solidFill>
          <a:ln w="12700">
            <a:solidFill>
              <a:srgbClr val="445A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1143000"/>
            <a:ext cx="2706624" cy="822960"/>
          </a:xfrm>
          <a:prstGeom prst="rect">
            <a:avLst/>
          </a:prstGeom>
          <a:noFill/>
        </p:spPr>
        <p:txBody>
          <a:bodyPr wrap="square">
            <a:spAutoFit/>
          </a:bodyPr>
          <a:lstStyle/>
          <a:p>
            <a:pPr algn="ctr"/>
            <a:r>
              <a:rPr sz="4400" b="0" i="0">
                <a:solidFill>
                  <a:srgbClr val="FFFFFF"/>
                </a:solidFill>
              </a:rPr>
              <a:t>合</a:t>
            </a:r>
          </a:p>
        </p:txBody>
      </p:sp>
      <p:sp>
        <p:nvSpPr>
          <p:cNvPr id="13" name="TextBox 12"/>
          <p:cNvSpPr txBox="1"/>
          <p:nvPr/>
        </p:nvSpPr>
        <p:spPr>
          <a:xfrm>
            <a:off x="6419088" y="1965960"/>
            <a:ext cx="2706624" cy="274320"/>
          </a:xfrm>
          <a:prstGeom prst="rect">
            <a:avLst/>
          </a:prstGeom>
          <a:noFill/>
        </p:spPr>
        <p:txBody>
          <a:bodyPr wrap="square">
            <a:spAutoFit/>
          </a:bodyPr>
          <a:lstStyle/>
          <a:p>
            <a:pPr algn="ctr"/>
            <a:r>
              <a:rPr sz="1100" b="0" i="0">
                <a:solidFill>
                  <a:srgbClr val="8899CC"/>
                </a:solidFill>
              </a:rPr>
              <a:t>Hé</a:t>
            </a:r>
          </a:p>
        </p:txBody>
      </p:sp>
      <p:sp>
        <p:nvSpPr>
          <p:cNvPr id="14" name="TextBox 13"/>
          <p:cNvSpPr txBox="1"/>
          <p:nvPr/>
        </p:nvSpPr>
        <p:spPr>
          <a:xfrm>
            <a:off x="6556248" y="2286000"/>
            <a:ext cx="2432304" cy="1828800"/>
          </a:xfrm>
          <a:prstGeom prst="rect">
            <a:avLst/>
          </a:prstGeom>
          <a:noFill/>
        </p:spPr>
        <p:txBody>
          <a:bodyPr wrap="square">
            <a:spAutoFit/>
          </a:bodyPr>
          <a:lstStyle/>
          <a:p>
            <a:pPr algn="l"/>
            <a:r>
              <a:rPr sz="1100" b="0" i="0">
                <a:solidFill>
                  <a:srgbClr val="CCD5E0"/>
                </a:solidFill>
              </a:rPr>
              <a:t>Active merging. The living process of person and need coming together — not yet resolved, but in genuine motion. The care relationship itself.</a:t>
            </a:r>
          </a:p>
        </p:txBody>
      </p:sp>
      <p:sp>
        <p:nvSpPr>
          <p:cNvPr id="15" name="Rectangle 14"/>
          <p:cNvSpPr/>
          <p:nvPr/>
        </p:nvSpPr>
        <p:spPr>
          <a:xfrm>
            <a:off x="9308592" y="1005840"/>
            <a:ext cx="2706624" cy="3291840"/>
          </a:xfrm>
          <a:prstGeom prst="rect">
            <a:avLst/>
          </a:prstGeom>
          <a:solidFill>
            <a:srgbClr val="284262"/>
          </a:solidFill>
          <a:ln w="12700">
            <a:solidFill>
              <a:srgbClr val="445A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08592" y="1143000"/>
            <a:ext cx="2706624" cy="822960"/>
          </a:xfrm>
          <a:prstGeom prst="rect">
            <a:avLst/>
          </a:prstGeom>
          <a:noFill/>
        </p:spPr>
        <p:txBody>
          <a:bodyPr wrap="square">
            <a:spAutoFit/>
          </a:bodyPr>
          <a:lstStyle/>
          <a:p>
            <a:pPr algn="ctr"/>
            <a:r>
              <a:rPr sz="4400" b="0" i="0">
                <a:solidFill>
                  <a:srgbClr val="FFFFFF"/>
                </a:solidFill>
              </a:rPr>
              <a:t>一</a:t>
            </a:r>
          </a:p>
        </p:txBody>
      </p:sp>
      <p:sp>
        <p:nvSpPr>
          <p:cNvPr id="17" name="TextBox 16"/>
          <p:cNvSpPr txBox="1"/>
          <p:nvPr/>
        </p:nvSpPr>
        <p:spPr>
          <a:xfrm>
            <a:off x="9308592" y="1965960"/>
            <a:ext cx="2706624" cy="274320"/>
          </a:xfrm>
          <a:prstGeom prst="rect">
            <a:avLst/>
          </a:prstGeom>
          <a:noFill/>
        </p:spPr>
        <p:txBody>
          <a:bodyPr wrap="square">
            <a:spAutoFit/>
          </a:bodyPr>
          <a:lstStyle/>
          <a:p>
            <a:pPr algn="ctr"/>
            <a:r>
              <a:rPr sz="1100" b="0" i="0">
                <a:solidFill>
                  <a:srgbClr val="8899CC"/>
                </a:solidFill>
              </a:rPr>
              <a:t>Yī</a:t>
            </a:r>
          </a:p>
        </p:txBody>
      </p:sp>
      <p:sp>
        <p:nvSpPr>
          <p:cNvPr id="18" name="TextBox 17"/>
          <p:cNvSpPr txBox="1"/>
          <p:nvPr/>
        </p:nvSpPr>
        <p:spPr>
          <a:xfrm>
            <a:off x="9445752" y="2286000"/>
            <a:ext cx="2432304" cy="1828800"/>
          </a:xfrm>
          <a:prstGeom prst="rect">
            <a:avLst/>
          </a:prstGeom>
          <a:noFill/>
        </p:spPr>
        <p:txBody>
          <a:bodyPr wrap="square">
            <a:spAutoFit/>
          </a:bodyPr>
          <a:lstStyle/>
          <a:p>
            <a:pPr algn="l"/>
            <a:r>
              <a:rPr sz="1100" b="0" i="0">
                <a:solidFill>
                  <a:srgbClr val="CCD5E0"/>
                </a:solidFill>
              </a:rPr>
              <a:t>Achieved oneness. Resolution. The problem actually addressed. What the cooperative is paid for — not the encounter, but the 一.</a:t>
            </a:r>
          </a:p>
        </p:txBody>
      </p:sp>
      <p:sp>
        <p:nvSpPr>
          <p:cNvPr id="19" name="Rectangle 18"/>
          <p:cNvSpPr/>
          <p:nvPr/>
        </p:nvSpPr>
        <p:spPr>
          <a:xfrm>
            <a:off x="640080" y="4480560"/>
            <a:ext cx="10908792" cy="1097280"/>
          </a:xfrm>
          <a:prstGeom prst="rect">
            <a:avLst/>
          </a:prstGeom>
          <a:solidFill>
            <a:srgbClr val="243A55"/>
          </a:solidFill>
          <a:ln w="12700">
            <a:solidFill>
              <a:srgbClr val="3A5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645152"/>
            <a:ext cx="10543032" cy="822960"/>
          </a:xfrm>
          <a:prstGeom prst="rect">
            <a:avLst/>
          </a:prstGeom>
          <a:noFill/>
        </p:spPr>
        <p:txBody>
          <a:bodyPr wrap="square">
            <a:spAutoFit/>
          </a:bodyPr>
          <a:lstStyle/>
          <a:p>
            <a:pPr algn="ctr"/>
            <a:r>
              <a:rPr sz="1400" b="0" i="1">
                <a:solidFill>
                  <a:srgbClr val="CCD8EE"/>
                </a:solidFill>
              </a:rPr>
              <a:t>The person and the order are in the active process of becoming one. The neighborhood microenterprise earns when 一 is achieved — which means the health partner, the tools, and the economics all point toward the same thing: health.</a:t>
            </a:r>
          </a:p>
        </p:txBody>
      </p:sp>
      <p:sp>
        <p:nvSpPr>
          <p:cNvPr id="21" name="TextBox 20"/>
          <p:cNvSpPr txBox="1"/>
          <p:nvPr/>
        </p:nvSpPr>
        <p:spPr>
          <a:xfrm>
            <a:off x="548640" y="6492240"/>
            <a:ext cx="10972800" cy="274320"/>
          </a:xfrm>
          <a:prstGeom prst="rect">
            <a:avLst/>
          </a:prstGeom>
          <a:noFill/>
        </p:spPr>
        <p:txBody>
          <a:bodyPr wrap="square">
            <a:spAutoFit/>
          </a:bodyPr>
          <a:lstStyle/>
          <a:p>
            <a:pPr algn="l"/>
            <a:r>
              <a:rPr sz="900" b="0" i="0">
                <a:solidFill>
                  <a:srgbClr val="888888"/>
                </a:solidFill>
              </a:rPr>
              <a:t>Where Health Actually Lives · For Don Berwick · July 2026 · CC 4.0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109728"/>
            <a:ext cx="9144000" cy="256032"/>
          </a:xfrm>
          <a:prstGeom prst="rect">
            <a:avLst/>
          </a:prstGeom>
          <a:noFill/>
        </p:spPr>
        <p:txBody>
          <a:bodyPr wrap="square">
            <a:spAutoFit/>
          </a:bodyPr>
          <a:lstStyle/>
          <a:p>
            <a:pPr algn="l"/>
            <a:r>
              <a:rPr sz="900" b="1" i="0">
                <a:solidFill>
                  <a:srgbClr val="888888"/>
                </a:solidFill>
              </a:rPr>
              <a:t>WHATCOM WEALTH AND HEALTH ASSOCIATION</a:t>
            </a:r>
          </a:p>
        </p:txBody>
      </p:sp>
      <p:sp>
        <p:nvSpPr>
          <p:cNvPr id="3" name="TextBox 2"/>
          <p:cNvSpPr txBox="1"/>
          <p:nvPr/>
        </p:nvSpPr>
        <p:spPr>
          <a:xfrm>
            <a:off x="640080" y="438912"/>
            <a:ext cx="10515600" cy="914400"/>
          </a:xfrm>
          <a:prstGeom prst="rect">
            <a:avLst/>
          </a:prstGeom>
          <a:noFill/>
        </p:spPr>
        <p:txBody>
          <a:bodyPr wrap="square">
            <a:spAutoFit/>
          </a:bodyPr>
          <a:lstStyle/>
          <a:p>
            <a:pPr algn="l"/>
            <a:r>
              <a:rPr sz="2800" b="1" i="0">
                <a:solidFill>
                  <a:srgbClr val="1E3A5F"/>
                </a:solidFill>
              </a:rPr>
              <a:t>A neighborhood economic structure —
organized around what neighborhoods do</a:t>
            </a:r>
          </a:p>
        </p:txBody>
      </p:sp>
      <p:sp>
        <p:nvSpPr>
          <p:cNvPr id="4" name="TextBox 3"/>
          <p:cNvSpPr txBox="1"/>
          <p:nvPr/>
        </p:nvSpPr>
        <p:spPr>
          <a:xfrm>
            <a:off x="640080" y="1508760"/>
            <a:ext cx="10515600" cy="1097280"/>
          </a:xfrm>
          <a:prstGeom prst="rect">
            <a:avLst/>
          </a:prstGeom>
          <a:noFill/>
        </p:spPr>
        <p:txBody>
          <a:bodyPr wrap="square">
            <a:spAutoFit/>
          </a:bodyPr>
          <a:lstStyle/>
          <a:p>
            <a:pPr algn="l"/>
            <a:r>
              <a:rPr sz="1300" b="0" i="0">
                <a:solidFill>
                  <a:srgbClr val="333333"/>
                </a:solidFill>
              </a:rPr>
              <a:t>The cooperative is not a healthcare improvement project. It is an economic structure that makes the neighborhood health system financially sustainable and self-reinforcing. Large Whatcom employers and governments enter as self-insured members. Health partner microenterprises — self-managing teams of 5 to 15 people from the neighborhoods they serve — are paid for problems resolved and health maintained.</a:t>
            </a:r>
          </a:p>
        </p:txBody>
      </p:sp>
      <p:sp>
        <p:nvSpPr>
          <p:cNvPr id="5" name="Rectangle 4"/>
          <p:cNvSpPr/>
          <p:nvPr/>
        </p:nvSpPr>
        <p:spPr>
          <a:xfrm>
            <a:off x="640080" y="2788920"/>
            <a:ext cx="3630168" cy="2286000"/>
          </a:xfrm>
          <a:prstGeom prst="rect">
            <a:avLst/>
          </a:prstGeom>
          <a:solidFill>
            <a:srgbClr val="F0FDFA"/>
          </a:solidFill>
          <a:ln w="1905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898648"/>
            <a:ext cx="3337560" cy="201168"/>
          </a:xfrm>
          <a:prstGeom prst="rect">
            <a:avLst/>
          </a:prstGeom>
          <a:noFill/>
        </p:spPr>
        <p:txBody>
          <a:bodyPr wrap="square">
            <a:spAutoFit/>
          </a:bodyPr>
          <a:lstStyle/>
          <a:p>
            <a:pPr algn="l"/>
            <a:r>
              <a:rPr sz="900" b="1" i="0">
                <a:solidFill>
                  <a:srgbClr val="0F766E"/>
                </a:solidFill>
              </a:rPr>
              <a:t>ENTRY POINT</a:t>
            </a:r>
          </a:p>
        </p:txBody>
      </p:sp>
      <p:sp>
        <p:nvSpPr>
          <p:cNvPr id="7" name="TextBox 6"/>
          <p:cNvSpPr txBox="1"/>
          <p:nvPr/>
        </p:nvSpPr>
        <p:spPr>
          <a:xfrm>
            <a:off x="786384" y="3136392"/>
            <a:ext cx="3337560" cy="320040"/>
          </a:xfrm>
          <a:prstGeom prst="rect">
            <a:avLst/>
          </a:prstGeom>
          <a:noFill/>
        </p:spPr>
        <p:txBody>
          <a:bodyPr wrap="square">
            <a:spAutoFit/>
          </a:bodyPr>
          <a:lstStyle/>
          <a:p>
            <a:pPr algn="l"/>
            <a:r>
              <a:rPr sz="1300" b="1" i="0">
                <a:solidFill>
                  <a:srgbClr val="1E3A5F"/>
                </a:solidFill>
              </a:rPr>
              <a:t>Employer self-insurance</a:t>
            </a:r>
          </a:p>
        </p:txBody>
      </p:sp>
      <p:sp>
        <p:nvSpPr>
          <p:cNvPr id="8" name="TextBox 7"/>
          <p:cNvSpPr txBox="1"/>
          <p:nvPr/>
        </p:nvSpPr>
        <p:spPr>
          <a:xfrm>
            <a:off x="786384" y="3538728"/>
            <a:ext cx="3337560" cy="1417320"/>
          </a:xfrm>
          <a:prstGeom prst="rect">
            <a:avLst/>
          </a:prstGeom>
          <a:noFill/>
        </p:spPr>
        <p:txBody>
          <a:bodyPr wrap="square">
            <a:spAutoFit/>
          </a:bodyPr>
          <a:lstStyle/>
          <a:p>
            <a:pPr algn="l"/>
            <a:r>
              <a:rPr sz="1100" b="0" i="0">
                <a:solidFill>
                  <a:srgbClr val="333333"/>
                </a:solidFill>
              </a:rPr>
              <a:t>Businesses and governments who self-insure through the cooperative gain fiduciary benefits design, direct primary care, and transparent pricing. Dave Chase’s Health Rosetta model — 20–40% cost reduction documented.</a:t>
            </a:r>
          </a:p>
        </p:txBody>
      </p:sp>
      <p:sp>
        <p:nvSpPr>
          <p:cNvPr id="9" name="Rectangle 8"/>
          <p:cNvSpPr/>
          <p:nvPr/>
        </p:nvSpPr>
        <p:spPr>
          <a:xfrm>
            <a:off x="4279392" y="2788920"/>
            <a:ext cx="3630168" cy="2286000"/>
          </a:xfrm>
          <a:prstGeom prst="rect">
            <a:avLst/>
          </a:prstGeom>
          <a:solidFill>
            <a:srgbClr val="F0FDF4"/>
          </a:solidFill>
          <a:ln w="1905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25696" y="2898648"/>
            <a:ext cx="3337560" cy="201168"/>
          </a:xfrm>
          <a:prstGeom prst="rect">
            <a:avLst/>
          </a:prstGeom>
          <a:noFill/>
        </p:spPr>
        <p:txBody>
          <a:bodyPr wrap="square">
            <a:spAutoFit/>
          </a:bodyPr>
          <a:lstStyle/>
          <a:p>
            <a:pPr algn="l"/>
            <a:r>
              <a:rPr sz="900" b="1" i="0">
                <a:solidFill>
                  <a:srgbClr val="0F766E"/>
                </a:solidFill>
              </a:rPr>
              <a:t>THE CARE UNIT</a:t>
            </a:r>
          </a:p>
        </p:txBody>
      </p:sp>
      <p:sp>
        <p:nvSpPr>
          <p:cNvPr id="11" name="TextBox 10"/>
          <p:cNvSpPr txBox="1"/>
          <p:nvPr/>
        </p:nvSpPr>
        <p:spPr>
          <a:xfrm>
            <a:off x="4425696" y="3136392"/>
            <a:ext cx="3337560" cy="320040"/>
          </a:xfrm>
          <a:prstGeom prst="rect">
            <a:avLst/>
          </a:prstGeom>
          <a:noFill/>
        </p:spPr>
        <p:txBody>
          <a:bodyPr wrap="square">
            <a:spAutoFit/>
          </a:bodyPr>
          <a:lstStyle/>
          <a:p>
            <a:pPr algn="l"/>
            <a:r>
              <a:rPr sz="1300" b="1" i="0">
                <a:solidFill>
                  <a:srgbClr val="1E3A5F"/>
                </a:solidFill>
              </a:rPr>
              <a:t>Neighborhood microenterprise</a:t>
            </a:r>
          </a:p>
        </p:txBody>
      </p:sp>
      <p:sp>
        <p:nvSpPr>
          <p:cNvPr id="12" name="TextBox 11"/>
          <p:cNvSpPr txBox="1"/>
          <p:nvPr/>
        </p:nvSpPr>
        <p:spPr>
          <a:xfrm>
            <a:off x="4425696" y="3538728"/>
            <a:ext cx="3337560" cy="1417320"/>
          </a:xfrm>
          <a:prstGeom prst="rect">
            <a:avLst/>
          </a:prstGeom>
          <a:noFill/>
        </p:spPr>
        <p:txBody>
          <a:bodyPr wrap="square">
            <a:spAutoFit/>
          </a:bodyPr>
          <a:lstStyle/>
          <a:p>
            <a:pPr algn="l"/>
            <a:r>
              <a:rPr sz="1100" b="0" i="0">
                <a:solidFill>
                  <a:srgbClr val="333333"/>
                </a:solidFill>
              </a:rPr>
              <a:t>5–15 health partners, self-managing, their own P&amp;L, paid for outcomes. Physician partners contracted for specific expertise. No management above them — only the commitments they have made.</a:t>
            </a:r>
          </a:p>
        </p:txBody>
      </p:sp>
      <p:sp>
        <p:nvSpPr>
          <p:cNvPr id="13" name="Rectangle 12"/>
          <p:cNvSpPr/>
          <p:nvPr/>
        </p:nvSpPr>
        <p:spPr>
          <a:xfrm>
            <a:off x="7918704" y="2788920"/>
            <a:ext cx="3630168" cy="2286000"/>
          </a:xfrm>
          <a:prstGeom prst="rect">
            <a:avLst/>
          </a:prstGeom>
          <a:solidFill>
            <a:srgbClr val="EFF6FF"/>
          </a:solidFill>
          <a:ln w="1905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65008" y="2898648"/>
            <a:ext cx="3337560" cy="201168"/>
          </a:xfrm>
          <a:prstGeom prst="rect">
            <a:avLst/>
          </a:prstGeom>
          <a:noFill/>
        </p:spPr>
        <p:txBody>
          <a:bodyPr wrap="square">
            <a:spAutoFit/>
          </a:bodyPr>
          <a:lstStyle/>
          <a:p>
            <a:pPr algn="l"/>
            <a:r>
              <a:rPr sz="900" b="1" i="0">
                <a:solidFill>
                  <a:srgbClr val="0F766E"/>
                </a:solidFill>
              </a:rPr>
              <a:t>OPEN TO ALL</a:t>
            </a:r>
          </a:p>
        </p:txBody>
      </p:sp>
      <p:sp>
        <p:nvSpPr>
          <p:cNvPr id="15" name="TextBox 14"/>
          <p:cNvSpPr txBox="1"/>
          <p:nvPr/>
        </p:nvSpPr>
        <p:spPr>
          <a:xfrm>
            <a:off x="8065008" y="3136392"/>
            <a:ext cx="3337560" cy="320040"/>
          </a:xfrm>
          <a:prstGeom prst="rect">
            <a:avLst/>
          </a:prstGeom>
          <a:noFill/>
        </p:spPr>
        <p:txBody>
          <a:bodyPr wrap="square">
            <a:spAutoFit/>
          </a:bodyPr>
          <a:lstStyle/>
          <a:p>
            <a:pPr algn="l"/>
            <a:r>
              <a:rPr sz="1300" b="1" i="0">
                <a:solidFill>
                  <a:srgbClr val="1E3A5F"/>
                </a:solidFill>
              </a:rPr>
              <a:t>The whole population</a:t>
            </a:r>
          </a:p>
        </p:txBody>
      </p:sp>
      <p:sp>
        <p:nvSpPr>
          <p:cNvPr id="16" name="TextBox 15"/>
          <p:cNvSpPr txBox="1"/>
          <p:nvPr/>
        </p:nvSpPr>
        <p:spPr>
          <a:xfrm>
            <a:off x="8065008" y="3538728"/>
            <a:ext cx="3337560" cy="1417320"/>
          </a:xfrm>
          <a:prstGeom prst="rect">
            <a:avLst/>
          </a:prstGeom>
          <a:noFill/>
        </p:spPr>
        <p:txBody>
          <a:bodyPr wrap="square">
            <a:spAutoFit/>
          </a:bodyPr>
          <a:lstStyle/>
          <a:p>
            <a:pPr algn="l"/>
            <a:r>
              <a:rPr sz="1100" b="0" i="0">
                <a:solidFill>
                  <a:srgbClr val="333333"/>
                </a:solidFill>
              </a:rPr>
              <a:t>Starts with employers. Extends to every person in Whatcom County who chooses to join. Any member can become a health partner. The cooperative grows stronger as it grows larger.</a:t>
            </a:r>
          </a:p>
        </p:txBody>
      </p:sp>
      <p:sp>
        <p:nvSpPr>
          <p:cNvPr id="17" name="TextBox 16"/>
          <p:cNvSpPr txBox="1"/>
          <p:nvPr/>
        </p:nvSpPr>
        <p:spPr>
          <a:xfrm>
            <a:off x="548640" y="6492240"/>
            <a:ext cx="10972800" cy="274320"/>
          </a:xfrm>
          <a:prstGeom prst="rect">
            <a:avLst/>
          </a:prstGeom>
          <a:noFill/>
        </p:spPr>
        <p:txBody>
          <a:bodyPr wrap="square">
            <a:spAutoFit/>
          </a:bodyPr>
          <a:lstStyle/>
          <a:p>
            <a:pPr algn="l"/>
            <a:r>
              <a:rPr sz="900" b="0" i="0">
                <a:solidFill>
                  <a:srgbClr val="888888"/>
                </a:solidFill>
              </a:rPr>
              <a:t>Where Health Actually Lives · For Don Berwick · July 2026 · CC 4.0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640080" y="109728"/>
            <a:ext cx="9144000" cy="256032"/>
          </a:xfrm>
          <a:prstGeom prst="rect">
            <a:avLst/>
          </a:prstGeom>
          <a:noFill/>
        </p:spPr>
        <p:txBody>
          <a:bodyPr wrap="square">
            <a:spAutoFit/>
          </a:bodyPr>
          <a:lstStyle/>
          <a:p>
            <a:pPr algn="l"/>
            <a:r>
              <a:rPr sz="900" b="1" i="0">
                <a:solidFill>
                  <a:srgbClr val="888888"/>
                </a:solidFill>
              </a:rPr>
              <a:t>WHAT HAPPENED TO LARRY’S TOOLS — AND WHAT WE DID ABOUT IT</a:t>
            </a:r>
          </a:p>
        </p:txBody>
      </p:sp>
      <p:sp>
        <p:nvSpPr>
          <p:cNvPr id="3" name="TextBox 2"/>
          <p:cNvSpPr txBox="1"/>
          <p:nvPr/>
        </p:nvSpPr>
        <p:spPr>
          <a:xfrm>
            <a:off x="640080" y="438912"/>
            <a:ext cx="10515600" cy="914400"/>
          </a:xfrm>
          <a:prstGeom prst="rect">
            <a:avLst/>
          </a:prstGeom>
          <a:noFill/>
        </p:spPr>
        <p:txBody>
          <a:bodyPr wrap="square">
            <a:spAutoFit/>
          </a:bodyPr>
          <a:lstStyle/>
          <a:p>
            <a:pPr algn="l"/>
            <a:r>
              <a:rPr sz="2800" b="1" i="0">
                <a:solidFill>
                  <a:srgbClr val="1E3A5F"/>
                </a:solidFill>
              </a:rPr>
              <a:t>Critical health infrastructure
must belong to the commons</a:t>
            </a:r>
          </a:p>
        </p:txBody>
      </p:sp>
      <p:sp>
        <p:nvSpPr>
          <p:cNvPr id="4" name="TextBox 3"/>
          <p:cNvSpPr txBox="1"/>
          <p:nvPr/>
        </p:nvSpPr>
        <p:spPr>
          <a:xfrm>
            <a:off x="640080" y="1508760"/>
            <a:ext cx="10515600" cy="1005840"/>
          </a:xfrm>
          <a:prstGeom prst="rect">
            <a:avLst/>
          </a:prstGeom>
          <a:noFill/>
        </p:spPr>
        <p:txBody>
          <a:bodyPr wrap="square">
            <a:spAutoFit/>
          </a:bodyPr>
          <a:lstStyle/>
          <a:p>
            <a:pPr algn="l"/>
            <a:r>
              <a:rPr sz="1400" b="0" i="0">
                <a:solidFill>
                  <a:srgbClr val="555555"/>
                </a:solidFill>
              </a:rPr>
              <a:t>When Larry’s IP was sold, distribution was strangled and the tools died with the ownership complications. That is the cautionary case. Every tool I build is and will continue to be open source, Creative Commons Attribution 4.0 — permanently, structurally, by design. This is not a policy choice. It is the founding architecture.</a:t>
            </a:r>
          </a:p>
        </p:txBody>
      </p:sp>
      <p:sp>
        <p:nvSpPr>
          <p:cNvPr id="5" name="Rectangle 4"/>
          <p:cNvSpPr/>
          <p:nvPr/>
        </p:nvSpPr>
        <p:spPr>
          <a:xfrm>
            <a:off x="640080" y="2743200"/>
            <a:ext cx="10908792" cy="2194560"/>
          </a:xfrm>
          <a:prstGeom prst="rect">
            <a:avLst/>
          </a:prstGeom>
          <a:solidFill>
            <a:srgbClr val="DCFCE7"/>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926080"/>
            <a:ext cx="10908792" cy="256032"/>
          </a:xfrm>
          <a:prstGeom prst="rect">
            <a:avLst/>
          </a:prstGeom>
          <a:noFill/>
        </p:spPr>
        <p:txBody>
          <a:bodyPr wrap="square">
            <a:spAutoFit/>
          </a:bodyPr>
          <a:lstStyle/>
          <a:p>
            <a:pPr algn="ctr"/>
            <a:r>
              <a:rPr sz="1000" b="1" i="0">
                <a:solidFill>
                  <a:srgbClr val="166534"/>
                </a:solidFill>
              </a:rPr>
              <a:t>PERMANENT COMMITMENT</a:t>
            </a:r>
          </a:p>
        </p:txBody>
      </p:sp>
      <p:sp>
        <p:nvSpPr>
          <p:cNvPr id="7" name="TextBox 6"/>
          <p:cNvSpPr txBox="1"/>
          <p:nvPr/>
        </p:nvSpPr>
        <p:spPr>
          <a:xfrm>
            <a:off x="1097280" y="3246120"/>
            <a:ext cx="9994392" cy="685800"/>
          </a:xfrm>
          <a:prstGeom prst="rect">
            <a:avLst/>
          </a:prstGeom>
          <a:noFill/>
        </p:spPr>
        <p:txBody>
          <a:bodyPr wrap="square">
            <a:spAutoFit/>
          </a:bodyPr>
          <a:lstStyle/>
          <a:p>
            <a:pPr algn="ctr"/>
            <a:r>
              <a:rPr sz="1600" b="1" i="0">
                <a:solidFill>
                  <a:srgbClr val="14532D"/>
                </a:solidFill>
              </a:rPr>
              <a:t>Every RCN tool is open source CC 4.0. None are for sale. None ever will be.
The cooperative is the financial sustainability model. The tools belong to the commons.</a:t>
            </a:r>
          </a:p>
        </p:txBody>
      </p:sp>
      <p:sp>
        <p:nvSpPr>
          <p:cNvPr id="8" name="TextBox 7"/>
          <p:cNvSpPr txBox="1"/>
          <p:nvPr/>
        </p:nvSpPr>
        <p:spPr>
          <a:xfrm>
            <a:off x="1097280" y="4023360"/>
            <a:ext cx="9994392" cy="731520"/>
          </a:xfrm>
          <a:prstGeom prst="rect">
            <a:avLst/>
          </a:prstGeom>
          <a:noFill/>
        </p:spPr>
        <p:txBody>
          <a:bodyPr wrap="square">
            <a:spAutoFit/>
          </a:bodyPr>
          <a:lstStyle/>
          <a:p>
            <a:pPr algn="ctr"/>
            <a:r>
              <a:rPr sz="1300" b="0" i="0">
                <a:solidFill>
                  <a:srgbClr val="166534"/>
                </a:solidFill>
              </a:rPr>
              <a:t>Open infrastructure + cooperative economics = a system that cannot be captured by any single owner.
The person’s record, the neighborhood’s tools, the community’s health — held in common.</a:t>
            </a:r>
          </a:p>
        </p:txBody>
      </p:sp>
      <p:sp>
        <p:nvSpPr>
          <p:cNvPr id="9" name="TextBox 8"/>
          <p:cNvSpPr txBox="1"/>
          <p:nvPr/>
        </p:nvSpPr>
        <p:spPr>
          <a:xfrm>
            <a:off x="548640" y="6492240"/>
            <a:ext cx="10972800" cy="274320"/>
          </a:xfrm>
          <a:prstGeom prst="rect">
            <a:avLst/>
          </a:prstGeom>
          <a:noFill/>
        </p:spPr>
        <p:txBody>
          <a:bodyPr wrap="square">
            <a:spAutoFit/>
          </a:bodyPr>
          <a:lstStyle/>
          <a:p>
            <a:pPr algn="l"/>
            <a:r>
              <a:rPr sz="900" b="0" i="0">
                <a:solidFill>
                  <a:srgbClr val="888888"/>
                </a:solidFill>
              </a:rPr>
              <a:t>Where Health Actually Lives · For Don Berwick · July 2026 · CC 4.0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640080" y="384048"/>
            <a:ext cx="10515600" cy="256032"/>
          </a:xfrm>
          <a:prstGeom prst="rect">
            <a:avLst/>
          </a:prstGeom>
          <a:noFill/>
        </p:spPr>
        <p:txBody>
          <a:bodyPr wrap="square">
            <a:spAutoFit/>
          </a:bodyPr>
          <a:lstStyle/>
          <a:p>
            <a:pPr algn="l"/>
            <a:r>
              <a:rPr sz="900" b="1" i="0">
                <a:solidFill>
                  <a:srgbClr val="7788AA"/>
                </a:solidFill>
              </a:rPr>
              <a:t>A DISPATCH FROM THE WORK</a:t>
            </a:r>
          </a:p>
        </p:txBody>
      </p:sp>
      <p:sp>
        <p:nvSpPr>
          <p:cNvPr id="3" name="TextBox 2"/>
          <p:cNvSpPr txBox="1"/>
          <p:nvPr/>
        </p:nvSpPr>
        <p:spPr>
          <a:xfrm>
            <a:off x="640080" y="658368"/>
            <a:ext cx="10515600" cy="868680"/>
          </a:xfrm>
          <a:prstGeom prst="rect">
            <a:avLst/>
          </a:prstGeom>
          <a:noFill/>
        </p:spPr>
        <p:txBody>
          <a:bodyPr wrap="square">
            <a:spAutoFit/>
          </a:bodyPr>
          <a:lstStyle/>
          <a:p>
            <a:pPr algn="l"/>
            <a:r>
              <a:rPr sz="2800" b="1" i="0">
                <a:solidFill>
                  <a:srgbClr val="FFFFFF"/>
                </a:solidFill>
              </a:rPr>
              <a:t>Where things stand —
July 2026</a:t>
            </a:r>
          </a:p>
        </p:txBody>
      </p:sp>
      <p:sp>
        <p:nvSpPr>
          <p:cNvPr id="4" name="Rectangle 3"/>
          <p:cNvSpPr/>
          <p:nvPr/>
        </p:nvSpPr>
        <p:spPr>
          <a:xfrm>
            <a:off x="640080" y="1691640"/>
            <a:ext cx="5212080" cy="2103120"/>
          </a:xfrm>
          <a:prstGeom prst="rect">
            <a:avLst/>
          </a:prstGeom>
          <a:solidFill>
            <a:srgbClr val="2A4F7C"/>
          </a:solidFill>
          <a:ln w="12700">
            <a:solidFill>
              <a:srgbClr val="3A5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1801368"/>
            <a:ext cx="4919472" cy="201168"/>
          </a:xfrm>
          <a:prstGeom prst="rect">
            <a:avLst/>
          </a:prstGeom>
          <a:noFill/>
        </p:spPr>
        <p:txBody>
          <a:bodyPr wrap="square">
            <a:spAutoFit/>
          </a:bodyPr>
          <a:lstStyle/>
          <a:p>
            <a:pPr algn="l"/>
            <a:r>
              <a:rPr sz="900" b="1" i="0">
                <a:solidFill>
                  <a:srgbClr val="7799BB"/>
                </a:solidFill>
              </a:rPr>
              <a:t>THE TOOLS</a:t>
            </a:r>
          </a:p>
        </p:txBody>
      </p:sp>
      <p:sp>
        <p:nvSpPr>
          <p:cNvPr id="6" name="TextBox 5"/>
          <p:cNvSpPr txBox="1"/>
          <p:nvPr/>
        </p:nvSpPr>
        <p:spPr>
          <a:xfrm>
            <a:off x="786384" y="2039112"/>
            <a:ext cx="4919472" cy="320040"/>
          </a:xfrm>
          <a:prstGeom prst="rect">
            <a:avLst/>
          </a:prstGeom>
          <a:noFill/>
        </p:spPr>
        <p:txBody>
          <a:bodyPr wrap="square">
            <a:spAutoFit/>
          </a:bodyPr>
          <a:lstStyle/>
          <a:p>
            <a:pPr algn="l"/>
            <a:r>
              <a:rPr sz="1300" b="1" i="0">
                <a:solidFill>
                  <a:srgbClr val="FFFFFF"/>
                </a:solidFill>
              </a:rPr>
              <a:t>Built and working</a:t>
            </a:r>
          </a:p>
        </p:txBody>
      </p:sp>
      <p:sp>
        <p:nvSpPr>
          <p:cNvPr id="7" name="TextBox 6"/>
          <p:cNvSpPr txBox="1"/>
          <p:nvPr/>
        </p:nvSpPr>
        <p:spPr>
          <a:xfrm>
            <a:off x="786384" y="2441448"/>
            <a:ext cx="4919472" cy="1234440"/>
          </a:xfrm>
          <a:prstGeom prst="rect">
            <a:avLst/>
          </a:prstGeom>
          <a:noFill/>
        </p:spPr>
        <p:txBody>
          <a:bodyPr wrap="square">
            <a:spAutoFit/>
          </a:bodyPr>
          <a:lstStyle/>
          <a:p>
            <a:pPr algn="l"/>
            <a:r>
              <a:rPr sz="1100" b="0" i="0">
                <a:solidFill>
                  <a:srgbClr val="B0C8E8"/>
                </a:solidFill>
              </a:rPr>
              <a:t>My Health Picture, My Shared Care Plan, My Health Choices, My Support Network, and SODOTO are open source, running, and in use. The person’s record is untethered. Appointment prep, PANAS activation scoring, and AI-assisted option exploration are active today.</a:t>
            </a:r>
          </a:p>
        </p:txBody>
      </p:sp>
      <p:sp>
        <p:nvSpPr>
          <p:cNvPr id="8" name="Rectangle 7"/>
          <p:cNvSpPr/>
          <p:nvPr/>
        </p:nvSpPr>
        <p:spPr>
          <a:xfrm>
            <a:off x="6336792" y="1691640"/>
            <a:ext cx="5212080" cy="2103120"/>
          </a:xfrm>
          <a:prstGeom prst="rect">
            <a:avLst/>
          </a:prstGeom>
          <a:solidFill>
            <a:srgbClr val="2A4F7C"/>
          </a:solidFill>
          <a:ln w="12700">
            <a:solidFill>
              <a:srgbClr val="3A5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83096" y="1801368"/>
            <a:ext cx="4919472" cy="201168"/>
          </a:xfrm>
          <a:prstGeom prst="rect">
            <a:avLst/>
          </a:prstGeom>
          <a:noFill/>
        </p:spPr>
        <p:txBody>
          <a:bodyPr wrap="square">
            <a:spAutoFit/>
          </a:bodyPr>
          <a:lstStyle/>
          <a:p>
            <a:pPr algn="l"/>
            <a:r>
              <a:rPr sz="900" b="1" i="0">
                <a:solidFill>
                  <a:srgbClr val="7799BB"/>
                </a:solidFill>
              </a:rPr>
              <a:t>THE COOPERATIVE</a:t>
            </a:r>
          </a:p>
        </p:txBody>
      </p:sp>
      <p:sp>
        <p:nvSpPr>
          <p:cNvPr id="10" name="TextBox 9"/>
          <p:cNvSpPr txBox="1"/>
          <p:nvPr/>
        </p:nvSpPr>
        <p:spPr>
          <a:xfrm>
            <a:off x="6483096" y="2039112"/>
            <a:ext cx="4919472" cy="320040"/>
          </a:xfrm>
          <a:prstGeom prst="rect">
            <a:avLst/>
          </a:prstGeom>
          <a:noFill/>
        </p:spPr>
        <p:txBody>
          <a:bodyPr wrap="square">
            <a:spAutoFit/>
          </a:bodyPr>
          <a:lstStyle/>
          <a:p>
            <a:pPr algn="l"/>
            <a:r>
              <a:rPr sz="1300" b="1" i="0">
                <a:solidFill>
                  <a:srgbClr val="FFFFFF"/>
                </a:solidFill>
              </a:rPr>
              <a:t>Organizing now</a:t>
            </a:r>
          </a:p>
        </p:txBody>
      </p:sp>
      <p:sp>
        <p:nvSpPr>
          <p:cNvPr id="11" name="TextBox 10"/>
          <p:cNvSpPr txBox="1"/>
          <p:nvPr/>
        </p:nvSpPr>
        <p:spPr>
          <a:xfrm>
            <a:off x="6483096" y="2441448"/>
            <a:ext cx="4919472" cy="1234440"/>
          </a:xfrm>
          <a:prstGeom prst="rect">
            <a:avLst/>
          </a:prstGeom>
          <a:noFill/>
        </p:spPr>
        <p:txBody>
          <a:bodyPr wrap="square">
            <a:spAutoFit/>
          </a:bodyPr>
          <a:lstStyle/>
          <a:p>
            <a:pPr algn="l"/>
            <a:r>
              <a:rPr sz="1100" b="0" i="0">
                <a:solidFill>
                  <a:srgbClr val="B0C8E8"/>
                </a:solidFill>
              </a:rPr>
              <a:t>Whatcom Wealth and Health Association — Marc, Dave Chase, a local insurance broker, two Whatcom community business leaders — actively organizing employer self-insurance entry with large local employers and county government.</a:t>
            </a:r>
          </a:p>
        </p:txBody>
      </p:sp>
      <p:sp>
        <p:nvSpPr>
          <p:cNvPr id="12" name="Rectangle 11"/>
          <p:cNvSpPr/>
          <p:nvPr/>
        </p:nvSpPr>
        <p:spPr>
          <a:xfrm>
            <a:off x="640080" y="3977639"/>
            <a:ext cx="10908792" cy="1325880"/>
          </a:xfrm>
          <a:prstGeom prst="rect">
            <a:avLst/>
          </a:prstGeom>
          <a:solidFill>
            <a:srgbClr val="EBFDFB"/>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4069079"/>
            <a:ext cx="10616184" cy="201168"/>
          </a:xfrm>
          <a:prstGeom prst="rect">
            <a:avLst/>
          </a:prstGeom>
          <a:noFill/>
        </p:spPr>
        <p:txBody>
          <a:bodyPr wrap="square">
            <a:spAutoFit/>
          </a:bodyPr>
          <a:lstStyle/>
          <a:p>
            <a:pPr algn="l"/>
            <a:r>
              <a:rPr sz="900" b="1" i="0">
                <a:solidFill>
                  <a:srgbClr val="0F766E"/>
                </a:solidFill>
              </a:rPr>
              <a:t>THE PATH IS CLEAR</a:t>
            </a:r>
          </a:p>
        </p:txBody>
      </p:sp>
      <p:sp>
        <p:nvSpPr>
          <p:cNvPr id="14" name="TextBox 13"/>
          <p:cNvSpPr txBox="1"/>
          <p:nvPr/>
        </p:nvSpPr>
        <p:spPr>
          <a:xfrm>
            <a:off x="786384" y="4325111"/>
            <a:ext cx="10616184" cy="868680"/>
          </a:xfrm>
          <a:prstGeom prst="rect">
            <a:avLst/>
          </a:prstGeom>
          <a:noFill/>
        </p:spPr>
        <p:txBody>
          <a:bodyPr wrap="square">
            <a:spAutoFit/>
          </a:bodyPr>
          <a:lstStyle/>
          <a:p>
            <a:pPr algn="l"/>
            <a:r>
              <a:rPr sz="1300" b="0" i="0">
                <a:solidFill>
                  <a:srgbClr val="0C4444"/>
                </a:solidFill>
              </a:rPr>
              <a:t>There have been unexpected obstacles, as you know. But the design is right, the tools are real, the cooperative structure sidesteps everything that stopped WIDS in 1995. We are not asking the system to change. We are building alongside it. Others will follow when they see what is possible.</a:t>
            </a:r>
          </a:p>
        </p:txBody>
      </p:sp>
      <p:sp>
        <p:nvSpPr>
          <p:cNvPr id="15" name="TextBox 14"/>
          <p:cNvSpPr txBox="1"/>
          <p:nvPr/>
        </p:nvSpPr>
        <p:spPr>
          <a:xfrm>
            <a:off x="548640" y="6492240"/>
            <a:ext cx="10972800" cy="274320"/>
          </a:xfrm>
          <a:prstGeom prst="rect">
            <a:avLst/>
          </a:prstGeom>
          <a:noFill/>
        </p:spPr>
        <p:txBody>
          <a:bodyPr wrap="square">
            <a:spAutoFit/>
          </a:bodyPr>
          <a:lstStyle/>
          <a:p>
            <a:pPr algn="l"/>
            <a:r>
              <a:rPr sz="900" b="0" i="0">
                <a:solidFill>
                  <a:srgbClr val="888888"/>
                </a:solidFill>
              </a:rPr>
              <a:t>Where Health Actually Lives · For Don Berwick · July 2026 · CC 4.0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822960" y="1645920"/>
            <a:ext cx="10543032" cy="2194560"/>
          </a:xfrm>
          <a:prstGeom prst="rect">
            <a:avLst/>
          </a:prstGeom>
          <a:noFill/>
        </p:spPr>
        <p:txBody>
          <a:bodyPr wrap="square">
            <a:spAutoFit/>
          </a:bodyPr>
          <a:lstStyle/>
          <a:p>
            <a:pPr algn="ctr"/>
            <a:r>
              <a:rPr sz="2600" b="0" i="1">
                <a:solidFill>
                  <a:srgbClr val="FFFFFF"/>
                </a:solidFill>
              </a:rPr>
              <a:t>“Give people and their communities everything they need and want —
the knowledge, the tools, the economic support —
and watch what human beings do with their own health.”</a:t>
            </a:r>
          </a:p>
        </p:txBody>
      </p:sp>
      <p:sp>
        <p:nvSpPr>
          <p:cNvPr id="3" name="TextBox 2"/>
          <p:cNvSpPr txBox="1"/>
          <p:nvPr/>
        </p:nvSpPr>
        <p:spPr>
          <a:xfrm>
            <a:off x="640080" y="4114800"/>
            <a:ext cx="10908792" cy="320040"/>
          </a:xfrm>
          <a:prstGeom prst="rect">
            <a:avLst/>
          </a:prstGeom>
          <a:noFill/>
        </p:spPr>
        <p:txBody>
          <a:bodyPr wrap="square">
            <a:spAutoFit/>
          </a:bodyPr>
          <a:lstStyle/>
          <a:p>
            <a:pPr algn="ctr"/>
            <a:r>
              <a:rPr sz="1200" b="0" i="0">
                <a:solidFill>
                  <a:srgbClr val="7788AA"/>
                </a:solidFill>
              </a:rPr>
              <a:t>Whatcom County  ·  2026  ·  Open Source CC 4.0  ·  Marc Pierson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