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777240" y="141732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691640"/>
            <a:ext cx="10058400" cy="914400"/>
          </a:xfrm>
          <a:prstGeom prst="rect">
            <a:avLst/>
          </a:prstGeom>
          <a:noFill/>
        </p:spPr>
        <p:txBody>
          <a:bodyPr wrap="square" anchor="t">
            <a:spAutoFit/>
          </a:bodyPr>
          <a:lstStyle/>
          <a:p>
            <a:pPr algn="l">
              <a:lnSpc>
                <a:spcPct val="100000"/>
              </a:lnSpc>
            </a:pPr>
            <a:r>
              <a:rPr sz="4800" b="1" i="0">
                <a:solidFill>
                  <a:srgbClr val="FFFFFF"/>
                </a:solidFill>
                <a:latin typeface="Calibri"/>
              </a:rPr>
              <a:t>Mech Blocks</a:t>
            </a:r>
          </a:p>
        </p:txBody>
      </p:sp>
      <p:sp>
        <p:nvSpPr>
          <p:cNvPr id="4" name="TextBox 3"/>
          <p:cNvSpPr txBox="1"/>
          <p:nvPr/>
        </p:nvSpPr>
        <p:spPr>
          <a:xfrm>
            <a:off x="777240" y="2697480"/>
            <a:ext cx="10515600" cy="1097280"/>
          </a:xfrm>
          <a:prstGeom prst="rect">
            <a:avLst/>
          </a:prstGeom>
          <a:noFill/>
        </p:spPr>
        <p:txBody>
          <a:bodyPr wrap="square" anchor="t">
            <a:spAutoFit/>
          </a:bodyPr>
          <a:lstStyle/>
          <a:p>
            <a:pPr algn="l">
              <a:lnSpc>
                <a:spcPct val="110000"/>
              </a:lnSpc>
            </a:pPr>
            <a:r>
              <a:rPr sz="2400" b="0" i="0">
                <a:solidFill>
                  <a:srgbClr val="CBD5E1"/>
                </a:solidFill>
                <a:latin typeface="Calibri"/>
              </a:rPr>
              <a:t>Building small wiki programs by snapping blocks together,</a:t>
            </a:r>
          </a:p>
          <a:p>
            <a:pPr algn="l">
              <a:lnSpc>
                <a:spcPct val="110000"/>
              </a:lnSpc>
            </a:pPr>
            <a:r>
              <a:rPr sz="2400" b="0" i="0">
                <a:solidFill>
                  <a:srgbClr val="CBD5E1"/>
                </a:solidFill>
                <a:latin typeface="Calibri"/>
              </a:rPr>
              <a:t>on top of Ward Cunningham's Mech</a:t>
            </a:r>
          </a:p>
        </p:txBody>
      </p:sp>
      <p:sp>
        <p:nvSpPr>
          <p:cNvPr id="5" name="Rectangle 4"/>
          <p:cNvSpPr/>
          <p:nvPr/>
        </p:nvSpPr>
        <p:spPr>
          <a:xfrm>
            <a:off x="7863840" y="3977639"/>
            <a:ext cx="3566160" cy="201168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0" y="3977639"/>
            <a:ext cx="91440" cy="2011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65008" y="4096511"/>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8" name="Rectangle 7"/>
          <p:cNvSpPr/>
          <p:nvPr/>
        </p:nvSpPr>
        <p:spPr>
          <a:xfrm>
            <a:off x="7955279" y="5843016"/>
            <a:ext cx="347472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0" y="4434840"/>
            <a:ext cx="3017520" cy="384048"/>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0" y="4434840"/>
            <a:ext cx="73152"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517136"/>
            <a:ext cx="1828800" cy="219456"/>
          </a:xfrm>
          <a:prstGeom prst="rect">
            <a:avLst/>
          </a:prstGeom>
          <a:noFill/>
        </p:spPr>
        <p:txBody>
          <a:bodyPr wrap="none" anchor="ctr" lIns="0" rIns="0" tIns="0" bIns="0">
            <a:spAutoFit/>
          </a:bodyPr>
          <a:lstStyle/>
          <a:p>
            <a:pPr algn="l"/>
            <a:r>
              <a:rPr sz="1300" b="1">
                <a:solidFill>
                  <a:srgbClr val="1D4ED8"/>
                </a:solidFill>
                <a:latin typeface="Calibri"/>
              </a:rPr>
              <a:t>NEIGHBORS</a:t>
            </a:r>
          </a:p>
        </p:txBody>
      </p:sp>
      <p:sp>
        <p:nvSpPr>
          <p:cNvPr id="12" name="Rectangle 11"/>
          <p:cNvSpPr/>
          <p:nvPr/>
        </p:nvSpPr>
        <p:spPr>
          <a:xfrm>
            <a:off x="8229600" y="4892040"/>
            <a:ext cx="3017520" cy="384048"/>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4892040"/>
            <a:ext cx="73152"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4974336"/>
            <a:ext cx="1828800" cy="219456"/>
          </a:xfrm>
          <a:prstGeom prst="rect">
            <a:avLst/>
          </a:prstGeom>
          <a:noFill/>
        </p:spPr>
        <p:txBody>
          <a:bodyPr wrap="none" anchor="ctr" lIns="0" rIns="0" tIns="0" bIns="0">
            <a:spAutoFit/>
          </a:bodyPr>
          <a:lstStyle/>
          <a:p>
            <a:pPr algn="l"/>
            <a:r>
              <a:rPr sz="1300" b="1">
                <a:solidFill>
                  <a:srgbClr val="1D4ED8"/>
                </a:solidFill>
                <a:latin typeface="Calibri"/>
              </a:rPr>
              <a:t>WALK</a:t>
            </a:r>
          </a:p>
        </p:txBody>
      </p:sp>
      <p:sp>
        <p:nvSpPr>
          <p:cNvPr id="15" name="Rectangle 14"/>
          <p:cNvSpPr/>
          <p:nvPr/>
        </p:nvSpPr>
        <p:spPr>
          <a:xfrm>
            <a:off x="8229600" y="5349240"/>
            <a:ext cx="3017520" cy="384048"/>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5349240"/>
            <a:ext cx="73152" cy="38404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5431536"/>
            <a:ext cx="1828800" cy="219456"/>
          </a:xfrm>
          <a:prstGeom prst="rect">
            <a:avLst/>
          </a:prstGeom>
          <a:noFill/>
        </p:spPr>
        <p:txBody>
          <a:bodyPr wrap="none" anchor="ctr" lIns="0" rIns="0" tIns="0" bIns="0">
            <a:spAutoFit/>
          </a:bodyPr>
          <a:lstStyle/>
          <a:p>
            <a:pPr algn="l"/>
            <a:r>
              <a:rPr sz="1300" b="1">
                <a:solidFill>
                  <a:srgbClr val="15803D"/>
                </a:solidFill>
                <a:latin typeface="Calibri"/>
              </a:rPr>
              <a:t>PREVIEW</a:t>
            </a:r>
          </a:p>
        </p:txBody>
      </p:sp>
      <p:sp>
        <p:nvSpPr>
          <p:cNvPr id="18" name="TextBox 17"/>
          <p:cNvSpPr txBox="1"/>
          <p:nvPr/>
        </p:nvSpPr>
        <p:spPr>
          <a:xfrm>
            <a:off x="777240" y="4206240"/>
            <a:ext cx="6583680" cy="822960"/>
          </a:xfrm>
          <a:prstGeom prst="rect">
            <a:avLst/>
          </a:prstGeom>
          <a:noFill/>
        </p:spPr>
        <p:txBody>
          <a:bodyPr wrap="square" anchor="t">
            <a:spAutoFit/>
          </a:bodyPr>
          <a:lstStyle/>
          <a:p>
            <a:pPr algn="l">
              <a:lnSpc>
                <a:spcPct val="115000"/>
              </a:lnSpc>
            </a:pPr>
            <a:r>
              <a:rPr sz="1500" b="0" i="1">
                <a:solidFill>
                  <a:srgbClr val="9CA9BD"/>
                </a:solidFill>
                <a:latin typeface="Calibri"/>
              </a:rPr>
              <a:t>An exploration. Nothing in Mech, on any wiki, or in the RCN tools in use is changed.</a:t>
            </a:r>
          </a:p>
        </p:txBody>
      </p:sp>
      <p:sp>
        <p:nvSpPr>
          <p:cNvPr id="19" name="TextBox 18"/>
          <p:cNvSpPr txBox="1"/>
          <p:nvPr/>
        </p:nvSpPr>
        <p:spPr>
          <a:xfrm>
            <a:off x="777240" y="6035040"/>
            <a:ext cx="7315200" cy="365760"/>
          </a:xfrm>
          <a:prstGeom prst="rect">
            <a:avLst/>
          </a:prstGeom>
          <a:noFill/>
        </p:spPr>
        <p:txBody>
          <a:bodyPr wrap="square" anchor="t">
            <a:spAutoFit/>
          </a:bodyPr>
          <a:lstStyle/>
          <a:p>
            <a:pPr algn="l">
              <a:lnSpc>
                <a:spcPct val="100000"/>
              </a:lnSpc>
            </a:pPr>
            <a:r>
              <a:rPr sz="1400" b="1" i="0">
                <a:solidFill>
                  <a:srgbClr val="FFFFFF"/>
                </a:solidFill>
                <a:latin typeface="Calibri"/>
              </a:rPr>
              <a:t>Marc Pierson and Claude Opus 5.5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D4ED8"/>
                </a:solidFill>
                <a:latin typeface="Calibri"/>
              </a:rPr>
              <a:t>WHAT MECH IS</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A Mech is a few lines of capital words</a:t>
            </a:r>
          </a:p>
        </p:txBody>
      </p:sp>
      <p:sp>
        <p:nvSpPr>
          <p:cNvPr id="4" name="Rectangle 3"/>
          <p:cNvSpPr/>
          <p:nvPr/>
        </p:nvSpPr>
        <p:spPr>
          <a:xfrm>
            <a:off x="777240" y="1874519"/>
            <a:ext cx="393192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39112"/>
            <a:ext cx="3566160" cy="1783080"/>
          </a:xfrm>
          <a:prstGeom prst="rect">
            <a:avLst/>
          </a:prstGeom>
          <a:noFill/>
        </p:spPr>
        <p:txBody>
          <a:bodyPr wrap="square" anchor="t">
            <a:spAutoFit/>
          </a:bodyPr>
          <a:lstStyle/>
          <a:p>
            <a:pPr algn="l">
              <a:lnSpc>
                <a:spcPct val="120000"/>
              </a:lnSpc>
            </a:pPr>
            <a:r>
              <a:rPr sz="2000" b="0" i="0">
                <a:solidFill>
                  <a:srgbClr val="0F172A"/>
                </a:solidFill>
                <a:latin typeface="Menlo"/>
              </a:rPr>
              <a:t>CLICK</a:t>
            </a:r>
          </a:p>
          <a:p>
            <a:pPr algn="l">
              <a:lnSpc>
                <a:spcPct val="120000"/>
              </a:lnSpc>
            </a:pPr>
            <a:r>
              <a:rPr sz="2000" b="0" i="0">
                <a:solidFill>
                  <a:srgbClr val="0F172A"/>
                </a:solidFill>
                <a:latin typeface="Menlo"/>
              </a:rPr>
              <a:t> NEIGHBORS fed.wiki</a:t>
            </a:r>
          </a:p>
          <a:p>
            <a:pPr algn="l">
              <a:lnSpc>
                <a:spcPct val="120000"/>
              </a:lnSpc>
            </a:pPr>
            <a:r>
              <a:rPr sz="2000" b="0" i="0">
                <a:solidFill>
                  <a:srgbClr val="0F172A"/>
                </a:solidFill>
                <a:latin typeface="Menlo"/>
              </a:rPr>
              <a:t> WALK 10 steps</a:t>
            </a:r>
          </a:p>
          <a:p>
            <a:pPr algn="l">
              <a:lnSpc>
                <a:spcPct val="120000"/>
              </a:lnSpc>
            </a:pPr>
            <a:r>
              <a:rPr sz="2000" b="0" i="0">
                <a:solidFill>
                  <a:srgbClr val="0F172A"/>
                </a:solidFill>
                <a:latin typeface="Menlo"/>
              </a:rPr>
              <a:t> PREVIEW graph</a:t>
            </a:r>
          </a:p>
        </p:txBody>
      </p:sp>
      <p:sp>
        <p:nvSpPr>
          <p:cNvPr id="6" name="TextBox 5"/>
          <p:cNvSpPr txBox="1"/>
          <p:nvPr/>
        </p:nvSpPr>
        <p:spPr>
          <a:xfrm>
            <a:off x="5120640" y="1920239"/>
            <a:ext cx="1463040" cy="219456"/>
          </a:xfrm>
          <a:prstGeom prst="rect">
            <a:avLst/>
          </a:prstGeom>
          <a:noFill/>
        </p:spPr>
        <p:txBody>
          <a:bodyPr wrap="none" anchor="ctr" lIns="0" rIns="0" tIns="0" bIns="0">
            <a:spAutoFit/>
          </a:bodyPr>
          <a:lstStyle/>
          <a:p>
            <a:pPr algn="l"/>
            <a:r>
              <a:rPr sz="1500" b="1">
                <a:solidFill>
                  <a:srgbClr val="B45309"/>
                </a:solidFill>
                <a:latin typeface="Calibri"/>
              </a:rPr>
              <a:t>CLICK</a:t>
            </a:r>
          </a:p>
        </p:txBody>
      </p:sp>
      <p:sp>
        <p:nvSpPr>
          <p:cNvPr id="7" name="TextBox 6"/>
          <p:cNvSpPr txBox="1"/>
          <p:nvPr/>
        </p:nvSpPr>
        <p:spPr>
          <a:xfrm>
            <a:off x="6629400" y="1874519"/>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puts a ▶ button on the page and waits for a person</a:t>
            </a:r>
          </a:p>
        </p:txBody>
      </p:sp>
      <p:sp>
        <p:nvSpPr>
          <p:cNvPr id="8" name="TextBox 7"/>
          <p:cNvSpPr txBox="1"/>
          <p:nvPr/>
        </p:nvSpPr>
        <p:spPr>
          <a:xfrm>
            <a:off x="5120640" y="2450591"/>
            <a:ext cx="1463040" cy="219456"/>
          </a:xfrm>
          <a:prstGeom prst="rect">
            <a:avLst/>
          </a:prstGeom>
          <a:noFill/>
        </p:spPr>
        <p:txBody>
          <a:bodyPr wrap="none" anchor="ctr" lIns="0" rIns="0" tIns="0" bIns="0">
            <a:spAutoFit/>
          </a:bodyPr>
          <a:lstStyle/>
          <a:p>
            <a:pPr algn="l"/>
            <a:r>
              <a:rPr sz="1500" b="1">
                <a:solidFill>
                  <a:srgbClr val="1D4ED8"/>
                </a:solidFill>
                <a:latin typeface="Calibri"/>
              </a:rPr>
              <a:t>NEIGHBORS</a:t>
            </a:r>
          </a:p>
        </p:txBody>
      </p:sp>
      <p:sp>
        <p:nvSpPr>
          <p:cNvPr id="9" name="TextBox 8"/>
          <p:cNvSpPr txBox="1"/>
          <p:nvPr/>
        </p:nvSpPr>
        <p:spPr>
          <a:xfrm>
            <a:off x="6629400" y="2404872"/>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gathers every page on the nearby wiki sites</a:t>
            </a:r>
          </a:p>
        </p:txBody>
      </p:sp>
      <p:sp>
        <p:nvSpPr>
          <p:cNvPr id="10" name="TextBox 9"/>
          <p:cNvSpPr txBox="1"/>
          <p:nvPr/>
        </p:nvSpPr>
        <p:spPr>
          <a:xfrm>
            <a:off x="5120640" y="2980944"/>
            <a:ext cx="1463040" cy="219456"/>
          </a:xfrm>
          <a:prstGeom prst="rect">
            <a:avLst/>
          </a:prstGeom>
          <a:noFill/>
        </p:spPr>
        <p:txBody>
          <a:bodyPr wrap="none" anchor="ctr" lIns="0" rIns="0" tIns="0" bIns="0">
            <a:spAutoFit/>
          </a:bodyPr>
          <a:lstStyle/>
          <a:p>
            <a:pPr algn="l"/>
            <a:r>
              <a:rPr sz="1500" b="1">
                <a:solidFill>
                  <a:srgbClr val="1D4ED8"/>
                </a:solidFill>
                <a:latin typeface="Calibri"/>
              </a:rPr>
              <a:t>WALK</a:t>
            </a:r>
          </a:p>
        </p:txBody>
      </p:sp>
      <p:sp>
        <p:nvSpPr>
          <p:cNvPr id="11" name="TextBox 10"/>
          <p:cNvSpPr txBox="1"/>
          <p:nvPr/>
        </p:nvSpPr>
        <p:spPr>
          <a:xfrm>
            <a:off x="6629400" y="2935224"/>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follows links ten steps at a time and keeps small graphs</a:t>
            </a:r>
          </a:p>
        </p:txBody>
      </p:sp>
      <p:sp>
        <p:nvSpPr>
          <p:cNvPr id="12" name="TextBox 11"/>
          <p:cNvSpPr txBox="1"/>
          <p:nvPr/>
        </p:nvSpPr>
        <p:spPr>
          <a:xfrm>
            <a:off x="5120640" y="3511295"/>
            <a:ext cx="1463040" cy="219456"/>
          </a:xfrm>
          <a:prstGeom prst="rect">
            <a:avLst/>
          </a:prstGeom>
          <a:noFill/>
        </p:spPr>
        <p:txBody>
          <a:bodyPr wrap="none" anchor="ctr" lIns="0" rIns="0" tIns="0" bIns="0">
            <a:spAutoFit/>
          </a:bodyPr>
          <a:lstStyle/>
          <a:p>
            <a:pPr algn="l"/>
            <a:r>
              <a:rPr sz="1500" b="1">
                <a:solidFill>
                  <a:srgbClr val="15803D"/>
                </a:solidFill>
                <a:latin typeface="Calibri"/>
              </a:rPr>
              <a:t>PREVIEW</a:t>
            </a:r>
          </a:p>
        </p:txBody>
      </p:sp>
      <p:sp>
        <p:nvSpPr>
          <p:cNvPr id="13" name="TextBox 12"/>
          <p:cNvSpPr txBox="1"/>
          <p:nvPr/>
        </p:nvSpPr>
        <p:spPr>
          <a:xfrm>
            <a:off x="6629400" y="3465575"/>
            <a:ext cx="4754880" cy="502920"/>
          </a:xfrm>
          <a:prstGeom prst="rect">
            <a:avLst/>
          </a:prstGeom>
          <a:noFill/>
        </p:spPr>
        <p:txBody>
          <a:bodyPr wrap="square" anchor="t">
            <a:spAutoFit/>
          </a:bodyPr>
          <a:lstStyle/>
          <a:p>
            <a:pPr algn="l">
              <a:lnSpc>
                <a:spcPct val="100000"/>
              </a:lnSpc>
            </a:pPr>
            <a:r>
              <a:rPr sz="1500" b="0" i="0">
                <a:solidFill>
                  <a:srgbClr val="475569"/>
                </a:solidFill>
                <a:latin typeface="Calibri"/>
              </a:rPr>
              <a:t>opens those graphs as a page you can look at</a:t>
            </a:r>
          </a:p>
        </p:txBody>
      </p:sp>
      <p:sp>
        <p:nvSpPr>
          <p:cNvPr id="14" name="Rectangle 13"/>
          <p:cNvSpPr/>
          <p:nvPr/>
        </p:nvSpPr>
        <p:spPr>
          <a:xfrm>
            <a:off x="777240" y="4343400"/>
            <a:ext cx="10607040" cy="1188720"/>
          </a:xfrm>
          <a:prstGeom prst="rect">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462272"/>
            <a:ext cx="10058400" cy="347472"/>
          </a:xfrm>
          <a:prstGeom prst="rect">
            <a:avLst/>
          </a:prstGeom>
          <a:noFill/>
        </p:spPr>
        <p:txBody>
          <a:bodyPr wrap="square" anchor="t">
            <a:spAutoFit/>
          </a:bodyPr>
          <a:lstStyle/>
          <a:p>
            <a:pPr algn="l">
              <a:lnSpc>
                <a:spcPct val="100000"/>
              </a:lnSpc>
            </a:pPr>
            <a:r>
              <a:rPr sz="1500" b="1" i="0">
                <a:solidFill>
                  <a:srgbClr val="1D4ED8"/>
                </a:solidFill>
                <a:latin typeface="Calibri"/>
              </a:rPr>
              <a:t>The blocks share one notebook</a:t>
            </a:r>
          </a:p>
        </p:txBody>
      </p:sp>
      <p:sp>
        <p:nvSpPr>
          <p:cNvPr id="16" name="TextBox 15"/>
          <p:cNvSpPr txBox="1"/>
          <p:nvPr/>
        </p:nvSpPr>
        <p:spPr>
          <a:xfrm>
            <a:off x="1051560" y="4846320"/>
            <a:ext cx="10058400" cy="594360"/>
          </a:xfrm>
          <a:prstGeom prst="rect">
            <a:avLst/>
          </a:prstGeom>
          <a:noFill/>
        </p:spPr>
        <p:txBody>
          <a:bodyPr wrap="square" anchor="t">
            <a:spAutoFit/>
          </a:bodyPr>
          <a:lstStyle/>
          <a:p>
            <a:pPr algn="l">
              <a:lnSpc>
                <a:spcPct val="112000"/>
              </a:lnSpc>
            </a:pPr>
            <a:r>
              <a:rPr sz="1250" b="0" i="0">
                <a:solidFill>
                  <a:srgbClr val="475569"/>
                </a:solidFill>
                <a:latin typeface="Calibri"/>
              </a:rPr>
              <a:t>Mech calls it "state". NEIGHBORS writes the neighborhood into it. WALK reads the neighborhood and writes graphs. PREVIEW reads the graphs. A line indented under another belongs to it: here, all three wait for CLICK. Put WALK before NEIGHBORS and WALK finds nothing to read.</a:t>
            </a:r>
          </a:p>
        </p:txBody>
      </p:sp>
      <p:sp>
        <p:nvSpPr>
          <p:cNvPr id="17" name="TextBox 1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8" name="TextBox 1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91C1C"/>
                </a:solidFill>
                <a:latin typeface="Calibri"/>
              </a:rPr>
              <a:t>THE DIFFICULTY</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Easy for Ward to type. Hard for nearly everyone else.</a:t>
            </a:r>
          </a:p>
        </p:txBody>
      </p:sp>
      <p:sp>
        <p:nvSpPr>
          <p:cNvPr id="4" name="Rectangle 3"/>
          <p:cNvSpPr/>
          <p:nvPr/>
        </p:nvSpPr>
        <p:spPr>
          <a:xfrm>
            <a:off x="77724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Spaces carry the meaning</a:t>
            </a:r>
          </a:p>
        </p:txBody>
      </p:sp>
      <p:sp>
        <p:nvSpPr>
          <p:cNvPr id="7" name="TextBox 6"/>
          <p:cNvSpPr txBox="1"/>
          <p:nvPr/>
        </p:nvSpPr>
        <p:spPr>
          <a:xfrm>
            <a:off x="1033271"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Which block a line belongs to is decided by how many spaces start it. One space too few and a line quietly belongs somewhere else, or nowhere.</a:t>
            </a:r>
          </a:p>
        </p:txBody>
      </p:sp>
      <p:sp>
        <p:nvSpPr>
          <p:cNvPr id="8" name="Rectangle 7"/>
          <p:cNvSpPr/>
          <p:nvPr/>
        </p:nvSpPr>
        <p:spPr>
          <a:xfrm>
            <a:off x="438912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Every word must be exact</a:t>
            </a:r>
          </a:p>
        </p:txBody>
      </p:sp>
      <p:sp>
        <p:nvSpPr>
          <p:cNvPr id="11" name="TextBox 10"/>
          <p:cNvSpPr txBox="1"/>
          <p:nvPr/>
        </p:nvSpPr>
        <p:spPr>
          <a:xfrm>
            <a:off x="4645152"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Thirty-one capital words, each spelled exactly, each with its own rules about what may follow it and what may be indented under it.</a:t>
            </a:r>
          </a:p>
        </p:txBody>
      </p:sp>
      <p:sp>
        <p:nvSpPr>
          <p:cNvPr id="12" name="Rectangle 11"/>
          <p:cNvSpPr/>
          <p:nvPr/>
        </p:nvSpPr>
        <p:spPr>
          <a:xfrm>
            <a:off x="8001000" y="1920240"/>
            <a:ext cx="3383280" cy="2194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920240"/>
            <a:ext cx="54864" cy="219456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Mistakes appear after you run</a:t>
            </a:r>
          </a:p>
        </p:txBody>
      </p:sp>
      <p:sp>
        <p:nvSpPr>
          <p:cNvPr id="15" name="TextBox 14"/>
          <p:cNvSpPr txBox="1"/>
          <p:nvPr/>
        </p:nvSpPr>
        <p:spPr>
          <a:xfrm>
            <a:off x="8257031" y="2560320"/>
            <a:ext cx="2926080" cy="1417319"/>
          </a:xfrm>
          <a:prstGeom prst="rect">
            <a:avLst/>
          </a:prstGeom>
          <a:noFill/>
        </p:spPr>
        <p:txBody>
          <a:bodyPr wrap="square" anchor="t">
            <a:spAutoFit/>
          </a:bodyPr>
          <a:lstStyle/>
          <a:p>
            <a:pPr algn="l">
              <a:lnSpc>
                <a:spcPct val="110000"/>
              </a:lnSpc>
            </a:pPr>
            <a:r>
              <a:rPr sz="1350" b="0" i="0">
                <a:solidFill>
                  <a:srgbClr val="475569"/>
                </a:solidFill>
                <a:latin typeface="Calibri"/>
              </a:rPr>
              <a:t>Click ▶ and only then: "WALK expects state.neighborhood, like from NEIGHBORS." Ward made these messages clear and uniform; they still arrive after the fact.</a:t>
            </a:r>
          </a:p>
        </p:txBody>
      </p:sp>
      <p:sp>
        <p:nvSpPr>
          <p:cNvPr id="16" name="TextBox 15"/>
          <p:cNvSpPr txBox="1"/>
          <p:nvPr/>
        </p:nvSpPr>
        <p:spPr>
          <a:xfrm>
            <a:off x="777240" y="4526280"/>
            <a:ext cx="10607040" cy="548640"/>
          </a:xfrm>
          <a:prstGeom prst="rect">
            <a:avLst/>
          </a:prstGeom>
          <a:noFill/>
        </p:spPr>
        <p:txBody>
          <a:bodyPr wrap="square" anchor="t">
            <a:spAutoFit/>
          </a:bodyPr>
          <a:lstStyle/>
          <a:p>
            <a:pPr algn="l">
              <a:lnSpc>
                <a:spcPct val="100000"/>
              </a:lnSpc>
            </a:pPr>
            <a:r>
              <a:rPr sz="1700" b="0" i="1">
                <a:solidFill>
                  <a:srgbClr val="475569"/>
                </a:solidFill>
                <a:latin typeface="Calibri"/>
              </a:rPr>
              <a:t>Ward's own inspirations were programs for children, where pieces only fit where they belong.</a:t>
            </a:r>
          </a:p>
        </p:txBody>
      </p:sp>
      <p:sp>
        <p:nvSpPr>
          <p:cNvPr id="17" name="TextBox 1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8" name="TextBox 1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45309"/>
                </a:solidFill>
                <a:latin typeface="Calibri"/>
              </a:rPr>
              <a:t>WHERE THE IDEA COMES FROM</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Three programs Ward named, one idea from each</a:t>
            </a:r>
          </a:p>
        </p:txBody>
      </p:sp>
      <p:sp>
        <p:nvSpPr>
          <p:cNvPr id="4" name="Rectangle 3"/>
          <p:cNvSpPr/>
          <p:nvPr/>
        </p:nvSpPr>
        <p:spPr>
          <a:xfrm>
            <a:off x="77724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920240"/>
            <a:ext cx="54864" cy="2057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Scratch</a:t>
            </a:r>
          </a:p>
        </p:txBody>
      </p:sp>
      <p:sp>
        <p:nvSpPr>
          <p:cNvPr id="7" name="TextBox 6"/>
          <p:cNvSpPr txBox="1"/>
          <p:nvPr/>
        </p:nvSpPr>
        <p:spPr>
          <a:xfrm>
            <a:off x="1033271"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Blocks with a mouth. CLICK is drawn as a C that holds other blocks, so an empty CLICK is visibly unfinished instead of an error after running.</a:t>
            </a:r>
          </a:p>
        </p:txBody>
      </p:sp>
      <p:sp>
        <p:nvSpPr>
          <p:cNvPr id="8" name="Rectangle 7"/>
          <p:cNvSpPr/>
          <p:nvPr/>
        </p:nvSpPr>
        <p:spPr>
          <a:xfrm>
            <a:off x="438912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920240"/>
            <a:ext cx="54864" cy="20574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5152"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Snap!</a:t>
            </a:r>
          </a:p>
        </p:txBody>
      </p:sp>
      <p:sp>
        <p:nvSpPr>
          <p:cNvPr id="11" name="TextBox 10"/>
          <p:cNvSpPr txBox="1"/>
          <p:nvPr/>
        </p:nvSpPr>
        <p:spPr>
          <a:xfrm>
            <a:off x="4645152"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Blocks that pass data. Each block shows what it needs and what it makes, and a drop where the need is missing is flagged while you drag.</a:t>
            </a:r>
          </a:p>
        </p:txBody>
      </p:sp>
      <p:sp>
        <p:nvSpPr>
          <p:cNvPr id="12" name="Rectangle 11"/>
          <p:cNvSpPr/>
          <p:nvPr/>
        </p:nvSpPr>
        <p:spPr>
          <a:xfrm>
            <a:off x="8001000" y="1920240"/>
            <a:ext cx="3383280" cy="20574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920240"/>
            <a:ext cx="54864" cy="205740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08483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Etoys</a:t>
            </a:r>
          </a:p>
        </p:txBody>
      </p:sp>
      <p:sp>
        <p:nvSpPr>
          <p:cNvPr id="15" name="TextBox 14"/>
          <p:cNvSpPr txBox="1"/>
          <p:nvPr/>
        </p:nvSpPr>
        <p:spPr>
          <a:xfrm>
            <a:off x="8257031" y="2560320"/>
            <a:ext cx="2926080" cy="1280160"/>
          </a:xfrm>
          <a:prstGeom prst="rect">
            <a:avLst/>
          </a:prstGeom>
          <a:noFill/>
        </p:spPr>
        <p:txBody>
          <a:bodyPr wrap="square" anchor="t">
            <a:spAutoFit/>
          </a:bodyPr>
          <a:lstStyle/>
          <a:p>
            <a:pPr algn="l">
              <a:lnSpc>
                <a:spcPct val="110000"/>
              </a:lnSpc>
            </a:pPr>
            <a:r>
              <a:rPr sz="1350" b="0" i="0">
                <a:solidFill>
                  <a:srgbClr val="475569"/>
                </a:solidFill>
                <a:latin typeface="Calibri"/>
              </a:rPr>
              <a:t>Pull pieces from what is on the screen. Drop a wiki page link on the script and it becomes FROM site/slug, ready to hold the blocks that use the page.</a:t>
            </a:r>
          </a:p>
        </p:txBody>
      </p:sp>
      <p:sp>
        <p:nvSpPr>
          <p:cNvPr id="16" name="Rectangle 15"/>
          <p:cNvSpPr/>
          <p:nvPr/>
        </p:nvSpPr>
        <p:spPr>
          <a:xfrm>
            <a:off x="777240" y="4297680"/>
            <a:ext cx="10607040" cy="1051560"/>
          </a:xfrm>
          <a:prstGeom prst="rect">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416552"/>
            <a:ext cx="10058400" cy="347472"/>
          </a:xfrm>
          <a:prstGeom prst="rect">
            <a:avLst/>
          </a:prstGeom>
          <a:noFill/>
        </p:spPr>
        <p:txBody>
          <a:bodyPr wrap="square" anchor="t">
            <a:spAutoFit/>
          </a:bodyPr>
          <a:lstStyle/>
          <a:p>
            <a:pPr algn="l">
              <a:lnSpc>
                <a:spcPct val="100000"/>
              </a:lnSpc>
            </a:pPr>
            <a:r>
              <a:rPr sz="1500" b="1" i="0">
                <a:solidFill>
                  <a:srgbClr val="15803D"/>
                </a:solidFill>
                <a:latin typeface="Calibri"/>
              </a:rPr>
              <a:t>The checks are Ward's own words</a:t>
            </a:r>
          </a:p>
        </p:txBody>
      </p:sp>
      <p:sp>
        <p:nvSpPr>
          <p:cNvPr id="18" name="TextBox 17"/>
          <p:cNvSpPr txBox="1"/>
          <p:nvPr/>
        </p:nvSpPr>
        <p:spPr>
          <a:xfrm>
            <a:off x="1051560" y="4800600"/>
            <a:ext cx="10058400" cy="457199"/>
          </a:xfrm>
          <a:prstGeom prst="rect">
            <a:avLst/>
          </a:prstGeom>
          <a:noFill/>
        </p:spPr>
        <p:txBody>
          <a:bodyPr wrap="square" anchor="t">
            <a:spAutoFit/>
          </a:bodyPr>
          <a:lstStyle/>
          <a:p>
            <a:pPr algn="l">
              <a:lnSpc>
                <a:spcPct val="112000"/>
              </a:lnSpc>
            </a:pPr>
            <a:r>
              <a:rPr sz="1300" b="0" i="0">
                <a:solidFill>
                  <a:srgbClr val="475569"/>
                </a:solidFill>
                <a:latin typeface="Calibri"/>
              </a:rPr>
              <a:t>Every message comes from the trouble messages in Mech's code, applied before the script runs instead of after.</a:t>
            </a:r>
          </a:p>
        </p:txBody>
      </p:sp>
      <p:sp>
        <p:nvSpPr>
          <p:cNvPr id="19" name="TextBox 18"/>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0" name="TextBox 19"/>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D4ED8"/>
                </a:solidFill>
                <a:latin typeface="Calibri"/>
              </a:rPr>
              <a:t>THE ONE RULE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Ward's text stays the source. Blocks are a second view of it.</a:t>
            </a:r>
          </a:p>
        </p:txBody>
      </p:sp>
      <p:sp>
        <p:nvSpPr>
          <p:cNvPr id="4" name="Rectangle 3"/>
          <p:cNvSpPr/>
          <p:nvPr/>
        </p:nvSpPr>
        <p:spPr>
          <a:xfrm>
            <a:off x="777240" y="1965960"/>
            <a:ext cx="3291840" cy="178308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130552"/>
            <a:ext cx="2926080" cy="1508760"/>
          </a:xfrm>
          <a:prstGeom prst="rect">
            <a:avLst/>
          </a:prstGeom>
          <a:noFill/>
        </p:spPr>
        <p:txBody>
          <a:bodyPr wrap="square" anchor="t">
            <a:spAutoFit/>
          </a:bodyPr>
          <a:lstStyle/>
          <a:p>
            <a:pPr algn="l">
              <a:lnSpc>
                <a:spcPct val="120000"/>
              </a:lnSpc>
            </a:pPr>
            <a:r>
              <a:rPr sz="1600" b="0" i="0">
                <a:solidFill>
                  <a:srgbClr val="0F172A"/>
                </a:solidFill>
                <a:latin typeface="Menlo"/>
              </a:rPr>
              <a:t>CLICK</a:t>
            </a:r>
          </a:p>
          <a:p>
            <a:pPr algn="l">
              <a:lnSpc>
                <a:spcPct val="120000"/>
              </a:lnSpc>
            </a:pPr>
            <a:r>
              <a:rPr sz="1600" b="0" i="0">
                <a:solidFill>
                  <a:srgbClr val="0F172A"/>
                </a:solidFill>
                <a:latin typeface="Menlo"/>
              </a:rPr>
              <a:t> NEIGHBORS fed.wiki</a:t>
            </a:r>
          </a:p>
          <a:p>
            <a:pPr algn="l">
              <a:lnSpc>
                <a:spcPct val="120000"/>
              </a:lnSpc>
            </a:pPr>
            <a:r>
              <a:rPr sz="1600" b="0" i="0">
                <a:solidFill>
                  <a:srgbClr val="0F172A"/>
                </a:solidFill>
                <a:latin typeface="Menlo"/>
              </a:rPr>
              <a:t> WALK 10 steps</a:t>
            </a:r>
          </a:p>
          <a:p>
            <a:pPr algn="l">
              <a:lnSpc>
                <a:spcPct val="120000"/>
              </a:lnSpc>
            </a:pPr>
            <a:r>
              <a:rPr sz="1600" b="0" i="0">
                <a:solidFill>
                  <a:srgbClr val="0F172A"/>
                </a:solidFill>
                <a:latin typeface="Menlo"/>
              </a:rPr>
              <a:t> PREVIEW graph</a:t>
            </a:r>
          </a:p>
        </p:txBody>
      </p:sp>
      <p:sp>
        <p:nvSpPr>
          <p:cNvPr id="6" name="TextBox 5"/>
          <p:cNvSpPr txBox="1"/>
          <p:nvPr/>
        </p:nvSpPr>
        <p:spPr>
          <a:xfrm>
            <a:off x="777240" y="4041648"/>
            <a:ext cx="3291840" cy="219456"/>
          </a:xfrm>
          <a:prstGeom prst="rect">
            <a:avLst/>
          </a:prstGeom>
          <a:noFill/>
        </p:spPr>
        <p:txBody>
          <a:bodyPr wrap="none" anchor="ctr" lIns="0" rIns="0" tIns="0" bIns="0">
            <a:spAutoFit/>
          </a:bodyPr>
          <a:lstStyle/>
          <a:p>
            <a:pPr algn="ctr"/>
            <a:r>
              <a:rPr sz="1100" b="0">
                <a:solidFill>
                  <a:srgbClr val="94A3B8"/>
                </a:solidFill>
                <a:latin typeface="Calibri"/>
              </a:rPr>
              <a:t>what FedWiki stores</a:t>
            </a:r>
          </a:p>
        </p:txBody>
      </p:sp>
      <p:cxnSp>
        <p:nvCxnSpPr>
          <p:cNvPr id="7" name="Connector 6"/>
          <p:cNvCxnSpPr/>
          <p:nvPr/>
        </p:nvCxnSpPr>
        <p:spPr>
          <a:xfrm>
            <a:off x="4251960" y="2606040"/>
            <a:ext cx="1005840" cy="0"/>
          </a:xfrm>
          <a:prstGeom prst="line">
            <a:avLst/>
          </a:prstGeom>
          <a:ln w="25400">
            <a:solidFill>
              <a:srgbClr val="475569"/>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4251960" y="3063240"/>
            <a:ext cx="1005840" cy="0"/>
          </a:xfrm>
          <a:prstGeom prst="line">
            <a:avLst/>
          </a:prstGeom>
          <a:ln w="25400">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60520" y="2286000"/>
            <a:ext cx="1188720" cy="219456"/>
          </a:xfrm>
          <a:prstGeom prst="rect">
            <a:avLst/>
          </a:prstGeom>
          <a:noFill/>
        </p:spPr>
        <p:txBody>
          <a:bodyPr wrap="none" anchor="ctr" lIns="0" rIns="0" tIns="0" bIns="0">
            <a:spAutoFit/>
          </a:bodyPr>
          <a:lstStyle/>
          <a:p>
            <a:pPr algn="ctr"/>
            <a:r>
              <a:rPr sz="900" b="0">
                <a:solidFill>
                  <a:srgbClr val="475569"/>
                </a:solidFill>
                <a:latin typeface="Calibri"/>
              </a:rPr>
              <a:t>every drag rewrites it</a:t>
            </a:r>
          </a:p>
        </p:txBody>
      </p:sp>
      <p:sp>
        <p:nvSpPr>
          <p:cNvPr id="10" name="TextBox 9"/>
          <p:cNvSpPr txBox="1"/>
          <p:nvPr/>
        </p:nvSpPr>
        <p:spPr>
          <a:xfrm>
            <a:off x="4160520" y="3154680"/>
            <a:ext cx="1188720" cy="219456"/>
          </a:xfrm>
          <a:prstGeom prst="rect">
            <a:avLst/>
          </a:prstGeom>
          <a:noFill/>
        </p:spPr>
        <p:txBody>
          <a:bodyPr wrap="none" anchor="ctr" lIns="0" rIns="0" tIns="0" bIns="0">
            <a:spAutoFit/>
          </a:bodyPr>
          <a:lstStyle/>
          <a:p>
            <a:pPr algn="ctr"/>
            <a:r>
              <a:rPr sz="900" b="0">
                <a:solidFill>
                  <a:srgbClr val="475569"/>
                </a:solidFill>
                <a:latin typeface="Calibri"/>
              </a:rPr>
              <a:t>typing rebuilds them</a:t>
            </a:r>
          </a:p>
        </p:txBody>
      </p:sp>
      <p:sp>
        <p:nvSpPr>
          <p:cNvPr id="11" name="Rectangle 10"/>
          <p:cNvSpPr/>
          <p:nvPr/>
        </p:nvSpPr>
        <p:spPr>
          <a:xfrm>
            <a:off x="5440680" y="1965960"/>
            <a:ext cx="2926080" cy="196596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40680" y="1965960"/>
            <a:ext cx="91440" cy="19659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41848" y="2084831"/>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14" name="Rectangle 13"/>
          <p:cNvSpPr/>
          <p:nvPr/>
        </p:nvSpPr>
        <p:spPr>
          <a:xfrm>
            <a:off x="5532120" y="3785615"/>
            <a:ext cx="283464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2423160"/>
            <a:ext cx="2377440" cy="365760"/>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06440" y="2423160"/>
            <a:ext cx="73152" cy="3657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496312"/>
            <a:ext cx="1828800" cy="219456"/>
          </a:xfrm>
          <a:prstGeom prst="rect">
            <a:avLst/>
          </a:prstGeom>
          <a:noFill/>
        </p:spPr>
        <p:txBody>
          <a:bodyPr wrap="none" anchor="ctr" lIns="0" rIns="0" tIns="0" bIns="0">
            <a:spAutoFit/>
          </a:bodyPr>
          <a:lstStyle/>
          <a:p>
            <a:pPr algn="l"/>
            <a:r>
              <a:rPr sz="1200" b="1">
                <a:solidFill>
                  <a:srgbClr val="1D4ED8"/>
                </a:solidFill>
                <a:latin typeface="Calibri"/>
              </a:rPr>
              <a:t>NEIGHBORS</a:t>
            </a:r>
          </a:p>
        </p:txBody>
      </p:sp>
      <p:sp>
        <p:nvSpPr>
          <p:cNvPr id="18" name="Rectangle 17"/>
          <p:cNvSpPr/>
          <p:nvPr/>
        </p:nvSpPr>
        <p:spPr>
          <a:xfrm>
            <a:off x="5806440" y="2852928"/>
            <a:ext cx="2377440" cy="365760"/>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06440" y="2852928"/>
            <a:ext cx="73152" cy="3657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2926080"/>
            <a:ext cx="1828800" cy="219456"/>
          </a:xfrm>
          <a:prstGeom prst="rect">
            <a:avLst/>
          </a:prstGeom>
          <a:noFill/>
        </p:spPr>
        <p:txBody>
          <a:bodyPr wrap="none" anchor="ctr" lIns="0" rIns="0" tIns="0" bIns="0">
            <a:spAutoFit/>
          </a:bodyPr>
          <a:lstStyle/>
          <a:p>
            <a:pPr algn="l"/>
            <a:r>
              <a:rPr sz="1200" b="1">
                <a:solidFill>
                  <a:srgbClr val="1D4ED8"/>
                </a:solidFill>
                <a:latin typeface="Calibri"/>
              </a:rPr>
              <a:t>WALK</a:t>
            </a:r>
          </a:p>
        </p:txBody>
      </p:sp>
      <p:sp>
        <p:nvSpPr>
          <p:cNvPr id="21" name="Rectangle 20"/>
          <p:cNvSpPr/>
          <p:nvPr/>
        </p:nvSpPr>
        <p:spPr>
          <a:xfrm>
            <a:off x="5806440" y="3282696"/>
            <a:ext cx="2377440" cy="365760"/>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3282696"/>
            <a:ext cx="73152" cy="36576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3355848"/>
            <a:ext cx="1828800" cy="219456"/>
          </a:xfrm>
          <a:prstGeom prst="rect">
            <a:avLst/>
          </a:prstGeom>
          <a:noFill/>
        </p:spPr>
        <p:txBody>
          <a:bodyPr wrap="none" anchor="ctr" lIns="0" rIns="0" tIns="0" bIns="0">
            <a:spAutoFit/>
          </a:bodyPr>
          <a:lstStyle/>
          <a:p>
            <a:pPr algn="l"/>
            <a:r>
              <a:rPr sz="1200" b="1">
                <a:solidFill>
                  <a:srgbClr val="15803D"/>
                </a:solidFill>
                <a:latin typeface="Calibri"/>
              </a:rPr>
              <a:t>PREVIEW</a:t>
            </a:r>
          </a:p>
        </p:txBody>
      </p:sp>
      <p:sp>
        <p:nvSpPr>
          <p:cNvPr id="24" name="TextBox 23"/>
          <p:cNvSpPr txBox="1"/>
          <p:nvPr/>
        </p:nvSpPr>
        <p:spPr>
          <a:xfrm>
            <a:off x="5440680" y="4041648"/>
            <a:ext cx="2926080" cy="219456"/>
          </a:xfrm>
          <a:prstGeom prst="rect">
            <a:avLst/>
          </a:prstGeom>
          <a:noFill/>
        </p:spPr>
        <p:txBody>
          <a:bodyPr wrap="none" anchor="ctr" lIns="0" rIns="0" tIns="0" bIns="0">
            <a:spAutoFit/>
          </a:bodyPr>
          <a:lstStyle/>
          <a:p>
            <a:pPr algn="ctr"/>
            <a:r>
              <a:rPr sz="1100" b="0">
                <a:solidFill>
                  <a:srgbClr val="94A3B8"/>
                </a:solidFill>
                <a:latin typeface="Calibri"/>
              </a:rPr>
              <a:t>what you drag</a:t>
            </a:r>
          </a:p>
        </p:txBody>
      </p:sp>
      <p:sp>
        <p:nvSpPr>
          <p:cNvPr id="25" name="TextBox 24"/>
          <p:cNvSpPr txBox="1"/>
          <p:nvPr/>
        </p:nvSpPr>
        <p:spPr>
          <a:xfrm>
            <a:off x="8686800" y="1874519"/>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61</a:t>
            </a:r>
          </a:p>
        </p:txBody>
      </p:sp>
      <p:sp>
        <p:nvSpPr>
          <p:cNvPr id="26" name="TextBox 25"/>
          <p:cNvSpPr txBox="1"/>
          <p:nvPr/>
        </p:nvSpPr>
        <p:spPr>
          <a:xfrm>
            <a:off x="9921240" y="1929384"/>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handbook scripts come back byte for byte</a:t>
            </a:r>
          </a:p>
        </p:txBody>
      </p:sp>
      <p:sp>
        <p:nvSpPr>
          <p:cNvPr id="27" name="TextBox 26"/>
          <p:cNvSpPr txBox="1"/>
          <p:nvPr/>
        </p:nvSpPr>
        <p:spPr>
          <a:xfrm>
            <a:off x="8686800" y="2441448"/>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61</a:t>
            </a:r>
          </a:p>
        </p:txBody>
      </p:sp>
      <p:sp>
        <p:nvSpPr>
          <p:cNvPr id="28" name="TextBox 27"/>
          <p:cNvSpPr txBox="1"/>
          <p:nvPr/>
        </p:nvSpPr>
        <p:spPr>
          <a:xfrm>
            <a:off x="9921240" y="2496312"/>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nest exactly as Ward's own interpreter nests them</a:t>
            </a:r>
          </a:p>
        </p:txBody>
      </p:sp>
      <p:sp>
        <p:nvSpPr>
          <p:cNvPr id="29" name="TextBox 28"/>
          <p:cNvSpPr txBox="1"/>
          <p:nvPr/>
        </p:nvSpPr>
        <p:spPr>
          <a:xfrm>
            <a:off x="8686800" y="3008376"/>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1,433</a:t>
            </a:r>
          </a:p>
        </p:txBody>
      </p:sp>
      <p:sp>
        <p:nvSpPr>
          <p:cNvPr id="30" name="TextBox 29"/>
          <p:cNvSpPr txBox="1"/>
          <p:nvPr/>
        </p:nvSpPr>
        <p:spPr>
          <a:xfrm>
            <a:off x="9921240" y="3063240"/>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block moves keep every line and every block's shape</a:t>
            </a:r>
          </a:p>
        </p:txBody>
      </p:sp>
      <p:sp>
        <p:nvSpPr>
          <p:cNvPr id="31" name="TextBox 30"/>
          <p:cNvSpPr txBox="1"/>
          <p:nvPr/>
        </p:nvSpPr>
        <p:spPr>
          <a:xfrm>
            <a:off x="8686800" y="3575303"/>
            <a:ext cx="1143000" cy="548640"/>
          </a:xfrm>
          <a:prstGeom prst="rect">
            <a:avLst/>
          </a:prstGeom>
          <a:noFill/>
        </p:spPr>
        <p:txBody>
          <a:bodyPr wrap="square" anchor="t">
            <a:spAutoFit/>
          </a:bodyPr>
          <a:lstStyle/>
          <a:p>
            <a:pPr algn="r">
              <a:lnSpc>
                <a:spcPct val="100000"/>
              </a:lnSpc>
            </a:pPr>
            <a:r>
              <a:rPr sz="2600" b="1" i="0">
                <a:solidFill>
                  <a:srgbClr val="15803D"/>
                </a:solidFill>
                <a:latin typeface="Calibri"/>
              </a:rPr>
              <a:t>5,544</a:t>
            </a:r>
          </a:p>
        </p:txBody>
      </p:sp>
      <p:sp>
        <p:nvSpPr>
          <p:cNvPr id="32" name="TextBox 31"/>
          <p:cNvSpPr txBox="1"/>
          <p:nvPr/>
        </p:nvSpPr>
        <p:spPr>
          <a:xfrm>
            <a:off x="9921240" y="3630168"/>
            <a:ext cx="1920240" cy="548640"/>
          </a:xfrm>
          <a:prstGeom prst="rect">
            <a:avLst/>
          </a:prstGeom>
          <a:noFill/>
        </p:spPr>
        <p:txBody>
          <a:bodyPr wrap="square" anchor="t">
            <a:spAutoFit/>
          </a:bodyPr>
          <a:lstStyle/>
          <a:p>
            <a:pPr algn="l">
              <a:lnSpc>
                <a:spcPct val="100000"/>
              </a:lnSpc>
            </a:pPr>
            <a:r>
              <a:rPr sz="1150" b="0" i="0">
                <a:solidFill>
                  <a:srgbClr val="475569"/>
                </a:solidFill>
                <a:latin typeface="Calibri"/>
              </a:rPr>
              <a:t>automated checks pass</a:t>
            </a:r>
          </a:p>
        </p:txBody>
      </p:sp>
      <p:sp>
        <p:nvSpPr>
          <p:cNvPr id="33" name="Rectangle 32"/>
          <p:cNvSpPr/>
          <p:nvPr/>
        </p:nvSpPr>
        <p:spPr>
          <a:xfrm>
            <a:off x="777240" y="4526280"/>
            <a:ext cx="10607040" cy="1188720"/>
          </a:xfrm>
          <a:prstGeom prst="rect">
            <a:avLst/>
          </a:prstGeom>
          <a:solidFill>
            <a:srgbClr val="DBEAFE"/>
          </a:solidFill>
          <a:ln w="158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1560" y="4645152"/>
            <a:ext cx="10058400" cy="347472"/>
          </a:xfrm>
          <a:prstGeom prst="rect">
            <a:avLst/>
          </a:prstGeom>
          <a:noFill/>
        </p:spPr>
        <p:txBody>
          <a:bodyPr wrap="square" anchor="t">
            <a:spAutoFit/>
          </a:bodyPr>
          <a:lstStyle/>
          <a:p>
            <a:pPr algn="l">
              <a:lnSpc>
                <a:spcPct val="100000"/>
              </a:lnSpc>
            </a:pPr>
            <a:r>
              <a:rPr sz="1500" b="1" i="0">
                <a:solidFill>
                  <a:srgbClr val="1D4ED8"/>
                </a:solidFill>
                <a:latin typeface="Calibri"/>
              </a:rPr>
              <a:t>Why this rule matters</a:t>
            </a:r>
          </a:p>
        </p:txBody>
      </p:sp>
      <p:sp>
        <p:nvSpPr>
          <p:cNvPr id="35" name="TextBox 34"/>
          <p:cNvSpPr txBox="1"/>
          <p:nvPr/>
        </p:nvSpPr>
        <p:spPr>
          <a:xfrm>
            <a:off x="1051560" y="5029200"/>
            <a:ext cx="10058400" cy="594360"/>
          </a:xfrm>
          <a:prstGeom prst="rect">
            <a:avLst/>
          </a:prstGeom>
          <a:noFill/>
        </p:spPr>
        <p:txBody>
          <a:bodyPr wrap="square" anchor="t">
            <a:spAutoFit/>
          </a:bodyPr>
          <a:lstStyle/>
          <a:p>
            <a:pPr algn="l">
              <a:lnSpc>
                <a:spcPct val="112000"/>
              </a:lnSpc>
            </a:pPr>
            <a:r>
              <a:rPr sz="1300" b="0" i="0">
                <a:solidFill>
                  <a:srgbClr val="475569"/>
                </a:solidFill>
                <a:latin typeface="Calibri"/>
              </a:rPr>
              <a:t>Because only the text is stored, a script built from blocks runs anywhere Mech runs, and journal, fork, search and Ward's interpreter all keep working. Someone without Mech Blocks sees ordinary Mech. Nothing about the stored page changes.</a:t>
            </a:r>
          </a:p>
        </p:txBody>
      </p:sp>
      <p:sp>
        <p:nvSpPr>
          <p:cNvPr id="36" name="TextBox 3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37" name="TextBox 3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THE FIRST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Every block says what it needs and what it makes</a:t>
            </a:r>
          </a:p>
        </p:txBody>
      </p:sp>
      <p:sp>
        <p:nvSpPr>
          <p:cNvPr id="4" name="Rectangle 3"/>
          <p:cNvSpPr/>
          <p:nvPr/>
        </p:nvSpPr>
        <p:spPr>
          <a:xfrm>
            <a:off x="777240" y="1828800"/>
            <a:ext cx="6766560" cy="2148840"/>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91440" cy="21488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947672"/>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7" name="Rectangle 6"/>
          <p:cNvSpPr/>
          <p:nvPr/>
        </p:nvSpPr>
        <p:spPr>
          <a:xfrm>
            <a:off x="868680" y="3831335"/>
            <a:ext cx="667512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3000" y="2286000"/>
            <a:ext cx="6217920" cy="438912"/>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2286000"/>
            <a:ext cx="91440" cy="43891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4168" y="2395728"/>
            <a:ext cx="1280160" cy="219456"/>
          </a:xfrm>
          <a:prstGeom prst="rect">
            <a:avLst/>
          </a:prstGeom>
          <a:noFill/>
        </p:spPr>
        <p:txBody>
          <a:bodyPr wrap="none" anchor="ctr" lIns="0" rIns="0" tIns="0" bIns="0">
            <a:spAutoFit/>
          </a:bodyPr>
          <a:lstStyle/>
          <a:p>
            <a:pPr algn="l"/>
            <a:r>
              <a:rPr sz="1400" b="1">
                <a:solidFill>
                  <a:srgbClr val="1D4ED8"/>
                </a:solidFill>
                <a:latin typeface="Calibri"/>
              </a:rPr>
              <a:t>NEIGHBORS</a:t>
            </a:r>
          </a:p>
        </p:txBody>
      </p:sp>
      <p:sp>
        <p:nvSpPr>
          <p:cNvPr id="11" name="TextBox 10"/>
          <p:cNvSpPr txBox="1"/>
          <p:nvPr/>
        </p:nvSpPr>
        <p:spPr>
          <a:xfrm>
            <a:off x="2528316" y="2395728"/>
            <a:ext cx="1371600" cy="219456"/>
          </a:xfrm>
          <a:prstGeom prst="rect">
            <a:avLst/>
          </a:prstGeom>
          <a:noFill/>
        </p:spPr>
        <p:txBody>
          <a:bodyPr wrap="none" anchor="ctr" lIns="0" rIns="0" tIns="0" bIns="0">
            <a:spAutoFit/>
          </a:bodyPr>
          <a:lstStyle/>
          <a:p>
            <a:pPr algn="l"/>
            <a:r>
              <a:rPr sz="1300" b="0">
                <a:solidFill>
                  <a:srgbClr val="0F172A"/>
                </a:solidFill>
                <a:latin typeface="Calibri"/>
              </a:rPr>
              <a:t>fed.wiki</a:t>
            </a:r>
          </a:p>
        </p:txBody>
      </p:sp>
      <p:sp>
        <p:nvSpPr>
          <p:cNvPr id="12" name="Rounded Rectangle 11"/>
          <p:cNvSpPr/>
          <p:nvPr/>
        </p:nvSpPr>
        <p:spPr>
          <a:xfrm>
            <a:off x="3442716" y="2382012"/>
            <a:ext cx="1609344" cy="246888"/>
          </a:xfrm>
          <a:prstGeom prst="roundRect">
            <a:avLst>
              <a:gd name="adj" fmla="val 50000"/>
            </a:avLst>
          </a:prstGeom>
          <a:solidFill>
            <a:srgbClr val="1D4ED8"/>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2716" y="2395728"/>
            <a:ext cx="1609344" cy="219456"/>
          </a:xfrm>
          <a:prstGeom prst="rect">
            <a:avLst/>
          </a:prstGeom>
          <a:noFill/>
        </p:spPr>
        <p:txBody>
          <a:bodyPr wrap="none" anchor="ctr" lIns="0" rIns="0" tIns="0" bIns="0">
            <a:spAutoFit/>
          </a:bodyPr>
          <a:lstStyle/>
          <a:p>
            <a:pPr algn="ctr"/>
            <a:r>
              <a:rPr sz="1000" b="1">
                <a:solidFill>
                  <a:srgbClr val="FFFFFF"/>
                </a:solidFill>
                <a:latin typeface="Calibri"/>
              </a:rPr>
              <a:t>makes 🏘 neighborhood</a:t>
            </a:r>
          </a:p>
        </p:txBody>
      </p:sp>
      <p:sp>
        <p:nvSpPr>
          <p:cNvPr id="14" name="Rectangle 13"/>
          <p:cNvSpPr/>
          <p:nvPr/>
        </p:nvSpPr>
        <p:spPr>
          <a:xfrm>
            <a:off x="1143000" y="2779776"/>
            <a:ext cx="6217920" cy="438912"/>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3000" y="2779776"/>
            <a:ext cx="91440" cy="43891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44168" y="2889504"/>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17" name="TextBox 16"/>
          <p:cNvSpPr txBox="1"/>
          <p:nvPr/>
        </p:nvSpPr>
        <p:spPr>
          <a:xfrm>
            <a:off x="1911095" y="2889504"/>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18" name="Rounded Rectangle 17"/>
          <p:cNvSpPr/>
          <p:nvPr/>
        </p:nvSpPr>
        <p:spPr>
          <a:xfrm>
            <a:off x="2825496" y="2875788"/>
            <a:ext cx="1609344" cy="246888"/>
          </a:xfrm>
          <a:prstGeom prst="roundRect">
            <a:avLst>
              <a:gd name="adj" fmla="val 50000"/>
            </a:avLst>
          </a:prstGeom>
          <a:solidFill>
            <a:srgbClr val="FFFF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25496" y="2889504"/>
            <a:ext cx="1609344" cy="219456"/>
          </a:xfrm>
          <a:prstGeom prst="rect">
            <a:avLst/>
          </a:prstGeom>
          <a:noFill/>
        </p:spPr>
        <p:txBody>
          <a:bodyPr wrap="none" anchor="ctr" lIns="0" rIns="0" tIns="0" bIns="0">
            <a:spAutoFit/>
          </a:bodyPr>
          <a:lstStyle/>
          <a:p>
            <a:pPr algn="ctr"/>
            <a:r>
              <a:rPr sz="1000" b="1">
                <a:solidFill>
                  <a:srgbClr val="1D4ED8"/>
                </a:solidFill>
                <a:latin typeface="Calibri"/>
              </a:rPr>
              <a:t>needs 🏘 neighborhood</a:t>
            </a:r>
          </a:p>
        </p:txBody>
      </p:sp>
      <p:sp>
        <p:nvSpPr>
          <p:cNvPr id="20" name="Rounded Rectangle 19"/>
          <p:cNvSpPr/>
          <p:nvPr/>
        </p:nvSpPr>
        <p:spPr>
          <a:xfrm>
            <a:off x="4507992" y="2875788"/>
            <a:ext cx="1214323" cy="246888"/>
          </a:xfrm>
          <a:prstGeom prst="roundRect">
            <a:avLst>
              <a:gd name="adj" fmla="val 50000"/>
            </a:avLst>
          </a:prstGeom>
          <a:solidFill>
            <a:srgbClr val="15803D"/>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07992" y="2889504"/>
            <a:ext cx="1214323" cy="219456"/>
          </a:xfrm>
          <a:prstGeom prst="rect">
            <a:avLst/>
          </a:prstGeom>
          <a:noFill/>
        </p:spPr>
        <p:txBody>
          <a:bodyPr wrap="none" anchor="ctr" lIns="0" rIns="0" tIns="0" bIns="0">
            <a:spAutoFit/>
          </a:bodyPr>
          <a:lstStyle/>
          <a:p>
            <a:pPr algn="ctr"/>
            <a:r>
              <a:rPr sz="1000" b="1">
                <a:solidFill>
                  <a:srgbClr val="FFFFFF"/>
                </a:solidFill>
                <a:latin typeface="Calibri"/>
              </a:rPr>
              <a:t>makes 🔗 aspect</a:t>
            </a:r>
          </a:p>
        </p:txBody>
      </p:sp>
      <p:sp>
        <p:nvSpPr>
          <p:cNvPr id="22" name="Rectangle 21"/>
          <p:cNvSpPr/>
          <p:nvPr/>
        </p:nvSpPr>
        <p:spPr>
          <a:xfrm>
            <a:off x="1143000" y="3273552"/>
            <a:ext cx="6217920" cy="438912"/>
          </a:xfrm>
          <a:prstGeom prst="rect">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3000" y="3273552"/>
            <a:ext cx="91440" cy="43891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44168" y="3383280"/>
            <a:ext cx="1280160" cy="219456"/>
          </a:xfrm>
          <a:prstGeom prst="rect">
            <a:avLst/>
          </a:prstGeom>
          <a:noFill/>
        </p:spPr>
        <p:txBody>
          <a:bodyPr wrap="none" anchor="ctr" lIns="0" rIns="0" tIns="0" bIns="0">
            <a:spAutoFit/>
          </a:bodyPr>
          <a:lstStyle/>
          <a:p>
            <a:pPr algn="l"/>
            <a:r>
              <a:rPr sz="1400" b="1">
                <a:solidFill>
                  <a:srgbClr val="15803D"/>
                </a:solidFill>
                <a:latin typeface="Calibri"/>
              </a:rPr>
              <a:t>PREVIEW</a:t>
            </a:r>
          </a:p>
        </p:txBody>
      </p:sp>
      <p:sp>
        <p:nvSpPr>
          <p:cNvPr id="25" name="TextBox 24"/>
          <p:cNvSpPr txBox="1"/>
          <p:nvPr/>
        </p:nvSpPr>
        <p:spPr>
          <a:xfrm>
            <a:off x="2281428" y="3383280"/>
            <a:ext cx="1371600" cy="219456"/>
          </a:xfrm>
          <a:prstGeom prst="rect">
            <a:avLst/>
          </a:prstGeom>
          <a:noFill/>
        </p:spPr>
        <p:txBody>
          <a:bodyPr wrap="none" anchor="ctr" lIns="0" rIns="0" tIns="0" bIns="0">
            <a:spAutoFit/>
          </a:bodyPr>
          <a:lstStyle/>
          <a:p>
            <a:pPr algn="l"/>
            <a:r>
              <a:rPr sz="1300" b="0">
                <a:solidFill>
                  <a:srgbClr val="0F172A"/>
                </a:solidFill>
                <a:latin typeface="Calibri"/>
              </a:rPr>
              <a:t>graph</a:t>
            </a:r>
          </a:p>
        </p:txBody>
      </p:sp>
      <p:sp>
        <p:nvSpPr>
          <p:cNvPr id="26" name="Rounded Rectangle 25"/>
          <p:cNvSpPr/>
          <p:nvPr/>
        </p:nvSpPr>
        <p:spPr>
          <a:xfrm>
            <a:off x="2921508" y="3369564"/>
            <a:ext cx="1214323" cy="246888"/>
          </a:xfrm>
          <a:prstGeom prst="roundRect">
            <a:avLst>
              <a:gd name="adj" fmla="val 50000"/>
            </a:avLst>
          </a:prstGeom>
          <a:solidFill>
            <a:srgbClr val="FFFFFF"/>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1508" y="3383280"/>
            <a:ext cx="1214323" cy="219456"/>
          </a:xfrm>
          <a:prstGeom prst="rect">
            <a:avLst/>
          </a:prstGeom>
          <a:noFill/>
        </p:spPr>
        <p:txBody>
          <a:bodyPr wrap="none" anchor="ctr" lIns="0" rIns="0" tIns="0" bIns="0">
            <a:spAutoFit/>
          </a:bodyPr>
          <a:lstStyle/>
          <a:p>
            <a:pPr algn="ctr"/>
            <a:r>
              <a:rPr sz="1000" b="1">
                <a:solidFill>
                  <a:srgbClr val="15803D"/>
                </a:solidFill>
                <a:latin typeface="Calibri"/>
              </a:rPr>
              <a:t>needs 🔗 aspect</a:t>
            </a:r>
          </a:p>
        </p:txBody>
      </p:sp>
      <p:sp>
        <p:nvSpPr>
          <p:cNvPr id="28" name="Rounded Rectangle 27"/>
          <p:cNvSpPr/>
          <p:nvPr/>
        </p:nvSpPr>
        <p:spPr>
          <a:xfrm>
            <a:off x="4208983" y="3369564"/>
            <a:ext cx="1234440" cy="246888"/>
          </a:xfrm>
          <a:prstGeom prst="roundRect">
            <a:avLst>
              <a:gd name="adj" fmla="val 50000"/>
            </a:avLst>
          </a:prstGeom>
          <a:solidFill>
            <a:srgbClr val="FFFFFF"/>
          </a:solidFill>
          <a:ln w="1270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08983" y="3383280"/>
            <a:ext cx="1234440" cy="219456"/>
          </a:xfrm>
          <a:prstGeom prst="rect">
            <a:avLst/>
          </a:prstGeom>
          <a:noFill/>
        </p:spPr>
        <p:txBody>
          <a:bodyPr wrap="none" anchor="ctr" lIns="0" rIns="0" tIns="0" bIns="0">
            <a:spAutoFit/>
          </a:bodyPr>
          <a:lstStyle/>
          <a:p>
            <a:pPr algn="ctr"/>
            <a:r>
              <a:rPr sz="1000" b="1">
                <a:solidFill>
                  <a:srgbClr val="15803D"/>
                </a:solidFill>
                <a:latin typeface="Calibri"/>
              </a:rPr>
              <a:t>⇒ shows a result</a:t>
            </a:r>
          </a:p>
        </p:txBody>
      </p:sp>
      <p:sp>
        <p:nvSpPr>
          <p:cNvPr id="30" name="TextBox 29"/>
          <p:cNvSpPr txBox="1"/>
          <p:nvPr/>
        </p:nvSpPr>
        <p:spPr>
          <a:xfrm>
            <a:off x="777240" y="4160520"/>
            <a:ext cx="6766560" cy="640080"/>
          </a:xfrm>
          <a:prstGeom prst="rect">
            <a:avLst/>
          </a:prstGeom>
          <a:noFill/>
        </p:spPr>
        <p:txBody>
          <a:bodyPr wrap="square" anchor="t">
            <a:spAutoFit/>
          </a:bodyPr>
          <a:lstStyle/>
          <a:p>
            <a:pPr algn="l">
              <a:lnSpc>
                <a:spcPct val="110000"/>
              </a:lnSpc>
            </a:pPr>
            <a:r>
              <a:rPr sz="1400" b="0" i="1">
                <a:solidFill>
                  <a:srgbClr val="475569"/>
                </a:solidFill>
                <a:latin typeface="Calibri"/>
              </a:rPr>
              <a:t>A block fits when a block above it makes the thing it needs, and the picture is the same.</a:t>
            </a:r>
          </a:p>
        </p:txBody>
      </p:sp>
      <p:sp>
        <p:nvSpPr>
          <p:cNvPr id="31" name="TextBox 30"/>
          <p:cNvSpPr txBox="1"/>
          <p:nvPr/>
        </p:nvSpPr>
        <p:spPr>
          <a:xfrm>
            <a:off x="7955279" y="1828800"/>
            <a:ext cx="3657600" cy="219456"/>
          </a:xfrm>
          <a:prstGeom prst="rect">
            <a:avLst/>
          </a:prstGeom>
          <a:noFill/>
        </p:spPr>
        <p:txBody>
          <a:bodyPr wrap="none" anchor="ctr" lIns="0" rIns="0" tIns="0" bIns="0">
            <a:spAutoFit/>
          </a:bodyPr>
          <a:lstStyle/>
          <a:p>
            <a:pPr algn="l"/>
            <a:r>
              <a:rPr sz="1000" b="1">
                <a:solidFill>
                  <a:srgbClr val="94A3B8"/>
                </a:solidFill>
                <a:latin typeface="Calibri"/>
              </a:rPr>
              <a:t>EIGHT FAMILIES, ONE PICTURE EACH</a:t>
            </a:r>
          </a:p>
        </p:txBody>
      </p:sp>
      <p:sp>
        <p:nvSpPr>
          <p:cNvPr id="32" name="TextBox 31"/>
          <p:cNvSpPr txBox="1"/>
          <p:nvPr/>
        </p:nvSpPr>
        <p:spPr>
          <a:xfrm>
            <a:off x="7955279" y="21488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3" name="TextBox 32"/>
          <p:cNvSpPr txBox="1"/>
          <p:nvPr/>
        </p:nvSpPr>
        <p:spPr>
          <a:xfrm>
            <a:off x="8366760" y="2093976"/>
            <a:ext cx="3108960" cy="219456"/>
          </a:xfrm>
          <a:prstGeom prst="rect">
            <a:avLst/>
          </a:prstGeom>
          <a:noFill/>
        </p:spPr>
        <p:txBody>
          <a:bodyPr wrap="none" anchor="ctr" lIns="0" rIns="0" tIns="0" bIns="0">
            <a:spAutoFit/>
          </a:bodyPr>
          <a:lstStyle/>
          <a:p>
            <a:pPr algn="l"/>
            <a:r>
              <a:rPr sz="1300" b="1">
                <a:solidFill>
                  <a:srgbClr val="0F172A"/>
                </a:solidFill>
                <a:latin typeface="Calibri"/>
              </a:rPr>
              <a:t>sites and pages</a:t>
            </a:r>
          </a:p>
        </p:txBody>
      </p:sp>
      <p:sp>
        <p:nvSpPr>
          <p:cNvPr id="34" name="TextBox 33"/>
          <p:cNvSpPr txBox="1"/>
          <p:nvPr/>
        </p:nvSpPr>
        <p:spPr>
          <a:xfrm>
            <a:off x="8366760" y="2304288"/>
            <a:ext cx="3108960" cy="219456"/>
          </a:xfrm>
          <a:prstGeom prst="rect">
            <a:avLst/>
          </a:prstGeom>
          <a:noFill/>
        </p:spPr>
        <p:txBody>
          <a:bodyPr wrap="none" anchor="ctr" lIns="0" rIns="0" tIns="0" bIns="0">
            <a:spAutoFit/>
          </a:bodyPr>
          <a:lstStyle/>
          <a:p>
            <a:pPr algn="l"/>
            <a:r>
              <a:rPr sz="1000" b="0">
                <a:solidFill>
                  <a:srgbClr val="94A3B8"/>
                </a:solidFill>
                <a:latin typeface="Calibri"/>
              </a:rPr>
              <a:t>neighborhood, page, info</a:t>
            </a:r>
          </a:p>
        </p:txBody>
      </p:sp>
      <p:sp>
        <p:nvSpPr>
          <p:cNvPr id="35" name="TextBox 34"/>
          <p:cNvSpPr txBox="1"/>
          <p:nvPr/>
        </p:nvSpPr>
        <p:spPr>
          <a:xfrm>
            <a:off x="7955279" y="26060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6" name="TextBox 35"/>
          <p:cNvSpPr txBox="1"/>
          <p:nvPr/>
        </p:nvSpPr>
        <p:spPr>
          <a:xfrm>
            <a:off x="8366760" y="2551176"/>
            <a:ext cx="3108960" cy="219456"/>
          </a:xfrm>
          <a:prstGeom prst="rect">
            <a:avLst/>
          </a:prstGeom>
          <a:noFill/>
        </p:spPr>
        <p:txBody>
          <a:bodyPr wrap="none" anchor="ctr" lIns="0" rIns="0" tIns="0" bIns="0">
            <a:spAutoFit/>
          </a:bodyPr>
          <a:lstStyle/>
          <a:p>
            <a:pPr algn="l"/>
            <a:r>
              <a:rPr sz="1300" b="1">
                <a:solidFill>
                  <a:srgbClr val="0F172A"/>
                </a:solidFill>
                <a:latin typeface="Calibri"/>
              </a:rPr>
              <a:t>graphs</a:t>
            </a:r>
          </a:p>
        </p:txBody>
      </p:sp>
      <p:sp>
        <p:nvSpPr>
          <p:cNvPr id="37" name="TextBox 36"/>
          <p:cNvSpPr txBox="1"/>
          <p:nvPr/>
        </p:nvSpPr>
        <p:spPr>
          <a:xfrm>
            <a:off x="8366760" y="2761488"/>
            <a:ext cx="3108960" cy="219456"/>
          </a:xfrm>
          <a:prstGeom prst="rect">
            <a:avLst/>
          </a:prstGeom>
          <a:noFill/>
        </p:spPr>
        <p:txBody>
          <a:bodyPr wrap="none" anchor="ctr" lIns="0" rIns="0" tIns="0" bIns="0">
            <a:spAutoFit/>
          </a:bodyPr>
          <a:lstStyle/>
          <a:p>
            <a:pPr algn="l"/>
            <a:r>
              <a:rPr sz="1000" b="0">
                <a:solidFill>
                  <a:srgbClr val="94A3B8"/>
                </a:solidFill>
                <a:latin typeface="Calibri"/>
              </a:rPr>
              <a:t>aspect, marker</a:t>
            </a:r>
          </a:p>
        </p:txBody>
      </p:sp>
      <p:sp>
        <p:nvSpPr>
          <p:cNvPr id="38" name="TextBox 37"/>
          <p:cNvSpPr txBox="1"/>
          <p:nvPr/>
        </p:nvSpPr>
        <p:spPr>
          <a:xfrm>
            <a:off x="7955279" y="30632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39" name="TextBox 38"/>
          <p:cNvSpPr txBox="1"/>
          <p:nvPr/>
        </p:nvSpPr>
        <p:spPr>
          <a:xfrm>
            <a:off x="8366760" y="3008376"/>
            <a:ext cx="3108960" cy="219456"/>
          </a:xfrm>
          <a:prstGeom prst="rect">
            <a:avLst/>
          </a:prstGeom>
          <a:noFill/>
        </p:spPr>
        <p:txBody>
          <a:bodyPr wrap="none" anchor="ctr" lIns="0" rIns="0" tIns="0" bIns="0">
            <a:spAutoFit/>
          </a:bodyPr>
          <a:lstStyle/>
          <a:p>
            <a:pPr algn="l"/>
            <a:r>
              <a:rPr sz="1300" b="1">
                <a:solidFill>
                  <a:srgbClr val="0F172A"/>
                </a:solidFill>
                <a:latin typeface="Calibri"/>
              </a:rPr>
              <a:t>lists of items</a:t>
            </a:r>
          </a:p>
        </p:txBody>
      </p:sp>
      <p:sp>
        <p:nvSpPr>
          <p:cNvPr id="40" name="TextBox 39"/>
          <p:cNvSpPr txBox="1"/>
          <p:nvPr/>
        </p:nvSpPr>
        <p:spPr>
          <a:xfrm>
            <a:off x="8366760" y="3218688"/>
            <a:ext cx="3108960" cy="219456"/>
          </a:xfrm>
          <a:prstGeom prst="rect">
            <a:avLst/>
          </a:prstGeom>
          <a:noFill/>
        </p:spPr>
        <p:txBody>
          <a:bodyPr wrap="none" anchor="ctr" lIns="0" rIns="0" tIns="0" bIns="0">
            <a:spAutoFit/>
          </a:bodyPr>
          <a:lstStyle/>
          <a:p>
            <a:pPr algn="l"/>
            <a:r>
              <a:rPr sz="1000" b="0">
                <a:solidFill>
                  <a:srgbClr val="94A3B8"/>
                </a:solidFill>
                <a:latin typeface="Calibri"/>
              </a:rPr>
              <a:t>items</a:t>
            </a:r>
          </a:p>
        </p:txBody>
      </p:sp>
      <p:sp>
        <p:nvSpPr>
          <p:cNvPr id="41" name="TextBox 40"/>
          <p:cNvSpPr txBox="1"/>
          <p:nvPr/>
        </p:nvSpPr>
        <p:spPr>
          <a:xfrm>
            <a:off x="7955279" y="35204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2" name="TextBox 41"/>
          <p:cNvSpPr txBox="1"/>
          <p:nvPr/>
        </p:nvSpPr>
        <p:spPr>
          <a:xfrm>
            <a:off x="8366760" y="3465576"/>
            <a:ext cx="3108960" cy="219456"/>
          </a:xfrm>
          <a:prstGeom prst="rect">
            <a:avLst/>
          </a:prstGeom>
          <a:noFill/>
        </p:spPr>
        <p:txBody>
          <a:bodyPr wrap="none" anchor="ctr" lIns="0" rIns="0" tIns="0" bIns="0">
            <a:spAutoFit/>
          </a:bodyPr>
          <a:lstStyle/>
          <a:p>
            <a:pPr algn="l"/>
            <a:r>
              <a:rPr sz="1300" b="1">
                <a:solidFill>
                  <a:srgbClr val="0F172A"/>
                </a:solidFill>
                <a:latin typeface="Calibri"/>
              </a:rPr>
              <a:t>files and text</a:t>
            </a:r>
          </a:p>
        </p:txBody>
      </p:sp>
      <p:sp>
        <p:nvSpPr>
          <p:cNvPr id="43" name="TextBox 42"/>
          <p:cNvSpPr txBox="1"/>
          <p:nvPr/>
        </p:nvSpPr>
        <p:spPr>
          <a:xfrm>
            <a:off x="8366760" y="3675888"/>
            <a:ext cx="3108960" cy="219456"/>
          </a:xfrm>
          <a:prstGeom prst="rect">
            <a:avLst/>
          </a:prstGeom>
          <a:noFill/>
        </p:spPr>
        <p:txBody>
          <a:bodyPr wrap="none" anchor="ctr" lIns="0" rIns="0" tIns="0" bIns="0">
            <a:spAutoFit/>
          </a:bodyPr>
          <a:lstStyle/>
          <a:p>
            <a:pPr algn="l"/>
            <a:r>
              <a:rPr sz="1000" b="0">
                <a:solidFill>
                  <a:srgbClr val="94A3B8"/>
                </a:solidFill>
                <a:latin typeface="Calibri"/>
              </a:rPr>
              <a:t>tsv, txt, csv, json…</a:t>
            </a:r>
          </a:p>
        </p:txBody>
      </p:sp>
      <p:sp>
        <p:nvSpPr>
          <p:cNvPr id="44" name="TextBox 43"/>
          <p:cNvSpPr txBox="1"/>
          <p:nvPr/>
        </p:nvSpPr>
        <p:spPr>
          <a:xfrm>
            <a:off x="7955279" y="3977639"/>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5" name="TextBox 44"/>
          <p:cNvSpPr txBox="1"/>
          <p:nvPr/>
        </p:nvSpPr>
        <p:spPr>
          <a:xfrm>
            <a:off x="8366760" y="3922776"/>
            <a:ext cx="3108960" cy="219456"/>
          </a:xfrm>
          <a:prstGeom prst="rect">
            <a:avLst/>
          </a:prstGeom>
          <a:noFill/>
        </p:spPr>
        <p:txBody>
          <a:bodyPr wrap="none" anchor="ctr" lIns="0" rIns="0" tIns="0" bIns="0">
            <a:spAutoFit/>
          </a:bodyPr>
          <a:lstStyle/>
          <a:p>
            <a:pPr algn="l"/>
            <a:r>
              <a:rPr sz="1300" b="1">
                <a:solidFill>
                  <a:srgbClr val="0F172A"/>
                </a:solidFill>
                <a:latin typeface="Calibri"/>
              </a:rPr>
              <a:t>readings and counts</a:t>
            </a:r>
          </a:p>
        </p:txBody>
      </p:sp>
      <p:sp>
        <p:nvSpPr>
          <p:cNvPr id="46" name="TextBox 45"/>
          <p:cNvSpPr txBox="1"/>
          <p:nvPr/>
        </p:nvSpPr>
        <p:spPr>
          <a:xfrm>
            <a:off x="8366760" y="4133087"/>
            <a:ext cx="3108960" cy="219456"/>
          </a:xfrm>
          <a:prstGeom prst="rect">
            <a:avLst/>
          </a:prstGeom>
          <a:noFill/>
        </p:spPr>
        <p:txBody>
          <a:bodyPr wrap="none" anchor="ctr" lIns="0" rIns="0" tIns="0" bIns="0">
            <a:spAutoFit/>
          </a:bodyPr>
          <a:lstStyle/>
          <a:p>
            <a:pPr algn="l"/>
            <a:r>
              <a:rPr sz="1000" b="0">
                <a:solidFill>
                  <a:srgbClr val="94A3B8"/>
                </a:solidFill>
                <a:latin typeface="Calibri"/>
              </a:rPr>
              <a:t>temperature, tick</a:t>
            </a:r>
          </a:p>
        </p:txBody>
      </p:sp>
      <p:sp>
        <p:nvSpPr>
          <p:cNvPr id="47" name="TextBox 46"/>
          <p:cNvSpPr txBox="1"/>
          <p:nvPr/>
        </p:nvSpPr>
        <p:spPr>
          <a:xfrm>
            <a:off x="7955279" y="44348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48" name="TextBox 47"/>
          <p:cNvSpPr txBox="1"/>
          <p:nvPr/>
        </p:nvSpPr>
        <p:spPr>
          <a:xfrm>
            <a:off x="8366760" y="4379976"/>
            <a:ext cx="3108960" cy="219456"/>
          </a:xfrm>
          <a:prstGeom prst="rect">
            <a:avLst/>
          </a:prstGeom>
          <a:noFill/>
        </p:spPr>
        <p:txBody>
          <a:bodyPr wrap="none" anchor="ctr" lIns="0" rIns="0" tIns="0" bIns="0">
            <a:spAutoFit/>
          </a:bodyPr>
          <a:lstStyle/>
          <a:p>
            <a:pPr algn="l"/>
            <a:r>
              <a:rPr sz="1300" b="1">
                <a:solidFill>
                  <a:srgbClr val="0F172A"/>
                </a:solidFill>
                <a:latin typeface="Calibri"/>
              </a:rPr>
              <a:t>from the server</a:t>
            </a:r>
          </a:p>
        </p:txBody>
      </p:sp>
      <p:sp>
        <p:nvSpPr>
          <p:cNvPr id="49" name="TextBox 48"/>
          <p:cNvSpPr txBox="1"/>
          <p:nvPr/>
        </p:nvSpPr>
        <p:spPr>
          <a:xfrm>
            <a:off x="8366760" y="4590288"/>
            <a:ext cx="3108960" cy="219456"/>
          </a:xfrm>
          <a:prstGeom prst="rect">
            <a:avLst/>
          </a:prstGeom>
          <a:noFill/>
        </p:spPr>
        <p:txBody>
          <a:bodyPr wrap="none" anchor="ctr" lIns="0" rIns="0" tIns="0" bIns="0">
            <a:spAutoFit/>
          </a:bodyPr>
          <a:lstStyle/>
          <a:p>
            <a:pPr algn="l"/>
            <a:r>
              <a:rPr sz="1000" b="0">
                <a:solidFill>
                  <a:srgbClr val="94A3B8"/>
                </a:solidFill>
                <a:latin typeface="Calibri"/>
              </a:rPr>
              <a:t>result, commons…</a:t>
            </a:r>
          </a:p>
        </p:txBody>
      </p:sp>
      <p:sp>
        <p:nvSpPr>
          <p:cNvPr id="50" name="TextBox 49"/>
          <p:cNvSpPr txBox="1"/>
          <p:nvPr/>
        </p:nvSpPr>
        <p:spPr>
          <a:xfrm>
            <a:off x="7955279" y="48920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51" name="TextBox 50"/>
          <p:cNvSpPr txBox="1"/>
          <p:nvPr/>
        </p:nvSpPr>
        <p:spPr>
          <a:xfrm>
            <a:off x="8366760" y="4837176"/>
            <a:ext cx="3108960" cy="219456"/>
          </a:xfrm>
          <a:prstGeom prst="rect">
            <a:avLst/>
          </a:prstGeom>
          <a:noFill/>
        </p:spPr>
        <p:txBody>
          <a:bodyPr wrap="none" anchor="ctr" lIns="0" rIns="0" tIns="0" bIns="0">
            <a:spAutoFit/>
          </a:bodyPr>
          <a:lstStyle/>
          <a:p>
            <a:pPr algn="l"/>
            <a:r>
              <a:rPr sz="1300" b="1">
                <a:solidFill>
                  <a:srgbClr val="0F172A"/>
                </a:solidFill>
                <a:latin typeface="Calibri"/>
              </a:rPr>
              <a:t>the turtle drawing</a:t>
            </a:r>
          </a:p>
        </p:txBody>
      </p:sp>
      <p:sp>
        <p:nvSpPr>
          <p:cNvPr id="52" name="TextBox 51"/>
          <p:cNvSpPr txBox="1"/>
          <p:nvPr/>
        </p:nvSpPr>
        <p:spPr>
          <a:xfrm>
            <a:off x="8366760" y="5047488"/>
            <a:ext cx="3108960" cy="219456"/>
          </a:xfrm>
          <a:prstGeom prst="rect">
            <a:avLst/>
          </a:prstGeom>
          <a:noFill/>
        </p:spPr>
        <p:txBody>
          <a:bodyPr wrap="none" anchor="ctr" lIns="0" rIns="0" tIns="0" bIns="0">
            <a:spAutoFit/>
          </a:bodyPr>
          <a:lstStyle/>
          <a:p>
            <a:pPr algn="l"/>
            <a:r>
              <a:rPr sz="1000" b="0">
                <a:solidFill>
                  <a:srgbClr val="94A3B8"/>
                </a:solidFill>
                <a:latin typeface="Calibri"/>
              </a:rPr>
              <a:t>turtle</a:t>
            </a:r>
          </a:p>
        </p:txBody>
      </p:sp>
      <p:sp>
        <p:nvSpPr>
          <p:cNvPr id="53" name="TextBox 52"/>
          <p:cNvSpPr txBox="1"/>
          <p:nvPr/>
        </p:nvSpPr>
        <p:spPr>
          <a:xfrm>
            <a:off x="7955279" y="5349240"/>
            <a:ext cx="365760" cy="219456"/>
          </a:xfrm>
          <a:prstGeom prst="rect">
            <a:avLst/>
          </a:prstGeom>
          <a:noFill/>
        </p:spPr>
        <p:txBody>
          <a:bodyPr wrap="none" anchor="ctr" lIns="0" rIns="0" tIns="0" bIns="0">
            <a:spAutoFit/>
          </a:bodyPr>
          <a:lstStyle/>
          <a:p>
            <a:pPr algn="l"/>
            <a:r>
              <a:rPr sz="1600" b="1">
                <a:solidFill>
                  <a:srgbClr val="0F172A"/>
                </a:solidFill>
                <a:latin typeface="Calibri"/>
              </a:rPr>
              <a:t>◆</a:t>
            </a:r>
          </a:p>
        </p:txBody>
      </p:sp>
      <p:sp>
        <p:nvSpPr>
          <p:cNvPr id="54" name="TextBox 53"/>
          <p:cNvSpPr txBox="1"/>
          <p:nvPr/>
        </p:nvSpPr>
        <p:spPr>
          <a:xfrm>
            <a:off x="8366760" y="5294376"/>
            <a:ext cx="3108960" cy="219456"/>
          </a:xfrm>
          <a:prstGeom prst="rect">
            <a:avLst/>
          </a:prstGeom>
          <a:noFill/>
        </p:spPr>
        <p:txBody>
          <a:bodyPr wrap="none" anchor="ctr" lIns="0" rIns="0" tIns="0" bIns="0">
            <a:spAutoFit/>
          </a:bodyPr>
          <a:lstStyle/>
          <a:p>
            <a:pPr algn="l"/>
            <a:r>
              <a:rPr sz="1300" b="1">
                <a:solidFill>
                  <a:srgbClr val="0F172A"/>
                </a:solidFill>
                <a:latin typeface="Calibri"/>
              </a:rPr>
              <a:t>made by CODE</a:t>
            </a:r>
          </a:p>
        </p:txBody>
      </p:sp>
      <p:sp>
        <p:nvSpPr>
          <p:cNvPr id="55" name="TextBox 54"/>
          <p:cNvSpPr txBox="1"/>
          <p:nvPr/>
        </p:nvSpPr>
        <p:spPr>
          <a:xfrm>
            <a:off x="8366760" y="5504688"/>
            <a:ext cx="3108960" cy="219456"/>
          </a:xfrm>
          <a:prstGeom prst="rect">
            <a:avLst/>
          </a:prstGeom>
          <a:noFill/>
        </p:spPr>
        <p:txBody>
          <a:bodyPr wrap="none" anchor="ctr" lIns="0" rIns="0" tIns="0" bIns="0">
            <a:spAutoFit/>
          </a:bodyPr>
          <a:lstStyle/>
          <a:p>
            <a:pPr algn="l"/>
            <a:r>
              <a:rPr sz="1000" b="0">
                <a:solidFill>
                  <a:srgbClr val="94A3B8"/>
                </a:solidFill>
                <a:latin typeface="Calibri"/>
              </a:rPr>
              <a:t>anything else</a:t>
            </a:r>
          </a:p>
        </p:txBody>
      </p:sp>
      <p:sp>
        <p:nvSpPr>
          <p:cNvPr id="56" name="Rectangle 55"/>
          <p:cNvSpPr/>
          <p:nvPr/>
        </p:nvSpPr>
        <p:spPr>
          <a:xfrm>
            <a:off x="777240" y="4892040"/>
            <a:ext cx="6766560" cy="10515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0120" y="5029200"/>
            <a:ext cx="64008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0120" y="5029200"/>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161288" y="5111496"/>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60" name="TextBox 59"/>
          <p:cNvSpPr txBox="1"/>
          <p:nvPr/>
        </p:nvSpPr>
        <p:spPr>
          <a:xfrm>
            <a:off x="1728216" y="5111496"/>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61" name="Rounded Rectangle 60"/>
          <p:cNvSpPr/>
          <p:nvPr/>
        </p:nvSpPr>
        <p:spPr>
          <a:xfrm>
            <a:off x="2642616" y="5097780"/>
            <a:ext cx="1609344" cy="246888"/>
          </a:xfrm>
          <a:prstGeom prst="roundRect">
            <a:avLst>
              <a:gd name="adj" fmla="val 50000"/>
            </a:avLst>
          </a:prstGeom>
          <a:solidFill>
            <a:srgbClr val="B4530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42616" y="5111496"/>
            <a:ext cx="1609344" cy="219456"/>
          </a:xfrm>
          <a:prstGeom prst="rect">
            <a:avLst/>
          </a:prstGeom>
          <a:noFill/>
        </p:spPr>
        <p:txBody>
          <a:bodyPr wrap="none" anchor="ctr" lIns="0" rIns="0" tIns="0" bIns="0">
            <a:spAutoFit/>
          </a:bodyPr>
          <a:lstStyle/>
          <a:p>
            <a:pPr algn="ctr"/>
            <a:r>
              <a:rPr sz="1000" b="1">
                <a:solidFill>
                  <a:srgbClr val="FFFFFF"/>
                </a:solidFill>
                <a:latin typeface="Calibri"/>
              </a:rPr>
              <a:t>needs 🏘 neighborhood</a:t>
            </a:r>
          </a:p>
        </p:txBody>
      </p:sp>
      <p:sp>
        <p:nvSpPr>
          <p:cNvPr id="63" name="Rounded Rectangle 62"/>
          <p:cNvSpPr/>
          <p:nvPr/>
        </p:nvSpPr>
        <p:spPr>
          <a:xfrm>
            <a:off x="4325112" y="5097780"/>
            <a:ext cx="1214323" cy="246888"/>
          </a:xfrm>
          <a:prstGeom prst="roundRect">
            <a:avLst>
              <a:gd name="adj" fmla="val 50000"/>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25112" y="5111496"/>
            <a:ext cx="1214323" cy="219456"/>
          </a:xfrm>
          <a:prstGeom prst="rect">
            <a:avLst/>
          </a:prstGeom>
          <a:noFill/>
        </p:spPr>
        <p:txBody>
          <a:bodyPr wrap="none" anchor="ctr" lIns="0" rIns="0" tIns="0" bIns="0">
            <a:spAutoFit/>
          </a:bodyPr>
          <a:lstStyle/>
          <a:p>
            <a:pPr algn="ctr"/>
            <a:r>
              <a:rPr sz="1000" b="0">
                <a:solidFill>
                  <a:srgbClr val="94A3B8"/>
                </a:solidFill>
                <a:latin typeface="Calibri"/>
              </a:rPr>
              <a:t>makes 🔗 aspect</a:t>
            </a:r>
          </a:p>
        </p:txBody>
      </p:sp>
      <p:sp>
        <p:nvSpPr>
          <p:cNvPr id="65" name="Rectangle 64"/>
          <p:cNvSpPr/>
          <p:nvPr/>
        </p:nvSpPr>
        <p:spPr>
          <a:xfrm>
            <a:off x="5612587" y="5102352"/>
            <a:ext cx="237744" cy="237744"/>
          </a:xfrm>
          <a:prstGeom prst="rect">
            <a:avLst/>
          </a:prstGeom>
          <a:solidFill>
            <a:srgbClr val="FFFFFF"/>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612587" y="5111496"/>
            <a:ext cx="237744" cy="219456"/>
          </a:xfrm>
          <a:prstGeom prst="rect">
            <a:avLst/>
          </a:prstGeom>
          <a:noFill/>
        </p:spPr>
        <p:txBody>
          <a:bodyPr wrap="none" anchor="ctr" lIns="0" rIns="0" tIns="0" bIns="0">
            <a:spAutoFit/>
          </a:bodyPr>
          <a:lstStyle/>
          <a:p>
            <a:pPr algn="ctr"/>
            <a:r>
              <a:rPr sz="1000" b="1">
                <a:solidFill>
                  <a:srgbClr val="B45309"/>
                </a:solidFill>
                <a:latin typeface="Calibri"/>
              </a:rPr>
              <a:t>✖</a:t>
            </a:r>
          </a:p>
        </p:txBody>
      </p:sp>
      <p:sp>
        <p:nvSpPr>
          <p:cNvPr id="67" name="TextBox 66"/>
          <p:cNvSpPr txBox="1"/>
          <p:nvPr/>
        </p:nvSpPr>
        <p:spPr>
          <a:xfrm>
            <a:off x="960120" y="5440680"/>
            <a:ext cx="6400800" cy="502920"/>
          </a:xfrm>
          <a:prstGeom prst="rect">
            <a:avLst/>
          </a:prstGeom>
          <a:noFill/>
        </p:spPr>
        <p:txBody>
          <a:bodyPr wrap="square" anchor="t">
            <a:spAutoFit/>
          </a:bodyPr>
          <a:lstStyle/>
          <a:p>
            <a:pPr algn="l">
              <a:lnSpc>
                <a:spcPct val="105000"/>
              </a:lnSpc>
            </a:pPr>
            <a:r>
              <a:rPr sz="1150" b="0" i="0">
                <a:solidFill>
                  <a:srgbClr val="475569"/>
                </a:solidFill>
                <a:latin typeface="Calibri"/>
              </a:rPr>
              <a:t>Nothing above makes the neighborhood: the need turns amber, and "makes" is greyed out, because a block that stops early makes nothing.</a:t>
            </a:r>
          </a:p>
        </p:txBody>
      </p:sp>
      <p:sp>
        <p:nvSpPr>
          <p:cNvPr id="68" name="TextBox 67"/>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69" name="TextBox 6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THE SECOND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Three lamps answer three plain questions</a:t>
            </a:r>
          </a:p>
        </p:txBody>
      </p:sp>
      <p:sp>
        <p:nvSpPr>
          <p:cNvPr id="4" name="Rounded Rectangle 3"/>
          <p:cNvSpPr/>
          <p:nvPr/>
        </p:nvSpPr>
        <p:spPr>
          <a:xfrm>
            <a:off x="777240" y="1828800"/>
            <a:ext cx="1632204"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6" name="TextBox 5"/>
          <p:cNvSpPr txBox="1"/>
          <p:nvPr/>
        </p:nvSpPr>
        <p:spPr>
          <a:xfrm>
            <a:off x="1106424" y="1883664"/>
            <a:ext cx="1266444" cy="219456"/>
          </a:xfrm>
          <a:prstGeom prst="rect">
            <a:avLst/>
          </a:prstGeom>
          <a:noFill/>
        </p:spPr>
        <p:txBody>
          <a:bodyPr wrap="none" anchor="ctr" lIns="0" rIns="0" tIns="0" bIns="0">
            <a:spAutoFit/>
          </a:bodyPr>
          <a:lstStyle/>
          <a:p>
            <a:pPr algn="l"/>
            <a:r>
              <a:rPr sz="1250" b="0">
                <a:solidFill>
                  <a:srgbClr val="0F172A"/>
                </a:solidFill>
                <a:latin typeface="Calibri"/>
              </a:rPr>
              <a:t>Fits together</a:t>
            </a:r>
          </a:p>
        </p:txBody>
      </p:sp>
      <p:sp>
        <p:nvSpPr>
          <p:cNvPr id="7" name="Rounded Rectangle 6"/>
          <p:cNvSpPr/>
          <p:nvPr/>
        </p:nvSpPr>
        <p:spPr>
          <a:xfrm>
            <a:off x="2546604" y="1828800"/>
            <a:ext cx="1719072"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6332"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9" name="TextBox 8"/>
          <p:cNvSpPr txBox="1"/>
          <p:nvPr/>
        </p:nvSpPr>
        <p:spPr>
          <a:xfrm>
            <a:off x="2875788" y="1883664"/>
            <a:ext cx="1353312" cy="219456"/>
          </a:xfrm>
          <a:prstGeom prst="rect">
            <a:avLst/>
          </a:prstGeom>
          <a:noFill/>
        </p:spPr>
        <p:txBody>
          <a:bodyPr wrap="none" anchor="ctr" lIns="0" rIns="0" tIns="0" bIns="0">
            <a:spAutoFit/>
          </a:bodyPr>
          <a:lstStyle/>
          <a:p>
            <a:pPr algn="l"/>
            <a:r>
              <a:rPr sz="1250" b="0">
                <a:solidFill>
                  <a:srgbClr val="0F172A"/>
                </a:solidFill>
                <a:latin typeface="Calibri"/>
              </a:rPr>
              <a:t>Ready to start</a:t>
            </a:r>
          </a:p>
        </p:txBody>
      </p:sp>
      <p:sp>
        <p:nvSpPr>
          <p:cNvPr id="10" name="Rounded Rectangle 9"/>
          <p:cNvSpPr/>
          <p:nvPr/>
        </p:nvSpPr>
        <p:spPr>
          <a:xfrm>
            <a:off x="4402836" y="1828800"/>
            <a:ext cx="1892808" cy="329184"/>
          </a:xfrm>
          <a:prstGeom prst="roundRect">
            <a:avLst>
              <a:gd name="adj" fmla="val 50000"/>
            </a:avLst>
          </a:prstGeom>
          <a:solidFill>
            <a:srgbClr val="FFFFFF"/>
          </a:solidFill>
          <a:ln w="2222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2564" y="1883664"/>
            <a:ext cx="182880" cy="219456"/>
          </a:xfrm>
          <a:prstGeom prst="rect">
            <a:avLst/>
          </a:prstGeom>
          <a:noFill/>
        </p:spPr>
        <p:txBody>
          <a:bodyPr wrap="none" anchor="ctr" lIns="0" rIns="0" tIns="0" bIns="0">
            <a:spAutoFit/>
          </a:bodyPr>
          <a:lstStyle/>
          <a:p>
            <a:pPr algn="l"/>
            <a:r>
              <a:rPr sz="1300" b="1">
                <a:solidFill>
                  <a:srgbClr val="15803D"/>
                </a:solidFill>
                <a:latin typeface="Calibri"/>
              </a:rPr>
              <a:t>●</a:t>
            </a:r>
          </a:p>
        </p:txBody>
      </p:sp>
      <p:sp>
        <p:nvSpPr>
          <p:cNvPr id="12" name="TextBox 11"/>
          <p:cNvSpPr txBox="1"/>
          <p:nvPr/>
        </p:nvSpPr>
        <p:spPr>
          <a:xfrm>
            <a:off x="4732020" y="1883664"/>
            <a:ext cx="1527048" cy="219456"/>
          </a:xfrm>
          <a:prstGeom prst="rect">
            <a:avLst/>
          </a:prstGeom>
          <a:noFill/>
        </p:spPr>
        <p:txBody>
          <a:bodyPr wrap="none" anchor="ctr" lIns="0" rIns="0" tIns="0" bIns="0">
            <a:spAutoFit/>
          </a:bodyPr>
          <a:lstStyle/>
          <a:p>
            <a:pPr algn="l"/>
            <a:r>
              <a:rPr sz="1250" b="0">
                <a:solidFill>
                  <a:srgbClr val="0F172A"/>
                </a:solidFill>
                <a:latin typeface="Calibri"/>
              </a:rPr>
              <a:t>Ends in a result</a:t>
            </a:r>
          </a:p>
        </p:txBody>
      </p:sp>
      <p:sp>
        <p:nvSpPr>
          <p:cNvPr id="13" name="Rectangle 12"/>
          <p:cNvSpPr/>
          <p:nvPr/>
        </p:nvSpPr>
        <p:spPr>
          <a:xfrm>
            <a:off x="77724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Fits together</a:t>
            </a:r>
          </a:p>
        </p:txBody>
      </p:sp>
      <p:sp>
        <p:nvSpPr>
          <p:cNvPr id="16" name="TextBox 15"/>
          <p:cNvSpPr txBox="1"/>
          <p:nvPr/>
        </p:nvSpPr>
        <p:spPr>
          <a:xfrm>
            <a:off x="1033271"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Every block has what it needs, every mouth that must be filled is filled, the words after each block make sense, and no lines sit where they can never run.</a:t>
            </a:r>
          </a:p>
        </p:txBody>
      </p:sp>
      <p:sp>
        <p:nvSpPr>
          <p:cNvPr id="17" name="Rectangle 16"/>
          <p:cNvSpPr/>
          <p:nvPr/>
        </p:nvSpPr>
        <p:spPr>
          <a:xfrm>
            <a:off x="438912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Ready to start</a:t>
            </a:r>
          </a:p>
        </p:txBody>
      </p:sp>
      <p:sp>
        <p:nvSpPr>
          <p:cNvPr id="20" name="TextBox 19"/>
          <p:cNvSpPr txBox="1"/>
          <p:nvPr/>
        </p:nvSpPr>
        <p:spPr>
          <a:xfrm>
            <a:off x="4645152"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Anyone reading the page can start it. A CODE block not directly inside CLICK or TICK runs only for the page owner: code travels with copied pages, and Mech waits for a person to ask.</a:t>
            </a:r>
          </a:p>
        </p:txBody>
      </p:sp>
      <p:sp>
        <p:nvSpPr>
          <p:cNvPr id="21" name="Rectangle 20"/>
          <p:cNvSpPr/>
          <p:nvPr/>
        </p:nvSpPr>
        <p:spPr>
          <a:xfrm>
            <a:off x="8001000" y="2468880"/>
            <a:ext cx="3383280" cy="192024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2468880"/>
            <a:ext cx="54864" cy="192024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1" y="2633472"/>
            <a:ext cx="2926080" cy="411480"/>
          </a:xfrm>
          <a:prstGeom prst="rect">
            <a:avLst/>
          </a:prstGeom>
          <a:noFill/>
        </p:spPr>
        <p:txBody>
          <a:bodyPr wrap="square" anchor="t">
            <a:spAutoFit/>
          </a:bodyPr>
          <a:lstStyle/>
          <a:p>
            <a:pPr algn="l">
              <a:lnSpc>
                <a:spcPct val="100000"/>
              </a:lnSpc>
            </a:pPr>
            <a:r>
              <a:rPr sz="1600" b="1" i="0">
                <a:solidFill>
                  <a:srgbClr val="0F172A"/>
                </a:solidFill>
                <a:latin typeface="Calibri"/>
              </a:rPr>
              <a:t>Ends in a result</a:t>
            </a:r>
          </a:p>
        </p:txBody>
      </p:sp>
      <p:sp>
        <p:nvSpPr>
          <p:cNvPr id="24" name="TextBox 23"/>
          <p:cNvSpPr txBox="1"/>
          <p:nvPr/>
        </p:nvSpPr>
        <p:spPr>
          <a:xfrm>
            <a:off x="8257031" y="3108960"/>
            <a:ext cx="2926080" cy="1143000"/>
          </a:xfrm>
          <a:prstGeom prst="rect">
            <a:avLst/>
          </a:prstGeom>
          <a:noFill/>
        </p:spPr>
        <p:txBody>
          <a:bodyPr wrap="square" anchor="t">
            <a:spAutoFit/>
          </a:bodyPr>
          <a:lstStyle/>
          <a:p>
            <a:pPr algn="l">
              <a:lnSpc>
                <a:spcPct val="110000"/>
              </a:lnSpc>
            </a:pPr>
            <a:r>
              <a:rPr sz="1300" b="0" i="0">
                <a:solidFill>
                  <a:srgbClr val="475569"/>
                </a:solidFill>
                <a:latin typeface="Calibri"/>
              </a:rPr>
              <a:t>The script reaches a block that shows something (PREVIEW, REPORT, SOLO, POPUP, PRINT, DOWNLOAD, SHOW or HELLO) and that block has what it needs.</a:t>
            </a:r>
          </a:p>
        </p:txBody>
      </p:sp>
      <p:sp>
        <p:nvSpPr>
          <p:cNvPr id="25" name="Rectangle 24"/>
          <p:cNvSpPr/>
          <p:nvPr/>
        </p:nvSpPr>
        <p:spPr>
          <a:xfrm>
            <a:off x="777240" y="4663440"/>
            <a:ext cx="10607040" cy="1097280"/>
          </a:xfrm>
          <a:prstGeom prst="rect">
            <a:avLst/>
          </a:prstGeom>
          <a:solidFill>
            <a:srgbClr val="FEF9C3"/>
          </a:solidFill>
          <a:ln w="15875">
            <a:solidFill>
              <a:srgbClr val="FDE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4782312"/>
            <a:ext cx="10058400" cy="347472"/>
          </a:xfrm>
          <a:prstGeom prst="rect">
            <a:avLst/>
          </a:prstGeom>
          <a:noFill/>
        </p:spPr>
        <p:txBody>
          <a:bodyPr wrap="square" anchor="t">
            <a:spAutoFit/>
          </a:bodyPr>
          <a:lstStyle/>
          <a:p>
            <a:pPr algn="l">
              <a:lnSpc>
                <a:spcPct val="100000"/>
              </a:lnSpc>
            </a:pPr>
            <a:r>
              <a:rPr sz="1500" b="1" i="0">
                <a:solidFill>
                  <a:srgbClr val="854D0E"/>
                </a:solidFill>
                <a:latin typeface="Calibri"/>
              </a:rPr>
              <a:t>What green cannot promise</a:t>
            </a:r>
          </a:p>
        </p:txBody>
      </p:sp>
      <p:sp>
        <p:nvSpPr>
          <p:cNvPr id="27" name="TextBox 26"/>
          <p:cNvSpPr txBox="1"/>
          <p:nvPr/>
        </p:nvSpPr>
        <p:spPr>
          <a:xfrm>
            <a:off x="1051560" y="5166359"/>
            <a:ext cx="10058400" cy="502919"/>
          </a:xfrm>
          <a:prstGeom prst="rect">
            <a:avLst/>
          </a:prstGeom>
          <a:noFill/>
        </p:spPr>
        <p:txBody>
          <a:bodyPr wrap="square" anchor="t">
            <a:spAutoFit/>
          </a:bodyPr>
          <a:lstStyle/>
          <a:p>
            <a:pPr algn="l">
              <a:lnSpc>
                <a:spcPct val="112000"/>
              </a:lnSpc>
            </a:pPr>
            <a:r>
              <a:rPr sz="1300" b="0" i="0">
                <a:solidFill>
                  <a:srgbClr val="475569"/>
                </a:solidFill>
                <a:latin typeface="Calibri"/>
              </a:rPr>
              <a:t>All three green means the script is put together right. A site may still not answer, a neighborhood may be empty, a sensor may be off. Only running shows those, and Mech reports them with its own ✖︎.</a:t>
            </a:r>
          </a:p>
        </p:txBody>
      </p:sp>
      <p:sp>
        <p:nvSpPr>
          <p:cNvPr id="28" name="TextBox 27"/>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9" name="TextBox 28"/>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B91C1C"/>
                </a:solidFill>
                <a:latin typeface="Calibri"/>
              </a:rPr>
              <a:t>THE THIRD CUE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Beginner mode: what does not fit cannot be dropped</a:t>
            </a:r>
          </a:p>
        </p:txBody>
      </p:sp>
      <p:sp>
        <p:nvSpPr>
          <p:cNvPr id="4" name="Rectangle 3"/>
          <p:cNvSpPr/>
          <p:nvPr/>
        </p:nvSpPr>
        <p:spPr>
          <a:xfrm>
            <a:off x="777240" y="1828800"/>
            <a:ext cx="2377440" cy="4069080"/>
          </a:xfrm>
          <a:prstGeom prst="rect">
            <a:avLst/>
          </a:prstGeom>
          <a:solidFill>
            <a:srgbClr val="FFFFFF"/>
          </a:solidFill>
          <a:ln w="19050">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38528"/>
            <a:ext cx="1828800" cy="219456"/>
          </a:xfrm>
          <a:prstGeom prst="rect">
            <a:avLst/>
          </a:prstGeom>
          <a:noFill/>
        </p:spPr>
        <p:txBody>
          <a:bodyPr wrap="none" anchor="ctr" lIns="0" rIns="0" tIns="0" bIns="0">
            <a:spAutoFit/>
          </a:bodyPr>
          <a:lstStyle/>
          <a:p>
            <a:pPr algn="l"/>
            <a:r>
              <a:rPr sz="1300" b="1">
                <a:solidFill>
                  <a:srgbClr val="0F172A"/>
                </a:solidFill>
                <a:latin typeface="Calibri"/>
              </a:rPr>
              <a:t>Blocks</a:t>
            </a:r>
          </a:p>
        </p:txBody>
      </p:sp>
      <p:sp>
        <p:nvSpPr>
          <p:cNvPr id="6" name="Rectangle 5"/>
          <p:cNvSpPr/>
          <p:nvPr/>
        </p:nvSpPr>
        <p:spPr>
          <a:xfrm>
            <a:off x="960120" y="2286000"/>
            <a:ext cx="2011680" cy="347472"/>
          </a:xfrm>
          <a:prstGeom prst="rect">
            <a:avLst/>
          </a:prstGeom>
          <a:solidFill>
            <a:srgbClr val="FFFFFF"/>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2286000"/>
            <a:ext cx="64008" cy="3474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350008"/>
            <a:ext cx="1737360" cy="219456"/>
          </a:xfrm>
          <a:prstGeom prst="rect">
            <a:avLst/>
          </a:prstGeom>
          <a:noFill/>
        </p:spPr>
        <p:txBody>
          <a:bodyPr wrap="none" anchor="ctr" lIns="0" rIns="0" tIns="0" bIns="0">
            <a:spAutoFit/>
          </a:bodyPr>
          <a:lstStyle/>
          <a:p>
            <a:pPr algn="l"/>
            <a:r>
              <a:rPr sz="1200" b="1">
                <a:solidFill>
                  <a:srgbClr val="B45309"/>
                </a:solidFill>
                <a:latin typeface="Calibri"/>
              </a:rPr>
              <a:t>CLICK</a:t>
            </a:r>
          </a:p>
        </p:txBody>
      </p:sp>
      <p:sp>
        <p:nvSpPr>
          <p:cNvPr id="9" name="Rectangle 8"/>
          <p:cNvSpPr/>
          <p:nvPr/>
        </p:nvSpPr>
        <p:spPr>
          <a:xfrm>
            <a:off x="960120" y="2715768"/>
            <a:ext cx="2011680" cy="347472"/>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 y="2715768"/>
            <a:ext cx="64008" cy="34747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779775"/>
            <a:ext cx="1737360" cy="219456"/>
          </a:xfrm>
          <a:prstGeom prst="rect">
            <a:avLst/>
          </a:prstGeom>
          <a:noFill/>
        </p:spPr>
        <p:txBody>
          <a:bodyPr wrap="none" anchor="ctr" lIns="0" rIns="0" tIns="0" bIns="0">
            <a:spAutoFit/>
          </a:bodyPr>
          <a:lstStyle/>
          <a:p>
            <a:pPr algn="l"/>
            <a:r>
              <a:rPr sz="1200" b="1">
                <a:solidFill>
                  <a:srgbClr val="1D4ED8"/>
                </a:solidFill>
                <a:latin typeface="Calibri"/>
              </a:rPr>
              <a:t>NEIGHBORS</a:t>
            </a:r>
          </a:p>
        </p:txBody>
      </p:sp>
      <p:sp>
        <p:nvSpPr>
          <p:cNvPr id="12" name="Rectangle 11"/>
          <p:cNvSpPr/>
          <p:nvPr/>
        </p:nvSpPr>
        <p:spPr>
          <a:xfrm>
            <a:off x="960120" y="3145536"/>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0120" y="3145536"/>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209544"/>
            <a:ext cx="1737360" cy="219456"/>
          </a:xfrm>
          <a:prstGeom prst="rect">
            <a:avLst/>
          </a:prstGeom>
          <a:noFill/>
        </p:spPr>
        <p:txBody>
          <a:bodyPr wrap="none" anchor="ctr" lIns="0" rIns="0" tIns="0" bIns="0">
            <a:spAutoFit/>
          </a:bodyPr>
          <a:lstStyle/>
          <a:p>
            <a:pPr algn="l"/>
            <a:r>
              <a:rPr sz="1200" b="1">
                <a:solidFill>
                  <a:srgbClr val="94A3B8"/>
                </a:solidFill>
                <a:latin typeface="Calibri"/>
              </a:rPr>
              <a:t>WALK</a:t>
            </a:r>
          </a:p>
        </p:txBody>
      </p:sp>
      <p:sp>
        <p:nvSpPr>
          <p:cNvPr id="15" name="Rectangle 14"/>
          <p:cNvSpPr/>
          <p:nvPr/>
        </p:nvSpPr>
        <p:spPr>
          <a:xfrm>
            <a:off x="960120" y="3575304"/>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0120" y="3575304"/>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5568" y="3639312"/>
            <a:ext cx="1737360" cy="219456"/>
          </a:xfrm>
          <a:prstGeom prst="rect">
            <a:avLst/>
          </a:prstGeom>
          <a:noFill/>
        </p:spPr>
        <p:txBody>
          <a:bodyPr wrap="none" anchor="ctr" lIns="0" rIns="0" tIns="0" bIns="0">
            <a:spAutoFit/>
          </a:bodyPr>
          <a:lstStyle/>
          <a:p>
            <a:pPr algn="l"/>
            <a:r>
              <a:rPr sz="1200" b="1">
                <a:solidFill>
                  <a:srgbClr val="94A3B8"/>
                </a:solidFill>
                <a:latin typeface="Calibri"/>
              </a:rPr>
              <a:t>RANDOM</a:t>
            </a:r>
          </a:p>
        </p:txBody>
      </p:sp>
      <p:sp>
        <p:nvSpPr>
          <p:cNvPr id="18" name="Rectangle 17"/>
          <p:cNvSpPr/>
          <p:nvPr/>
        </p:nvSpPr>
        <p:spPr>
          <a:xfrm>
            <a:off x="960120" y="4005072"/>
            <a:ext cx="2011680" cy="347472"/>
          </a:xfrm>
          <a:prstGeom prst="rect">
            <a:avLst/>
          </a:prstGeom>
          <a:solidFill>
            <a:srgbClr val="FFFF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4005072"/>
            <a:ext cx="64008" cy="347472"/>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15568" y="4069080"/>
            <a:ext cx="1737360" cy="219456"/>
          </a:xfrm>
          <a:prstGeom prst="rect">
            <a:avLst/>
          </a:prstGeom>
          <a:noFill/>
        </p:spPr>
        <p:txBody>
          <a:bodyPr wrap="none" anchor="ctr" lIns="0" rIns="0" tIns="0" bIns="0">
            <a:spAutoFit/>
          </a:bodyPr>
          <a:lstStyle/>
          <a:p>
            <a:pPr algn="l"/>
            <a:r>
              <a:rPr sz="1200" b="1">
                <a:solidFill>
                  <a:srgbClr val="1D4ED8"/>
                </a:solidFill>
                <a:latin typeface="Calibri"/>
              </a:rPr>
              <a:t>FROM</a:t>
            </a:r>
          </a:p>
        </p:txBody>
      </p:sp>
      <p:sp>
        <p:nvSpPr>
          <p:cNvPr id="21" name="Rectangle 20"/>
          <p:cNvSpPr/>
          <p:nvPr/>
        </p:nvSpPr>
        <p:spPr>
          <a:xfrm>
            <a:off x="960120" y="4434840"/>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4434840"/>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15568" y="4498848"/>
            <a:ext cx="1737360" cy="219456"/>
          </a:xfrm>
          <a:prstGeom prst="rect">
            <a:avLst/>
          </a:prstGeom>
          <a:noFill/>
        </p:spPr>
        <p:txBody>
          <a:bodyPr wrap="none" anchor="ctr" lIns="0" rIns="0" tIns="0" bIns="0">
            <a:spAutoFit/>
          </a:bodyPr>
          <a:lstStyle/>
          <a:p>
            <a:pPr algn="l"/>
            <a:r>
              <a:rPr sz="1200" b="1">
                <a:solidFill>
                  <a:srgbClr val="94A3B8"/>
                </a:solidFill>
                <a:latin typeface="Calibri"/>
              </a:rPr>
              <a:t>PREVIEW</a:t>
            </a:r>
          </a:p>
        </p:txBody>
      </p:sp>
      <p:sp>
        <p:nvSpPr>
          <p:cNvPr id="24" name="Rectangle 23"/>
          <p:cNvSpPr/>
          <p:nvPr/>
        </p:nvSpPr>
        <p:spPr>
          <a:xfrm>
            <a:off x="960120" y="4864608"/>
            <a:ext cx="2011680" cy="347472"/>
          </a:xfrm>
          <a:prstGeom prst="rect">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0120" y="4864608"/>
            <a:ext cx="64008" cy="3474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5568" y="4928616"/>
            <a:ext cx="1737360" cy="219456"/>
          </a:xfrm>
          <a:prstGeom prst="rect">
            <a:avLst/>
          </a:prstGeom>
          <a:noFill/>
        </p:spPr>
        <p:txBody>
          <a:bodyPr wrap="none" anchor="ctr" lIns="0" rIns="0" tIns="0" bIns="0">
            <a:spAutoFit/>
          </a:bodyPr>
          <a:lstStyle/>
          <a:p>
            <a:pPr algn="l"/>
            <a:r>
              <a:rPr sz="1200" b="1">
                <a:solidFill>
                  <a:srgbClr val="94A3B8"/>
                </a:solidFill>
                <a:latin typeface="Calibri"/>
              </a:rPr>
              <a:t>SOLO</a:t>
            </a:r>
          </a:p>
        </p:txBody>
      </p:sp>
      <p:sp>
        <p:nvSpPr>
          <p:cNvPr id="27" name="Rectangle 26"/>
          <p:cNvSpPr/>
          <p:nvPr/>
        </p:nvSpPr>
        <p:spPr>
          <a:xfrm>
            <a:off x="960120" y="5294376"/>
            <a:ext cx="2011680" cy="347472"/>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0120" y="5294376"/>
            <a:ext cx="64008" cy="34747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5568" y="5358384"/>
            <a:ext cx="1737360" cy="219456"/>
          </a:xfrm>
          <a:prstGeom prst="rect">
            <a:avLst/>
          </a:prstGeom>
          <a:noFill/>
        </p:spPr>
        <p:txBody>
          <a:bodyPr wrap="none" anchor="ctr" lIns="0" rIns="0" tIns="0" bIns="0">
            <a:spAutoFit/>
          </a:bodyPr>
          <a:lstStyle/>
          <a:p>
            <a:pPr algn="l"/>
            <a:r>
              <a:rPr sz="1200" b="1">
                <a:solidFill>
                  <a:srgbClr val="15803D"/>
                </a:solidFill>
                <a:latin typeface="Calibri"/>
              </a:rPr>
              <a:t>HELLO</a:t>
            </a:r>
          </a:p>
        </p:txBody>
      </p:sp>
      <p:sp>
        <p:nvSpPr>
          <p:cNvPr id="30" name="TextBox 29"/>
          <p:cNvSpPr txBox="1"/>
          <p:nvPr/>
        </p:nvSpPr>
        <p:spPr>
          <a:xfrm>
            <a:off x="777240" y="5943600"/>
            <a:ext cx="3291840" cy="219456"/>
          </a:xfrm>
          <a:prstGeom prst="rect">
            <a:avLst/>
          </a:prstGeom>
          <a:noFill/>
        </p:spPr>
        <p:txBody>
          <a:bodyPr wrap="none" anchor="ctr" lIns="0" rIns="0" tIns="0" bIns="0">
            <a:spAutoFit/>
          </a:bodyPr>
          <a:lstStyle/>
          <a:p>
            <a:pPr algn="l"/>
            <a:r>
              <a:rPr sz="950" b="0">
                <a:solidFill>
                  <a:srgbClr val="94A3B8"/>
                </a:solidFill>
                <a:latin typeface="Calibri"/>
              </a:rPr>
              <a:t>empty script: WALK, PREVIEW, SOLO are greyed</a:t>
            </a:r>
          </a:p>
        </p:txBody>
      </p:sp>
      <p:sp>
        <p:nvSpPr>
          <p:cNvPr id="31" name="Rectangle 30"/>
          <p:cNvSpPr/>
          <p:nvPr/>
        </p:nvSpPr>
        <p:spPr>
          <a:xfrm>
            <a:off x="3611880" y="1828800"/>
            <a:ext cx="4206240" cy="1691639"/>
          </a:xfrm>
          <a:prstGeom prst="rect">
            <a:avLst/>
          </a:prstGeom>
          <a:solidFill>
            <a:srgbClr val="FFFFFF"/>
          </a:solidFill>
          <a:ln w="2222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11880" y="1828800"/>
            <a:ext cx="91440" cy="169163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13048" y="1947672"/>
            <a:ext cx="1280160" cy="219456"/>
          </a:xfrm>
          <a:prstGeom prst="rect">
            <a:avLst/>
          </a:prstGeom>
          <a:noFill/>
        </p:spPr>
        <p:txBody>
          <a:bodyPr wrap="none" anchor="ctr" lIns="0" rIns="0" tIns="0" bIns="0">
            <a:spAutoFit/>
          </a:bodyPr>
          <a:lstStyle/>
          <a:p>
            <a:pPr algn="l"/>
            <a:r>
              <a:rPr sz="1400" b="1">
                <a:solidFill>
                  <a:srgbClr val="B45309"/>
                </a:solidFill>
                <a:latin typeface="Calibri"/>
              </a:rPr>
              <a:t>CLICK</a:t>
            </a:r>
          </a:p>
        </p:txBody>
      </p:sp>
      <p:sp>
        <p:nvSpPr>
          <p:cNvPr id="34" name="Rectangle 33"/>
          <p:cNvSpPr/>
          <p:nvPr/>
        </p:nvSpPr>
        <p:spPr>
          <a:xfrm>
            <a:off x="3703320" y="3374135"/>
            <a:ext cx="4114800" cy="146304"/>
          </a:xfrm>
          <a:prstGeom prst="rect">
            <a:avLst/>
          </a:prstGeom>
          <a:solidFill>
            <a:srgbClr val="F6E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3977639" y="2286000"/>
            <a:ext cx="3657601" cy="0"/>
          </a:xfrm>
          <a:prstGeom prst="line">
            <a:avLst/>
          </a:prstGeom>
          <a:ln w="44450">
            <a:solidFill>
              <a:srgbClr val="B91C1C"/>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977639" y="2359152"/>
            <a:ext cx="36576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77639" y="2359152"/>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78807" y="2441448"/>
            <a:ext cx="1280160" cy="219456"/>
          </a:xfrm>
          <a:prstGeom prst="rect">
            <a:avLst/>
          </a:prstGeom>
          <a:noFill/>
        </p:spPr>
        <p:txBody>
          <a:bodyPr wrap="none" anchor="ctr" lIns="0" rIns="0" tIns="0" bIns="0">
            <a:spAutoFit/>
          </a:bodyPr>
          <a:lstStyle/>
          <a:p>
            <a:pPr algn="l"/>
            <a:r>
              <a:rPr sz="1400" b="1">
                <a:solidFill>
                  <a:srgbClr val="1D4ED8"/>
                </a:solidFill>
                <a:latin typeface="Calibri"/>
              </a:rPr>
              <a:t>NEIGHBORS</a:t>
            </a:r>
          </a:p>
        </p:txBody>
      </p:sp>
      <p:sp>
        <p:nvSpPr>
          <p:cNvPr id="39" name="Rectangle 38"/>
          <p:cNvSpPr/>
          <p:nvPr/>
        </p:nvSpPr>
        <p:spPr>
          <a:xfrm>
            <a:off x="3977639" y="2798064"/>
            <a:ext cx="3657600" cy="384048"/>
          </a:xfrm>
          <a:prstGeom prst="rect">
            <a:avLst/>
          </a:prstGeom>
          <a:solidFill>
            <a:srgbClr val="FFFFFF"/>
          </a:solidFill>
          <a:ln w="2222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77639" y="2798064"/>
            <a:ext cx="91440" cy="38404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78807" y="2880360"/>
            <a:ext cx="1280160" cy="219456"/>
          </a:xfrm>
          <a:prstGeom prst="rect">
            <a:avLst/>
          </a:prstGeom>
          <a:noFill/>
        </p:spPr>
        <p:txBody>
          <a:bodyPr wrap="none" anchor="ctr" lIns="0" rIns="0" tIns="0" bIns="0">
            <a:spAutoFit/>
          </a:bodyPr>
          <a:lstStyle/>
          <a:p>
            <a:pPr algn="l"/>
            <a:r>
              <a:rPr sz="1400" b="1">
                <a:solidFill>
                  <a:srgbClr val="1D4ED8"/>
                </a:solidFill>
                <a:latin typeface="Calibri"/>
              </a:rPr>
              <a:t>WALK</a:t>
            </a:r>
          </a:p>
        </p:txBody>
      </p:sp>
      <p:sp>
        <p:nvSpPr>
          <p:cNvPr id="42" name="TextBox 41"/>
          <p:cNvSpPr txBox="1"/>
          <p:nvPr/>
        </p:nvSpPr>
        <p:spPr>
          <a:xfrm>
            <a:off x="4745736" y="2880360"/>
            <a:ext cx="1371600" cy="219456"/>
          </a:xfrm>
          <a:prstGeom prst="rect">
            <a:avLst/>
          </a:prstGeom>
          <a:noFill/>
        </p:spPr>
        <p:txBody>
          <a:bodyPr wrap="none" anchor="ctr" lIns="0" rIns="0" tIns="0" bIns="0">
            <a:spAutoFit/>
          </a:bodyPr>
          <a:lstStyle/>
          <a:p>
            <a:pPr algn="l"/>
            <a:r>
              <a:rPr sz="1300" b="0">
                <a:solidFill>
                  <a:srgbClr val="0F172A"/>
                </a:solidFill>
                <a:latin typeface="Calibri"/>
              </a:rPr>
              <a:t>10 steps</a:t>
            </a:r>
          </a:p>
        </p:txBody>
      </p:sp>
      <p:sp>
        <p:nvSpPr>
          <p:cNvPr id="43" name="Rounded Rectangle 42"/>
          <p:cNvSpPr/>
          <p:nvPr/>
        </p:nvSpPr>
        <p:spPr>
          <a:xfrm>
            <a:off x="3977639" y="3520440"/>
            <a:ext cx="3840480" cy="566928"/>
          </a:xfrm>
          <a:prstGeom prst="roundRect">
            <a:avLst>
              <a:gd name="adj" fmla="val 50000"/>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69080" y="3538728"/>
            <a:ext cx="3657600" cy="548640"/>
          </a:xfrm>
          <a:prstGeom prst="rect">
            <a:avLst/>
          </a:prstGeom>
          <a:noFill/>
        </p:spPr>
        <p:txBody>
          <a:bodyPr wrap="square" anchor="ctr">
            <a:spAutoFit/>
          </a:bodyPr>
          <a:lstStyle/>
          <a:p>
            <a:pPr algn="l">
              <a:lnSpc>
                <a:spcPct val="100000"/>
              </a:lnSpc>
            </a:pPr>
            <a:r>
              <a:rPr sz="1100" b="1" i="0">
                <a:solidFill>
                  <a:srgbClr val="FFFFFF"/>
                </a:solidFill>
                <a:latin typeface="Calibri"/>
              </a:rPr>
              <a:t>Won't fit here: WALK expects "neighborhood", like from NEIGHBORS.</a:t>
            </a:r>
          </a:p>
        </p:txBody>
      </p:sp>
      <p:sp>
        <p:nvSpPr>
          <p:cNvPr id="45" name="TextBox 44"/>
          <p:cNvSpPr txBox="1"/>
          <p:nvPr/>
        </p:nvSpPr>
        <p:spPr>
          <a:xfrm>
            <a:off x="3611880" y="4160520"/>
            <a:ext cx="4206240" cy="219456"/>
          </a:xfrm>
          <a:prstGeom prst="rect">
            <a:avLst/>
          </a:prstGeom>
          <a:noFill/>
        </p:spPr>
        <p:txBody>
          <a:bodyPr wrap="none" anchor="ctr" lIns="0" rIns="0" tIns="0" bIns="0">
            <a:spAutoFit/>
          </a:bodyPr>
          <a:lstStyle/>
          <a:p>
            <a:pPr algn="ctr"/>
            <a:r>
              <a:rPr sz="950" b="0">
                <a:solidFill>
                  <a:srgbClr val="94A3B8"/>
                </a:solidFill>
                <a:latin typeface="Calibri"/>
              </a:rPr>
              <a:t>dragging WALK above NEIGHBORS</a:t>
            </a:r>
          </a:p>
        </p:txBody>
      </p:sp>
      <p:sp>
        <p:nvSpPr>
          <p:cNvPr id="46" name="TextBox 45"/>
          <p:cNvSpPr txBox="1"/>
          <p:nvPr/>
        </p:nvSpPr>
        <p:spPr>
          <a:xfrm>
            <a:off x="8092440" y="1828800"/>
            <a:ext cx="3429000" cy="4114800"/>
          </a:xfrm>
          <a:prstGeom prst="rect">
            <a:avLst/>
          </a:prstGeom>
          <a:noFill/>
        </p:spPr>
        <p:txBody>
          <a:bodyPr wrap="square" anchor="t">
            <a:spAutoFit/>
          </a:bodyPr>
          <a:lstStyle/>
          <a:p>
            <a:pPr algn="l">
              <a:lnSpc>
                <a:spcPct val="112000"/>
              </a:lnSpc>
            </a:pPr>
            <a:r>
              <a:rPr sz="1250" b="0" i="0">
                <a:solidFill>
                  <a:srgbClr val="475569"/>
                </a:solidFill>
                <a:latin typeface="Calibri"/>
              </a:rPr>
              <a:t>— Palette blocks that cannot go at the blue "next block goes here" line are greyed.</a:t>
            </a:r>
          </a:p>
          <a:p>
            <a:pPr algn="l">
              <a:lnSpc>
                <a:spcPct val="112000"/>
              </a:lnSpc>
            </a:pPr>
            <a:r>
              <a:rPr sz="1250" b="0" i="0">
                <a:solidFill>
                  <a:srgbClr val="475569"/>
                </a:solidFill>
                <a:latin typeface="Calibri"/>
              </a:rPr>
              <a:t>— Tap a block to add it at the blue line: a script can be built by tapping alone.</a:t>
            </a:r>
          </a:p>
          <a:p>
            <a:pPr algn="l">
              <a:lnSpc>
                <a:spcPct val="112000"/>
              </a:lnSpc>
            </a:pPr>
            <a:r>
              <a:rPr sz="1250" b="0" i="0">
                <a:solidFill>
                  <a:srgbClr val="475569"/>
                </a:solidFill>
                <a:latin typeface="Calibri"/>
              </a:rPr>
              <a:t>— A drop that would add a problem anywhere is refused, with the reason. Moving NEIGHBORS below WALK is refused too, because it breaks WALK.</a:t>
            </a:r>
          </a:p>
          <a:p>
            <a:pPr algn="l">
              <a:lnSpc>
                <a:spcPct val="112000"/>
              </a:lnSpc>
            </a:pPr>
            <a:r>
              <a:rPr sz="1250" b="0" i="0">
                <a:solidFill>
                  <a:srgbClr val="475569"/>
                </a:solidFill>
                <a:latin typeface="Calibri"/>
              </a:rPr>
              <a:t>— Old problems do not block new drops, and an empty CLICK may be placed and filled later.</a:t>
            </a:r>
          </a:p>
          <a:p>
            <a:pPr algn="l">
              <a:lnSpc>
                <a:spcPct val="112000"/>
              </a:lnSpc>
            </a:pPr>
            <a:r>
              <a:rPr sz="1250" b="0" i="0">
                <a:solidFill>
                  <a:srgbClr val="475569"/>
                </a:solidFill>
                <a:latin typeface="Calibri"/>
              </a:rPr>
              <a:t>— Turn it off and every drop goes through, amber, with the lamps and reasons still shown.</a:t>
            </a:r>
          </a:p>
        </p:txBody>
      </p:sp>
      <p:sp>
        <p:nvSpPr>
          <p:cNvPr id="47" name="TextBox 46"/>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48" name="TextBox 47"/>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TRIED IN THE BROWSER</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Four taps from an empty page to a working script</a:t>
            </a:r>
          </a:p>
        </p:txBody>
      </p:sp>
      <p:sp>
        <p:nvSpPr>
          <p:cNvPr id="4" name="TextBox 3"/>
          <p:cNvSpPr txBox="1"/>
          <p:nvPr/>
        </p:nvSpPr>
        <p:spPr>
          <a:xfrm>
            <a:off x="7772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1  Tap CLICK</a:t>
            </a:r>
          </a:p>
        </p:txBody>
      </p:sp>
      <p:sp>
        <p:nvSpPr>
          <p:cNvPr id="5" name="Rectangle 4"/>
          <p:cNvSpPr/>
          <p:nvPr/>
        </p:nvSpPr>
        <p:spPr>
          <a:xfrm>
            <a:off x="7772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p:txBody>
      </p:sp>
      <p:sp>
        <p:nvSpPr>
          <p:cNvPr id="7" name="Rounded Rectangle 6"/>
          <p:cNvSpPr/>
          <p:nvPr/>
        </p:nvSpPr>
        <p:spPr>
          <a:xfrm>
            <a:off x="777240"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Fits</a:t>
            </a:r>
          </a:p>
        </p:txBody>
      </p:sp>
      <p:sp>
        <p:nvSpPr>
          <p:cNvPr id="9" name="Rounded Rectangle 8"/>
          <p:cNvSpPr/>
          <p:nvPr/>
        </p:nvSpPr>
        <p:spPr>
          <a:xfrm>
            <a:off x="16276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276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11" name="Rounded Rectangle 10"/>
          <p:cNvSpPr/>
          <p:nvPr/>
        </p:nvSpPr>
        <p:spPr>
          <a:xfrm>
            <a:off x="2478024"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13" name="TextBox 12"/>
          <p:cNvSpPr txBox="1"/>
          <p:nvPr/>
        </p:nvSpPr>
        <p:spPr>
          <a:xfrm>
            <a:off x="7772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CLICK expects indented blocks to follow.</a:t>
            </a:r>
          </a:p>
        </p:txBody>
      </p:sp>
      <p:sp>
        <p:nvSpPr>
          <p:cNvPr id="14" name="TextBox 13"/>
          <p:cNvSpPr txBox="1"/>
          <p:nvPr/>
        </p:nvSpPr>
        <p:spPr>
          <a:xfrm>
            <a:off x="35204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2  Tap NEIGHBORS</a:t>
            </a:r>
          </a:p>
        </p:txBody>
      </p:sp>
      <p:sp>
        <p:nvSpPr>
          <p:cNvPr id="15" name="Rectangle 14"/>
          <p:cNvSpPr/>
          <p:nvPr/>
        </p:nvSpPr>
        <p:spPr>
          <a:xfrm>
            <a:off x="35204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p:txBody>
      </p:sp>
      <p:sp>
        <p:nvSpPr>
          <p:cNvPr id="17" name="Rounded Rectangle 16"/>
          <p:cNvSpPr/>
          <p:nvPr/>
        </p:nvSpPr>
        <p:spPr>
          <a:xfrm>
            <a:off x="35204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04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19" name="Rounded Rectangle 18"/>
          <p:cNvSpPr/>
          <p:nvPr/>
        </p:nvSpPr>
        <p:spPr>
          <a:xfrm>
            <a:off x="43708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21" name="Rounded Rectangle 20"/>
          <p:cNvSpPr/>
          <p:nvPr/>
        </p:nvSpPr>
        <p:spPr>
          <a:xfrm>
            <a:off x="5221224"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1224"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23" name="TextBox 22"/>
          <p:cNvSpPr txBox="1"/>
          <p:nvPr/>
        </p:nvSpPr>
        <p:spPr>
          <a:xfrm>
            <a:off x="35204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Nothing shows a result yet.</a:t>
            </a:r>
          </a:p>
        </p:txBody>
      </p:sp>
      <p:sp>
        <p:nvSpPr>
          <p:cNvPr id="24" name="TextBox 23"/>
          <p:cNvSpPr txBox="1"/>
          <p:nvPr/>
        </p:nvSpPr>
        <p:spPr>
          <a:xfrm>
            <a:off x="62636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3  Tap WALK</a:t>
            </a:r>
          </a:p>
        </p:txBody>
      </p:sp>
      <p:sp>
        <p:nvSpPr>
          <p:cNvPr id="25" name="Rectangle 24"/>
          <p:cNvSpPr/>
          <p:nvPr/>
        </p:nvSpPr>
        <p:spPr>
          <a:xfrm>
            <a:off x="62636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a:p>
            <a:pPr algn="l">
              <a:lnSpc>
                <a:spcPct val="120000"/>
              </a:lnSpc>
            </a:pPr>
            <a:r>
              <a:rPr sz="1300" b="0" i="0">
                <a:solidFill>
                  <a:srgbClr val="0F172A"/>
                </a:solidFill>
                <a:latin typeface="Menlo"/>
              </a:rPr>
              <a:t> WALK 10 steps</a:t>
            </a:r>
          </a:p>
        </p:txBody>
      </p:sp>
      <p:sp>
        <p:nvSpPr>
          <p:cNvPr id="27" name="Rounded Rectangle 26"/>
          <p:cNvSpPr/>
          <p:nvPr/>
        </p:nvSpPr>
        <p:spPr>
          <a:xfrm>
            <a:off x="62636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29" name="Rounded Rectangle 28"/>
          <p:cNvSpPr/>
          <p:nvPr/>
        </p:nvSpPr>
        <p:spPr>
          <a:xfrm>
            <a:off x="7114031"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14031"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31" name="Rounded Rectangle 30"/>
          <p:cNvSpPr/>
          <p:nvPr/>
        </p:nvSpPr>
        <p:spPr>
          <a:xfrm>
            <a:off x="7964423" y="3977639"/>
            <a:ext cx="777240" cy="292608"/>
          </a:xfrm>
          <a:prstGeom prst="roundRect">
            <a:avLst>
              <a:gd name="adj" fmla="val 50000"/>
            </a:avLst>
          </a:prstGeom>
          <a:solidFill>
            <a:srgbClr val="FFFFFF"/>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64423" y="4014215"/>
            <a:ext cx="777240" cy="219456"/>
          </a:xfrm>
          <a:prstGeom prst="rect">
            <a:avLst/>
          </a:prstGeom>
          <a:noFill/>
        </p:spPr>
        <p:txBody>
          <a:bodyPr wrap="none" anchor="ctr" lIns="0" rIns="0" tIns="0" bIns="0">
            <a:spAutoFit/>
          </a:bodyPr>
          <a:lstStyle/>
          <a:p>
            <a:pPr algn="ctr"/>
            <a:r>
              <a:rPr sz="1000" b="1">
                <a:solidFill>
                  <a:srgbClr val="94A3B8"/>
                </a:solidFill>
                <a:latin typeface="Calibri"/>
              </a:rPr>
              <a:t>● Result</a:t>
            </a:r>
          </a:p>
        </p:txBody>
      </p:sp>
      <p:sp>
        <p:nvSpPr>
          <p:cNvPr id="33" name="TextBox 32"/>
          <p:cNvSpPr txBox="1"/>
          <p:nvPr/>
        </p:nvSpPr>
        <p:spPr>
          <a:xfrm>
            <a:off x="6263640" y="4389120"/>
            <a:ext cx="2560320" cy="640080"/>
          </a:xfrm>
          <a:prstGeom prst="rect">
            <a:avLst/>
          </a:prstGeom>
          <a:noFill/>
        </p:spPr>
        <p:txBody>
          <a:bodyPr wrap="square" anchor="t">
            <a:spAutoFit/>
          </a:bodyPr>
          <a:lstStyle/>
          <a:p>
            <a:pPr algn="l">
              <a:lnSpc>
                <a:spcPct val="100000"/>
              </a:lnSpc>
            </a:pPr>
            <a:r>
              <a:rPr sz="1100" b="0" i="1">
                <a:solidFill>
                  <a:srgbClr val="854D0E"/>
                </a:solidFill>
                <a:latin typeface="Calibri"/>
              </a:rPr>
              <a:t>Nothing shows a result yet.</a:t>
            </a:r>
          </a:p>
        </p:txBody>
      </p:sp>
      <p:sp>
        <p:nvSpPr>
          <p:cNvPr id="34" name="TextBox 33"/>
          <p:cNvSpPr txBox="1"/>
          <p:nvPr/>
        </p:nvSpPr>
        <p:spPr>
          <a:xfrm>
            <a:off x="9006840" y="1828800"/>
            <a:ext cx="2560320" cy="219456"/>
          </a:xfrm>
          <a:prstGeom prst="rect">
            <a:avLst/>
          </a:prstGeom>
          <a:noFill/>
        </p:spPr>
        <p:txBody>
          <a:bodyPr wrap="none" anchor="ctr" lIns="0" rIns="0" tIns="0" bIns="0">
            <a:spAutoFit/>
          </a:bodyPr>
          <a:lstStyle/>
          <a:p>
            <a:pPr algn="l"/>
            <a:r>
              <a:rPr sz="1500" b="1">
                <a:solidFill>
                  <a:srgbClr val="0F172A"/>
                </a:solidFill>
                <a:latin typeface="Calibri"/>
              </a:rPr>
              <a:t>4  Tap PREVIEW</a:t>
            </a:r>
          </a:p>
        </p:txBody>
      </p:sp>
      <p:sp>
        <p:nvSpPr>
          <p:cNvPr id="35" name="Rectangle 34"/>
          <p:cNvSpPr/>
          <p:nvPr/>
        </p:nvSpPr>
        <p:spPr>
          <a:xfrm>
            <a:off x="9006840" y="2194560"/>
            <a:ext cx="2560320" cy="160020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0" y="2359152"/>
            <a:ext cx="2194560" cy="1325880"/>
          </a:xfrm>
          <a:prstGeom prst="rect">
            <a:avLst/>
          </a:prstGeom>
          <a:noFill/>
        </p:spPr>
        <p:txBody>
          <a:bodyPr wrap="square" anchor="t">
            <a:spAutoFit/>
          </a:bodyPr>
          <a:lstStyle/>
          <a:p>
            <a:pPr algn="l">
              <a:lnSpc>
                <a:spcPct val="120000"/>
              </a:lnSpc>
            </a:pPr>
            <a:r>
              <a:rPr sz="1300" b="0" i="0">
                <a:solidFill>
                  <a:srgbClr val="0F172A"/>
                </a:solidFill>
                <a:latin typeface="Menlo"/>
              </a:rPr>
              <a:t>CLICK</a:t>
            </a:r>
          </a:p>
          <a:p>
            <a:pPr algn="l">
              <a:lnSpc>
                <a:spcPct val="120000"/>
              </a:lnSpc>
            </a:pPr>
            <a:r>
              <a:rPr sz="1300" b="0" i="0">
                <a:solidFill>
                  <a:srgbClr val="0F172A"/>
                </a:solidFill>
                <a:latin typeface="Menlo"/>
              </a:rPr>
              <a:t> NEIGHBORS</a:t>
            </a:r>
          </a:p>
          <a:p>
            <a:pPr algn="l">
              <a:lnSpc>
                <a:spcPct val="120000"/>
              </a:lnSpc>
            </a:pPr>
            <a:r>
              <a:rPr sz="1300" b="0" i="0">
                <a:solidFill>
                  <a:srgbClr val="0F172A"/>
                </a:solidFill>
                <a:latin typeface="Menlo"/>
              </a:rPr>
              <a:t> WALK 10 steps</a:t>
            </a:r>
          </a:p>
          <a:p>
            <a:pPr algn="l">
              <a:lnSpc>
                <a:spcPct val="120000"/>
              </a:lnSpc>
            </a:pPr>
            <a:r>
              <a:rPr sz="1300" b="0" i="0">
                <a:solidFill>
                  <a:srgbClr val="0F172A"/>
                </a:solidFill>
                <a:latin typeface="Menlo"/>
              </a:rPr>
              <a:t> PREVIEW graph</a:t>
            </a:r>
          </a:p>
        </p:txBody>
      </p:sp>
      <p:sp>
        <p:nvSpPr>
          <p:cNvPr id="37" name="Rounded Rectangle 36"/>
          <p:cNvSpPr/>
          <p:nvPr/>
        </p:nvSpPr>
        <p:spPr>
          <a:xfrm>
            <a:off x="9006840"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Fits</a:t>
            </a:r>
          </a:p>
        </p:txBody>
      </p:sp>
      <p:sp>
        <p:nvSpPr>
          <p:cNvPr id="39" name="Rounded Rectangle 38"/>
          <p:cNvSpPr/>
          <p:nvPr/>
        </p:nvSpPr>
        <p:spPr>
          <a:xfrm>
            <a:off x="9857232"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57232"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Ready</a:t>
            </a:r>
          </a:p>
        </p:txBody>
      </p:sp>
      <p:sp>
        <p:nvSpPr>
          <p:cNvPr id="41" name="Rounded Rectangle 40"/>
          <p:cNvSpPr/>
          <p:nvPr/>
        </p:nvSpPr>
        <p:spPr>
          <a:xfrm>
            <a:off x="10707624" y="3977639"/>
            <a:ext cx="777240" cy="292608"/>
          </a:xfrm>
          <a:prstGeom prst="roundRect">
            <a:avLst>
              <a:gd name="adj" fmla="val 50000"/>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07624" y="4014215"/>
            <a:ext cx="777240" cy="219456"/>
          </a:xfrm>
          <a:prstGeom prst="rect">
            <a:avLst/>
          </a:prstGeom>
          <a:noFill/>
        </p:spPr>
        <p:txBody>
          <a:bodyPr wrap="none" anchor="ctr" lIns="0" rIns="0" tIns="0" bIns="0">
            <a:spAutoFit/>
          </a:bodyPr>
          <a:lstStyle/>
          <a:p>
            <a:pPr algn="ctr"/>
            <a:r>
              <a:rPr sz="1000" b="1">
                <a:solidFill>
                  <a:srgbClr val="15803D"/>
                </a:solidFill>
                <a:latin typeface="Calibri"/>
              </a:rPr>
              <a:t>● Result</a:t>
            </a:r>
          </a:p>
        </p:txBody>
      </p:sp>
      <p:sp>
        <p:nvSpPr>
          <p:cNvPr id="43" name="Rectangle 42"/>
          <p:cNvSpPr/>
          <p:nvPr/>
        </p:nvSpPr>
        <p:spPr>
          <a:xfrm>
            <a:off x="777240" y="5074920"/>
            <a:ext cx="10607040" cy="868680"/>
          </a:xfrm>
          <a:prstGeom prst="rect">
            <a:avLst/>
          </a:prstGeom>
          <a:solidFill>
            <a:srgbClr val="DCFCE7"/>
          </a:solidFill>
          <a:ln w="15875">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51560" y="5193792"/>
            <a:ext cx="10058400" cy="347472"/>
          </a:xfrm>
          <a:prstGeom prst="rect">
            <a:avLst/>
          </a:prstGeom>
          <a:noFill/>
        </p:spPr>
        <p:txBody>
          <a:bodyPr wrap="square" anchor="t">
            <a:spAutoFit/>
          </a:bodyPr>
          <a:lstStyle/>
          <a:p>
            <a:pPr algn="l">
              <a:lnSpc>
                <a:spcPct val="100000"/>
              </a:lnSpc>
            </a:pPr>
            <a:r>
              <a:rPr sz="1500" b="1" i="0">
                <a:solidFill>
                  <a:srgbClr val="15803D"/>
                </a:solidFill>
                <a:latin typeface="Calibri"/>
              </a:rPr>
              <a:t>Each tap lands where it belongs</a:t>
            </a:r>
          </a:p>
        </p:txBody>
      </p:sp>
      <p:sp>
        <p:nvSpPr>
          <p:cNvPr id="45" name="TextBox 44"/>
          <p:cNvSpPr txBox="1"/>
          <p:nvPr/>
        </p:nvSpPr>
        <p:spPr>
          <a:xfrm>
            <a:off x="1051560" y="5577840"/>
            <a:ext cx="10058400" cy="274319"/>
          </a:xfrm>
          <a:prstGeom prst="rect">
            <a:avLst/>
          </a:prstGeom>
          <a:noFill/>
        </p:spPr>
        <p:txBody>
          <a:bodyPr wrap="square" anchor="t">
            <a:spAutoFit/>
          </a:bodyPr>
          <a:lstStyle/>
          <a:p>
            <a:pPr algn="l">
              <a:lnSpc>
                <a:spcPct val="112000"/>
              </a:lnSpc>
            </a:pPr>
            <a:r>
              <a:rPr sz="1150" b="0" i="0">
                <a:solidFill>
                  <a:srgbClr val="475569"/>
                </a:solidFill>
                <a:latin typeface="Calibri"/>
              </a:rPr>
              <a:t>The blue line goes inside an empty CLICK, then follows the last block added. WALK only lit up in the palette once NEIGHBORS was there.</a:t>
            </a:r>
          </a:p>
        </p:txBody>
      </p:sp>
      <p:sp>
        <p:nvSpPr>
          <p:cNvPr id="46" name="TextBox 45"/>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47" name="TextBox 46"/>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7C3AED"/>
                </a:solidFill>
                <a:latin typeface="Calibri"/>
              </a:rPr>
              <a:t>READING WARD'S CODE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What the source showed that the handbook does not</a:t>
            </a:r>
          </a:p>
        </p:txBody>
      </p:sp>
      <p:sp>
        <p:nvSpPr>
          <p:cNvPr id="4" name="Rectangle 3"/>
          <p:cNvSpPr/>
          <p:nvPr/>
        </p:nvSpPr>
        <p:spPr>
          <a:xfrm>
            <a:off x="777240" y="1828800"/>
            <a:ext cx="5212080" cy="19659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54864" cy="1965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93392"/>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HERE and THERE</a:t>
            </a:r>
          </a:p>
        </p:txBody>
      </p:sp>
      <p:sp>
        <p:nvSpPr>
          <p:cNvPr id="7" name="TextBox 6"/>
          <p:cNvSpPr txBox="1"/>
          <p:nvPr/>
        </p:nvSpPr>
        <p:spPr>
          <a:xfrm>
            <a:off x="1033271" y="2468880"/>
            <a:ext cx="4754880" cy="1188719"/>
          </a:xfrm>
          <a:prstGeom prst="rect">
            <a:avLst/>
          </a:prstGeom>
          <a:noFill/>
        </p:spPr>
        <p:txBody>
          <a:bodyPr wrap="square" anchor="t">
            <a:spAutoFit/>
          </a:bodyPr>
          <a:lstStyle/>
          <a:p>
            <a:pPr algn="l">
              <a:lnSpc>
                <a:spcPct val="110000"/>
              </a:lnSpc>
            </a:pPr>
            <a:r>
              <a:rPr sz="1350" b="0" i="0">
                <a:solidFill>
                  <a:srgbClr val="475569"/>
                </a:solidFill>
                <a:latin typeface="Calibri"/>
              </a:rPr>
              <a:t>A short script on Ward's Catalog of Mech Blocks calls the blocks in the running code "here" and the blocks the page documents "there". The difference is the undocumented blocks: CODE and DOWNLOAD. Handbook pages for both are drafted, in Ward's template.</a:t>
            </a:r>
          </a:p>
        </p:txBody>
      </p:sp>
      <p:sp>
        <p:nvSpPr>
          <p:cNvPr id="8" name="Rectangle 7"/>
          <p:cNvSpPr/>
          <p:nvPr/>
        </p:nvSpPr>
        <p:spPr>
          <a:xfrm>
            <a:off x="777240" y="3977639"/>
            <a:ext cx="5212080" cy="196596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977639"/>
            <a:ext cx="54864" cy="1965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4142231"/>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A catalog Mech could carry</a:t>
            </a:r>
          </a:p>
        </p:txBody>
      </p:sp>
      <p:sp>
        <p:nvSpPr>
          <p:cNvPr id="11" name="TextBox 10"/>
          <p:cNvSpPr txBox="1"/>
          <p:nvPr/>
        </p:nvSpPr>
        <p:spPr>
          <a:xfrm>
            <a:off x="1033271" y="4617720"/>
            <a:ext cx="4754880" cy="1188719"/>
          </a:xfrm>
          <a:prstGeom prst="rect">
            <a:avLst/>
          </a:prstGeom>
          <a:noFill/>
        </p:spPr>
        <p:txBody>
          <a:bodyPr wrap="square" anchor="t">
            <a:spAutoFit/>
          </a:bodyPr>
          <a:lstStyle/>
          <a:p>
            <a:pPr algn="l">
              <a:lnSpc>
                <a:spcPct val="110000"/>
              </a:lnSpc>
            </a:pPr>
            <a:r>
              <a:rPr sz="1350" b="0" i="0">
                <a:solidFill>
                  <a:srgbClr val="475569"/>
                </a:solidFill>
                <a:latin typeface="Calibri"/>
              </a:rPr>
              <a:t>What every block needs, makes and may hold now exists as a plain list, built by reading the code. Offered to Ward so tools like this need not work it out again.</a:t>
            </a:r>
          </a:p>
        </p:txBody>
      </p:sp>
      <p:sp>
        <p:nvSpPr>
          <p:cNvPr id="12" name="Rectangle 11"/>
          <p:cNvSpPr/>
          <p:nvPr/>
        </p:nvSpPr>
        <p:spPr>
          <a:xfrm>
            <a:off x="6263640" y="18288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8288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9933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Permission reaches one level</a:t>
            </a:r>
          </a:p>
        </p:txBody>
      </p:sp>
      <p:sp>
        <p:nvSpPr>
          <p:cNvPr id="15" name="TextBox 14"/>
          <p:cNvSpPr txBox="1"/>
          <p:nvPr/>
        </p:nvSpPr>
        <p:spPr>
          <a:xfrm>
            <a:off x="6519672" y="2468880"/>
            <a:ext cx="4663440" cy="484631"/>
          </a:xfrm>
          <a:prstGeom prst="rect">
            <a:avLst/>
          </a:prstGeom>
          <a:noFill/>
        </p:spPr>
        <p:txBody>
          <a:bodyPr wrap="square" anchor="t">
            <a:spAutoFit/>
          </a:bodyPr>
          <a:lstStyle/>
          <a:p>
            <a:pPr algn="l">
              <a:lnSpc>
                <a:spcPct val="110000"/>
              </a:lnSpc>
            </a:pPr>
            <a:r>
              <a:rPr sz="1100" b="0" i="0">
                <a:solidFill>
                  <a:srgbClr val="475569"/>
                </a:solidFill>
                <a:latin typeface="Calibri"/>
              </a:rPr>
              <a:t>CLICK lets a CODE directly inside it run for anyone, but not one nested inside FROM. Ward's own Catalog of Variables runs only for him.</a:t>
            </a:r>
          </a:p>
        </p:txBody>
      </p:sp>
      <p:sp>
        <p:nvSpPr>
          <p:cNvPr id="16" name="Rectangle 15"/>
          <p:cNvSpPr/>
          <p:nvPr/>
        </p:nvSpPr>
        <p:spPr>
          <a:xfrm>
            <a:off x="6263640" y="32004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32004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33649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FILE keeps the dot</a:t>
            </a:r>
          </a:p>
        </p:txBody>
      </p:sp>
      <p:sp>
        <p:nvSpPr>
          <p:cNvPr id="19" name="TextBox 18"/>
          <p:cNvSpPr txBox="1"/>
          <p:nvPr/>
        </p:nvSpPr>
        <p:spPr>
          <a:xfrm>
            <a:off x="6519672" y="3840480"/>
            <a:ext cx="4663440" cy="484631"/>
          </a:xfrm>
          <a:prstGeom prst="rect">
            <a:avLst/>
          </a:prstGeom>
          <a:noFill/>
        </p:spPr>
        <p:txBody>
          <a:bodyPr wrap="square" anchor="t">
            <a:spAutoFit/>
          </a:bodyPr>
          <a:lstStyle/>
          <a:p>
            <a:pPr algn="l">
              <a:lnSpc>
                <a:spcPct val="110000"/>
              </a:lnSpc>
            </a:pPr>
            <a:r>
              <a:rPr sz="1200" b="0" i="0">
                <a:solidFill>
                  <a:srgbClr val="475569"/>
                </a:solidFill>
                <a:latin typeface="Calibri"/>
              </a:rPr>
              <a:t>"FILE .txt" stores the text under ".txt", not "txt" as the handbook says, so KWIC and DOWNLOAD cannot find it.</a:t>
            </a:r>
          </a:p>
        </p:txBody>
      </p:sp>
      <p:sp>
        <p:nvSpPr>
          <p:cNvPr id="20" name="Rectangle 19"/>
          <p:cNvSpPr/>
          <p:nvPr/>
        </p:nvSpPr>
        <p:spPr>
          <a:xfrm>
            <a:off x="6263640" y="4572000"/>
            <a:ext cx="5120640" cy="1261872"/>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4572000"/>
            <a:ext cx="54864" cy="126187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4736592"/>
            <a:ext cx="4663440" cy="411480"/>
          </a:xfrm>
          <a:prstGeom prst="rect">
            <a:avLst/>
          </a:prstGeom>
          <a:noFill/>
        </p:spPr>
        <p:txBody>
          <a:bodyPr wrap="square" anchor="t">
            <a:spAutoFit/>
          </a:bodyPr>
          <a:lstStyle/>
          <a:p>
            <a:pPr algn="l">
              <a:lnSpc>
                <a:spcPct val="100000"/>
              </a:lnSpc>
            </a:pPr>
            <a:r>
              <a:rPr sz="1400" b="1" i="0">
                <a:solidFill>
                  <a:srgbClr val="0F172A"/>
                </a:solidFill>
                <a:latin typeface="Calibri"/>
              </a:rPr>
              <a:t>Typography stops CODE</a:t>
            </a:r>
          </a:p>
        </p:txBody>
      </p:sp>
      <p:sp>
        <p:nvSpPr>
          <p:cNvPr id="23" name="TextBox 22"/>
          <p:cNvSpPr txBox="1"/>
          <p:nvPr/>
        </p:nvSpPr>
        <p:spPr>
          <a:xfrm>
            <a:off x="6519672" y="5212080"/>
            <a:ext cx="4663440" cy="484631"/>
          </a:xfrm>
          <a:prstGeom prst="rect">
            <a:avLst/>
          </a:prstGeom>
          <a:noFill/>
        </p:spPr>
        <p:txBody>
          <a:bodyPr wrap="square" anchor="t">
            <a:spAutoFit/>
          </a:bodyPr>
          <a:lstStyle/>
          <a:p>
            <a:pPr algn="l">
              <a:lnSpc>
                <a:spcPct val="110000"/>
              </a:lnSpc>
            </a:pPr>
            <a:r>
              <a:rPr sz="1200" b="0" i="0">
                <a:solidFill>
                  <a:srgbClr val="475569"/>
                </a:solidFill>
                <a:latin typeface="Calibri"/>
              </a:rPr>
              <a:t>Curly quotes, dashes or emoji in a Code item stop it loading at all.</a:t>
            </a:r>
          </a:p>
        </p:txBody>
      </p:sp>
      <p:sp>
        <p:nvSpPr>
          <p:cNvPr id="24" name="TextBox 23"/>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5" name="TextBox 24"/>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15803D"/>
                </a:solidFill>
                <a:latin typeface="Calibri"/>
              </a:rPr>
              <a:t>NOW IN FEDWIKI</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The Mech Blocks plugin, beside Ward's Mech</a:t>
            </a:r>
          </a:p>
        </p:txBody>
      </p:sp>
      <p:sp>
        <p:nvSpPr>
          <p:cNvPr id="4" name="Rectangle 3"/>
          <p:cNvSpPr/>
          <p:nvPr/>
        </p:nvSpPr>
        <p:spPr>
          <a:xfrm>
            <a:off x="777240" y="1828800"/>
            <a:ext cx="5166360" cy="1874519"/>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54864" cy="187451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93392"/>
            <a:ext cx="4709160" cy="411480"/>
          </a:xfrm>
          <a:prstGeom prst="rect">
            <a:avLst/>
          </a:prstGeom>
          <a:noFill/>
        </p:spPr>
        <p:txBody>
          <a:bodyPr wrap="square" anchor="t">
            <a:spAutoFit/>
          </a:bodyPr>
          <a:lstStyle/>
          <a:p>
            <a:pPr algn="l">
              <a:lnSpc>
                <a:spcPct val="100000"/>
              </a:lnSpc>
            </a:pPr>
            <a:r>
              <a:rPr sz="1600" b="1" i="0">
                <a:solidFill>
                  <a:srgbClr val="0F172A"/>
                </a:solidFill>
                <a:latin typeface="Calibri"/>
              </a:rPr>
              <a:t>Edit in blocks</a:t>
            </a:r>
          </a:p>
        </p:txBody>
      </p:sp>
      <p:sp>
        <p:nvSpPr>
          <p:cNvPr id="7" name="TextBox 6"/>
          <p:cNvSpPr txBox="1"/>
          <p:nvPr/>
        </p:nvSpPr>
        <p:spPr>
          <a:xfrm>
            <a:off x="1033271" y="2468880"/>
            <a:ext cx="4709160" cy="1097279"/>
          </a:xfrm>
          <a:prstGeom prst="rect">
            <a:avLst/>
          </a:prstGeom>
          <a:noFill/>
        </p:spPr>
        <p:txBody>
          <a:bodyPr wrap="square" anchor="t">
            <a:spAutoFit/>
          </a:bodyPr>
          <a:lstStyle/>
          <a:p>
            <a:pPr algn="l">
              <a:lnSpc>
                <a:spcPct val="110000"/>
              </a:lnSpc>
            </a:pPr>
            <a:r>
              <a:rPr sz="1300" b="0" i="0">
                <a:solidFill>
                  <a:srgbClr val="475569"/>
                </a:solidFill>
                <a:latin typeface="Calibri"/>
              </a:rPr>
              <a:t>A Mech Blocks item lists the Mech items on its page. Edit opens this block view in a new window; Save to wiki puts the script back as an ordinary edit, and Ward's Mech runs it.</a:t>
            </a:r>
          </a:p>
        </p:txBody>
      </p:sp>
      <p:sp>
        <p:nvSpPr>
          <p:cNvPr id="8" name="Rectangle 7"/>
          <p:cNvSpPr/>
          <p:nvPr/>
        </p:nvSpPr>
        <p:spPr>
          <a:xfrm>
            <a:off x="6172200" y="1828800"/>
            <a:ext cx="5166360" cy="1874519"/>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2200" y="1828800"/>
            <a:ext cx="54864" cy="1874519"/>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1993392"/>
            <a:ext cx="4709160" cy="411480"/>
          </a:xfrm>
          <a:prstGeom prst="rect">
            <a:avLst/>
          </a:prstGeom>
          <a:noFill/>
        </p:spPr>
        <p:txBody>
          <a:bodyPr wrap="square" anchor="t">
            <a:spAutoFit/>
          </a:bodyPr>
          <a:lstStyle/>
          <a:p>
            <a:pPr algn="l">
              <a:lnSpc>
                <a:spcPct val="100000"/>
              </a:lnSpc>
            </a:pPr>
            <a:r>
              <a:rPr sz="1600" b="1" i="0">
                <a:solidFill>
                  <a:srgbClr val="0F172A"/>
                </a:solidFill>
                <a:latin typeface="Calibri"/>
              </a:rPr>
              <a:t>Watch it run</a:t>
            </a:r>
          </a:p>
        </p:txBody>
      </p:sp>
      <p:sp>
        <p:nvSpPr>
          <p:cNvPr id="11" name="TextBox 10"/>
          <p:cNvSpPr txBox="1"/>
          <p:nvPr/>
        </p:nvSpPr>
        <p:spPr>
          <a:xfrm>
            <a:off x="6428232" y="2468880"/>
            <a:ext cx="4709160" cy="1097279"/>
          </a:xfrm>
          <a:prstGeom prst="rect">
            <a:avLst/>
          </a:prstGeom>
          <a:noFill/>
        </p:spPr>
        <p:txBody>
          <a:bodyPr wrap="square" anchor="t">
            <a:spAutoFit/>
          </a:bodyPr>
          <a:lstStyle/>
          <a:p>
            <a:pPr algn="l">
              <a:lnSpc>
                <a:spcPct val="110000"/>
              </a:lnSpc>
            </a:pPr>
            <a:r>
              <a:rPr sz="1300" b="0" i="0">
                <a:solidFill>
                  <a:srgbClr val="475569"/>
                </a:solidFill>
                <a:latin typeface="Calibri"/>
              </a:rPr>
              <a:t>Runs the script with Ward's own blocks and draws the shared notebook as it fills. Tried on a real wiki: NEIGHBORS wrote 1,805 pages, WALK read them and wrote graphs, PREVIEW read those.</a:t>
            </a:r>
          </a:p>
        </p:txBody>
      </p:sp>
      <p:sp>
        <p:nvSpPr>
          <p:cNvPr id="12" name="Rectangle 11"/>
          <p:cNvSpPr/>
          <p:nvPr/>
        </p:nvSpPr>
        <p:spPr>
          <a:xfrm>
            <a:off x="777240" y="3886200"/>
            <a:ext cx="5166360" cy="1874519"/>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886200"/>
            <a:ext cx="54864" cy="1874519"/>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4050791"/>
            <a:ext cx="4709160" cy="411480"/>
          </a:xfrm>
          <a:prstGeom prst="rect">
            <a:avLst/>
          </a:prstGeom>
          <a:noFill/>
        </p:spPr>
        <p:txBody>
          <a:bodyPr wrap="square" anchor="t">
            <a:spAutoFit/>
          </a:bodyPr>
          <a:lstStyle/>
          <a:p>
            <a:pPr algn="l">
              <a:lnSpc>
                <a:spcPct val="100000"/>
              </a:lnSpc>
            </a:pPr>
            <a:r>
              <a:rPr sz="1600" b="1" i="0">
                <a:solidFill>
                  <a:srgbClr val="0F172A"/>
                </a:solidFill>
                <a:latin typeface="Calibri"/>
              </a:rPr>
              <a:t>Graph Tool</a:t>
            </a:r>
          </a:p>
        </p:txBody>
      </p:sp>
      <p:sp>
        <p:nvSpPr>
          <p:cNvPr id="15" name="TextBox 14"/>
          <p:cNvSpPr txBox="1"/>
          <p:nvPr/>
        </p:nvSpPr>
        <p:spPr>
          <a:xfrm>
            <a:off x="1033271" y="4526280"/>
            <a:ext cx="4709160" cy="1097279"/>
          </a:xfrm>
          <a:prstGeom prst="rect">
            <a:avLst/>
          </a:prstGeom>
          <a:noFill/>
        </p:spPr>
        <p:txBody>
          <a:bodyPr wrap="square" anchor="t">
            <a:spAutoFit/>
          </a:bodyPr>
          <a:lstStyle/>
          <a:p>
            <a:pPr algn="l">
              <a:lnSpc>
                <a:spcPct val="110000"/>
              </a:lnSpc>
            </a:pPr>
            <a:r>
              <a:rPr sz="1300" b="0" i="0">
                <a:solidFill>
                  <a:srgbClr val="475569"/>
                </a:solidFill>
                <a:latin typeface="Calibri"/>
              </a:rPr>
              <a:t>Once a run has made graphs, one click draws them in the RCN Graph Tool. Plain Mech can do the same with CODE graphtool, no plugin needed.</a:t>
            </a:r>
          </a:p>
        </p:txBody>
      </p:sp>
      <p:sp>
        <p:nvSpPr>
          <p:cNvPr id="16" name="Rectangle 15"/>
          <p:cNvSpPr/>
          <p:nvPr/>
        </p:nvSpPr>
        <p:spPr>
          <a:xfrm>
            <a:off x="6172200" y="3886200"/>
            <a:ext cx="5166360" cy="1874519"/>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3886200"/>
            <a:ext cx="54864" cy="187451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4050791"/>
            <a:ext cx="4709160" cy="411480"/>
          </a:xfrm>
          <a:prstGeom prst="rect">
            <a:avLst/>
          </a:prstGeom>
          <a:noFill/>
        </p:spPr>
        <p:txBody>
          <a:bodyPr wrap="square" anchor="t">
            <a:spAutoFit/>
          </a:bodyPr>
          <a:lstStyle/>
          <a:p>
            <a:pPr algn="l">
              <a:lnSpc>
                <a:spcPct val="100000"/>
              </a:lnSpc>
            </a:pPr>
            <a:r>
              <a:rPr sz="1600" b="1" i="0">
                <a:solidFill>
                  <a:srgbClr val="0F172A"/>
                </a:solidFill>
                <a:latin typeface="Calibri"/>
              </a:rPr>
              <a:t>PLUGIN rcn</a:t>
            </a:r>
          </a:p>
        </p:txBody>
      </p:sp>
      <p:sp>
        <p:nvSpPr>
          <p:cNvPr id="19" name="TextBox 18"/>
          <p:cNvSpPr txBox="1"/>
          <p:nvPr/>
        </p:nvSpPr>
        <p:spPr>
          <a:xfrm>
            <a:off x="6428232" y="4526280"/>
            <a:ext cx="4709160" cy="1097279"/>
          </a:xfrm>
          <a:prstGeom prst="rect">
            <a:avLst/>
          </a:prstGeom>
          <a:noFill/>
        </p:spPr>
        <p:txBody>
          <a:bodyPr wrap="square" anchor="t">
            <a:spAutoFit/>
          </a:bodyPr>
          <a:lstStyle/>
          <a:p>
            <a:pPr algn="l">
              <a:lnSpc>
                <a:spcPct val="110000"/>
              </a:lnSpc>
            </a:pPr>
            <a:r>
              <a:rPr sz="1300" b="0" i="0">
                <a:solidFill>
                  <a:srgbClr val="475569"/>
                </a:solidFill>
                <a:latin typeface="Calibri"/>
              </a:rPr>
              <a:t>Server blocks for RCN data on the site: PROJECTION turns a Layer 1 folder into graphs, BADGES gathers SODOTO badges. On a local test site: 10 badges, 3 people, 8 skills.</a:t>
            </a:r>
          </a:p>
        </p:txBody>
      </p:sp>
      <p:sp>
        <p:nvSpPr>
          <p:cNvPr id="20" name="TextBox 19"/>
          <p:cNvSpPr txBox="1"/>
          <p:nvPr/>
        </p:nvSpPr>
        <p:spPr>
          <a:xfrm>
            <a:off x="777240" y="5989320"/>
            <a:ext cx="10607040" cy="365760"/>
          </a:xfrm>
          <a:prstGeom prst="rect">
            <a:avLst/>
          </a:prstGeom>
          <a:noFill/>
        </p:spPr>
        <p:txBody>
          <a:bodyPr wrap="square" anchor="t">
            <a:spAutoFit/>
          </a:bodyPr>
          <a:lstStyle/>
          <a:p>
            <a:pPr algn="l">
              <a:lnSpc>
                <a:spcPct val="100000"/>
              </a:lnSpc>
            </a:pPr>
            <a:r>
              <a:rPr sz="1300" b="0" i="1">
                <a:solidFill>
                  <a:srgbClr val="475569"/>
                </a:solidFill>
                <a:latin typeface="Calibri"/>
              </a:rPr>
              <a:t>On npm as wiki-plugin-mechblocks, and running on Wiki Café since October 4 2026.</a:t>
            </a:r>
          </a:p>
        </p:txBody>
      </p:sp>
      <p:sp>
        <p:nvSpPr>
          <p:cNvPr id="21" name="TextBox 20"/>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22" name="TextBox 21"/>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777240" y="502920"/>
            <a:ext cx="10058400" cy="292608"/>
          </a:xfrm>
          <a:prstGeom prst="rect">
            <a:avLst/>
          </a:prstGeom>
          <a:noFill/>
        </p:spPr>
        <p:txBody>
          <a:bodyPr wrap="square" anchor="t">
            <a:spAutoFit/>
          </a:bodyPr>
          <a:lstStyle/>
          <a:p>
            <a:pPr algn="l">
              <a:lnSpc>
                <a:spcPct val="100000"/>
              </a:lnSpc>
            </a:pPr>
            <a:r>
              <a:rPr sz="1100" b="1" i="0">
                <a:solidFill>
                  <a:srgbClr val="475569"/>
                </a:solidFill>
                <a:latin typeface="Calibri"/>
              </a:rPr>
              <a:t>HONEST SCOPE</a:t>
            </a:r>
          </a:p>
        </p:txBody>
      </p:sp>
      <p:sp>
        <p:nvSpPr>
          <p:cNvPr id="3" name="TextBox 2"/>
          <p:cNvSpPr txBox="1"/>
          <p:nvPr/>
        </p:nvSpPr>
        <p:spPr>
          <a:xfrm>
            <a:off x="777240" y="868680"/>
            <a:ext cx="10607040" cy="1005840"/>
          </a:xfrm>
          <a:prstGeom prst="rect">
            <a:avLst/>
          </a:prstGeom>
          <a:noFill/>
        </p:spPr>
        <p:txBody>
          <a:bodyPr wrap="square" anchor="t">
            <a:spAutoFit/>
          </a:bodyPr>
          <a:lstStyle/>
          <a:p>
            <a:pPr algn="l">
              <a:lnSpc>
                <a:spcPct val="95000"/>
              </a:lnSpc>
            </a:pPr>
            <a:r>
              <a:rPr sz="3200" b="1" i="0">
                <a:solidFill>
                  <a:srgbClr val="0F172A"/>
                </a:solidFill>
                <a:latin typeface="Calibri"/>
              </a:rPr>
              <a:t>What it is, and what it is not</a:t>
            </a:r>
          </a:p>
        </p:txBody>
      </p:sp>
      <p:sp>
        <p:nvSpPr>
          <p:cNvPr id="4" name="Rectangle 3"/>
          <p:cNvSpPr/>
          <p:nvPr/>
        </p:nvSpPr>
        <p:spPr>
          <a:xfrm>
            <a:off x="777240" y="1828800"/>
            <a:ext cx="5212080" cy="3017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828800"/>
            <a:ext cx="54864" cy="301752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93392"/>
            <a:ext cx="4754880" cy="411480"/>
          </a:xfrm>
          <a:prstGeom prst="rect">
            <a:avLst/>
          </a:prstGeom>
          <a:noFill/>
        </p:spPr>
        <p:txBody>
          <a:bodyPr wrap="square" anchor="t">
            <a:spAutoFit/>
          </a:bodyPr>
          <a:lstStyle/>
          <a:p>
            <a:pPr algn="l">
              <a:lnSpc>
                <a:spcPct val="100000"/>
              </a:lnSpc>
            </a:pPr>
            <a:r>
              <a:rPr sz="1600" b="1" i="0">
                <a:solidFill>
                  <a:srgbClr val="0F172A"/>
                </a:solidFill>
                <a:latin typeface="Calibri"/>
              </a:rPr>
              <a:t>It is</a:t>
            </a:r>
          </a:p>
        </p:txBody>
      </p:sp>
      <p:sp>
        <p:nvSpPr>
          <p:cNvPr id="7" name="TextBox 6"/>
          <p:cNvSpPr txBox="1"/>
          <p:nvPr/>
        </p:nvSpPr>
        <p:spPr>
          <a:xfrm>
            <a:off x="1033271" y="2468880"/>
            <a:ext cx="4754880" cy="2240279"/>
          </a:xfrm>
          <a:prstGeom prst="rect">
            <a:avLst/>
          </a:prstGeom>
          <a:noFill/>
        </p:spPr>
        <p:txBody>
          <a:bodyPr wrap="square" anchor="t">
            <a:spAutoFit/>
          </a:bodyPr>
          <a:lstStyle/>
          <a:p>
            <a:pPr algn="l">
              <a:lnSpc>
                <a:spcPct val="110000"/>
              </a:lnSpc>
            </a:pPr>
            <a:r>
              <a:rPr sz="1400" b="0" i="0">
                <a:solidFill>
                  <a:srgbClr val="475569"/>
                </a:solidFill>
                <a:latin typeface="Calibri"/>
              </a:rPr>
              <a:t>— One web page, tools/mech-blocks.html, that works offline.</a:t>
            </a:r>
          </a:p>
          <a:p>
            <a:pPr algn="l">
              <a:lnSpc>
                <a:spcPct val="110000"/>
              </a:lnSpc>
            </a:pPr>
            <a:r>
              <a:rPr sz="1400" b="0" i="0">
                <a:solidFill>
                  <a:srgbClr val="475569"/>
                </a:solidFill>
                <a:latin typeface="Calibri"/>
              </a:rPr>
              <a:t>— A drag-and-tap editor for Mech text, with Ward's 61 handbook scripts to explore.</a:t>
            </a:r>
          </a:p>
          <a:p>
            <a:pPr algn="l">
              <a:lnSpc>
                <a:spcPct val="110000"/>
              </a:lnSpc>
            </a:pPr>
            <a:r>
              <a:rPr sz="1400" b="0" i="0">
                <a:solidFill>
                  <a:srgbClr val="475569"/>
                </a:solidFill>
                <a:latin typeface="Calibri"/>
              </a:rPr>
              <a:t>— Checks before running, in Ward's words.</a:t>
            </a:r>
          </a:p>
          <a:p>
            <a:pPr algn="l">
              <a:lnSpc>
                <a:spcPct val="110000"/>
              </a:lnSpc>
            </a:pPr>
            <a:r>
              <a:rPr sz="1400" b="0" i="0">
                <a:solidFill>
                  <a:srgbClr val="475569"/>
                </a:solidFill>
                <a:latin typeface="Calibri"/>
              </a:rPr>
              <a:t>— A wiki plugin, wiki-plugin-mechblocks, running on Wiki Café.</a:t>
            </a:r>
          </a:p>
          <a:p>
            <a:pPr algn="l">
              <a:lnSpc>
                <a:spcPct val="110000"/>
              </a:lnSpc>
            </a:pPr>
            <a:r>
              <a:rPr sz="1400" b="0" i="0">
                <a:solidFill>
                  <a:srgbClr val="475569"/>
                </a:solidFill>
                <a:latin typeface="Calibri"/>
              </a:rPr>
              <a:t>— An introduction, a manual and a block reference, as FedWiki pages.</a:t>
            </a:r>
          </a:p>
          <a:p>
            <a:pPr algn="l">
              <a:lnSpc>
                <a:spcPct val="110000"/>
              </a:lnSpc>
            </a:pPr>
            <a:r>
              <a:rPr sz="1400" b="0" i="0">
                <a:solidFill>
                  <a:srgbClr val="475569"/>
                </a:solidFill>
                <a:latin typeface="Calibri"/>
              </a:rPr>
              <a:t>— Tested: 5,544 automated checks, and real drags and taps in a browser.</a:t>
            </a:r>
          </a:p>
        </p:txBody>
      </p:sp>
      <p:sp>
        <p:nvSpPr>
          <p:cNvPr id="8" name="Rectangle 7"/>
          <p:cNvSpPr/>
          <p:nvPr/>
        </p:nvSpPr>
        <p:spPr>
          <a:xfrm>
            <a:off x="6263640" y="1828800"/>
            <a:ext cx="5120640" cy="3017520"/>
          </a:xfrm>
          <a:prstGeom prst="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828800"/>
            <a:ext cx="54864" cy="30175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993392"/>
            <a:ext cx="4663440" cy="411480"/>
          </a:xfrm>
          <a:prstGeom prst="rect">
            <a:avLst/>
          </a:prstGeom>
          <a:noFill/>
        </p:spPr>
        <p:txBody>
          <a:bodyPr wrap="square" anchor="t">
            <a:spAutoFit/>
          </a:bodyPr>
          <a:lstStyle/>
          <a:p>
            <a:pPr algn="l">
              <a:lnSpc>
                <a:spcPct val="100000"/>
              </a:lnSpc>
            </a:pPr>
            <a:r>
              <a:rPr sz="1600" b="1" i="0">
                <a:solidFill>
                  <a:srgbClr val="0F172A"/>
                </a:solidFill>
                <a:latin typeface="Calibri"/>
              </a:rPr>
              <a:t>It is not</a:t>
            </a:r>
          </a:p>
        </p:txBody>
      </p:sp>
      <p:sp>
        <p:nvSpPr>
          <p:cNvPr id="11" name="TextBox 10"/>
          <p:cNvSpPr txBox="1"/>
          <p:nvPr/>
        </p:nvSpPr>
        <p:spPr>
          <a:xfrm>
            <a:off x="6519672" y="2468880"/>
            <a:ext cx="4663440" cy="2240279"/>
          </a:xfrm>
          <a:prstGeom prst="rect">
            <a:avLst/>
          </a:prstGeom>
          <a:noFill/>
        </p:spPr>
        <p:txBody>
          <a:bodyPr wrap="square" anchor="t">
            <a:spAutoFit/>
          </a:bodyPr>
          <a:lstStyle/>
          <a:p>
            <a:pPr algn="l">
              <a:lnSpc>
                <a:spcPct val="110000"/>
              </a:lnSpc>
            </a:pPr>
            <a:r>
              <a:rPr sz="1400" b="0" i="0">
                <a:solidFill>
                  <a:srgbClr val="475569"/>
                </a:solidFill>
                <a:latin typeface="Calibri"/>
              </a:rPr>
              <a:t>— The page on its own does not run Mech. In the wiki, Watch it run does.</a:t>
            </a:r>
          </a:p>
          <a:p>
            <a:pPr algn="l">
              <a:lnSpc>
                <a:spcPct val="110000"/>
              </a:lnSpc>
            </a:pPr>
            <a:r>
              <a:rPr sz="1400" b="0" i="0">
                <a:solidFill>
                  <a:srgbClr val="475569"/>
                </a:solidFill>
                <a:latin typeface="Calibri"/>
              </a:rPr>
              <a:t>— It cannot see what CODE functions or other plugins do.</a:t>
            </a:r>
          </a:p>
          <a:p>
            <a:pPr algn="l">
              <a:lnSpc>
                <a:spcPct val="110000"/>
              </a:lnSpc>
            </a:pPr>
            <a:r>
              <a:rPr sz="1400" b="0" i="0">
                <a:solidFill>
                  <a:srgbClr val="475569"/>
                </a:solidFill>
                <a:latin typeface="Calibri"/>
              </a:rPr>
              <a:t>— It cannot know whether a site answers until the script runs.</a:t>
            </a:r>
          </a:p>
          <a:p>
            <a:pPr algn="l">
              <a:lnSpc>
                <a:spcPct val="110000"/>
              </a:lnSpc>
            </a:pPr>
            <a:r>
              <a:rPr sz="1400" b="0" i="0">
                <a:solidFill>
                  <a:srgbClr val="475569"/>
                </a:solidFill>
                <a:latin typeface="Calibri"/>
              </a:rPr>
              <a:t>— PLUGIN rcn reads only its own site: Layer 1 folders must be uploaded first.</a:t>
            </a:r>
          </a:p>
          <a:p>
            <a:pPr algn="l">
              <a:lnSpc>
                <a:spcPct val="110000"/>
              </a:lnSpc>
            </a:pPr>
            <a:r>
              <a:rPr sz="1400" b="0" i="0">
                <a:solidFill>
                  <a:srgbClr val="475569"/>
                </a:solidFill>
                <a:latin typeface="Calibri"/>
              </a:rPr>
              <a:t>— Not a change to anything in use: Mech, the wikis and the RCN tools are untouched.</a:t>
            </a:r>
          </a:p>
        </p:txBody>
      </p:sp>
      <p:sp>
        <p:nvSpPr>
          <p:cNvPr id="12" name="TextBox 11"/>
          <p:cNvSpPr txBox="1"/>
          <p:nvPr/>
        </p:nvSpPr>
        <p:spPr>
          <a:xfrm>
            <a:off x="777240" y="6355080"/>
            <a:ext cx="5486400" cy="274320"/>
          </a:xfrm>
          <a:prstGeom prst="rect">
            <a:avLst/>
          </a:prstGeom>
          <a:noFill/>
        </p:spPr>
        <p:txBody>
          <a:bodyPr wrap="square" anchor="t">
            <a:spAutoFit/>
          </a:bodyPr>
          <a:lstStyle/>
          <a:p>
            <a:pPr algn="l">
              <a:lnSpc>
                <a:spcPct val="100000"/>
              </a:lnSpc>
            </a:pPr>
            <a:r>
              <a:rPr sz="900" b="0" i="0">
                <a:solidFill>
                  <a:srgbClr val="94A3B8"/>
                </a:solidFill>
                <a:latin typeface="Calibri"/>
              </a:rPr>
              <a:t>RCN · Mech Blocks</a:t>
            </a:r>
          </a:p>
        </p:txBody>
      </p:sp>
      <p:sp>
        <p:nvSpPr>
          <p:cNvPr id="13" name="TextBox 12"/>
          <p:cNvSpPr txBox="1"/>
          <p:nvPr/>
        </p:nvSpPr>
        <p:spPr>
          <a:xfrm>
            <a:off x="11064240" y="6355080"/>
            <a:ext cx="365760" cy="274320"/>
          </a:xfrm>
          <a:prstGeom prst="rect">
            <a:avLst/>
          </a:prstGeom>
          <a:noFill/>
        </p:spPr>
        <p:txBody>
          <a:bodyPr wrap="square" anchor="t">
            <a:spAutoFit/>
          </a:bodyPr>
          <a:lstStyle/>
          <a:p>
            <a:pPr algn="r">
              <a:lnSpc>
                <a:spcPct val="100000"/>
              </a:lnSpc>
            </a:pPr>
            <a:r>
              <a:rPr sz="900" b="0" i="0">
                <a:solidFill>
                  <a:srgbClr val="94A3B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293B"/>
        </a:solidFill>
        <a:effectLst/>
      </p:bgPr>
    </p:bg>
    <p:spTree>
      <p:nvGrpSpPr>
        <p:cNvPr id="1" name=""/>
        <p:cNvGrpSpPr/>
        <p:nvPr/>
      </p:nvGrpSpPr>
      <p:grpSpPr/>
      <p:sp>
        <p:nvSpPr>
          <p:cNvPr id="2" name="Rectangle 1"/>
          <p:cNvSpPr/>
          <p:nvPr/>
        </p:nvSpPr>
        <p:spPr>
          <a:xfrm>
            <a:off x="777240" y="1188720"/>
            <a:ext cx="1463040" cy="5486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63040"/>
            <a:ext cx="10058400" cy="731520"/>
          </a:xfrm>
          <a:prstGeom prst="rect">
            <a:avLst/>
          </a:prstGeom>
          <a:noFill/>
        </p:spPr>
        <p:txBody>
          <a:bodyPr wrap="square" anchor="t">
            <a:spAutoFit/>
          </a:bodyPr>
          <a:lstStyle/>
          <a:p>
            <a:pPr algn="l">
              <a:lnSpc>
                <a:spcPct val="100000"/>
              </a:lnSpc>
            </a:pPr>
            <a:r>
              <a:rPr sz="3400" b="1" i="0">
                <a:solidFill>
                  <a:srgbClr val="FFFFFF"/>
                </a:solidFill>
                <a:latin typeface="Calibri"/>
              </a:rPr>
              <a:t>What could come next</a:t>
            </a:r>
          </a:p>
        </p:txBody>
      </p:sp>
      <p:sp>
        <p:nvSpPr>
          <p:cNvPr id="4" name="Rectangle 3"/>
          <p:cNvSpPr/>
          <p:nvPr/>
        </p:nvSpPr>
        <p:spPr>
          <a:xfrm>
            <a:off x="777240" y="242316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44144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Talk with Ward</a:t>
            </a:r>
          </a:p>
        </p:txBody>
      </p:sp>
      <p:sp>
        <p:nvSpPr>
          <p:cNvPr id="6" name="TextBox 5"/>
          <p:cNvSpPr txBox="1"/>
          <p:nvPr/>
        </p:nvSpPr>
        <p:spPr>
          <a:xfrm>
            <a:off x="4846320" y="242316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Bring the CODE and DOWNLOAD pages, the three findings and the catalog. Ask whether he sees blocks as a view onto his text, or a replacement for it.</a:t>
            </a:r>
          </a:p>
        </p:txBody>
      </p:sp>
      <p:sp>
        <p:nvSpPr>
          <p:cNvPr id="7" name="Rectangle 6"/>
          <p:cNvSpPr/>
          <p:nvPr/>
        </p:nvSpPr>
        <p:spPr>
          <a:xfrm>
            <a:off x="777240" y="3291839"/>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31012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Upload the Layer 1 folders</a:t>
            </a:r>
          </a:p>
        </p:txBody>
      </p:sp>
      <p:sp>
        <p:nvSpPr>
          <p:cNvPr id="9" name="TextBox 8"/>
          <p:cNvSpPr txBox="1"/>
          <p:nvPr/>
        </p:nvSpPr>
        <p:spPr>
          <a:xfrm>
            <a:off x="4846320" y="3291839"/>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Put the whatcom and other Layer 1 folders in a site's assets, so PROJECTION works on Wiki Café as it does locally.</a:t>
            </a:r>
          </a:p>
        </p:txBody>
      </p:sp>
      <p:sp>
        <p:nvSpPr>
          <p:cNvPr id="10" name="Rectangle 9"/>
          <p:cNvSpPr/>
          <p:nvPr/>
        </p:nvSpPr>
        <p:spPr>
          <a:xfrm>
            <a:off x="777240" y="416052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178807"/>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Map and Timeline next</a:t>
            </a:r>
          </a:p>
        </p:txBody>
      </p:sp>
      <p:sp>
        <p:nvSpPr>
          <p:cNvPr id="12" name="TextBox 11"/>
          <p:cNvSpPr txBox="1"/>
          <p:nvPr/>
        </p:nvSpPr>
        <p:spPr>
          <a:xfrm>
            <a:off x="4846320" y="416052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The Graph Tool already draws what Mech finds. Markers could go to the RCN Map, and page dates to the Timeline.</a:t>
            </a:r>
          </a:p>
        </p:txBody>
      </p:sp>
      <p:sp>
        <p:nvSpPr>
          <p:cNvPr id="13" name="Rectangle 12"/>
          <p:cNvSpPr/>
          <p:nvPr/>
        </p:nvSpPr>
        <p:spPr>
          <a:xfrm>
            <a:off x="777240" y="5029200"/>
            <a:ext cx="50292" cy="7772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047488"/>
            <a:ext cx="3657600" cy="411480"/>
          </a:xfrm>
          <a:prstGeom prst="rect">
            <a:avLst/>
          </a:prstGeom>
          <a:noFill/>
        </p:spPr>
        <p:txBody>
          <a:bodyPr wrap="square" anchor="t">
            <a:spAutoFit/>
          </a:bodyPr>
          <a:lstStyle/>
          <a:p>
            <a:pPr algn="l">
              <a:lnSpc>
                <a:spcPct val="100000"/>
              </a:lnSpc>
            </a:pPr>
            <a:r>
              <a:rPr sz="1700" b="1" i="0">
                <a:solidFill>
                  <a:srgbClr val="FFFFFF"/>
                </a:solidFill>
                <a:latin typeface="Calibri"/>
              </a:rPr>
              <a:t>The SODOTO farm</a:t>
            </a:r>
          </a:p>
        </p:txBody>
      </p:sp>
      <p:sp>
        <p:nvSpPr>
          <p:cNvPr id="15" name="TextBox 14"/>
          <p:cNvSpPr txBox="1"/>
          <p:nvPr/>
        </p:nvSpPr>
        <p:spPr>
          <a:xfrm>
            <a:off x="4846320" y="5029200"/>
            <a:ext cx="6492240" cy="822960"/>
          </a:xfrm>
          <a:prstGeom prst="rect">
            <a:avLst/>
          </a:prstGeom>
          <a:noFill/>
        </p:spPr>
        <p:txBody>
          <a:bodyPr wrap="square" anchor="t">
            <a:spAutoFit/>
          </a:bodyPr>
          <a:lstStyle/>
          <a:p>
            <a:pPr algn="l">
              <a:lnSpc>
                <a:spcPct val="112000"/>
              </a:lnSpc>
            </a:pPr>
            <a:r>
              <a:rPr sz="1350" b="0" i="0">
                <a:solidFill>
                  <a:srgbClr val="CBD5E1"/>
                </a:solidFill>
                <a:latin typeface="Calibri"/>
              </a:rPr>
              <a:t>Its image runs an older wiki without Mech. Adding both would bring BADGES to where the badges live.</a:t>
            </a:r>
          </a:p>
        </p:txBody>
      </p:sp>
      <p:sp>
        <p:nvSpPr>
          <p:cNvPr id="16" name="TextBox 15"/>
          <p:cNvSpPr txBox="1"/>
          <p:nvPr/>
        </p:nvSpPr>
        <p:spPr>
          <a:xfrm>
            <a:off x="777240" y="6080760"/>
            <a:ext cx="7315200" cy="365760"/>
          </a:xfrm>
          <a:prstGeom prst="rect">
            <a:avLst/>
          </a:prstGeom>
          <a:noFill/>
        </p:spPr>
        <p:txBody>
          <a:bodyPr wrap="square" anchor="t">
            <a:spAutoFit/>
          </a:bodyPr>
          <a:lstStyle/>
          <a:p>
            <a:pPr algn="l">
              <a:lnSpc>
                <a:spcPct val="100000"/>
              </a:lnSpc>
            </a:pPr>
            <a:r>
              <a:rPr sz="1300" b="1" i="0">
                <a:solidFill>
                  <a:srgbClr val="FFFFFF"/>
                </a:solidFill>
                <a:latin typeface="Calibri"/>
              </a:rPr>
              <a:t>Marc Pierson and Claude Opus 5.5 · October 2026</a:t>
            </a:r>
          </a:p>
        </p:txBody>
      </p:sp>
      <p:sp>
        <p:nvSpPr>
          <p:cNvPr id="17" name="TextBox 16"/>
          <p:cNvSpPr txBox="1"/>
          <p:nvPr/>
        </p:nvSpPr>
        <p:spPr>
          <a:xfrm>
            <a:off x="777240" y="6400800"/>
            <a:ext cx="10607040" cy="320040"/>
          </a:xfrm>
          <a:prstGeom prst="rect">
            <a:avLst/>
          </a:prstGeom>
          <a:noFill/>
        </p:spPr>
        <p:txBody>
          <a:bodyPr wrap="square" anchor="t">
            <a:spAutoFit/>
          </a:bodyPr>
          <a:lstStyle/>
          <a:p>
            <a:pPr algn="l">
              <a:lnSpc>
                <a:spcPct val="100000"/>
              </a:lnSpc>
            </a:pPr>
            <a:r>
              <a:rPr sz="1100" b="0" i="1">
                <a:solidFill>
                  <a:srgbClr val="9CA9BD"/>
                </a:solidFill>
                <a:latin typeface="Calibri"/>
              </a:rPr>
              <a:t>Mech is Ward Cunningham's work: github.com/WardCunningham/wiki-plugin-mech, handbook at mech.fed.wiki.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